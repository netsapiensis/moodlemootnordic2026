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Lst>
  <p:notesMasterIdLst>
    <p:notesMasterId r:id="rId4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notesMaster" Target="notesMasters/notesMaster1.xml"/><Relationship Id="rId42" Type="http://schemas.openxmlformats.org/officeDocument/2006/relationships/presProps" Target="presProps.xml"/><Relationship Id="rId43" Type="http://schemas.openxmlformats.org/officeDocument/2006/relationships/viewProps" Target="viewProps.xml"/><Relationship Id="rId44" Type="http://schemas.openxmlformats.org/officeDocument/2006/relationships/theme" Target="theme/theme1.xml"/><Relationship Id="rId4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4" Type="http://schemas.openxmlformats.org/officeDocument/2006/relationships/image" Target="../media/ns-stacked.png"/><Relationship Id="rId5" Type="http://schemas.openxmlformats.org/officeDocument/2006/relationships/image" Target="../media/qr.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ns-mark.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ns-mark.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ns-mark.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ns-mark.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ns-mark.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ns-mark.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ns-mark.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ns-mark.png"/></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4" Type="http://schemas.openxmlformats.org/officeDocument/2006/relationships/image" Target="../media/ns-mark.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ns-mark.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ns-mark.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ns-mark.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ns-mark.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ns-mark.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ns-mark.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ns-mark.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ns-mark.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ns-mark.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ns-mark.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ns-mark.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ns-mark.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ns-mark.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ns-mark.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ns-mark.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ns-mark.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ns-mark.png"/></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4" Type="http://schemas.openxmlformats.org/officeDocument/2006/relationships/image" Target="../media/ns-mark.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ns-mark.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ns-mark.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ns-mark.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ns-mark.png"/></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4" Type="http://schemas.openxmlformats.org/officeDocument/2006/relationships/image" Target="../media/ns-mark.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ns-mark.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ns-mark.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ns-mark.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ns-mark.png"/></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1.xml"/><Relationship Id="rId4" Type="http://schemas.openxmlformats.org/officeDocument/2006/relationships/image" Target="../media/ns-mark.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ns-mark.png"/><Relationship Id="rId4" Type="http://schemas.openxmlformats.org/officeDocument/2006/relationships/image" Target="../media/qr.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647700" y="4824561"/>
            <a:ext cx="10896600" cy="695325"/>
          </a:xfrm>
          <a:prstGeom prst="roundRect">
            <a:avLst>
              <a:gd name="adj" fmla="val 28823"/>
            </a:avLst>
          </a:prstGeom>
          <a:solidFill>
            <a:srgbClr val="E1F0F7"/>
          </a:solidFill>
          <a:ln w="10160">
            <a:solidFill>
              <a:srgbClr val="0B6E99"/>
            </a:solidFill>
            <a:prstDash val="solid"/>
          </a:ln>
        </p:spPr>
      </p:sp>
      <p:sp>
        <p:nvSpPr>
          <p:cNvPr id="3" name="Text 1"/>
          <p:cNvSpPr txBox="1"/>
          <p:nvPr/>
        </p:nvSpPr>
        <p:spPr>
          <a:xfrm>
            <a:off x="647700" y="973544"/>
            <a:ext cx="10953750" cy="185738"/>
          </a:xfrm>
          <a:prstGeom prst="rect">
            <a:avLst/>
          </a:prstGeom>
          <a:noFill/>
          <a:ln/>
        </p:spPr>
        <p:txBody>
          <a:bodyPr wrap="none" lIns="0" tIns="0" rIns="0" bIns="0" rtlCol="0" anchor="t"/>
          <a:lstStyle/>
          <a:p>
            <a:pPr algn="l" indent="0" marL="0">
              <a:lnSpc>
                <a:spcPts val="1460"/>
              </a:lnSpc>
              <a:buNone/>
            </a:pPr>
            <a:r>
              <a:rPr lang="en-US" sz="980" spc="160" kern="0" dirty="0">
                <a:solidFill>
                  <a:srgbClr val="0B6E99"/>
                </a:solidFill>
                <a:latin typeface="Courier New" pitchFamily="34" charset="0"/>
                <a:ea typeface="Courier New" pitchFamily="34" charset="-122"/>
                <a:cs typeface="Courier New" pitchFamily="34" charset="-120"/>
              </a:rPr>
              <a:t>MOODLE 5.2 · OPENTELEMETRY · OPENSEARCH</a:t>
            </a:r>
            <a:endParaRPr lang="en-US" sz="980" dirty="0"/>
          </a:p>
        </p:txBody>
      </p:sp>
      <p:sp>
        <p:nvSpPr>
          <p:cNvPr id="4" name="Text 2"/>
          <p:cNvSpPr txBox="1"/>
          <p:nvPr/>
        </p:nvSpPr>
        <p:spPr>
          <a:xfrm>
            <a:off x="647700" y="1314301"/>
            <a:ext cx="8109049" cy="1490960"/>
          </a:xfrm>
          <a:prstGeom prst="rect">
            <a:avLst/>
          </a:prstGeom>
          <a:noFill/>
          <a:ln/>
        </p:spPr>
        <p:txBody>
          <a:bodyPr wrap="square" lIns="0" tIns="0" rIns="0" bIns="0" rtlCol="0" anchor="t"/>
          <a:lstStyle/>
          <a:p>
            <a:pPr algn="l" indent="0" marL="0">
              <a:lnSpc>
                <a:spcPts val="5870"/>
              </a:lnSpc>
              <a:buNone/>
            </a:pPr>
            <a:r>
              <a:rPr lang="en-US" sz="5700" b="1" spc="-140" kern="0" dirty="0">
                <a:solidFill>
                  <a:srgbClr val="101A22"/>
                </a:solidFill>
                <a:latin typeface="Arial" pitchFamily="34" charset="0"/>
                <a:ea typeface="Arial" pitchFamily="34" charset="-122"/>
                <a:cs typeface="Arial" pitchFamily="34" charset="-120"/>
              </a:rPr>
              <a:t>What Is Your Moodle Doing?</a:t>
            </a:r>
            <a:endParaRPr lang="en-US" sz="5700" dirty="0"/>
          </a:p>
        </p:txBody>
      </p:sp>
      <p:sp>
        <p:nvSpPr>
          <p:cNvPr id="5" name="Text 3"/>
          <p:cNvSpPr txBox="1"/>
          <p:nvPr/>
        </p:nvSpPr>
        <p:spPr>
          <a:xfrm>
            <a:off x="647700" y="2971473"/>
            <a:ext cx="10953750" cy="1485900"/>
          </a:xfrm>
          <a:prstGeom prst="rect">
            <a:avLst/>
          </a:prstGeom>
          <a:noFill/>
          <a:ln/>
        </p:spPr>
        <p:txBody>
          <a:bodyPr wrap="square" lIns="0" tIns="0" rIns="0" bIns="0" rtlCol="0" anchor="t"/>
          <a:lstStyle/>
          <a:p>
            <a:pPr algn="l" indent="0" marL="0">
              <a:lnSpc>
                <a:spcPts val="2930"/>
              </a:lnSpc>
              <a:buNone/>
            </a:pPr>
            <a:r>
              <a:rPr lang="en-US" sz="1950" dirty="0">
                <a:solidFill>
                  <a:srgbClr val="5A6D7A"/>
                </a:solidFill>
                <a:latin typeface="Arial" pitchFamily="34" charset="0"/>
                <a:ea typeface="Arial" pitchFamily="34" charset="-122"/>
                <a:cs typeface="Arial" pitchFamily="34" charset="-120"/>
              </a:rPr>
              <a:t>This presentation shows you how to send Moodle logs and timing data to OpenSearch using OpenTelemetry. In OpenSearch you can run searches to analyse the state of your Moodle site. Moodle 5.2 is the first Moodle version with official OpenTelemetry support. Older versions cannot use this setup.</a:t>
            </a:r>
            <a:endParaRPr lang="en-US" sz="1950" dirty="0"/>
          </a:p>
        </p:txBody>
      </p:sp>
      <p:sp>
        <p:nvSpPr>
          <p:cNvPr id="6" name="Text 4"/>
          <p:cNvSpPr txBox="1"/>
          <p:nvPr/>
        </p:nvSpPr>
        <p:spPr>
          <a:xfrm>
            <a:off x="809625" y="4900999"/>
            <a:ext cx="10629900" cy="485775"/>
          </a:xfrm>
          <a:prstGeom prst="rect">
            <a:avLst/>
          </a:prstGeom>
          <a:noFill/>
          <a:ln/>
        </p:spPr>
        <p:txBody>
          <a:bodyPr wrap="square" lIns="0" tIns="0" rIns="0" bIns="0" rtlCol="0" anchor="t"/>
          <a:lstStyle/>
          <a:p>
            <a:pPr algn="l" indent="0" marL="0">
              <a:lnSpc>
                <a:spcPts val="1910"/>
              </a:lnSpc>
              <a:buNone/>
            </a:pPr>
            <a:r>
              <a:rPr lang="en-US" sz="1280" dirty="0">
                <a:solidFill>
                  <a:srgbClr val="0B6E99"/>
                </a:solidFill>
                <a:latin typeface="Courier New" pitchFamily="34" charset="0"/>
                <a:ea typeface="Courier New" pitchFamily="34" charset="-122"/>
                <a:cs typeface="Courier New" pitchFamily="34" charset="-120"/>
              </a:rPr>
              <a:t>The slides and the demo files are at https://github.com/netsapiensis/MoodleMootNordic2026, in the folder Moodle-Otel-Opensearch.</a:t>
            </a:r>
            <a:endParaRPr lang="en-US" sz="1280" dirty="0"/>
          </a:p>
        </p:txBody>
      </p:sp>
      <p:sp>
        <p:nvSpPr>
          <p:cNvPr id="7" name="Text 5"/>
          <p:cNvSpPr txBox="1"/>
          <p:nvPr/>
        </p:nvSpPr>
        <p:spPr>
          <a:xfrm>
            <a:off x="647700" y="6464379"/>
            <a:ext cx="2212181" cy="148590"/>
          </a:xfrm>
          <a:prstGeom prst="rect">
            <a:avLst/>
          </a:prstGeom>
          <a:noFill/>
          <a:ln/>
        </p:spPr>
        <p:txBody>
          <a:bodyPr wrap="none" lIns="0" tIns="0" rIns="0" bIns="0" rtlCol="0" anchor="t"/>
          <a:lstStyle/>
          <a:p>
            <a:pPr algn="l" indent="0" marL="0">
              <a:lnSpc>
                <a:spcPts val="1170"/>
              </a:lnSpc>
              <a:buNone/>
            </a:pPr>
            <a:r>
              <a:rPr lang="en-US" sz="980" dirty="0">
                <a:solidFill>
                  <a:srgbClr val="8496A2"/>
                </a:solidFill>
                <a:latin typeface="Courier New" pitchFamily="34" charset="0"/>
                <a:ea typeface="Courier New" pitchFamily="34" charset="-122"/>
                <a:cs typeface="Courier New" pitchFamily="34" charset="-120"/>
              </a:rPr>
              <a:t>50 minutes + 10 for questions</a:t>
            </a:r>
            <a:endParaRPr lang="en-US" sz="980" dirty="0"/>
          </a:p>
        </p:txBody>
      </p:sp>
      <p:sp>
        <p:nvSpPr>
          <p:cNvPr id="8" name="Text 6"/>
          <p:cNvSpPr txBox="1"/>
          <p:nvPr/>
        </p:nvSpPr>
        <p:spPr>
          <a:xfrm>
            <a:off x="11098411" y="6464379"/>
            <a:ext cx="503039" cy="148590"/>
          </a:xfrm>
          <a:prstGeom prst="rect">
            <a:avLst/>
          </a:prstGeom>
          <a:noFill/>
          <a:ln/>
        </p:spPr>
        <p:txBody>
          <a:bodyPr wrap="none" lIns="0" tIns="0" rIns="0" bIns="0" rtlCol="0" anchor="t"/>
          <a:lstStyle/>
          <a:p>
            <a:pPr algn="l" indent="0" marL="0">
              <a:lnSpc>
                <a:spcPts val="1170"/>
              </a:lnSpc>
              <a:buNone/>
            </a:pPr>
            <a:r>
              <a:rPr lang="en-US" sz="980" dirty="0">
                <a:solidFill>
                  <a:srgbClr val="8496A2"/>
                </a:solidFill>
                <a:latin typeface="Courier New" pitchFamily="34" charset="0"/>
                <a:ea typeface="Courier New" pitchFamily="34" charset="-122"/>
                <a:cs typeface="Courier New" pitchFamily="34" charset="-120"/>
              </a:rPr>
              <a:t>1 / 39</a:t>
            </a:r>
            <a:endParaRPr lang="en-US" sz="980" dirty="0"/>
          </a:p>
        </p:txBody>
      </p:sp>
      <p:pic>
        <p:nvPicPr>
          <p:cNvPr id="900" name="NetSapiensis" descr="NetSapiensis"/>
          <p:cNvPicPr>
            <a:picLocks noChangeAspect="1"/>
          </p:cNvPicPr>
          <p:nvPr/>
        </p:nvPicPr>
        <p:blipFill>
          <a:blip r:embed="rId4"/>
          <a:stretch>
            <a:fillRect/>
          </a:stretch>
        </p:blipFill>
        <p:spPr>
          <a:xfrm>
            <a:off x="649224" y="5632704"/>
            <a:ext cx="1051560" cy="726453"/>
          </a:xfrm>
          <a:prstGeom prst="rect">
            <a:avLst/>
          </a:prstGeom>
        </p:spPr>
      </p:pic>
      <p:sp>
        <p:nvSpPr>
          <p:cNvPr id="901" name="Presenter"/>
          <p:cNvSpPr txBox="1"/>
          <p:nvPr/>
        </p:nvSpPr>
        <p:spPr>
          <a:xfrm>
            <a:off x="1920240" y="5870448"/>
            <a:ext cx="5486400" cy="274320"/>
          </a:xfrm>
          <a:prstGeom prst="rect">
            <a:avLst/>
          </a:prstGeom>
          <a:noFill/>
        </p:spPr>
        <p:txBody>
          <a:bodyPr wrap="square" lIns="0" tIns="0" rIns="0" bIns="0"/>
          <a:lstStyle/>
          <a:p>
            <a:r>
              <a:rPr lang="en-US" sz="1400" b="1" dirty="0">
                <a:solidFill>
                  <a:srgbClr val="0F1A22"/>
                </a:solidFill>
                <a:latin typeface="Arial"/>
                <a:cs typeface="Arial"/>
              </a:rPr>
              <a:t>Alex Contis</a:t>
            </a:r>
            <a:r>
              <a:rPr lang="en-US" sz="1400" dirty="0">
                <a:solidFill>
                  <a:srgbClr val="8496A2"/>
                </a:solidFill>
                <a:latin typeface="Arial"/>
                <a:cs typeface="Arial"/>
              </a:rPr>
              <a:t>, NetSapiensis</a:t>
            </a:r>
          </a:p>
        </p:txBody>
      </p:sp>
      <p:pic>
        <p:nvPicPr>
          <p:cNvPr id="902" name="QR" descr="QR code linking to github.com/netsapiensis/MoodleMootNordic2026"/>
          <p:cNvPicPr>
            <a:picLocks noChangeAspect="1"/>
          </p:cNvPicPr>
          <p:nvPr/>
        </p:nvPicPr>
        <p:blipFill>
          <a:blip r:embed="rId5"/>
          <a:stretch>
            <a:fillRect/>
          </a:stretch>
        </p:blipFill>
        <p:spPr>
          <a:xfrm>
            <a:off x="9692640" y="1417320"/>
            <a:ext cx="1325880" cy="132588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7700" y="6343650"/>
            <a:ext cx="10896600" cy="0"/>
          </a:xfrm>
          <a:prstGeom prst="line">
            <a:avLst/>
          </a:prstGeom>
          <a:noFill/>
          <a:ln w="8890">
            <a:solidFill>
              <a:srgbClr val="CBD7DF"/>
            </a:solidFill>
            <a:prstDash val="solid"/>
          </a:ln>
        </p:spPr>
      </p:sp>
      <p:sp>
        <p:nvSpPr>
          <p:cNvPr id="3" name="Text 1"/>
          <p:cNvSpPr txBox="1"/>
          <p:nvPr/>
        </p:nvSpPr>
        <p:spPr>
          <a:xfrm>
            <a:off x="1010012" y="533400"/>
            <a:ext cx="10229124" cy="403317"/>
          </a:xfrm>
          <a:prstGeom prst="rect">
            <a:avLst/>
          </a:prstGeom>
          <a:noFill/>
          <a:ln/>
        </p:spPr>
        <p:txBody>
          <a:bodyPr wrap="none" lIns="0" tIns="0" rIns="0" bIns="0" rtlCol="0" anchor="t"/>
          <a:lstStyle/>
          <a:p>
            <a:pPr algn="l" indent="0" marL="0">
              <a:lnSpc>
                <a:spcPts val="3170"/>
              </a:lnSpc>
              <a:buNone/>
            </a:pPr>
            <a:r>
              <a:rPr lang="en-US" sz="2940" b="1" spc="-60" kern="0" dirty="0">
                <a:solidFill>
                  <a:srgbClr val="101A22"/>
                </a:solidFill>
                <a:latin typeface="Arial" pitchFamily="34" charset="0"/>
                <a:ea typeface="Arial" pitchFamily="34" charset="-122"/>
                <a:cs typeface="Arial" pitchFamily="34" charset="-120"/>
              </a:rPr>
              <a:t>Agenda</a:t>
            </a:r>
            <a:endParaRPr lang="en-US" sz="2940" dirty="0"/>
          </a:p>
        </p:txBody>
      </p:sp>
      <p:sp>
        <p:nvSpPr>
          <p:cNvPr id="4" name="Text 2"/>
          <p:cNvSpPr txBox="1"/>
          <p:nvPr/>
        </p:nvSpPr>
        <p:spPr>
          <a:xfrm>
            <a:off x="1401032" y="1140127"/>
            <a:ext cx="9838104" cy="311291"/>
          </a:xfrm>
          <a:prstGeom prst="rect">
            <a:avLst/>
          </a:prstGeom>
          <a:noFill/>
          <a:ln/>
        </p:spPr>
        <p:txBody>
          <a:bodyPr wrap="none" lIns="0" tIns="0" rIns="0" bIns="0" rtlCol="0" anchor="t"/>
          <a:lstStyle/>
          <a:p>
            <a:pPr algn="l" indent="0" marL="0">
              <a:lnSpc>
                <a:spcPts val="2450"/>
              </a:lnSpc>
              <a:buNone/>
            </a:pPr>
            <a:r>
              <a:rPr lang="en-US" sz="1750" dirty="0">
                <a:solidFill>
                  <a:srgbClr val="101A22"/>
                </a:solidFill>
                <a:latin typeface="Arial" pitchFamily="34" charset="0"/>
                <a:ea typeface="Arial" pitchFamily="34" charset="-122"/>
                <a:cs typeface="Arial" pitchFamily="34" charset="-120"/>
              </a:rPr>
              <a:t>The Moodle log table and its limits</a:t>
            </a:r>
            <a:endParaRPr lang="en-US" sz="1750" dirty="0"/>
          </a:p>
        </p:txBody>
      </p:sp>
      <p:sp>
        <p:nvSpPr>
          <p:cNvPr id="5" name="Text 3"/>
          <p:cNvSpPr txBox="1"/>
          <p:nvPr/>
        </p:nvSpPr>
        <p:spPr>
          <a:xfrm>
            <a:off x="1010012" y="1193472"/>
            <a:ext cx="147872" cy="211592"/>
          </a:xfrm>
          <a:prstGeom prst="rect">
            <a:avLst/>
          </a:prstGeom>
          <a:noFill/>
          <a:ln/>
        </p:spPr>
        <p:txBody>
          <a:bodyPr wrap="none" lIns="0" tIns="0" rIns="0" bIns="0" rtlCol="0" anchor="t"/>
          <a:lstStyle/>
          <a:p>
            <a:pPr algn="l" indent="0" marL="0">
              <a:lnSpc>
                <a:spcPts val="1670"/>
              </a:lnSpc>
              <a:buNone/>
            </a:pPr>
            <a:r>
              <a:rPr lang="en-US" sz="1190" b="1" dirty="0">
                <a:solidFill>
                  <a:srgbClr val="0B6E99"/>
                </a:solidFill>
                <a:latin typeface="Courier New" pitchFamily="34" charset="0"/>
                <a:ea typeface="Courier New" pitchFamily="34" charset="-122"/>
                <a:cs typeface="Courier New" pitchFamily="34" charset="-120"/>
              </a:rPr>
              <a:t>1</a:t>
            </a:r>
            <a:endParaRPr lang="en-US" sz="1190" dirty="0"/>
          </a:p>
        </p:txBody>
      </p:sp>
      <p:sp>
        <p:nvSpPr>
          <p:cNvPr id="6" name="Text 4"/>
          <p:cNvSpPr txBox="1"/>
          <p:nvPr/>
        </p:nvSpPr>
        <p:spPr>
          <a:xfrm>
            <a:off x="1401032" y="1735863"/>
            <a:ext cx="9838104" cy="311291"/>
          </a:xfrm>
          <a:prstGeom prst="rect">
            <a:avLst/>
          </a:prstGeom>
          <a:noFill/>
          <a:ln/>
        </p:spPr>
        <p:txBody>
          <a:bodyPr wrap="none" lIns="0" tIns="0" rIns="0" bIns="0" rtlCol="0" anchor="t"/>
          <a:lstStyle/>
          <a:p>
            <a:pPr algn="l" indent="0" marL="0">
              <a:lnSpc>
                <a:spcPts val="2450"/>
              </a:lnSpc>
              <a:buNone/>
            </a:pPr>
            <a:r>
              <a:rPr lang="en-US" sz="1750" dirty="0">
                <a:solidFill>
                  <a:srgbClr val="101A22"/>
                </a:solidFill>
                <a:latin typeface="Arial" pitchFamily="34" charset="0"/>
                <a:ea typeface="Arial" pitchFamily="34" charset="-122"/>
                <a:cs typeface="Arial" pitchFamily="34" charset="-120"/>
              </a:rPr>
              <a:t>What Moodle 5.2, OpenTelemetry and OpenSearch each do</a:t>
            </a:r>
            <a:endParaRPr lang="en-US" sz="1750" dirty="0"/>
          </a:p>
        </p:txBody>
      </p:sp>
      <p:sp>
        <p:nvSpPr>
          <p:cNvPr id="7" name="Text 5"/>
          <p:cNvSpPr txBox="1"/>
          <p:nvPr/>
        </p:nvSpPr>
        <p:spPr>
          <a:xfrm>
            <a:off x="1010012" y="1789208"/>
            <a:ext cx="147872" cy="211592"/>
          </a:xfrm>
          <a:prstGeom prst="rect">
            <a:avLst/>
          </a:prstGeom>
          <a:noFill/>
          <a:ln/>
        </p:spPr>
        <p:txBody>
          <a:bodyPr wrap="none" lIns="0" tIns="0" rIns="0" bIns="0" rtlCol="0" anchor="t"/>
          <a:lstStyle/>
          <a:p>
            <a:pPr algn="l" indent="0" marL="0">
              <a:lnSpc>
                <a:spcPts val="1670"/>
              </a:lnSpc>
              <a:buNone/>
            </a:pPr>
            <a:r>
              <a:rPr lang="en-US" sz="1190" b="1" dirty="0">
                <a:solidFill>
                  <a:srgbClr val="0B6E99"/>
                </a:solidFill>
                <a:latin typeface="Courier New" pitchFamily="34" charset="0"/>
                <a:ea typeface="Courier New" pitchFamily="34" charset="-122"/>
                <a:cs typeface="Courier New" pitchFamily="34" charset="-120"/>
              </a:rPr>
              <a:t>2</a:t>
            </a:r>
            <a:endParaRPr lang="en-US" sz="1190" dirty="0"/>
          </a:p>
        </p:txBody>
      </p:sp>
      <p:sp>
        <p:nvSpPr>
          <p:cNvPr id="8" name="Text 6"/>
          <p:cNvSpPr txBox="1"/>
          <p:nvPr/>
        </p:nvSpPr>
        <p:spPr>
          <a:xfrm>
            <a:off x="1401032" y="2331599"/>
            <a:ext cx="9838104" cy="311291"/>
          </a:xfrm>
          <a:prstGeom prst="rect">
            <a:avLst/>
          </a:prstGeom>
          <a:noFill/>
          <a:ln/>
        </p:spPr>
        <p:txBody>
          <a:bodyPr wrap="none" lIns="0" tIns="0" rIns="0" bIns="0" rtlCol="0" anchor="t"/>
          <a:lstStyle/>
          <a:p>
            <a:pPr algn="l" indent="0" marL="0">
              <a:lnSpc>
                <a:spcPts val="2450"/>
              </a:lnSpc>
              <a:buNone/>
            </a:pPr>
            <a:r>
              <a:rPr lang="en-US" sz="1750" dirty="0">
                <a:solidFill>
                  <a:srgbClr val="101A22"/>
                </a:solidFill>
                <a:latin typeface="Arial" pitchFamily="34" charset="0"/>
                <a:ea typeface="Arial" pitchFamily="34" charset="-122"/>
                <a:cs typeface="Arial" pitchFamily="34" charset="-120"/>
              </a:rPr>
              <a:t>How the three fit together, and where each component runs</a:t>
            </a:r>
            <a:endParaRPr lang="en-US" sz="1750" dirty="0"/>
          </a:p>
        </p:txBody>
      </p:sp>
      <p:sp>
        <p:nvSpPr>
          <p:cNvPr id="9" name="Text 7"/>
          <p:cNvSpPr txBox="1"/>
          <p:nvPr/>
        </p:nvSpPr>
        <p:spPr>
          <a:xfrm>
            <a:off x="1010012" y="2384944"/>
            <a:ext cx="147872" cy="211592"/>
          </a:xfrm>
          <a:prstGeom prst="rect">
            <a:avLst/>
          </a:prstGeom>
          <a:noFill/>
          <a:ln/>
        </p:spPr>
        <p:txBody>
          <a:bodyPr wrap="none" lIns="0" tIns="0" rIns="0" bIns="0" rtlCol="0" anchor="t"/>
          <a:lstStyle/>
          <a:p>
            <a:pPr algn="l" indent="0" marL="0">
              <a:lnSpc>
                <a:spcPts val="1670"/>
              </a:lnSpc>
              <a:buNone/>
            </a:pPr>
            <a:r>
              <a:rPr lang="en-US" sz="1190" b="1" dirty="0">
                <a:solidFill>
                  <a:srgbClr val="0B6E99"/>
                </a:solidFill>
                <a:latin typeface="Courier New" pitchFamily="34" charset="0"/>
                <a:ea typeface="Courier New" pitchFamily="34" charset="-122"/>
                <a:cs typeface="Courier New" pitchFamily="34" charset="-120"/>
              </a:rPr>
              <a:t>3</a:t>
            </a:r>
            <a:endParaRPr lang="en-US" sz="1190" dirty="0"/>
          </a:p>
        </p:txBody>
      </p:sp>
      <p:sp>
        <p:nvSpPr>
          <p:cNvPr id="10" name="Text 8"/>
          <p:cNvSpPr txBox="1"/>
          <p:nvPr/>
        </p:nvSpPr>
        <p:spPr>
          <a:xfrm>
            <a:off x="1401032" y="2927336"/>
            <a:ext cx="9838104" cy="311291"/>
          </a:xfrm>
          <a:prstGeom prst="rect">
            <a:avLst/>
          </a:prstGeom>
          <a:noFill/>
          <a:ln/>
        </p:spPr>
        <p:txBody>
          <a:bodyPr wrap="none" lIns="0" tIns="0" rIns="0" bIns="0" rtlCol="0" anchor="t"/>
          <a:lstStyle/>
          <a:p>
            <a:pPr algn="l" indent="0" marL="0">
              <a:lnSpc>
                <a:spcPts val="2450"/>
              </a:lnSpc>
              <a:buNone/>
            </a:pPr>
            <a:r>
              <a:rPr lang="en-US" sz="1750" dirty="0">
                <a:solidFill>
                  <a:srgbClr val="101A22"/>
                </a:solidFill>
                <a:latin typeface="Arial" pitchFamily="34" charset="0"/>
                <a:ea typeface="Arial" pitchFamily="34" charset="-122"/>
                <a:cs typeface="Arial" pitchFamily="34" charset="-120"/>
              </a:rPr>
              <a:t>Terms used in the commands and in the searches</a:t>
            </a:r>
            <a:endParaRPr lang="en-US" sz="1750" dirty="0"/>
          </a:p>
        </p:txBody>
      </p:sp>
      <p:sp>
        <p:nvSpPr>
          <p:cNvPr id="11" name="Text 9"/>
          <p:cNvSpPr txBox="1"/>
          <p:nvPr/>
        </p:nvSpPr>
        <p:spPr>
          <a:xfrm>
            <a:off x="1010012" y="2980681"/>
            <a:ext cx="147872" cy="211592"/>
          </a:xfrm>
          <a:prstGeom prst="rect">
            <a:avLst/>
          </a:prstGeom>
          <a:noFill/>
          <a:ln/>
        </p:spPr>
        <p:txBody>
          <a:bodyPr wrap="none" lIns="0" tIns="0" rIns="0" bIns="0" rtlCol="0" anchor="t"/>
          <a:lstStyle/>
          <a:p>
            <a:pPr algn="l" indent="0" marL="0">
              <a:lnSpc>
                <a:spcPts val="1670"/>
              </a:lnSpc>
              <a:buNone/>
            </a:pPr>
            <a:r>
              <a:rPr lang="en-US" sz="1190" b="1" dirty="0">
                <a:solidFill>
                  <a:srgbClr val="0B6E99"/>
                </a:solidFill>
                <a:latin typeface="Courier New" pitchFamily="34" charset="0"/>
                <a:ea typeface="Courier New" pitchFamily="34" charset="-122"/>
                <a:cs typeface="Courier New" pitchFamily="34" charset="-120"/>
              </a:rPr>
              <a:t>4</a:t>
            </a:r>
            <a:endParaRPr lang="en-US" sz="1190" dirty="0"/>
          </a:p>
        </p:txBody>
      </p:sp>
      <p:sp>
        <p:nvSpPr>
          <p:cNvPr id="12" name="Text 10"/>
          <p:cNvSpPr txBox="1"/>
          <p:nvPr/>
        </p:nvSpPr>
        <p:spPr>
          <a:xfrm>
            <a:off x="1401032" y="3523072"/>
            <a:ext cx="9838104" cy="311292"/>
          </a:xfrm>
          <a:prstGeom prst="rect">
            <a:avLst/>
          </a:prstGeom>
          <a:noFill/>
          <a:ln/>
        </p:spPr>
        <p:txBody>
          <a:bodyPr wrap="none" lIns="0" tIns="0" rIns="0" bIns="0" rtlCol="0" anchor="t"/>
          <a:lstStyle/>
          <a:p>
            <a:pPr algn="l" indent="0" marL="0">
              <a:lnSpc>
                <a:spcPts val="2450"/>
              </a:lnSpc>
              <a:buNone/>
            </a:pPr>
            <a:r>
              <a:rPr lang="en-US" sz="1750" dirty="0">
                <a:solidFill>
                  <a:srgbClr val="101A22"/>
                </a:solidFill>
                <a:latin typeface="Arial" pitchFamily="34" charset="0"/>
                <a:ea typeface="Arial" pitchFamily="34" charset="-122"/>
                <a:cs typeface="Arial" pitchFamily="34" charset="-120"/>
              </a:rPr>
              <a:t>Installation and configuration on Ubuntu and Red Hat</a:t>
            </a:r>
            <a:endParaRPr lang="en-US" sz="1750" dirty="0"/>
          </a:p>
        </p:txBody>
      </p:sp>
      <p:sp>
        <p:nvSpPr>
          <p:cNvPr id="13" name="Text 11"/>
          <p:cNvSpPr txBox="1"/>
          <p:nvPr/>
        </p:nvSpPr>
        <p:spPr>
          <a:xfrm>
            <a:off x="1010012" y="3576417"/>
            <a:ext cx="147872" cy="211592"/>
          </a:xfrm>
          <a:prstGeom prst="rect">
            <a:avLst/>
          </a:prstGeom>
          <a:noFill/>
          <a:ln/>
        </p:spPr>
        <p:txBody>
          <a:bodyPr wrap="none" lIns="0" tIns="0" rIns="0" bIns="0" rtlCol="0" anchor="t"/>
          <a:lstStyle/>
          <a:p>
            <a:pPr algn="l" indent="0" marL="0">
              <a:lnSpc>
                <a:spcPts val="1670"/>
              </a:lnSpc>
              <a:buNone/>
            </a:pPr>
            <a:r>
              <a:rPr lang="en-US" sz="1190" b="1" dirty="0">
                <a:solidFill>
                  <a:srgbClr val="0B6E99"/>
                </a:solidFill>
                <a:latin typeface="Courier New" pitchFamily="34" charset="0"/>
                <a:ea typeface="Courier New" pitchFamily="34" charset="-122"/>
                <a:cs typeface="Courier New" pitchFamily="34" charset="-120"/>
              </a:rPr>
              <a:t>5</a:t>
            </a:r>
            <a:endParaRPr lang="en-US" sz="1190" dirty="0"/>
          </a:p>
        </p:txBody>
      </p:sp>
      <p:sp>
        <p:nvSpPr>
          <p:cNvPr id="14" name="Text 12"/>
          <p:cNvSpPr txBox="1"/>
          <p:nvPr/>
        </p:nvSpPr>
        <p:spPr>
          <a:xfrm>
            <a:off x="1401032" y="4118809"/>
            <a:ext cx="9838104" cy="311291"/>
          </a:xfrm>
          <a:prstGeom prst="rect">
            <a:avLst/>
          </a:prstGeom>
          <a:noFill/>
          <a:ln/>
        </p:spPr>
        <p:txBody>
          <a:bodyPr wrap="none" lIns="0" tIns="0" rIns="0" bIns="0" rtlCol="0" anchor="t"/>
          <a:lstStyle/>
          <a:p>
            <a:pPr algn="l" indent="0" marL="0">
              <a:lnSpc>
                <a:spcPts val="2450"/>
              </a:lnSpc>
              <a:buNone/>
            </a:pPr>
            <a:r>
              <a:rPr lang="en-US" sz="1750" dirty="0">
                <a:solidFill>
                  <a:srgbClr val="101A22"/>
                </a:solidFill>
                <a:latin typeface="Arial" pitchFamily="34" charset="0"/>
                <a:ea typeface="Arial" pitchFamily="34" charset="-122"/>
                <a:cs typeface="Arial" pitchFamily="34" charset="-120"/>
              </a:rPr>
              <a:t>Searches and charts in OpenSearch</a:t>
            </a:r>
            <a:endParaRPr lang="en-US" sz="1750" dirty="0"/>
          </a:p>
        </p:txBody>
      </p:sp>
      <p:sp>
        <p:nvSpPr>
          <p:cNvPr id="15" name="Text 13"/>
          <p:cNvSpPr txBox="1"/>
          <p:nvPr/>
        </p:nvSpPr>
        <p:spPr>
          <a:xfrm>
            <a:off x="1010012" y="4172153"/>
            <a:ext cx="147872" cy="211592"/>
          </a:xfrm>
          <a:prstGeom prst="rect">
            <a:avLst/>
          </a:prstGeom>
          <a:noFill/>
          <a:ln/>
        </p:spPr>
        <p:txBody>
          <a:bodyPr wrap="none" lIns="0" tIns="0" rIns="0" bIns="0" rtlCol="0" anchor="t"/>
          <a:lstStyle/>
          <a:p>
            <a:pPr algn="l" indent="0" marL="0">
              <a:lnSpc>
                <a:spcPts val="1670"/>
              </a:lnSpc>
              <a:buNone/>
            </a:pPr>
            <a:r>
              <a:rPr lang="en-US" sz="1190" b="1" dirty="0">
                <a:solidFill>
                  <a:srgbClr val="0B6E99"/>
                </a:solidFill>
                <a:latin typeface="Courier New" pitchFamily="34" charset="0"/>
                <a:ea typeface="Courier New" pitchFamily="34" charset="-122"/>
                <a:cs typeface="Courier New" pitchFamily="34" charset="-120"/>
              </a:rPr>
              <a:t>6</a:t>
            </a:r>
            <a:endParaRPr lang="en-US" sz="1190" dirty="0"/>
          </a:p>
        </p:txBody>
      </p:sp>
      <p:sp>
        <p:nvSpPr>
          <p:cNvPr id="16" name="Text 14"/>
          <p:cNvSpPr txBox="1"/>
          <p:nvPr/>
        </p:nvSpPr>
        <p:spPr>
          <a:xfrm>
            <a:off x="1401032" y="4714545"/>
            <a:ext cx="9838104" cy="311291"/>
          </a:xfrm>
          <a:prstGeom prst="rect">
            <a:avLst/>
          </a:prstGeom>
          <a:noFill/>
          <a:ln/>
        </p:spPr>
        <p:txBody>
          <a:bodyPr wrap="none" lIns="0" tIns="0" rIns="0" bIns="0" rtlCol="0" anchor="t"/>
          <a:lstStyle/>
          <a:p>
            <a:pPr algn="l" indent="0" marL="0">
              <a:lnSpc>
                <a:spcPts val="2450"/>
              </a:lnSpc>
              <a:buNone/>
            </a:pPr>
            <a:r>
              <a:rPr lang="en-US" sz="1750" dirty="0">
                <a:solidFill>
                  <a:srgbClr val="101A22"/>
                </a:solidFill>
                <a:latin typeface="Arial" pitchFamily="34" charset="0"/>
                <a:ea typeface="Arial" pitchFamily="34" charset="-122"/>
                <a:cs typeface="Arial" pitchFamily="34" charset="-120"/>
              </a:rPr>
              <a:t>Plan for personal data in the events and for too many indices</a:t>
            </a:r>
            <a:endParaRPr lang="en-US" sz="1750" dirty="0"/>
          </a:p>
        </p:txBody>
      </p:sp>
      <p:sp>
        <p:nvSpPr>
          <p:cNvPr id="17" name="Text 15"/>
          <p:cNvSpPr txBox="1"/>
          <p:nvPr/>
        </p:nvSpPr>
        <p:spPr>
          <a:xfrm>
            <a:off x="1010012" y="4767890"/>
            <a:ext cx="147872" cy="211592"/>
          </a:xfrm>
          <a:prstGeom prst="rect">
            <a:avLst/>
          </a:prstGeom>
          <a:noFill/>
          <a:ln/>
        </p:spPr>
        <p:txBody>
          <a:bodyPr wrap="none" lIns="0" tIns="0" rIns="0" bIns="0" rtlCol="0" anchor="t"/>
          <a:lstStyle/>
          <a:p>
            <a:pPr algn="l" indent="0" marL="0">
              <a:lnSpc>
                <a:spcPts val="1670"/>
              </a:lnSpc>
              <a:buNone/>
            </a:pPr>
            <a:r>
              <a:rPr lang="en-US" sz="1190" b="1" dirty="0">
                <a:solidFill>
                  <a:srgbClr val="0B6E99"/>
                </a:solidFill>
                <a:latin typeface="Courier New" pitchFamily="34" charset="0"/>
                <a:ea typeface="Courier New" pitchFamily="34" charset="-122"/>
                <a:cs typeface="Courier New" pitchFamily="34" charset="-120"/>
              </a:rPr>
              <a:t>7</a:t>
            </a:r>
            <a:endParaRPr lang="en-US" sz="1190" dirty="0"/>
          </a:p>
        </p:txBody>
      </p:sp>
      <p:sp>
        <p:nvSpPr>
          <p:cNvPr id="18" name="Text 16"/>
          <p:cNvSpPr txBox="1"/>
          <p:nvPr/>
        </p:nvSpPr>
        <p:spPr>
          <a:xfrm>
            <a:off x="1401032" y="5310281"/>
            <a:ext cx="9838104" cy="311292"/>
          </a:xfrm>
          <a:prstGeom prst="rect">
            <a:avLst/>
          </a:prstGeom>
          <a:noFill/>
          <a:ln/>
        </p:spPr>
        <p:txBody>
          <a:bodyPr wrap="none" lIns="0" tIns="0" rIns="0" bIns="0" rtlCol="0" anchor="t"/>
          <a:lstStyle/>
          <a:p>
            <a:pPr algn="l" indent="0" marL="0">
              <a:lnSpc>
                <a:spcPts val="2450"/>
              </a:lnSpc>
              <a:buNone/>
            </a:pPr>
            <a:r>
              <a:rPr lang="en-US" sz="1750" dirty="0">
                <a:solidFill>
                  <a:srgbClr val="101A22"/>
                </a:solidFill>
                <a:latin typeface="Arial" pitchFamily="34" charset="0"/>
                <a:ea typeface="Arial" pitchFamily="34" charset="-122"/>
                <a:cs typeface="Arial" pitchFamily="34" charset="-120"/>
              </a:rPr>
              <a:t>A short look at timing data, and then a live system</a:t>
            </a:r>
            <a:endParaRPr lang="en-US" sz="1750" dirty="0"/>
          </a:p>
        </p:txBody>
      </p:sp>
      <p:sp>
        <p:nvSpPr>
          <p:cNvPr id="19" name="Text 17"/>
          <p:cNvSpPr txBox="1"/>
          <p:nvPr/>
        </p:nvSpPr>
        <p:spPr>
          <a:xfrm>
            <a:off x="1010012" y="5363626"/>
            <a:ext cx="147872" cy="211592"/>
          </a:xfrm>
          <a:prstGeom prst="rect">
            <a:avLst/>
          </a:prstGeom>
          <a:noFill/>
          <a:ln/>
        </p:spPr>
        <p:txBody>
          <a:bodyPr wrap="none" lIns="0" tIns="0" rIns="0" bIns="0" rtlCol="0" anchor="t"/>
          <a:lstStyle/>
          <a:p>
            <a:pPr algn="l" indent="0" marL="0">
              <a:lnSpc>
                <a:spcPts val="1670"/>
              </a:lnSpc>
              <a:buNone/>
            </a:pPr>
            <a:r>
              <a:rPr lang="en-US" sz="1190" b="1" dirty="0">
                <a:solidFill>
                  <a:srgbClr val="0B6E99"/>
                </a:solidFill>
                <a:latin typeface="Courier New" pitchFamily="34" charset="0"/>
                <a:ea typeface="Courier New" pitchFamily="34" charset="-122"/>
                <a:cs typeface="Courier New" pitchFamily="34" charset="-120"/>
              </a:rPr>
              <a:t>8</a:t>
            </a:r>
            <a:endParaRPr lang="en-US" sz="1190" dirty="0"/>
          </a:p>
        </p:txBody>
      </p:sp>
      <p:sp>
        <p:nvSpPr>
          <p:cNvPr id="20" name="Text 18"/>
          <p:cNvSpPr txBox="1"/>
          <p:nvPr/>
        </p:nvSpPr>
        <p:spPr>
          <a:xfrm>
            <a:off x="647700" y="6464587"/>
            <a:ext cx="503039" cy="142875"/>
          </a:xfrm>
          <a:prstGeom prst="rect">
            <a:avLst/>
          </a:prstGeom>
          <a:noFill/>
          <a:ln/>
        </p:spPr>
        <p:txBody>
          <a:bodyPr wrap="none" lIns="0" tIns="0" rIns="0" bIns="0" rtlCol="0" anchor="t"/>
          <a:lstStyle/>
          <a:p>
            <a:pPr algn="l" indent="0" marL="0">
              <a:lnSpc>
                <a:spcPts val="1090"/>
              </a:lnSpc>
              <a:buNone/>
            </a:pPr>
            <a:r>
              <a:rPr lang="en-US" sz="910" dirty="0">
                <a:solidFill>
                  <a:srgbClr val="8496A2"/>
                </a:solidFill>
                <a:latin typeface="Courier New" pitchFamily="34" charset="0"/>
                <a:ea typeface="Courier New" pitchFamily="34" charset="-122"/>
                <a:cs typeface="Courier New" pitchFamily="34" charset="-120"/>
              </a:rPr>
              <a:t>Agenda</a:t>
            </a:r>
            <a:endParaRPr lang="en-US" sz="910" dirty="0"/>
          </a:p>
        </p:txBody>
      </p:sp>
      <p:sp>
        <p:nvSpPr>
          <p:cNvPr id="21" name="Text 19"/>
          <p:cNvSpPr txBox="1"/>
          <p:nvPr/>
        </p:nvSpPr>
        <p:spPr>
          <a:xfrm>
            <a:off x="11098411" y="6464587"/>
            <a:ext cx="503039" cy="142875"/>
          </a:xfrm>
          <a:prstGeom prst="rect">
            <a:avLst/>
          </a:prstGeom>
          <a:noFill/>
          <a:ln/>
        </p:spPr>
        <p:txBody>
          <a:bodyPr wrap="none" lIns="0" tIns="0" rIns="0" bIns="0" rtlCol="0" anchor="t"/>
          <a:lstStyle/>
          <a:p>
            <a:pPr algn="l" indent="0" marL="0">
              <a:lnSpc>
                <a:spcPts val="1090"/>
              </a:lnSpc>
              <a:buNone/>
            </a:pPr>
            <a:r>
              <a:rPr lang="en-US" sz="910" dirty="0">
                <a:solidFill>
                  <a:srgbClr val="8496A2"/>
                </a:solidFill>
                <a:latin typeface="Courier New" pitchFamily="34" charset="0"/>
                <a:ea typeface="Courier New" pitchFamily="34" charset="-122"/>
                <a:cs typeface="Courier New" pitchFamily="34" charset="-120"/>
              </a:rPr>
              <a:t>2 / 39</a:t>
            </a:r>
            <a:endParaRPr lang="en-US" sz="910" dirty="0"/>
          </a:p>
        </p:txBody>
      </p:sp>
      <p:pic>
        <p:nvPicPr>
          <p:cNvPr id="900" name="NetSapiensis mark" descr="NetSapiensis"/>
          <p:cNvPicPr>
            <a:picLocks noChangeAspect="1"/>
          </p:cNvPicPr>
          <p:nvPr/>
        </p:nvPicPr>
        <p:blipFill>
          <a:blip r:embed="rId3"/>
          <a:stretch>
            <a:fillRect/>
          </a:stretch>
        </p:blipFill>
        <p:spPr>
          <a:xfrm>
            <a:off x="10776204" y="6419088"/>
            <a:ext cx="178308" cy="237744"/>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7700" y="1532186"/>
            <a:ext cx="10896600" cy="1378744"/>
          </a:xfrm>
          <a:prstGeom prst="roundRect">
            <a:avLst>
              <a:gd name="adj" fmla="val 9164"/>
            </a:avLst>
          </a:prstGeom>
          <a:solidFill>
            <a:srgbClr val="0F2027"/>
          </a:solidFill>
          <a:ln/>
        </p:spPr>
      </p:sp>
      <p:sp>
        <p:nvSpPr>
          <p:cNvPr id="3" name="Shape 1"/>
          <p:cNvSpPr/>
          <p:nvPr/>
        </p:nvSpPr>
        <p:spPr>
          <a:xfrm>
            <a:off x="685800" y="3196679"/>
            <a:ext cx="85725" cy="85725"/>
          </a:xfrm>
          <a:prstGeom prst="roundRect">
            <a:avLst>
              <a:gd name="adj" fmla="val 474074"/>
            </a:avLst>
          </a:prstGeom>
          <a:solidFill>
            <a:srgbClr val="0B6E99"/>
          </a:solidFill>
          <a:ln/>
        </p:spPr>
      </p:sp>
      <p:sp>
        <p:nvSpPr>
          <p:cNvPr id="4" name="Shape 2"/>
          <p:cNvSpPr/>
          <p:nvPr/>
        </p:nvSpPr>
        <p:spPr>
          <a:xfrm>
            <a:off x="685800" y="3963591"/>
            <a:ext cx="85725" cy="85725"/>
          </a:xfrm>
          <a:prstGeom prst="roundRect">
            <a:avLst>
              <a:gd name="adj" fmla="val 474074"/>
            </a:avLst>
          </a:prstGeom>
          <a:solidFill>
            <a:srgbClr val="0B6E99"/>
          </a:solidFill>
          <a:ln/>
        </p:spPr>
      </p:sp>
      <p:sp>
        <p:nvSpPr>
          <p:cNvPr id="5" name="Shape 3"/>
          <p:cNvSpPr/>
          <p:nvPr/>
        </p:nvSpPr>
        <p:spPr>
          <a:xfrm>
            <a:off x="685800" y="4403527"/>
            <a:ext cx="85725" cy="85725"/>
          </a:xfrm>
          <a:prstGeom prst="roundRect">
            <a:avLst>
              <a:gd name="adj" fmla="val 474074"/>
            </a:avLst>
          </a:prstGeom>
          <a:solidFill>
            <a:srgbClr val="0B6E99"/>
          </a:solidFill>
          <a:ln/>
        </p:spPr>
      </p:sp>
      <p:sp>
        <p:nvSpPr>
          <p:cNvPr id="6" name="Shape 4"/>
          <p:cNvSpPr/>
          <p:nvPr/>
        </p:nvSpPr>
        <p:spPr>
          <a:xfrm>
            <a:off x="647700" y="6343650"/>
            <a:ext cx="10896600" cy="0"/>
          </a:xfrm>
          <a:prstGeom prst="line">
            <a:avLst/>
          </a:prstGeom>
          <a:noFill/>
          <a:ln w="10160">
            <a:solidFill>
              <a:srgbClr val="CBD7DF"/>
            </a:solidFill>
            <a:prstDash val="solid"/>
          </a:ln>
        </p:spPr>
      </p:sp>
      <p:sp>
        <p:nvSpPr>
          <p:cNvPr id="7" name="Text 5"/>
          <p:cNvSpPr txBox="1"/>
          <p:nvPr/>
        </p:nvSpPr>
        <p:spPr>
          <a:xfrm>
            <a:off x="647700" y="511731"/>
            <a:ext cx="10953750" cy="185738"/>
          </a:xfrm>
          <a:prstGeom prst="rect">
            <a:avLst/>
          </a:prstGeom>
          <a:noFill/>
          <a:ln/>
        </p:spPr>
        <p:txBody>
          <a:bodyPr wrap="none" lIns="0" tIns="0" rIns="0" bIns="0" rtlCol="0" anchor="t"/>
          <a:lstStyle/>
          <a:p>
            <a:pPr algn="l" indent="0" marL="0">
              <a:lnSpc>
                <a:spcPts val="1460"/>
              </a:lnSpc>
              <a:buNone/>
            </a:pPr>
            <a:r>
              <a:rPr lang="en-US" sz="980" spc="160" kern="0" dirty="0">
                <a:solidFill>
                  <a:srgbClr val="0B6E99"/>
                </a:solidFill>
                <a:latin typeface="Courier New" pitchFamily="34" charset="0"/>
                <a:ea typeface="Courier New" pitchFamily="34" charset="-122"/>
                <a:cs typeface="Courier New" pitchFamily="34" charset="-120"/>
              </a:rPr>
              <a:t>THE LOG TABLE</a:t>
            </a:r>
            <a:endParaRPr lang="en-US" sz="980" dirty="0"/>
          </a:p>
        </p:txBody>
      </p:sp>
      <p:sp>
        <p:nvSpPr>
          <p:cNvPr id="8" name="Text 6"/>
          <p:cNvSpPr txBox="1"/>
          <p:nvPr/>
        </p:nvSpPr>
        <p:spPr>
          <a:xfrm>
            <a:off x="647700" y="852488"/>
            <a:ext cx="10953750" cy="432054"/>
          </a:xfrm>
          <a:prstGeom prst="rect">
            <a:avLst/>
          </a:prstGeom>
          <a:noFill/>
          <a:ln/>
        </p:spPr>
        <p:txBody>
          <a:bodyPr wrap="none" lIns="0" tIns="0" rIns="0" bIns="0" rtlCol="0" anchor="t"/>
          <a:lstStyle/>
          <a:p>
            <a:pPr algn="l" indent="0" marL="0">
              <a:lnSpc>
                <a:spcPts val="3400"/>
              </a:lnSpc>
              <a:buNone/>
            </a:pPr>
            <a:r>
              <a:rPr lang="en-US" sz="3150" b="1" spc="-60" kern="0" dirty="0">
                <a:solidFill>
                  <a:srgbClr val="101A22"/>
                </a:solidFill>
                <a:latin typeface="Arial" pitchFamily="34" charset="0"/>
                <a:ea typeface="Arial" pitchFamily="34" charset="-122"/>
                <a:cs typeface="Arial" pitchFamily="34" charset="-120"/>
              </a:rPr>
              <a:t>Moodle already logs every event</a:t>
            </a:r>
            <a:endParaRPr lang="en-US" sz="3150" dirty="0"/>
          </a:p>
        </p:txBody>
      </p:sp>
      <p:sp>
        <p:nvSpPr>
          <p:cNvPr id="9" name="Text 7"/>
          <p:cNvSpPr txBox="1"/>
          <p:nvPr/>
        </p:nvSpPr>
        <p:spPr>
          <a:xfrm>
            <a:off x="857250" y="1682204"/>
            <a:ext cx="10534650" cy="1035844"/>
          </a:xfrm>
          <a:prstGeom prst="rect">
            <a:avLst/>
          </a:prstGeom>
          <a:noFill/>
          <a:ln/>
        </p:spPr>
        <p:txBody>
          <a:bodyPr wrap="square" lIns="0" tIns="0" rIns="0" bIns="0" rtlCol="0" anchor="t"/>
          <a:lstStyle/>
          <a:p>
            <a:pPr algn="l" indent="0" marL="0">
              <a:lnSpc>
                <a:spcPts val="1630"/>
              </a:lnSpc>
              <a:buNone/>
            </a:pPr>
            <a:r>
              <a:rPr lang="en-US" sz="1130" dirty="0">
                <a:solidFill>
                  <a:srgbClr val="F0C070"/>
                </a:solidFill>
                <a:latin typeface="Courier New" pitchFamily="34" charset="0"/>
                <a:ea typeface="Courier New" pitchFamily="34" charset="-122"/>
                <a:cs typeface="Courier New" pitchFamily="34" charset="-120"/>
              </a:rPr>
              <a:t>"Login failed for user 'admin'. Most likely the</a:t>
            </a:r>
            <a:endParaRPr lang="en-US" sz="1130" dirty="0"/>
          </a:p>
          <a:p>
            <a:pPr algn="l" indent="0" marL="0">
              <a:lnSpc>
                <a:spcPts val="1630"/>
              </a:lnSpc>
              <a:buNone/>
            </a:pPr>
            <a:r>
              <a:rPr lang="en-US" sz="1130" dirty="0">
                <a:solidFill>
                  <a:srgbClr val="F0C070"/>
                </a:solidFill>
                <a:latin typeface="Courier New" pitchFamily="34" charset="0"/>
                <a:ea typeface="Courier New" pitchFamily="34" charset="-122"/>
                <a:cs typeface="Courier New" pitchFamily="34" charset="-120"/>
              </a:rPr>
              <a:t> password did not match (error ID '3')."</a:t>
            </a:r>
            <a:pPr algn="l" indent="0" marL="0">
              <a:lnSpc>
                <a:spcPts val="1630"/>
              </a:lnSpc>
              <a:buNone/>
            </a:pPr>
            <a:r>
              <a:rPr lang="en-US" sz="1130" dirty="0">
                <a:solidFill>
                  <a:srgbClr val="E4EDF2"/>
                </a:solidFill>
                <a:latin typeface="Courier New" pitchFamily="34" charset="0"/>
                <a:ea typeface="Courier New" pitchFamily="34" charset="-122"/>
                <a:cs typeface="Courier New" pitchFamily="34" charset="-120"/>
              </a:rPr>
              <a:t> </a:t>
            </a:r>
            <a:endParaRPr lang="en-US" sz="1130" dirty="0"/>
          </a:p>
          <a:p>
            <a:pPr algn="l" indent="0" marL="0">
              <a:lnSpc>
                <a:spcPts val="1630"/>
              </a:lnSpc>
              <a:buNone/>
            </a:pPr>
            <a:r>
              <a:rPr lang="en-US" sz="1130" dirty="0">
                <a:solidFill>
                  <a:srgbClr val="E4EDF2"/>
                </a:solidFill>
                <a:latin typeface="Courier New" pitchFamily="34" charset="0"/>
                <a:ea typeface="Courier New" pitchFamily="34" charset="-122"/>
                <a:cs typeface="Courier New" pitchFamily="34" charset="-120"/>
              </a:rPr>
              <a:t> </a:t>
            </a:r>
            <a:endParaRPr lang="en-US" sz="1130" dirty="0"/>
          </a:p>
          <a:p>
            <a:pPr algn="l" indent="0" marL="0">
              <a:lnSpc>
                <a:spcPts val="1630"/>
              </a:lnSpc>
              <a:buNone/>
            </a:pPr>
            <a:r>
              <a:rPr lang="en-US" sz="1130" dirty="0">
                <a:solidFill>
                  <a:srgbClr val="E4EDF2"/>
                </a:solidFill>
                <a:latin typeface="Courier New" pitchFamily="34" charset="0"/>
                <a:ea typeface="Courier New" pitchFamily="34" charset="-122"/>
                <a:cs typeface="Courier New" pitchFamily="34" charset="-120"/>
              </a:rPr>
              <a:t> </a:t>
            </a:r>
            <a:pPr algn="l" indent="0" marL="0">
              <a:lnSpc>
                <a:spcPts val="1630"/>
              </a:lnSpc>
              <a:buNone/>
            </a:pPr>
            <a:r>
              <a:rPr lang="en-US" sz="1130" dirty="0">
                <a:solidFill>
                  <a:srgbClr val="F0C070"/>
                </a:solidFill>
                <a:latin typeface="Courier New" pitchFamily="34" charset="0"/>
                <a:ea typeface="Courier New" pitchFamily="34" charset="-122"/>
                <a:cs typeface="Courier New" pitchFamily="34" charset="-120"/>
              </a:rPr>
              <a:t>"The user with id '2' viewed the 'assign' activity</a:t>
            </a:r>
            <a:endParaRPr lang="en-US" sz="1130" dirty="0"/>
          </a:p>
          <a:p>
            <a:pPr algn="l" indent="0" marL="0">
              <a:lnSpc>
                <a:spcPts val="1630"/>
              </a:lnSpc>
              <a:buNone/>
            </a:pPr>
            <a:r>
              <a:rPr lang="en-US" sz="1130" dirty="0">
                <a:solidFill>
                  <a:srgbClr val="F0C070"/>
                </a:solidFill>
                <a:latin typeface="Courier New" pitchFamily="34" charset="0"/>
                <a:ea typeface="Courier New" pitchFamily="34" charset="-122"/>
                <a:cs typeface="Courier New" pitchFamily="34" charset="-120"/>
              </a:rPr>
              <a:t> with course module id '2'."</a:t>
            </a:r>
            <a:endParaRPr lang="en-US" sz="1130" dirty="0"/>
          </a:p>
        </p:txBody>
      </p:sp>
      <p:sp>
        <p:nvSpPr>
          <p:cNvPr id="10" name="Text 8"/>
          <p:cNvSpPr txBox="1"/>
          <p:nvPr/>
        </p:nvSpPr>
        <p:spPr>
          <a:xfrm>
            <a:off x="933450" y="3054995"/>
            <a:ext cx="10668000" cy="633561"/>
          </a:xfrm>
          <a:prstGeom prst="rect">
            <a:avLst/>
          </a:prstGeom>
          <a:noFill/>
          <a:ln/>
        </p:spPr>
        <p:txBody>
          <a:bodyPr wrap="square" lIns="0" tIns="0" rIns="0" bIns="0" rtlCol="0" anchor="t"/>
          <a:lstStyle/>
          <a:p>
            <a:pPr algn="l" indent="0" marL="0">
              <a:lnSpc>
                <a:spcPts val="2420"/>
              </a:lnSpc>
              <a:buNone/>
            </a:pPr>
            <a:r>
              <a:rPr lang="en-US" sz="1730" dirty="0">
                <a:solidFill>
                  <a:srgbClr val="101A22"/>
                </a:solidFill>
                <a:latin typeface="Arial" pitchFamily="34" charset="0"/>
                <a:ea typeface="Arial" pitchFamily="34" charset="-122"/>
                <a:cs typeface="Arial" pitchFamily="34" charset="-120"/>
              </a:rPr>
              <a:t>Every click, every login and every failure becomes one row in </a:t>
            </a:r>
            <a:pPr algn="l" indent="0" marL="0">
              <a:lnSpc>
                <a:spcPts val="2420"/>
              </a:lnSpc>
              <a:buNone/>
            </a:pPr>
            <a:r>
              <a:rPr lang="en-US" sz="1520" dirty="0">
                <a:solidFill>
                  <a:srgbClr val="101A22"/>
                </a:solidFill>
                <a:highlight>
                  <a:srgbClr val="E1F0F7"/>
                </a:highlight>
                <a:latin typeface="Courier New" pitchFamily="34" charset="0"/>
                <a:ea typeface="Courier New" pitchFamily="34" charset="-122"/>
                <a:cs typeface="Courier New" pitchFamily="34" charset="-120"/>
              </a:rPr>
              <a:t>mdl_logstore_standard_log</a:t>
            </a:r>
            <a:pPr algn="l" indent="0" marL="0">
              <a:lnSpc>
                <a:spcPts val="2420"/>
              </a:lnSpc>
              <a:buNone/>
            </a:pPr>
            <a:r>
              <a:rPr lang="en-US" sz="1730" dirty="0">
                <a:solidFill>
                  <a:srgbClr val="101A22"/>
                </a:solidFill>
                <a:latin typeface="Arial" pitchFamily="34" charset="0"/>
                <a:ea typeface="Arial" pitchFamily="34" charset="-122"/>
                <a:cs typeface="Arial" pitchFamily="34" charset="-120"/>
              </a:rPr>
              <a:t>. That table is in the same database that serves your pages, and it is usually one of the </a:t>
            </a:r>
            <a:pPr algn="l" indent="0" marL="0">
              <a:lnSpc>
                <a:spcPts val="2420"/>
              </a:lnSpc>
              <a:buNone/>
            </a:pPr>
            <a:r>
              <a:rPr lang="en-US" sz="1730" b="1" dirty="0">
                <a:solidFill>
                  <a:srgbClr val="101A22"/>
                </a:solidFill>
                <a:latin typeface="Arial" pitchFamily="34" charset="0"/>
                <a:ea typeface="Arial" pitchFamily="34" charset="-122"/>
                <a:cs typeface="Arial" pitchFamily="34" charset="-120"/>
              </a:rPr>
              <a:t>largest tables you have</a:t>
            </a:r>
            <a:pPr algn="l" indent="0" marL="0">
              <a:lnSpc>
                <a:spcPts val="2420"/>
              </a:lnSpc>
              <a:buNone/>
            </a:pPr>
            <a:r>
              <a:rPr lang="en-US" sz="1730" dirty="0">
                <a:solidFill>
                  <a:srgbClr val="101A22"/>
                </a:solidFill>
                <a:latin typeface="Arial" pitchFamily="34" charset="0"/>
                <a:ea typeface="Arial" pitchFamily="34" charset="-122"/>
                <a:cs typeface="Arial" pitchFamily="34" charset="-120"/>
              </a:rPr>
              <a:t>.</a:t>
            </a:r>
            <a:endParaRPr lang="en-US" sz="1730" dirty="0"/>
          </a:p>
        </p:txBody>
      </p:sp>
      <p:sp>
        <p:nvSpPr>
          <p:cNvPr id="11" name="Text 9"/>
          <p:cNvSpPr txBox="1"/>
          <p:nvPr/>
        </p:nvSpPr>
        <p:spPr>
          <a:xfrm>
            <a:off x="933450" y="3821906"/>
            <a:ext cx="10668000" cy="306705"/>
          </a:xfrm>
          <a:prstGeom prst="rect">
            <a:avLst/>
          </a:prstGeom>
          <a:noFill/>
          <a:ln/>
        </p:spPr>
        <p:txBody>
          <a:bodyPr wrap="none" lIns="0" tIns="0" rIns="0" bIns="0" rtlCol="0" anchor="t"/>
          <a:lstStyle/>
          <a:p>
            <a:pPr algn="l" indent="0" marL="0">
              <a:lnSpc>
                <a:spcPts val="2420"/>
              </a:lnSpc>
              <a:buNone/>
            </a:pPr>
            <a:r>
              <a:rPr lang="en-US" sz="1730" dirty="0">
                <a:solidFill>
                  <a:srgbClr val="101A22"/>
                </a:solidFill>
                <a:latin typeface="Arial" pitchFamily="34" charset="0"/>
                <a:ea typeface="Arial" pitchFamily="34" charset="-122"/>
                <a:cs typeface="Arial" pitchFamily="34" charset="-120"/>
              </a:rPr>
              <a:t>Moodle's built-in reports, such as </a:t>
            </a:r>
            <a:pPr algn="l" indent="0" marL="0">
              <a:lnSpc>
                <a:spcPts val="2420"/>
              </a:lnSpc>
              <a:buNone/>
            </a:pPr>
            <a:r>
              <a:rPr lang="en-US" sz="1730" b="1" dirty="0">
                <a:solidFill>
                  <a:srgbClr val="101A22"/>
                </a:solidFill>
                <a:latin typeface="Arial" pitchFamily="34" charset="0"/>
                <a:ea typeface="Arial" pitchFamily="34" charset="-122"/>
                <a:cs typeface="Arial" pitchFamily="34" charset="-120"/>
              </a:rPr>
              <a:t>Logs</a:t>
            </a:r>
            <a:pPr algn="l" indent="0" marL="0">
              <a:lnSpc>
                <a:spcPts val="2420"/>
              </a:lnSpc>
              <a:buNone/>
            </a:pPr>
            <a:r>
              <a:rPr lang="en-US" sz="1730" dirty="0">
                <a:solidFill>
                  <a:srgbClr val="101A22"/>
                </a:solidFill>
                <a:latin typeface="Arial" pitchFamily="34" charset="0"/>
                <a:ea typeface="Arial" pitchFamily="34" charset="-122"/>
                <a:cs typeface="Arial" pitchFamily="34" charset="-120"/>
              </a:rPr>
              <a:t> and </a:t>
            </a:r>
            <a:pPr algn="l" indent="0" marL="0">
              <a:lnSpc>
                <a:spcPts val="2420"/>
              </a:lnSpc>
              <a:buNone/>
            </a:pPr>
            <a:r>
              <a:rPr lang="en-US" sz="1730" b="1" dirty="0">
                <a:solidFill>
                  <a:srgbClr val="101A22"/>
                </a:solidFill>
                <a:latin typeface="Arial" pitchFamily="34" charset="0"/>
                <a:ea typeface="Arial" pitchFamily="34" charset="-122"/>
                <a:cs typeface="Arial" pitchFamily="34" charset="-120"/>
              </a:rPr>
              <a:t>Live logs</a:t>
            </a:r>
            <a:pPr algn="l" indent="0" marL="0">
              <a:lnSpc>
                <a:spcPts val="2420"/>
              </a:lnSpc>
              <a:buNone/>
            </a:pPr>
            <a:r>
              <a:rPr lang="en-US" sz="1730" dirty="0">
                <a:solidFill>
                  <a:srgbClr val="101A22"/>
                </a:solidFill>
                <a:latin typeface="Arial" pitchFamily="34" charset="0"/>
                <a:ea typeface="Arial" pitchFamily="34" charset="-122"/>
                <a:cs typeface="Arial" pitchFamily="34" charset="-120"/>
              </a:rPr>
              <a:t>, use this table.</a:t>
            </a:r>
            <a:endParaRPr lang="en-US" sz="1730" dirty="0"/>
          </a:p>
        </p:txBody>
      </p:sp>
      <p:sp>
        <p:nvSpPr>
          <p:cNvPr id="12" name="Text 10"/>
          <p:cNvSpPr txBox="1"/>
          <p:nvPr/>
        </p:nvSpPr>
        <p:spPr>
          <a:xfrm>
            <a:off x="933450" y="4261842"/>
            <a:ext cx="10668000" cy="306705"/>
          </a:xfrm>
          <a:prstGeom prst="rect">
            <a:avLst/>
          </a:prstGeom>
          <a:noFill/>
          <a:ln/>
        </p:spPr>
        <p:txBody>
          <a:bodyPr wrap="none" lIns="0" tIns="0" rIns="0" bIns="0" rtlCol="0" anchor="t"/>
          <a:lstStyle/>
          <a:p>
            <a:pPr algn="l" indent="0" marL="0">
              <a:lnSpc>
                <a:spcPts val="2420"/>
              </a:lnSpc>
              <a:buNone/>
            </a:pPr>
            <a:r>
              <a:rPr lang="en-US" sz="1730" dirty="0">
                <a:solidFill>
                  <a:srgbClr val="101A22"/>
                </a:solidFill>
                <a:latin typeface="Arial" pitchFamily="34" charset="0"/>
                <a:ea typeface="Arial" pitchFamily="34" charset="-122"/>
                <a:cs typeface="Arial" pitchFamily="34" charset="-120"/>
              </a:rPr>
              <a:t>By default Moodle never deletes these rows, so the table grows for as long as the site runs.</a:t>
            </a:r>
            <a:endParaRPr lang="en-US" sz="1730" dirty="0"/>
          </a:p>
        </p:txBody>
      </p:sp>
      <p:sp>
        <p:nvSpPr>
          <p:cNvPr id="13" name="Text 11"/>
          <p:cNvSpPr txBox="1"/>
          <p:nvPr/>
        </p:nvSpPr>
        <p:spPr>
          <a:xfrm>
            <a:off x="647700" y="6464379"/>
            <a:ext cx="1023193" cy="148590"/>
          </a:xfrm>
          <a:prstGeom prst="rect">
            <a:avLst/>
          </a:prstGeom>
          <a:noFill/>
          <a:ln/>
        </p:spPr>
        <p:txBody>
          <a:bodyPr wrap="none" lIns="0" tIns="0" rIns="0" bIns="0" rtlCol="0" anchor="t"/>
          <a:lstStyle/>
          <a:p>
            <a:pPr algn="l" indent="0" marL="0">
              <a:lnSpc>
                <a:spcPts val="1170"/>
              </a:lnSpc>
              <a:buNone/>
            </a:pPr>
            <a:r>
              <a:rPr lang="en-US" sz="980" dirty="0">
                <a:solidFill>
                  <a:srgbClr val="8496A2"/>
                </a:solidFill>
                <a:latin typeface="Courier New" pitchFamily="34" charset="0"/>
                <a:ea typeface="Courier New" pitchFamily="34" charset="-122"/>
                <a:cs typeface="Courier New" pitchFamily="34" charset="-120"/>
              </a:rPr>
              <a:t>The log table</a:t>
            </a:r>
            <a:endParaRPr lang="en-US" sz="980" dirty="0"/>
          </a:p>
        </p:txBody>
      </p:sp>
      <p:sp>
        <p:nvSpPr>
          <p:cNvPr id="14" name="Text 12"/>
          <p:cNvSpPr txBox="1"/>
          <p:nvPr/>
        </p:nvSpPr>
        <p:spPr>
          <a:xfrm>
            <a:off x="11098411" y="6464379"/>
            <a:ext cx="503039" cy="148590"/>
          </a:xfrm>
          <a:prstGeom prst="rect">
            <a:avLst/>
          </a:prstGeom>
          <a:noFill/>
          <a:ln/>
        </p:spPr>
        <p:txBody>
          <a:bodyPr wrap="none" lIns="0" tIns="0" rIns="0" bIns="0" rtlCol="0" anchor="t"/>
          <a:lstStyle/>
          <a:p>
            <a:pPr algn="l" indent="0" marL="0">
              <a:lnSpc>
                <a:spcPts val="1170"/>
              </a:lnSpc>
              <a:buNone/>
            </a:pPr>
            <a:r>
              <a:rPr lang="en-US" sz="980" dirty="0">
                <a:solidFill>
                  <a:srgbClr val="8496A2"/>
                </a:solidFill>
                <a:latin typeface="Courier New" pitchFamily="34" charset="0"/>
                <a:ea typeface="Courier New" pitchFamily="34" charset="-122"/>
                <a:cs typeface="Courier New" pitchFamily="34" charset="-120"/>
              </a:rPr>
              <a:t>3 / 39</a:t>
            </a:r>
            <a:endParaRPr lang="en-US" sz="980" dirty="0"/>
          </a:p>
        </p:txBody>
      </p:sp>
      <p:pic>
        <p:nvPicPr>
          <p:cNvPr id="900" name="NetSapiensis mark" descr="NetSapiensis"/>
          <p:cNvPicPr>
            <a:picLocks noChangeAspect="1"/>
          </p:cNvPicPr>
          <p:nvPr/>
        </p:nvPicPr>
        <p:blipFill>
          <a:blip r:embed="rId3"/>
          <a:stretch>
            <a:fillRect/>
          </a:stretch>
        </p:blipFill>
        <p:spPr>
          <a:xfrm>
            <a:off x="10776204" y="6419088"/>
            <a:ext cx="178308" cy="237744"/>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85800" y="1646486"/>
            <a:ext cx="85725" cy="85725"/>
          </a:xfrm>
          <a:prstGeom prst="roundRect">
            <a:avLst>
              <a:gd name="adj" fmla="val 474074"/>
            </a:avLst>
          </a:prstGeom>
          <a:solidFill>
            <a:srgbClr val="0B6E99"/>
          </a:solidFill>
          <a:ln/>
        </p:spPr>
      </p:sp>
      <p:sp>
        <p:nvSpPr>
          <p:cNvPr id="3" name="Shape 1"/>
          <p:cNvSpPr/>
          <p:nvPr/>
        </p:nvSpPr>
        <p:spPr>
          <a:xfrm>
            <a:off x="685800" y="2086421"/>
            <a:ext cx="85725" cy="85725"/>
          </a:xfrm>
          <a:prstGeom prst="roundRect">
            <a:avLst>
              <a:gd name="adj" fmla="val 474074"/>
            </a:avLst>
          </a:prstGeom>
          <a:solidFill>
            <a:srgbClr val="0B6E99"/>
          </a:solidFill>
          <a:ln/>
        </p:spPr>
      </p:sp>
      <p:sp>
        <p:nvSpPr>
          <p:cNvPr id="4" name="Shape 2"/>
          <p:cNvSpPr/>
          <p:nvPr/>
        </p:nvSpPr>
        <p:spPr>
          <a:xfrm>
            <a:off x="685800" y="2526357"/>
            <a:ext cx="85725" cy="85725"/>
          </a:xfrm>
          <a:prstGeom prst="roundRect">
            <a:avLst>
              <a:gd name="adj" fmla="val 474074"/>
            </a:avLst>
          </a:prstGeom>
          <a:solidFill>
            <a:srgbClr val="0B6E99"/>
          </a:solidFill>
          <a:ln/>
        </p:spPr>
      </p:sp>
      <p:sp>
        <p:nvSpPr>
          <p:cNvPr id="5" name="Shape 3"/>
          <p:cNvSpPr/>
          <p:nvPr/>
        </p:nvSpPr>
        <p:spPr>
          <a:xfrm>
            <a:off x="685800" y="2966293"/>
            <a:ext cx="85725" cy="85725"/>
          </a:xfrm>
          <a:prstGeom prst="roundRect">
            <a:avLst>
              <a:gd name="adj" fmla="val 474074"/>
            </a:avLst>
          </a:prstGeom>
          <a:solidFill>
            <a:srgbClr val="0B6E99"/>
          </a:solidFill>
          <a:ln/>
        </p:spPr>
      </p:sp>
      <p:sp>
        <p:nvSpPr>
          <p:cNvPr id="6" name="Shape 4"/>
          <p:cNvSpPr/>
          <p:nvPr/>
        </p:nvSpPr>
        <p:spPr>
          <a:xfrm>
            <a:off x="647700" y="6343650"/>
            <a:ext cx="10896600" cy="0"/>
          </a:xfrm>
          <a:prstGeom prst="line">
            <a:avLst/>
          </a:prstGeom>
          <a:noFill/>
          <a:ln w="10160">
            <a:solidFill>
              <a:srgbClr val="CBD7DF"/>
            </a:solidFill>
            <a:prstDash val="solid"/>
          </a:ln>
        </p:spPr>
      </p:sp>
      <p:sp>
        <p:nvSpPr>
          <p:cNvPr id="7" name="Text 5"/>
          <p:cNvSpPr txBox="1"/>
          <p:nvPr/>
        </p:nvSpPr>
        <p:spPr>
          <a:xfrm>
            <a:off x="647700" y="511731"/>
            <a:ext cx="10953750" cy="185738"/>
          </a:xfrm>
          <a:prstGeom prst="rect">
            <a:avLst/>
          </a:prstGeom>
          <a:noFill/>
          <a:ln/>
        </p:spPr>
        <p:txBody>
          <a:bodyPr wrap="none" lIns="0" tIns="0" rIns="0" bIns="0" rtlCol="0" anchor="t"/>
          <a:lstStyle/>
          <a:p>
            <a:pPr algn="l" indent="0" marL="0">
              <a:lnSpc>
                <a:spcPts val="1460"/>
              </a:lnSpc>
              <a:buNone/>
            </a:pPr>
            <a:r>
              <a:rPr lang="en-US" sz="980" spc="160" kern="0" dirty="0">
                <a:solidFill>
                  <a:srgbClr val="0B6E99"/>
                </a:solidFill>
                <a:latin typeface="Courier New" pitchFamily="34" charset="0"/>
                <a:ea typeface="Courier New" pitchFamily="34" charset="-122"/>
                <a:cs typeface="Courier New" pitchFamily="34" charset="-120"/>
              </a:rPr>
              <a:t>THE LOG TABLE</a:t>
            </a:r>
            <a:endParaRPr lang="en-US" sz="980" dirty="0"/>
          </a:p>
        </p:txBody>
      </p:sp>
      <p:sp>
        <p:nvSpPr>
          <p:cNvPr id="8" name="Text 6"/>
          <p:cNvSpPr txBox="1"/>
          <p:nvPr/>
        </p:nvSpPr>
        <p:spPr>
          <a:xfrm>
            <a:off x="647700" y="852488"/>
            <a:ext cx="10953750" cy="432054"/>
          </a:xfrm>
          <a:prstGeom prst="rect">
            <a:avLst/>
          </a:prstGeom>
          <a:noFill/>
          <a:ln/>
        </p:spPr>
        <p:txBody>
          <a:bodyPr wrap="none" lIns="0" tIns="0" rIns="0" bIns="0" rtlCol="0" anchor="t"/>
          <a:lstStyle/>
          <a:p>
            <a:pPr algn="l" indent="0" marL="0">
              <a:lnSpc>
                <a:spcPts val="3400"/>
              </a:lnSpc>
              <a:buNone/>
            </a:pPr>
            <a:r>
              <a:rPr lang="en-US" sz="3150" b="1" spc="-60" kern="0" dirty="0">
                <a:solidFill>
                  <a:srgbClr val="101A22"/>
                </a:solidFill>
                <a:latin typeface="Arial" pitchFamily="34" charset="0"/>
                <a:ea typeface="Arial" pitchFamily="34" charset="-122"/>
                <a:cs typeface="Arial" pitchFamily="34" charset="-120"/>
              </a:rPr>
              <a:t>Questions the core Moodle reports cannot answer</a:t>
            </a:r>
            <a:endParaRPr lang="en-US" sz="3150" dirty="0"/>
          </a:p>
        </p:txBody>
      </p:sp>
      <p:sp>
        <p:nvSpPr>
          <p:cNvPr id="9" name="Text 7"/>
          <p:cNvSpPr txBox="1"/>
          <p:nvPr/>
        </p:nvSpPr>
        <p:spPr>
          <a:xfrm>
            <a:off x="933450" y="1504801"/>
            <a:ext cx="10668000" cy="306705"/>
          </a:xfrm>
          <a:prstGeom prst="rect">
            <a:avLst/>
          </a:prstGeom>
          <a:noFill/>
          <a:ln/>
        </p:spPr>
        <p:txBody>
          <a:bodyPr wrap="none" lIns="0" tIns="0" rIns="0" bIns="0" rtlCol="0" anchor="t"/>
          <a:lstStyle/>
          <a:p>
            <a:pPr algn="l" indent="0" marL="0">
              <a:lnSpc>
                <a:spcPts val="2420"/>
              </a:lnSpc>
              <a:buNone/>
            </a:pPr>
            <a:r>
              <a:rPr lang="en-US" sz="1730" dirty="0">
                <a:solidFill>
                  <a:srgbClr val="101A22"/>
                </a:solidFill>
                <a:latin typeface="Arial" pitchFamily="34" charset="0"/>
                <a:ea typeface="Arial" pitchFamily="34" charset="-122"/>
                <a:cs typeface="Arial" pitchFamily="34" charset="-120"/>
              </a:rPr>
              <a:t>How many </a:t>
            </a:r>
            <a:pPr algn="l" indent="0" marL="0">
              <a:lnSpc>
                <a:spcPts val="2420"/>
              </a:lnSpc>
              <a:buNone/>
            </a:pPr>
            <a:r>
              <a:rPr lang="en-US" sz="1730" b="1" dirty="0">
                <a:solidFill>
                  <a:srgbClr val="101A22"/>
                </a:solidFill>
                <a:latin typeface="Arial" pitchFamily="34" charset="0"/>
                <a:ea typeface="Arial" pitchFamily="34" charset="-122"/>
                <a:cs typeface="Arial" pitchFamily="34" charset="-120"/>
              </a:rPr>
              <a:t>logins per hour</a:t>
            </a:r>
            <a:pPr algn="l" indent="0" marL="0">
              <a:lnSpc>
                <a:spcPts val="2420"/>
              </a:lnSpc>
              <a:buNone/>
            </a:pPr>
            <a:r>
              <a:rPr lang="en-US" sz="1730" dirty="0">
                <a:solidFill>
                  <a:srgbClr val="101A22"/>
                </a:solidFill>
                <a:latin typeface="Arial" pitchFamily="34" charset="0"/>
                <a:ea typeface="Arial" pitchFamily="34" charset="-122"/>
                <a:cs typeface="Arial" pitchFamily="34" charset="-120"/>
              </a:rPr>
              <a:t> were there this week and last week?</a:t>
            </a:r>
            <a:endParaRPr lang="en-US" sz="1730" dirty="0"/>
          </a:p>
        </p:txBody>
      </p:sp>
      <p:sp>
        <p:nvSpPr>
          <p:cNvPr id="10" name="Text 8"/>
          <p:cNvSpPr txBox="1"/>
          <p:nvPr/>
        </p:nvSpPr>
        <p:spPr>
          <a:xfrm>
            <a:off x="933450" y="1944737"/>
            <a:ext cx="10668000" cy="306705"/>
          </a:xfrm>
          <a:prstGeom prst="rect">
            <a:avLst/>
          </a:prstGeom>
          <a:noFill/>
          <a:ln/>
        </p:spPr>
        <p:txBody>
          <a:bodyPr wrap="none" lIns="0" tIns="0" rIns="0" bIns="0" rtlCol="0" anchor="t"/>
          <a:lstStyle/>
          <a:p>
            <a:pPr algn="l" indent="0" marL="0">
              <a:lnSpc>
                <a:spcPts val="2420"/>
              </a:lnSpc>
              <a:buNone/>
            </a:pPr>
            <a:r>
              <a:rPr lang="en-US" sz="1730" dirty="0">
                <a:solidFill>
                  <a:srgbClr val="101A22"/>
                </a:solidFill>
                <a:latin typeface="Arial" pitchFamily="34" charset="0"/>
                <a:ea typeface="Arial" pitchFamily="34" charset="-122"/>
                <a:cs typeface="Arial" pitchFamily="34" charset="-120"/>
              </a:rPr>
              <a:t>Which </a:t>
            </a:r>
            <a:pPr algn="l" indent="0" marL="0">
              <a:lnSpc>
                <a:spcPts val="2420"/>
              </a:lnSpc>
              <a:buNone/>
            </a:pPr>
            <a:r>
              <a:rPr lang="en-US" sz="1730" b="1" dirty="0">
                <a:solidFill>
                  <a:srgbClr val="101A22"/>
                </a:solidFill>
                <a:latin typeface="Arial" pitchFamily="34" charset="0"/>
                <a:ea typeface="Arial" pitchFamily="34" charset="-122"/>
                <a:cs typeface="Arial" pitchFamily="34" charset="-120"/>
              </a:rPr>
              <a:t>courses are actually used</a:t>
            </a:r>
            <a:pPr algn="l" indent="0" marL="0">
              <a:lnSpc>
                <a:spcPts val="2420"/>
              </a:lnSpc>
              <a:buNone/>
            </a:pPr>
            <a:r>
              <a:rPr lang="en-US" sz="1730" dirty="0">
                <a:solidFill>
                  <a:srgbClr val="101A22"/>
                </a:solidFill>
                <a:latin typeface="Arial" pitchFamily="34" charset="0"/>
                <a:ea typeface="Arial" pitchFamily="34" charset="-122"/>
                <a:cs typeface="Arial" pitchFamily="34" charset="-120"/>
              </a:rPr>
              <a:t>, and which has nobody opened since term start?</a:t>
            </a:r>
            <a:endParaRPr lang="en-US" sz="1730" dirty="0"/>
          </a:p>
        </p:txBody>
      </p:sp>
      <p:sp>
        <p:nvSpPr>
          <p:cNvPr id="11" name="Text 9"/>
          <p:cNvSpPr txBox="1"/>
          <p:nvPr/>
        </p:nvSpPr>
        <p:spPr>
          <a:xfrm>
            <a:off x="933450" y="2384673"/>
            <a:ext cx="10668000" cy="306705"/>
          </a:xfrm>
          <a:prstGeom prst="rect">
            <a:avLst/>
          </a:prstGeom>
          <a:noFill/>
          <a:ln/>
        </p:spPr>
        <p:txBody>
          <a:bodyPr wrap="none" lIns="0" tIns="0" rIns="0" bIns="0" rtlCol="0" anchor="t"/>
          <a:lstStyle/>
          <a:p>
            <a:pPr algn="l" indent="0" marL="0">
              <a:lnSpc>
                <a:spcPts val="2420"/>
              </a:lnSpc>
              <a:buNone/>
            </a:pPr>
            <a:r>
              <a:rPr lang="en-US" sz="1730" dirty="0">
                <a:solidFill>
                  <a:srgbClr val="101A22"/>
                </a:solidFill>
                <a:latin typeface="Arial" pitchFamily="34" charset="0"/>
                <a:ea typeface="Arial" pitchFamily="34" charset="-122"/>
                <a:cs typeface="Arial" pitchFamily="34" charset="-120"/>
              </a:rPr>
              <a:t>What did </a:t>
            </a:r>
            <a:pPr algn="l" indent="0" marL="0">
              <a:lnSpc>
                <a:spcPts val="2420"/>
              </a:lnSpc>
              <a:buNone/>
            </a:pPr>
            <a:r>
              <a:rPr lang="en-US" sz="1730" b="1" dirty="0">
                <a:solidFill>
                  <a:srgbClr val="101A22"/>
                </a:solidFill>
                <a:latin typeface="Arial" pitchFamily="34" charset="0"/>
                <a:ea typeface="Arial" pitchFamily="34" charset="-122"/>
                <a:cs typeface="Arial" pitchFamily="34" charset="-120"/>
              </a:rPr>
              <a:t>this one user</a:t>
            </a:r>
            <a:pPr algn="l" indent="0" marL="0">
              <a:lnSpc>
                <a:spcPts val="2420"/>
              </a:lnSpc>
              <a:buNone/>
            </a:pPr>
            <a:r>
              <a:rPr lang="en-US" sz="1730" dirty="0">
                <a:solidFill>
                  <a:srgbClr val="101A22"/>
                </a:solidFill>
                <a:latin typeface="Arial" pitchFamily="34" charset="0"/>
                <a:ea typeface="Arial" pitchFamily="34" charset="-122"/>
                <a:cs typeface="Arial" pitchFamily="34" charset="-120"/>
              </a:rPr>
              <a:t> do, across every course, last month?</a:t>
            </a:r>
            <a:endParaRPr lang="en-US" sz="1730" dirty="0"/>
          </a:p>
        </p:txBody>
      </p:sp>
      <p:sp>
        <p:nvSpPr>
          <p:cNvPr id="12" name="Text 10"/>
          <p:cNvSpPr txBox="1"/>
          <p:nvPr/>
        </p:nvSpPr>
        <p:spPr>
          <a:xfrm>
            <a:off x="933450" y="2824609"/>
            <a:ext cx="10668000" cy="306705"/>
          </a:xfrm>
          <a:prstGeom prst="rect">
            <a:avLst/>
          </a:prstGeom>
          <a:noFill/>
          <a:ln/>
        </p:spPr>
        <p:txBody>
          <a:bodyPr wrap="none" lIns="0" tIns="0" rIns="0" bIns="0" rtlCol="0" anchor="t"/>
          <a:lstStyle/>
          <a:p>
            <a:pPr algn="l" indent="0" marL="0">
              <a:lnSpc>
                <a:spcPts val="2420"/>
              </a:lnSpc>
              <a:buNone/>
            </a:pPr>
            <a:r>
              <a:rPr lang="en-US" sz="1730" dirty="0">
                <a:solidFill>
                  <a:srgbClr val="101A22"/>
                </a:solidFill>
                <a:latin typeface="Arial" pitchFamily="34" charset="0"/>
                <a:ea typeface="Arial" pitchFamily="34" charset="-122"/>
                <a:cs typeface="Arial" pitchFamily="34" charset="-120"/>
              </a:rPr>
              <a:t>Are </a:t>
            </a:r>
            <a:pPr algn="l" indent="0" marL="0">
              <a:lnSpc>
                <a:spcPts val="2420"/>
              </a:lnSpc>
              <a:buNone/>
            </a:pPr>
            <a:r>
              <a:rPr lang="en-US" sz="1730" b="1" dirty="0">
                <a:solidFill>
                  <a:srgbClr val="101A22"/>
                </a:solidFill>
                <a:latin typeface="Arial" pitchFamily="34" charset="0"/>
                <a:ea typeface="Arial" pitchFamily="34" charset="-122"/>
                <a:cs typeface="Arial" pitchFamily="34" charset="-120"/>
              </a:rPr>
              <a:t>failed logins</a:t>
            </a:r>
            <a:pPr algn="l" indent="0" marL="0">
              <a:lnSpc>
                <a:spcPts val="2420"/>
              </a:lnSpc>
              <a:buNone/>
            </a:pPr>
            <a:r>
              <a:rPr lang="en-US" sz="1730" dirty="0">
                <a:solidFill>
                  <a:srgbClr val="101A22"/>
                </a:solidFill>
                <a:latin typeface="Arial" pitchFamily="34" charset="0"/>
                <a:ea typeface="Arial" pitchFamily="34" charset="-122"/>
                <a:cs typeface="Arial" pitchFamily="34" charset="-120"/>
              </a:rPr>
              <a:t> spiking right now?</a:t>
            </a:r>
            <a:endParaRPr lang="en-US" sz="1730" dirty="0"/>
          </a:p>
        </p:txBody>
      </p:sp>
      <p:sp>
        <p:nvSpPr>
          <p:cNvPr id="13" name="Text 11"/>
          <p:cNvSpPr txBox="1"/>
          <p:nvPr/>
        </p:nvSpPr>
        <p:spPr>
          <a:xfrm>
            <a:off x="647700" y="3369558"/>
            <a:ext cx="10953750" cy="628650"/>
          </a:xfrm>
          <a:prstGeom prst="rect">
            <a:avLst/>
          </a:prstGeom>
          <a:noFill/>
          <a:ln/>
        </p:spPr>
        <p:txBody>
          <a:bodyPr wrap="square" lIns="0" tIns="0" rIns="0" bIns="0" rtlCol="0" anchor="t"/>
          <a:lstStyle/>
          <a:p>
            <a:pPr algn="l" indent="0" marL="0">
              <a:lnSpc>
                <a:spcPts val="2480"/>
              </a:lnSpc>
              <a:buNone/>
            </a:pPr>
            <a:r>
              <a:rPr lang="en-US" sz="1650" dirty="0">
                <a:solidFill>
                  <a:srgbClr val="5A6D7A"/>
                </a:solidFill>
                <a:latin typeface="Arial" pitchFamily="34" charset="0"/>
                <a:ea typeface="Arial" pitchFamily="34" charset="-122"/>
                <a:cs typeface="Arial" pitchFamily="34" charset="-120"/>
              </a:rPr>
              <a:t>In OpenSearch you can answer each of these questions. One more question is why a page was slow. That question gets a short look at the end of this presentation.</a:t>
            </a:r>
            <a:endParaRPr lang="en-US" sz="1650" dirty="0"/>
          </a:p>
        </p:txBody>
      </p:sp>
      <p:sp>
        <p:nvSpPr>
          <p:cNvPr id="14" name="Text 12"/>
          <p:cNvSpPr txBox="1"/>
          <p:nvPr/>
        </p:nvSpPr>
        <p:spPr>
          <a:xfrm>
            <a:off x="647700" y="6464379"/>
            <a:ext cx="1023193" cy="148590"/>
          </a:xfrm>
          <a:prstGeom prst="rect">
            <a:avLst/>
          </a:prstGeom>
          <a:noFill/>
          <a:ln/>
        </p:spPr>
        <p:txBody>
          <a:bodyPr wrap="none" lIns="0" tIns="0" rIns="0" bIns="0" rtlCol="0" anchor="t"/>
          <a:lstStyle/>
          <a:p>
            <a:pPr algn="l" indent="0" marL="0">
              <a:lnSpc>
                <a:spcPts val="1170"/>
              </a:lnSpc>
              <a:buNone/>
            </a:pPr>
            <a:r>
              <a:rPr lang="en-US" sz="980" dirty="0">
                <a:solidFill>
                  <a:srgbClr val="8496A2"/>
                </a:solidFill>
                <a:latin typeface="Courier New" pitchFamily="34" charset="0"/>
                <a:ea typeface="Courier New" pitchFamily="34" charset="-122"/>
                <a:cs typeface="Courier New" pitchFamily="34" charset="-120"/>
              </a:rPr>
              <a:t>The log table</a:t>
            </a:r>
            <a:endParaRPr lang="en-US" sz="980" dirty="0"/>
          </a:p>
        </p:txBody>
      </p:sp>
      <p:sp>
        <p:nvSpPr>
          <p:cNvPr id="15" name="Text 13"/>
          <p:cNvSpPr txBox="1"/>
          <p:nvPr/>
        </p:nvSpPr>
        <p:spPr>
          <a:xfrm>
            <a:off x="11098411" y="6464379"/>
            <a:ext cx="503039" cy="148590"/>
          </a:xfrm>
          <a:prstGeom prst="rect">
            <a:avLst/>
          </a:prstGeom>
          <a:noFill/>
          <a:ln/>
        </p:spPr>
        <p:txBody>
          <a:bodyPr wrap="none" lIns="0" tIns="0" rIns="0" bIns="0" rtlCol="0" anchor="t"/>
          <a:lstStyle/>
          <a:p>
            <a:pPr algn="l" indent="0" marL="0">
              <a:lnSpc>
                <a:spcPts val="1170"/>
              </a:lnSpc>
              <a:buNone/>
            </a:pPr>
            <a:r>
              <a:rPr lang="en-US" sz="980" dirty="0">
                <a:solidFill>
                  <a:srgbClr val="8496A2"/>
                </a:solidFill>
                <a:latin typeface="Courier New" pitchFamily="34" charset="0"/>
                <a:ea typeface="Courier New" pitchFamily="34" charset="-122"/>
                <a:cs typeface="Courier New" pitchFamily="34" charset="-120"/>
              </a:rPr>
              <a:t>4 / 39</a:t>
            </a:r>
            <a:endParaRPr lang="en-US" sz="980" dirty="0"/>
          </a:p>
        </p:txBody>
      </p:sp>
      <p:pic>
        <p:nvPicPr>
          <p:cNvPr id="900" name="NetSapiensis mark" descr="NetSapiensis"/>
          <p:cNvPicPr>
            <a:picLocks noChangeAspect="1"/>
          </p:cNvPicPr>
          <p:nvPr/>
        </p:nvPicPr>
        <p:blipFill>
          <a:blip r:embed="rId3"/>
          <a:stretch>
            <a:fillRect/>
          </a:stretch>
        </p:blipFill>
        <p:spPr>
          <a:xfrm>
            <a:off x="10776204" y="6419088"/>
            <a:ext cx="178308" cy="237744"/>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7700" y="1532186"/>
            <a:ext cx="5257800" cy="1540073"/>
          </a:xfrm>
          <a:prstGeom prst="roundRect">
            <a:avLst>
              <a:gd name="adj" fmla="val 8813"/>
            </a:avLst>
          </a:prstGeom>
          <a:solidFill>
            <a:srgbClr val="FFFFFF"/>
          </a:solidFill>
          <a:ln w="19050">
            <a:solidFill>
              <a:srgbClr val="0B6E99"/>
            </a:solidFill>
            <a:prstDash val="solid"/>
          </a:ln>
        </p:spPr>
      </p:sp>
      <p:sp>
        <p:nvSpPr>
          <p:cNvPr id="3" name="Shape 1"/>
          <p:cNvSpPr/>
          <p:nvPr/>
        </p:nvSpPr>
        <p:spPr>
          <a:xfrm>
            <a:off x="6286500" y="1532186"/>
            <a:ext cx="5257800" cy="1435298"/>
          </a:xfrm>
          <a:prstGeom prst="roundRect">
            <a:avLst>
              <a:gd name="adj" fmla="val 10147"/>
            </a:avLst>
          </a:prstGeom>
          <a:solidFill>
            <a:srgbClr val="FFFFFF"/>
          </a:solidFill>
          <a:ln w="19050">
            <a:solidFill>
              <a:srgbClr val="0B6E99"/>
            </a:solidFill>
            <a:prstDash val="solid"/>
          </a:ln>
        </p:spPr>
      </p:sp>
      <p:sp>
        <p:nvSpPr>
          <p:cNvPr id="4" name="Shape 2"/>
          <p:cNvSpPr/>
          <p:nvPr/>
        </p:nvSpPr>
        <p:spPr>
          <a:xfrm>
            <a:off x="647700" y="6343650"/>
            <a:ext cx="10896600" cy="0"/>
          </a:xfrm>
          <a:prstGeom prst="line">
            <a:avLst/>
          </a:prstGeom>
          <a:noFill/>
          <a:ln w="10160">
            <a:solidFill>
              <a:srgbClr val="CBD7DF"/>
            </a:solidFill>
            <a:prstDash val="solid"/>
          </a:ln>
        </p:spPr>
      </p:sp>
      <p:sp>
        <p:nvSpPr>
          <p:cNvPr id="5" name="Text 3"/>
          <p:cNvSpPr txBox="1"/>
          <p:nvPr/>
        </p:nvSpPr>
        <p:spPr>
          <a:xfrm>
            <a:off x="647700" y="511731"/>
            <a:ext cx="10953750" cy="185738"/>
          </a:xfrm>
          <a:prstGeom prst="rect">
            <a:avLst/>
          </a:prstGeom>
          <a:noFill/>
          <a:ln/>
        </p:spPr>
        <p:txBody>
          <a:bodyPr wrap="none" lIns="0" tIns="0" rIns="0" bIns="0" rtlCol="0" anchor="t"/>
          <a:lstStyle/>
          <a:p>
            <a:pPr algn="l" indent="0" marL="0">
              <a:lnSpc>
                <a:spcPts val="1460"/>
              </a:lnSpc>
              <a:buNone/>
            </a:pPr>
            <a:r>
              <a:rPr lang="en-US" sz="980" spc="160" kern="0" dirty="0">
                <a:solidFill>
                  <a:srgbClr val="0B6E99"/>
                </a:solidFill>
                <a:latin typeface="Courier New" pitchFamily="34" charset="0"/>
                <a:ea typeface="Courier New" pitchFamily="34" charset="-122"/>
                <a:cs typeface="Courier New" pitchFamily="34" charset="-120"/>
              </a:rPr>
              <a:t>THE SOFTWARE</a:t>
            </a:r>
            <a:endParaRPr lang="en-US" sz="980" dirty="0"/>
          </a:p>
        </p:txBody>
      </p:sp>
      <p:sp>
        <p:nvSpPr>
          <p:cNvPr id="6" name="Text 4"/>
          <p:cNvSpPr txBox="1"/>
          <p:nvPr/>
        </p:nvSpPr>
        <p:spPr>
          <a:xfrm>
            <a:off x="647700" y="852488"/>
            <a:ext cx="10953750" cy="432054"/>
          </a:xfrm>
          <a:prstGeom prst="rect">
            <a:avLst/>
          </a:prstGeom>
          <a:noFill/>
          <a:ln/>
        </p:spPr>
        <p:txBody>
          <a:bodyPr wrap="none" lIns="0" tIns="0" rIns="0" bIns="0" rtlCol="0" anchor="t"/>
          <a:lstStyle/>
          <a:p>
            <a:pPr algn="l" indent="0" marL="0">
              <a:lnSpc>
                <a:spcPts val="3400"/>
              </a:lnSpc>
              <a:buNone/>
            </a:pPr>
            <a:r>
              <a:rPr lang="en-US" sz="3150" b="1" spc="-60" kern="0" dirty="0">
                <a:solidFill>
                  <a:srgbClr val="101A22"/>
                </a:solidFill>
                <a:latin typeface="Arial" pitchFamily="34" charset="0"/>
                <a:ea typeface="Arial" pitchFamily="34" charset="-122"/>
                <a:cs typeface="Arial" pitchFamily="34" charset="-120"/>
              </a:rPr>
              <a:t>Moodle produces two kinds of records: events and timings</a:t>
            </a:r>
            <a:endParaRPr lang="en-US" sz="3150" dirty="0"/>
          </a:p>
        </p:txBody>
      </p:sp>
      <p:sp>
        <p:nvSpPr>
          <p:cNvPr id="7" name="Text 5"/>
          <p:cNvSpPr txBox="1"/>
          <p:nvPr/>
        </p:nvSpPr>
        <p:spPr>
          <a:xfrm>
            <a:off x="895350" y="1756499"/>
            <a:ext cx="4819650" cy="205740"/>
          </a:xfrm>
          <a:prstGeom prst="rect">
            <a:avLst/>
          </a:prstGeom>
          <a:noFill/>
          <a:ln/>
        </p:spPr>
        <p:txBody>
          <a:bodyPr wrap="none" lIns="0" tIns="0" rIns="0" bIns="0" rtlCol="0" anchor="t"/>
          <a:lstStyle/>
          <a:p>
            <a:pPr algn="l" indent="0" marL="0">
              <a:lnSpc>
                <a:spcPts val="1620"/>
              </a:lnSpc>
              <a:buNone/>
            </a:pPr>
            <a:r>
              <a:rPr lang="en-US" sz="1350" b="1" dirty="0">
                <a:solidFill>
                  <a:srgbClr val="0B6E99"/>
                </a:solidFill>
                <a:latin typeface="Courier New" pitchFamily="34" charset="0"/>
                <a:ea typeface="Courier New" pitchFamily="34" charset="-122"/>
                <a:cs typeface="Courier New" pitchFamily="34" charset="-120"/>
              </a:rPr>
              <a:t>An event records what happened in Moodle</a:t>
            </a:r>
            <a:endParaRPr lang="en-US" sz="1350" dirty="0"/>
          </a:p>
        </p:txBody>
      </p:sp>
      <p:sp>
        <p:nvSpPr>
          <p:cNvPr id="8" name="Text 6"/>
          <p:cNvSpPr txBox="1"/>
          <p:nvPr/>
        </p:nvSpPr>
        <p:spPr>
          <a:xfrm>
            <a:off x="895350" y="2020833"/>
            <a:ext cx="4819650" cy="797123"/>
          </a:xfrm>
          <a:prstGeom prst="rect">
            <a:avLst/>
          </a:prstGeom>
          <a:noFill/>
          <a:ln/>
        </p:spPr>
        <p:txBody>
          <a:bodyPr wrap="square" lIns="0" tIns="0" rIns="0" bIns="0" rtlCol="0" anchor="t"/>
          <a:lstStyle/>
          <a:p>
            <a:pPr algn="l" indent="0" marL="0">
              <a:lnSpc>
                <a:spcPts val="1570"/>
              </a:lnSpc>
              <a:buNone/>
            </a:pPr>
            <a:r>
              <a:rPr lang="en-US" sz="1010" dirty="0">
                <a:solidFill>
                  <a:srgbClr val="101A22"/>
                </a:solidFill>
                <a:latin typeface="Courier New" pitchFamily="34" charset="0"/>
                <a:ea typeface="Courier New" pitchFamily="34" charset="-122"/>
                <a:cs typeface="Courier New" pitchFamily="34" charset="-120"/>
              </a:rPr>
              <a:t>user_login_failed</a:t>
            </a:r>
            <a:endParaRPr lang="en-US" sz="1010" dirty="0"/>
          </a:p>
          <a:p>
            <a:pPr algn="l" indent="0" marL="0">
              <a:lnSpc>
                <a:spcPts val="1570"/>
              </a:lnSpc>
              <a:buNone/>
            </a:pPr>
            <a:r>
              <a:rPr lang="en-US" sz="1010" dirty="0">
                <a:solidFill>
                  <a:srgbClr val="101A22"/>
                </a:solidFill>
                <a:latin typeface="Courier New" pitchFamily="34" charset="0"/>
                <a:ea typeface="Courier New" pitchFamily="34" charset="-122"/>
                <a:cs typeface="Courier New" pitchFamily="34" charset="-120"/>
              </a:rPr>
              <a:t>course_section_created</a:t>
            </a:r>
            <a:endParaRPr lang="en-US" sz="1010" dirty="0"/>
          </a:p>
          <a:p>
            <a:pPr algn="l" indent="0" marL="0">
              <a:lnSpc>
                <a:spcPts val="1570"/>
              </a:lnSpc>
              <a:buNone/>
            </a:pPr>
            <a:r>
              <a:rPr lang="en-US" sz="1010" dirty="0">
                <a:solidFill>
                  <a:srgbClr val="101A22"/>
                </a:solidFill>
                <a:latin typeface="Courier New" pitchFamily="34" charset="0"/>
                <a:ea typeface="Courier New" pitchFamily="34" charset="-122"/>
                <a:cs typeface="Courier New" pitchFamily="34" charset="-120"/>
              </a:rPr>
              <a:t>enrol_instance_created</a:t>
            </a:r>
            <a:endParaRPr lang="en-US" sz="1010" dirty="0"/>
          </a:p>
          <a:p>
            <a:pPr algn="l" indent="0" marL="0">
              <a:lnSpc>
                <a:spcPts val="1570"/>
              </a:lnSpc>
              <a:buNone/>
            </a:pPr>
            <a:r>
              <a:rPr lang="en-US" sz="1010" dirty="0">
                <a:solidFill>
                  <a:srgbClr val="101A22"/>
                </a:solidFill>
                <a:latin typeface="Courier New" pitchFamily="34" charset="0"/>
                <a:ea typeface="Courier New" pitchFamily="34" charset="-122"/>
                <a:cs typeface="Courier New" pitchFamily="34" charset="-120"/>
              </a:rPr>
              <a:t>capability_assigned</a:t>
            </a:r>
            <a:endParaRPr lang="en-US" sz="1010" dirty="0"/>
          </a:p>
        </p:txBody>
      </p:sp>
      <p:sp>
        <p:nvSpPr>
          <p:cNvPr id="9" name="Text 7"/>
          <p:cNvSpPr txBox="1"/>
          <p:nvPr/>
        </p:nvSpPr>
        <p:spPr>
          <a:xfrm>
            <a:off x="6534150" y="1760786"/>
            <a:ext cx="4819650" cy="381000"/>
          </a:xfrm>
          <a:prstGeom prst="rect">
            <a:avLst/>
          </a:prstGeom>
          <a:noFill/>
          <a:ln/>
        </p:spPr>
        <p:txBody>
          <a:bodyPr wrap="square" lIns="0" tIns="0" rIns="0" bIns="0" rtlCol="0" anchor="t"/>
          <a:lstStyle/>
          <a:p>
            <a:pPr algn="l" indent="0" marL="0">
              <a:lnSpc>
                <a:spcPts val="1500"/>
              </a:lnSpc>
              <a:buNone/>
            </a:pPr>
            <a:r>
              <a:rPr lang="en-US" sz="1350" b="1" dirty="0">
                <a:solidFill>
                  <a:srgbClr val="0B6E99"/>
                </a:solidFill>
                <a:latin typeface="Courier New" pitchFamily="34" charset="0"/>
                <a:ea typeface="Courier New" pitchFamily="34" charset="-122"/>
                <a:cs typeface="Courier New" pitchFamily="34" charset="-120"/>
              </a:rPr>
              <a:t>A timing records how long one run took (a short look at the end)</a:t>
            </a:r>
            <a:endParaRPr lang="en-US" sz="1350" dirty="0"/>
          </a:p>
        </p:txBody>
      </p:sp>
      <p:sp>
        <p:nvSpPr>
          <p:cNvPr id="10" name="Text 8"/>
          <p:cNvSpPr txBox="1"/>
          <p:nvPr/>
        </p:nvSpPr>
        <p:spPr>
          <a:xfrm>
            <a:off x="6534150" y="2204651"/>
            <a:ext cx="4819650" cy="501848"/>
          </a:xfrm>
          <a:prstGeom prst="rect">
            <a:avLst/>
          </a:prstGeom>
          <a:noFill/>
          <a:ln/>
        </p:spPr>
        <p:txBody>
          <a:bodyPr wrap="square" lIns="0" tIns="0" rIns="0" bIns="0" rtlCol="0" anchor="t"/>
          <a:lstStyle/>
          <a:p>
            <a:pPr algn="l" indent="0" marL="0">
              <a:lnSpc>
                <a:spcPts val="1980"/>
              </a:lnSpc>
              <a:buNone/>
            </a:pPr>
            <a:r>
              <a:rPr lang="en-US" sz="1280" dirty="0">
                <a:solidFill>
                  <a:srgbClr val="101A22"/>
                </a:solidFill>
                <a:latin typeface="Arial" pitchFamily="34" charset="0"/>
                <a:ea typeface="Arial" pitchFamily="34" charset="-122"/>
                <a:cs typeface="Arial" pitchFamily="34" charset="-120"/>
              </a:rPr>
              <a:t>Each web request, CLI run, scheduled task, adhoc task and web service call gets its own timing.</a:t>
            </a:r>
            <a:endParaRPr lang="en-US" sz="1280" dirty="0"/>
          </a:p>
        </p:txBody>
      </p:sp>
      <p:sp>
        <p:nvSpPr>
          <p:cNvPr id="11" name="Text 9"/>
          <p:cNvSpPr txBox="1"/>
          <p:nvPr/>
        </p:nvSpPr>
        <p:spPr>
          <a:xfrm>
            <a:off x="647700" y="3283238"/>
            <a:ext cx="10953750" cy="314325"/>
          </a:xfrm>
          <a:prstGeom prst="rect">
            <a:avLst/>
          </a:prstGeom>
          <a:noFill/>
          <a:ln/>
        </p:spPr>
        <p:txBody>
          <a:bodyPr wrap="none" lIns="0" tIns="0" rIns="0" bIns="0" rtlCol="0" anchor="t"/>
          <a:lstStyle/>
          <a:p>
            <a:pPr algn="l" indent="0" marL="0">
              <a:lnSpc>
                <a:spcPts val="2480"/>
              </a:lnSpc>
              <a:buNone/>
            </a:pPr>
            <a:r>
              <a:rPr lang="en-US" sz="1650" dirty="0">
                <a:solidFill>
                  <a:srgbClr val="5A6D7A"/>
                </a:solidFill>
                <a:latin typeface="Arial" pitchFamily="34" charset="0"/>
                <a:ea typeface="Arial" pitchFamily="34" charset="-122"/>
                <a:cs typeface="Arial" pitchFamily="34" charset="-120"/>
              </a:rPr>
              <a:t>Moodle added official OpenTelemetry support in version 5.2. Moodle 5.1 and older versions do not have it.</a:t>
            </a:r>
            <a:endParaRPr lang="en-US" sz="1650" dirty="0"/>
          </a:p>
        </p:txBody>
      </p:sp>
      <p:sp>
        <p:nvSpPr>
          <p:cNvPr id="12" name="Text 10"/>
          <p:cNvSpPr txBox="1"/>
          <p:nvPr/>
        </p:nvSpPr>
        <p:spPr>
          <a:xfrm>
            <a:off x="647700" y="6464379"/>
            <a:ext cx="1320403" cy="148590"/>
          </a:xfrm>
          <a:prstGeom prst="rect">
            <a:avLst/>
          </a:prstGeom>
          <a:noFill/>
          <a:ln/>
        </p:spPr>
        <p:txBody>
          <a:bodyPr wrap="none" lIns="0" tIns="0" rIns="0" bIns="0" rtlCol="0" anchor="t"/>
          <a:lstStyle/>
          <a:p>
            <a:pPr algn="l" indent="0" marL="0">
              <a:lnSpc>
                <a:spcPts val="1170"/>
              </a:lnSpc>
              <a:buNone/>
            </a:pPr>
            <a:r>
              <a:rPr lang="en-US" sz="980" dirty="0">
                <a:solidFill>
                  <a:srgbClr val="8496A2"/>
                </a:solidFill>
                <a:latin typeface="Courier New" pitchFamily="34" charset="0"/>
                <a:ea typeface="Courier New" pitchFamily="34" charset="-122"/>
                <a:cs typeface="Courier New" pitchFamily="34" charset="-120"/>
              </a:rPr>
              <a:t>Setting the scene</a:t>
            </a:r>
            <a:endParaRPr lang="en-US" sz="980" dirty="0"/>
          </a:p>
        </p:txBody>
      </p:sp>
      <p:sp>
        <p:nvSpPr>
          <p:cNvPr id="13" name="Text 11"/>
          <p:cNvSpPr txBox="1"/>
          <p:nvPr/>
        </p:nvSpPr>
        <p:spPr>
          <a:xfrm>
            <a:off x="11098411" y="6464379"/>
            <a:ext cx="503039" cy="148590"/>
          </a:xfrm>
          <a:prstGeom prst="rect">
            <a:avLst/>
          </a:prstGeom>
          <a:noFill/>
          <a:ln/>
        </p:spPr>
        <p:txBody>
          <a:bodyPr wrap="none" lIns="0" tIns="0" rIns="0" bIns="0" rtlCol="0" anchor="t"/>
          <a:lstStyle/>
          <a:p>
            <a:pPr algn="l" indent="0" marL="0">
              <a:lnSpc>
                <a:spcPts val="1170"/>
              </a:lnSpc>
              <a:buNone/>
            </a:pPr>
            <a:r>
              <a:rPr lang="en-US" sz="980" dirty="0">
                <a:solidFill>
                  <a:srgbClr val="8496A2"/>
                </a:solidFill>
                <a:latin typeface="Courier New" pitchFamily="34" charset="0"/>
                <a:ea typeface="Courier New" pitchFamily="34" charset="-122"/>
                <a:cs typeface="Courier New" pitchFamily="34" charset="-120"/>
              </a:rPr>
              <a:t>5 / 39</a:t>
            </a:r>
            <a:endParaRPr lang="en-US" sz="980" dirty="0"/>
          </a:p>
        </p:txBody>
      </p:sp>
      <p:pic>
        <p:nvPicPr>
          <p:cNvPr id="900" name="NetSapiensis mark" descr="NetSapiensis"/>
          <p:cNvPicPr>
            <a:picLocks noChangeAspect="1"/>
          </p:cNvPicPr>
          <p:nvPr/>
        </p:nvPicPr>
        <p:blipFill>
          <a:blip r:embed="rId3"/>
          <a:stretch>
            <a:fillRect/>
          </a:stretch>
        </p:blipFill>
        <p:spPr>
          <a:xfrm>
            <a:off x="10776204" y="6419088"/>
            <a:ext cx="178308" cy="237744"/>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993122" y="5242494"/>
            <a:ext cx="2487597" cy="423753"/>
          </a:xfrm>
          <a:prstGeom prst="roundRect">
            <a:avLst>
              <a:gd name="adj" fmla="val 72717"/>
            </a:avLst>
          </a:prstGeom>
          <a:solidFill>
            <a:srgbClr val="E1F0F7"/>
          </a:solidFill>
          <a:ln w="8890">
            <a:solidFill>
              <a:srgbClr val="0B6E99"/>
            </a:solidFill>
            <a:prstDash val="solid"/>
          </a:ln>
        </p:spPr>
      </p:sp>
      <p:sp>
        <p:nvSpPr>
          <p:cNvPr id="3" name="Shape 1"/>
          <p:cNvSpPr/>
          <p:nvPr/>
        </p:nvSpPr>
        <p:spPr>
          <a:xfrm>
            <a:off x="647700" y="6343650"/>
            <a:ext cx="10896600" cy="0"/>
          </a:xfrm>
          <a:prstGeom prst="line">
            <a:avLst/>
          </a:prstGeom>
          <a:noFill/>
          <a:ln w="8890">
            <a:solidFill>
              <a:srgbClr val="CBD7DF"/>
            </a:solidFill>
            <a:prstDash val="solid"/>
          </a:ln>
        </p:spPr>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993122" y="3128190"/>
          <a:ext cx="10205756" cy="914400"/>
        </p:xfrm>
        <a:graphic>
          <a:graphicData uri="http://schemas.openxmlformats.org/drawingml/2006/table">
            <a:tbl>
              <a:tblPr/>
              <a:tblGrid>
                <a:gridCol w="2343047"/>
                <a:gridCol w="7862709"/>
              </a:tblGrid>
              <a:tr h="405911">
                <a:tc>
                  <a:txBody>
                    <a:bodyPr/>
                    <a:lstStyle/>
                    <a:p>
                      <a:pPr algn="l" indent="0" marL="0">
                        <a:lnSpc>
                          <a:spcPts val="1430"/>
                        </a:lnSpc>
                        <a:buNone/>
                      </a:pPr>
                      <a:r>
                        <a:rPr lang="en-US" sz="1190" dirty="0">
                          <a:solidFill>
                            <a:srgbClr val="0B6E99"/>
                          </a:solidFill>
                          <a:latin typeface="Courier New" pitchFamily="34" charset="0"/>
                          <a:ea typeface="Courier New" pitchFamily="34" charset="-122"/>
                          <a:cs typeface="Courier New" pitchFamily="34" charset="-120"/>
                        </a:rPr>
                        <a:t>ext‑opentelemetry</a:t>
                      </a:r>
                      <a:endParaRPr lang="en-US" sz="1200" dirty="0"/>
                    </a:p>
                  </a:txBody>
                  <a:tcPr marL="124949" marR="124949" marT="107099" marB="107099" anchor="t">
                    <a:lnL w="0" cap="flat" cmpd="sng" algn="ctr">
                      <a:noFill/>
                    </a:lnL>
                    <a:lnR w="0" cap="flat" cmpd="sng" algn="ctr">
                      <a:noFill/>
                    </a:lnR>
                    <a:lnT w="0" cap="flat" cmpd="sng" algn="ctr">
                      <a:noFill/>
                    </a:lnT>
                    <a:lnB w="8890" cap="flat" cmpd="sng" algn="ctr">
                      <a:solidFill>
                        <a:srgbClr val="CBD7DF"/>
                      </a:solidFill>
                      <a:prstDash val="solid"/>
                      <a:round/>
                      <a:headEnd type="none" w="med" len="med"/>
                      <a:tailEnd type="none" w="med" len="med"/>
                    </a:lnB>
                  </a:tcPr>
                </a:tc>
                <a:tc>
                  <a:txBody>
                    <a:bodyPr/>
                    <a:lstStyle/>
                    <a:p>
                      <a:pPr algn="l" indent="0" marL="0">
                        <a:lnSpc>
                          <a:spcPts val="1520"/>
                        </a:lnSpc>
                        <a:buNone/>
                      </a:pPr>
                      <a:r>
                        <a:rPr lang="en-US" sz="1260" dirty="0">
                          <a:solidFill>
                            <a:srgbClr val="101A22"/>
                          </a:solidFill>
                          <a:latin typeface="Arial" pitchFamily="34" charset="0"/>
                          <a:ea typeface="Arial" pitchFamily="34" charset="-122"/>
                          <a:cs typeface="Arial" pitchFamily="34" charset="-120"/>
                        </a:rPr>
                        <a:t>a PHP extension — hooks into running PHP code without editing it</a:t>
                      </a:r>
                      <a:endParaRPr lang="en-US" sz="1200" dirty="0"/>
                    </a:p>
                  </a:txBody>
                  <a:tcPr marL="124949" marR="124949" marT="107099" marB="107099" anchor="t">
                    <a:lnL w="0" cap="flat" cmpd="sng" algn="ctr">
                      <a:noFill/>
                    </a:lnL>
                    <a:lnR w="0" cap="flat" cmpd="sng" algn="ctr">
                      <a:noFill/>
                    </a:lnR>
                    <a:lnT w="0" cap="flat" cmpd="sng" algn="ctr">
                      <a:noFill/>
                    </a:lnT>
                    <a:lnB w="8890" cap="flat" cmpd="sng" algn="ctr">
                      <a:solidFill>
                        <a:srgbClr val="CBD7DF"/>
                      </a:solidFill>
                      <a:prstDash val="solid"/>
                      <a:round/>
                      <a:headEnd type="none" w="med" len="med"/>
                      <a:tailEnd type="none" w="med" len="med"/>
                    </a:lnB>
                  </a:tcPr>
                </a:tc>
              </a:tr>
              <a:tr h="410371">
                <a:tc>
                  <a:txBody>
                    <a:bodyPr/>
                    <a:lstStyle/>
                    <a:p>
                      <a:pPr algn="l" indent="0" marL="0">
                        <a:lnSpc>
                          <a:spcPts val="1430"/>
                        </a:lnSpc>
                        <a:buNone/>
                      </a:pPr>
                      <a:r>
                        <a:rPr lang="en-US" sz="1190" dirty="0">
                          <a:solidFill>
                            <a:srgbClr val="0B6E99"/>
                          </a:solidFill>
                          <a:latin typeface="Courier New" pitchFamily="34" charset="0"/>
                          <a:ea typeface="Courier New" pitchFamily="34" charset="-122"/>
                          <a:cs typeface="Courier New" pitchFamily="34" charset="-120"/>
                        </a:rPr>
                        <a:t>SDK</a:t>
                      </a:r>
                      <a:endParaRPr lang="en-US" sz="1200" dirty="0"/>
                    </a:p>
                  </a:txBody>
                  <a:tcPr marL="124949" marR="124949" marT="107099" marB="107099" anchor="t">
                    <a:lnL w="0" cap="flat" cmpd="sng" algn="ctr">
                      <a:noFill/>
                    </a:lnL>
                    <a:lnR w="0" cap="flat" cmpd="sng" algn="ctr">
                      <a:noFill/>
                    </a:lnR>
                    <a:lnT w="0" cap="flat" cmpd="sng" algn="ctr">
                      <a:noFill/>
                    </a:lnT>
                    <a:lnB w="8890" cap="flat" cmpd="sng" algn="ctr">
                      <a:solidFill>
                        <a:srgbClr val="CBD7DF"/>
                      </a:solidFill>
                      <a:prstDash val="solid"/>
                      <a:round/>
                      <a:headEnd type="none" w="med" len="med"/>
                      <a:tailEnd type="none" w="med" len="med"/>
                    </a:lnB>
                  </a:tcPr>
                </a:tc>
                <a:tc>
                  <a:txBody>
                    <a:bodyPr/>
                    <a:lstStyle/>
                    <a:p>
                      <a:pPr algn="l" indent="0" marL="0">
                        <a:lnSpc>
                          <a:spcPts val="1520"/>
                        </a:lnSpc>
                        <a:buNone/>
                      </a:pPr>
                      <a:r>
                        <a:rPr lang="en-US" sz="1260" dirty="0">
                          <a:solidFill>
                            <a:srgbClr val="101A22"/>
                          </a:solidFill>
                          <a:latin typeface="Arial" pitchFamily="34" charset="0"/>
                          <a:ea typeface="Arial" pitchFamily="34" charset="-122"/>
                          <a:cs typeface="Arial" pitchFamily="34" charset="-120"/>
                        </a:rPr>
                        <a:t>PHP libraries — turn the Moodle data into records, in memory</a:t>
                      </a:r>
                      <a:endParaRPr lang="en-US" sz="1200" dirty="0"/>
                    </a:p>
                  </a:txBody>
                  <a:tcPr marL="124949" marR="124949" marT="107099" marB="107099" anchor="t">
                    <a:lnL w="0" cap="flat" cmpd="sng" algn="ctr">
                      <a:noFill/>
                    </a:lnL>
                    <a:lnR w="0" cap="flat" cmpd="sng" algn="ctr">
                      <a:noFill/>
                    </a:lnR>
                    <a:lnT w="0" cap="flat" cmpd="sng" algn="ctr">
                      <a:noFill/>
                    </a:lnT>
                    <a:lnB w="8890" cap="flat" cmpd="sng" algn="ctr">
                      <a:solidFill>
                        <a:srgbClr val="CBD7DF"/>
                      </a:solidFill>
                      <a:prstDash val="solid"/>
                      <a:round/>
                      <a:headEnd type="none" w="med" len="med"/>
                      <a:tailEnd type="none" w="med" len="med"/>
                    </a:lnB>
                  </a:tcPr>
                </a:tc>
              </a:tr>
              <a:tr h="410371">
                <a:tc>
                  <a:txBody>
                    <a:bodyPr/>
                    <a:lstStyle/>
                    <a:p>
                      <a:pPr algn="l" indent="0" marL="0">
                        <a:lnSpc>
                          <a:spcPts val="1430"/>
                        </a:lnSpc>
                        <a:buNone/>
                      </a:pPr>
                      <a:r>
                        <a:rPr lang="en-US" sz="1190" dirty="0">
                          <a:solidFill>
                            <a:srgbClr val="0B6E99"/>
                          </a:solidFill>
                          <a:latin typeface="Courier New" pitchFamily="34" charset="0"/>
                          <a:ea typeface="Courier New" pitchFamily="34" charset="-122"/>
                          <a:cs typeface="Courier New" pitchFamily="34" charset="-120"/>
                        </a:rPr>
                        <a:t>exporter</a:t>
                      </a:r>
                      <a:endParaRPr lang="en-US" sz="1200" dirty="0"/>
                    </a:p>
                  </a:txBody>
                  <a:tcPr marL="124949" marR="124949" marT="107099" marB="107099" anchor="t">
                    <a:lnL w="0" cap="flat" cmpd="sng" algn="ctr">
                      <a:noFill/>
                    </a:lnL>
                    <a:lnR w="0" cap="flat" cmpd="sng" algn="ctr">
                      <a:noFill/>
                    </a:lnR>
                    <a:lnT w="0" cap="flat" cmpd="sng" algn="ctr">
                      <a:noFill/>
                    </a:lnT>
                    <a:lnB w="8890" cap="flat" cmpd="sng" algn="ctr">
                      <a:solidFill>
                        <a:srgbClr val="CBD7DF"/>
                      </a:solidFill>
                      <a:prstDash val="solid"/>
                      <a:round/>
                      <a:headEnd type="none" w="med" len="med"/>
                      <a:tailEnd type="none" w="med" len="med"/>
                    </a:lnB>
                  </a:tcPr>
                </a:tc>
                <a:tc>
                  <a:txBody>
                    <a:bodyPr/>
                    <a:lstStyle/>
                    <a:p>
                      <a:pPr algn="l" indent="0" marL="0">
                        <a:lnSpc>
                          <a:spcPts val="1520"/>
                        </a:lnSpc>
                        <a:buNone/>
                      </a:pPr>
                      <a:r>
                        <a:rPr lang="en-US" sz="1260" dirty="0">
                          <a:solidFill>
                            <a:srgbClr val="101A22"/>
                          </a:solidFill>
                          <a:latin typeface="Arial" pitchFamily="34" charset="0"/>
                          <a:ea typeface="Arial" pitchFamily="34" charset="-122"/>
                          <a:cs typeface="Arial" pitchFamily="34" charset="-120"/>
                        </a:rPr>
                        <a:t>a PHP library — encodes the records and sends them over the network</a:t>
                      </a:r>
                      <a:endParaRPr lang="en-US" sz="1200" dirty="0"/>
                    </a:p>
                  </a:txBody>
                  <a:tcPr marL="124949" marR="124949" marT="107099" marB="107099" anchor="t">
                    <a:lnL w="0" cap="flat" cmpd="sng" algn="ctr">
                      <a:noFill/>
                    </a:lnL>
                    <a:lnR w="0" cap="flat" cmpd="sng" algn="ctr">
                      <a:noFill/>
                    </a:lnR>
                    <a:lnT w="0" cap="flat" cmpd="sng" algn="ctr">
                      <a:noFill/>
                    </a:lnT>
                    <a:lnB w="8890" cap="flat" cmpd="sng" algn="ctr">
                      <a:solidFill>
                        <a:srgbClr val="CBD7DF"/>
                      </a:solidFill>
                      <a:prstDash val="solid"/>
                      <a:round/>
                      <a:headEnd type="none" w="med" len="med"/>
                      <a:tailEnd type="none" w="med" len="med"/>
                    </a:lnB>
                  </a:tcPr>
                </a:tc>
              </a:tr>
              <a:tr h="410371">
                <a:tc>
                  <a:txBody>
                    <a:bodyPr/>
                    <a:lstStyle/>
                    <a:p>
                      <a:pPr algn="l" indent="0" marL="0">
                        <a:lnSpc>
                          <a:spcPts val="1430"/>
                        </a:lnSpc>
                        <a:buNone/>
                      </a:pPr>
                      <a:r>
                        <a:rPr lang="en-US" sz="1190" dirty="0">
                          <a:solidFill>
                            <a:srgbClr val="0B6E99"/>
                          </a:solidFill>
                          <a:latin typeface="Courier New" pitchFamily="34" charset="0"/>
                          <a:ea typeface="Courier New" pitchFamily="34" charset="-122"/>
                          <a:cs typeface="Courier New" pitchFamily="34" charset="-120"/>
                        </a:rPr>
                        <a:t>OpenTelemetry Collector</a:t>
                      </a:r>
                      <a:endParaRPr lang="en-US" sz="1200" dirty="0"/>
                    </a:p>
                  </a:txBody>
                  <a:tcPr marL="124949" marR="124949" marT="107099" marB="107099" anchor="t">
                    <a:lnL w="0" cap="flat" cmpd="sng" algn="ctr">
                      <a:noFill/>
                    </a:lnL>
                    <a:lnR w="0" cap="flat" cmpd="sng" algn="ctr">
                      <a:noFill/>
                    </a:lnR>
                    <a:lnT w="0" cap="flat" cmpd="sng" algn="ctr">
                      <a:noFill/>
                    </a:lnT>
                    <a:lnB w="8890" cap="flat" cmpd="sng" algn="ctr">
                      <a:solidFill>
                        <a:srgbClr val="CBD7DF"/>
                      </a:solidFill>
                      <a:prstDash val="solid"/>
                      <a:round/>
                      <a:headEnd type="none" w="med" len="med"/>
                      <a:tailEnd type="none" w="med" len="med"/>
                    </a:lnB>
                  </a:tcPr>
                </a:tc>
                <a:tc>
                  <a:txBody>
                    <a:bodyPr/>
                    <a:lstStyle/>
                    <a:p>
                      <a:pPr algn="l" indent="0" marL="0">
                        <a:lnSpc>
                          <a:spcPts val="1520"/>
                        </a:lnSpc>
                        <a:buNone/>
                      </a:pPr>
                      <a:r>
                        <a:rPr lang="en-US" sz="1260" dirty="0">
                          <a:solidFill>
                            <a:srgbClr val="101A22"/>
                          </a:solidFill>
                          <a:latin typeface="Arial" pitchFamily="34" charset="0"/>
                          <a:ea typeface="Arial" pitchFamily="34" charset="-122"/>
                          <a:cs typeface="Arial" pitchFamily="34" charset="-120"/>
                        </a:rPr>
                        <a:t>a separate service — receives everything, filters it, forwards it to storage</a:t>
                      </a:r>
                      <a:endParaRPr lang="en-US" sz="1200" dirty="0"/>
                    </a:p>
                  </a:txBody>
                  <a:tcPr marL="124949" marR="124949" marT="107099" marB="107099" anchor="t">
                    <a:lnL w="0" cap="flat" cmpd="sng" algn="ctr">
                      <a:noFill/>
                    </a:lnL>
                    <a:lnR w="0" cap="flat" cmpd="sng" algn="ctr">
                      <a:noFill/>
                    </a:lnR>
                    <a:lnT w="0" cap="flat" cmpd="sng" algn="ctr">
                      <a:noFill/>
                    </a:lnT>
                    <a:lnB w="8890" cap="flat" cmpd="sng" algn="ctr">
                      <a:solidFill>
                        <a:srgbClr val="CBD7DF"/>
                      </a:solidFill>
                      <a:prstDash val="solid"/>
                      <a:round/>
                      <a:headEnd type="none" w="med" len="med"/>
                      <a:tailEnd type="none" w="med" len="med"/>
                    </a:lnB>
                  </a:tcPr>
                </a:tc>
              </a:tr>
            </a:tbl>
          </a:graphicData>
        </a:graphic>
      </p:graphicFrame>
      <p:sp>
        <p:nvSpPr>
          <p:cNvPr id="5" name="Text 2"/>
          <p:cNvSpPr txBox="1"/>
          <p:nvPr/>
        </p:nvSpPr>
        <p:spPr>
          <a:xfrm>
            <a:off x="993122" y="513096"/>
            <a:ext cx="10262906" cy="174036"/>
          </a:xfrm>
          <a:prstGeom prst="rect">
            <a:avLst/>
          </a:prstGeom>
          <a:noFill/>
          <a:ln/>
        </p:spPr>
        <p:txBody>
          <a:bodyPr wrap="none" lIns="0" tIns="0" rIns="0" bIns="0" rtlCol="0" anchor="t"/>
          <a:lstStyle/>
          <a:p>
            <a:pPr algn="l" indent="0" marL="0">
              <a:lnSpc>
                <a:spcPts val="1370"/>
              </a:lnSpc>
              <a:buNone/>
            </a:pPr>
            <a:r>
              <a:rPr lang="en-US" sz="910" spc="150" kern="0" dirty="0">
                <a:solidFill>
                  <a:srgbClr val="0B6E99"/>
                </a:solidFill>
                <a:latin typeface="Courier New" pitchFamily="34" charset="0"/>
                <a:ea typeface="Courier New" pitchFamily="34" charset="-122"/>
                <a:cs typeface="Courier New" pitchFamily="34" charset="-120"/>
              </a:rPr>
              <a:t>THE SOFTWARE</a:t>
            </a:r>
            <a:endParaRPr lang="en-US" sz="910" dirty="0"/>
          </a:p>
        </p:txBody>
      </p:sp>
      <p:sp>
        <p:nvSpPr>
          <p:cNvPr id="6" name="Text 3"/>
          <p:cNvSpPr txBox="1"/>
          <p:nvPr/>
        </p:nvSpPr>
        <p:spPr>
          <a:xfrm>
            <a:off x="993122" y="832257"/>
            <a:ext cx="10262906" cy="404835"/>
          </a:xfrm>
          <a:prstGeom prst="rect">
            <a:avLst/>
          </a:prstGeom>
          <a:noFill/>
          <a:ln/>
        </p:spPr>
        <p:txBody>
          <a:bodyPr wrap="none" lIns="0" tIns="0" rIns="0" bIns="0" rtlCol="0" anchor="t"/>
          <a:lstStyle/>
          <a:p>
            <a:pPr algn="l" indent="0" marL="0">
              <a:lnSpc>
                <a:spcPts val="3190"/>
              </a:lnSpc>
              <a:buNone/>
            </a:pPr>
            <a:r>
              <a:rPr lang="en-US" sz="2950" b="1" spc="-60" kern="0" dirty="0">
                <a:solidFill>
                  <a:srgbClr val="101A22"/>
                </a:solidFill>
                <a:latin typeface="Arial" pitchFamily="34" charset="0"/>
                <a:ea typeface="Arial" pitchFamily="34" charset="-122"/>
                <a:cs typeface="Arial" pitchFamily="34" charset="-120"/>
              </a:rPr>
              <a:t>OpenTelemetry sends the Moodle data to OpenSearch</a:t>
            </a:r>
            <a:endParaRPr lang="en-US" sz="2950" dirty="0"/>
          </a:p>
        </p:txBody>
      </p:sp>
      <p:sp>
        <p:nvSpPr>
          <p:cNvPr id="7" name="Text 4"/>
          <p:cNvSpPr txBox="1"/>
          <p:nvPr/>
        </p:nvSpPr>
        <p:spPr>
          <a:xfrm>
            <a:off x="993122" y="1428254"/>
            <a:ext cx="10262906" cy="695847"/>
          </a:xfrm>
          <a:prstGeom prst="rect">
            <a:avLst/>
          </a:prstGeom>
          <a:noFill/>
          <a:ln/>
        </p:spPr>
        <p:txBody>
          <a:bodyPr wrap="square" lIns="0" tIns="0" rIns="0" bIns="0" rtlCol="0" anchor="t"/>
          <a:lstStyle/>
          <a:p>
            <a:pPr algn="l" indent="0" marL="0">
              <a:lnSpc>
                <a:spcPts val="2740"/>
              </a:lnSpc>
              <a:buNone/>
            </a:pPr>
            <a:r>
              <a:rPr lang="en-US" sz="1830" dirty="0">
                <a:solidFill>
                  <a:srgbClr val="5A6D7A"/>
                </a:solidFill>
                <a:latin typeface="Arial" pitchFamily="34" charset="0"/>
                <a:ea typeface="Arial" pitchFamily="34" charset="-122"/>
                <a:cs typeface="Arial" pitchFamily="34" charset="-120"/>
              </a:rPr>
              <a:t>OpenTelemetry is a log shipper. It is open source under the Apache 2.0 license. It takes the data that Moodle produces, the events and the timings, and sends it to OpenSearch.</a:t>
            </a:r>
            <a:endParaRPr lang="en-US" sz="1830" dirty="0"/>
          </a:p>
        </p:txBody>
      </p:sp>
      <p:sp>
        <p:nvSpPr>
          <p:cNvPr id="8" name="Text 5"/>
          <p:cNvSpPr txBox="1"/>
          <p:nvPr/>
        </p:nvSpPr>
        <p:spPr>
          <a:xfrm>
            <a:off x="993122" y="2362298"/>
            <a:ext cx="10262906" cy="588794"/>
          </a:xfrm>
          <a:prstGeom prst="rect">
            <a:avLst/>
          </a:prstGeom>
          <a:noFill/>
          <a:ln/>
        </p:spPr>
        <p:txBody>
          <a:bodyPr wrap="square" lIns="0" tIns="0" rIns="0" bIns="0" rtlCol="0" anchor="t"/>
          <a:lstStyle/>
          <a:p>
            <a:pPr algn="l" indent="0" marL="0">
              <a:lnSpc>
                <a:spcPts val="2320"/>
              </a:lnSpc>
              <a:buNone/>
            </a:pPr>
            <a:r>
              <a:rPr lang="en-US" sz="1550" b="1" dirty="0">
                <a:solidFill>
                  <a:srgbClr val="101A22"/>
                </a:solidFill>
                <a:latin typeface="Arial" pitchFamily="34" charset="0"/>
                <a:ea typeface="Arial" pitchFamily="34" charset="-122"/>
                <a:cs typeface="Arial" pitchFamily="34" charset="-120"/>
              </a:rPr>
              <a:t>There is no package called OpenTelemetry.</a:t>
            </a:r>
            <a:pPr algn="l" indent="0" marL="0">
              <a:lnSpc>
                <a:spcPts val="2320"/>
              </a:lnSpc>
              <a:buNone/>
            </a:pPr>
            <a:r>
              <a:rPr lang="en-US" sz="1550" dirty="0">
                <a:solidFill>
                  <a:srgbClr val="101A22"/>
                </a:solidFill>
                <a:latin typeface="Arial" pitchFamily="34" charset="0"/>
                <a:ea typeface="Arial" pitchFamily="34" charset="-122"/>
                <a:cs typeface="Arial" pitchFamily="34" charset="-120"/>
              </a:rPr>
              <a:t> The OpenTelemetry project publishes separate programs and libraries. This talk uses these four:</a:t>
            </a:r>
            <a:endParaRPr lang="en-US" sz="1550" dirty="0"/>
          </a:p>
        </p:txBody>
      </p:sp>
      <p:sp>
        <p:nvSpPr>
          <p:cNvPr id="9" name="Text 6"/>
          <p:cNvSpPr txBox="1"/>
          <p:nvPr/>
        </p:nvSpPr>
        <p:spPr>
          <a:xfrm>
            <a:off x="993122" y="4824525"/>
            <a:ext cx="10262906" cy="294523"/>
          </a:xfrm>
          <a:prstGeom prst="rect">
            <a:avLst/>
          </a:prstGeom>
          <a:noFill/>
          <a:ln/>
        </p:spPr>
        <p:txBody>
          <a:bodyPr wrap="none" lIns="0" tIns="0" rIns="0" bIns="0" rtlCol="0" anchor="t"/>
          <a:lstStyle/>
          <a:p>
            <a:pPr algn="l" indent="0" marL="0">
              <a:lnSpc>
                <a:spcPts val="2320"/>
              </a:lnSpc>
              <a:buNone/>
            </a:pPr>
            <a:r>
              <a:rPr lang="en-US" sz="1550" dirty="0">
                <a:solidFill>
                  <a:srgbClr val="5A6D7A"/>
                </a:solidFill>
                <a:latin typeface="Arial" pitchFamily="34" charset="0"/>
                <a:ea typeface="Arial" pitchFamily="34" charset="-122"/>
                <a:cs typeface="Arial" pitchFamily="34" charset="-120"/>
              </a:rPr>
              <a:t>None of them stores data or displays it. That is OpenSearch's job.</a:t>
            </a:r>
            <a:endParaRPr lang="en-US" sz="1550" dirty="0"/>
          </a:p>
        </p:txBody>
      </p:sp>
      <p:sp>
        <p:nvSpPr>
          <p:cNvPr id="10" name="Text 7"/>
          <p:cNvSpPr txBox="1"/>
          <p:nvPr/>
        </p:nvSpPr>
        <p:spPr>
          <a:xfrm>
            <a:off x="1144846" y="5314116"/>
            <a:ext cx="2241300" cy="227586"/>
          </a:xfrm>
          <a:prstGeom prst="rect">
            <a:avLst/>
          </a:prstGeom>
          <a:noFill/>
          <a:ln/>
        </p:spPr>
        <p:txBody>
          <a:bodyPr wrap="none" lIns="0" tIns="0" rIns="0" bIns="0" rtlCol="0" anchor="t"/>
          <a:lstStyle/>
          <a:p>
            <a:pPr algn="l" indent="0" marL="0">
              <a:lnSpc>
                <a:spcPts val="1790"/>
              </a:lnSpc>
              <a:buNone/>
            </a:pPr>
            <a:r>
              <a:rPr lang="en-US" sz="1190" dirty="0">
                <a:solidFill>
                  <a:srgbClr val="0B6E99"/>
                </a:solidFill>
                <a:latin typeface="Courier New" pitchFamily="34" charset="0"/>
                <a:ea typeface="Courier New" pitchFamily="34" charset="-122"/>
                <a:cs typeface="Courier New" pitchFamily="34" charset="-120"/>
              </a:rPr>
              <a:t>https://opentelemetry.io</a:t>
            </a:r>
            <a:endParaRPr lang="en-US" sz="1190" dirty="0"/>
          </a:p>
        </p:txBody>
      </p:sp>
      <p:sp>
        <p:nvSpPr>
          <p:cNvPr id="11" name="Text 8"/>
          <p:cNvSpPr txBox="1"/>
          <p:nvPr/>
        </p:nvSpPr>
        <p:spPr>
          <a:xfrm>
            <a:off x="647700" y="6464574"/>
            <a:ext cx="1320403" cy="142875"/>
          </a:xfrm>
          <a:prstGeom prst="rect">
            <a:avLst/>
          </a:prstGeom>
          <a:noFill/>
          <a:ln/>
        </p:spPr>
        <p:txBody>
          <a:bodyPr wrap="none" lIns="0" tIns="0" rIns="0" bIns="0" rtlCol="0" anchor="t"/>
          <a:lstStyle/>
          <a:p>
            <a:pPr algn="l" indent="0" marL="0">
              <a:lnSpc>
                <a:spcPts val="1100"/>
              </a:lnSpc>
              <a:buNone/>
            </a:pPr>
            <a:r>
              <a:rPr lang="en-US" sz="910" dirty="0">
                <a:solidFill>
                  <a:srgbClr val="8496A2"/>
                </a:solidFill>
                <a:latin typeface="Courier New" pitchFamily="34" charset="0"/>
                <a:ea typeface="Courier New" pitchFamily="34" charset="-122"/>
                <a:cs typeface="Courier New" pitchFamily="34" charset="-120"/>
              </a:rPr>
              <a:t>Setting the scene</a:t>
            </a:r>
            <a:endParaRPr lang="en-US" sz="910" dirty="0"/>
          </a:p>
        </p:txBody>
      </p:sp>
      <p:sp>
        <p:nvSpPr>
          <p:cNvPr id="12" name="Text 9"/>
          <p:cNvSpPr txBox="1"/>
          <p:nvPr/>
        </p:nvSpPr>
        <p:spPr>
          <a:xfrm>
            <a:off x="11098411" y="6464574"/>
            <a:ext cx="503039" cy="142875"/>
          </a:xfrm>
          <a:prstGeom prst="rect">
            <a:avLst/>
          </a:prstGeom>
          <a:noFill/>
          <a:ln/>
        </p:spPr>
        <p:txBody>
          <a:bodyPr wrap="none" lIns="0" tIns="0" rIns="0" bIns="0" rtlCol="0" anchor="t"/>
          <a:lstStyle/>
          <a:p>
            <a:pPr algn="l" indent="0" marL="0">
              <a:lnSpc>
                <a:spcPts val="1100"/>
              </a:lnSpc>
              <a:buNone/>
            </a:pPr>
            <a:r>
              <a:rPr lang="en-US" sz="910" dirty="0">
                <a:solidFill>
                  <a:srgbClr val="8496A2"/>
                </a:solidFill>
                <a:latin typeface="Courier New" pitchFamily="34" charset="0"/>
                <a:ea typeface="Courier New" pitchFamily="34" charset="-122"/>
                <a:cs typeface="Courier New" pitchFamily="34" charset="-120"/>
              </a:rPr>
              <a:t>6 / 39</a:t>
            </a:r>
            <a:endParaRPr lang="en-US" sz="910" dirty="0"/>
          </a:p>
        </p:txBody>
      </p:sp>
      <p:pic>
        <p:nvPicPr>
          <p:cNvPr id="900" name="NetSapiensis mark" descr="NetSapiensis"/>
          <p:cNvPicPr>
            <a:picLocks noChangeAspect="1"/>
          </p:cNvPicPr>
          <p:nvPr/>
        </p:nvPicPr>
        <p:blipFill>
          <a:blip r:embed="rId3"/>
          <a:stretch>
            <a:fillRect/>
          </a:stretch>
        </p:blipFill>
        <p:spPr>
          <a:xfrm>
            <a:off x="10776204" y="6419088"/>
            <a:ext cx="178308" cy="237744"/>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2104907" y="3329030"/>
            <a:ext cx="63265" cy="63265"/>
          </a:xfrm>
          <a:prstGeom prst="roundRect">
            <a:avLst>
              <a:gd name="adj" fmla="val 642377"/>
            </a:avLst>
          </a:prstGeom>
          <a:solidFill>
            <a:srgbClr val="0B6E99"/>
          </a:solidFill>
          <a:ln/>
        </p:spPr>
      </p:sp>
      <p:sp>
        <p:nvSpPr>
          <p:cNvPr id="3" name="Shape 1"/>
          <p:cNvSpPr/>
          <p:nvPr/>
        </p:nvSpPr>
        <p:spPr>
          <a:xfrm>
            <a:off x="6264650" y="3329030"/>
            <a:ext cx="63265" cy="63265"/>
          </a:xfrm>
          <a:prstGeom prst="roundRect">
            <a:avLst>
              <a:gd name="adj" fmla="val 642377"/>
            </a:avLst>
          </a:prstGeom>
          <a:solidFill>
            <a:srgbClr val="0B6E99"/>
          </a:solidFill>
          <a:ln/>
        </p:spPr>
      </p:sp>
      <p:sp>
        <p:nvSpPr>
          <p:cNvPr id="4" name="Shape 2"/>
          <p:cNvSpPr/>
          <p:nvPr/>
        </p:nvSpPr>
        <p:spPr>
          <a:xfrm>
            <a:off x="2104907" y="4360182"/>
            <a:ext cx="63265" cy="63265"/>
          </a:xfrm>
          <a:prstGeom prst="roundRect">
            <a:avLst>
              <a:gd name="adj" fmla="val 642377"/>
            </a:avLst>
          </a:prstGeom>
          <a:solidFill>
            <a:srgbClr val="0B6E99"/>
          </a:solidFill>
          <a:ln/>
        </p:spPr>
      </p:sp>
      <p:sp>
        <p:nvSpPr>
          <p:cNvPr id="5" name="Shape 3"/>
          <p:cNvSpPr/>
          <p:nvPr/>
        </p:nvSpPr>
        <p:spPr>
          <a:xfrm>
            <a:off x="6264650" y="4360182"/>
            <a:ext cx="63265" cy="63265"/>
          </a:xfrm>
          <a:prstGeom prst="roundRect">
            <a:avLst>
              <a:gd name="adj" fmla="val 642377"/>
            </a:avLst>
          </a:prstGeom>
          <a:solidFill>
            <a:srgbClr val="0B6E99"/>
          </a:solidFill>
          <a:ln/>
        </p:spPr>
      </p:sp>
      <p:sp>
        <p:nvSpPr>
          <p:cNvPr id="6" name="Shape 4"/>
          <p:cNvSpPr/>
          <p:nvPr/>
        </p:nvSpPr>
        <p:spPr>
          <a:xfrm>
            <a:off x="2076789" y="5363194"/>
            <a:ext cx="1815935" cy="333763"/>
          </a:xfrm>
          <a:prstGeom prst="roundRect">
            <a:avLst>
              <a:gd name="adj" fmla="val 92321"/>
            </a:avLst>
          </a:prstGeom>
          <a:solidFill>
            <a:srgbClr val="E1F0F7"/>
          </a:solidFill>
          <a:ln w="7620">
            <a:solidFill>
              <a:srgbClr val="0B6E99"/>
            </a:solidFill>
            <a:prstDash val="solid"/>
          </a:ln>
        </p:spPr>
      </p:sp>
      <p:sp>
        <p:nvSpPr>
          <p:cNvPr id="7" name="Shape 5"/>
          <p:cNvSpPr/>
          <p:nvPr/>
        </p:nvSpPr>
        <p:spPr>
          <a:xfrm>
            <a:off x="647700" y="6343650"/>
            <a:ext cx="10896600" cy="0"/>
          </a:xfrm>
          <a:prstGeom prst="line">
            <a:avLst/>
          </a:prstGeom>
          <a:noFill/>
          <a:ln w="7620">
            <a:solidFill>
              <a:srgbClr val="CBD7DF"/>
            </a:solidFill>
            <a:prstDash val="solid"/>
          </a:ln>
        </p:spPr>
      </p:sp>
      <p:sp>
        <p:nvSpPr>
          <p:cNvPr id="8" name="Text 6"/>
          <p:cNvSpPr txBox="1"/>
          <p:nvPr/>
        </p:nvSpPr>
        <p:spPr>
          <a:xfrm>
            <a:off x="2076789" y="517408"/>
            <a:ext cx="8095571" cy="137074"/>
          </a:xfrm>
          <a:prstGeom prst="rect">
            <a:avLst/>
          </a:prstGeom>
          <a:noFill/>
          <a:ln/>
        </p:spPr>
        <p:txBody>
          <a:bodyPr wrap="none" lIns="0" tIns="0" rIns="0" bIns="0" rtlCol="0" anchor="t"/>
          <a:lstStyle/>
          <a:p>
            <a:pPr algn="l" indent="0" marL="0">
              <a:lnSpc>
                <a:spcPts val="1080"/>
              </a:lnSpc>
              <a:buNone/>
            </a:pPr>
            <a:r>
              <a:rPr lang="en-US" sz="720" spc="120" kern="0" dirty="0">
                <a:solidFill>
                  <a:srgbClr val="0B6E99"/>
                </a:solidFill>
                <a:latin typeface="Courier New" pitchFamily="34" charset="0"/>
                <a:ea typeface="Courier New" pitchFamily="34" charset="-122"/>
                <a:cs typeface="Courier New" pitchFamily="34" charset="-120"/>
              </a:rPr>
              <a:t>THE SOFTWARE</a:t>
            </a:r>
            <a:endParaRPr lang="en-US" sz="720" dirty="0"/>
          </a:p>
        </p:txBody>
      </p:sp>
      <p:sp>
        <p:nvSpPr>
          <p:cNvPr id="9" name="Text 7"/>
          <p:cNvSpPr txBox="1"/>
          <p:nvPr/>
        </p:nvSpPr>
        <p:spPr>
          <a:xfrm>
            <a:off x="2076789" y="768791"/>
            <a:ext cx="8095571" cy="318856"/>
          </a:xfrm>
          <a:prstGeom prst="rect">
            <a:avLst/>
          </a:prstGeom>
          <a:noFill/>
          <a:ln/>
        </p:spPr>
        <p:txBody>
          <a:bodyPr wrap="none" lIns="0" tIns="0" rIns="0" bIns="0" rtlCol="0" anchor="t"/>
          <a:lstStyle/>
          <a:p>
            <a:pPr algn="l" indent="0" marL="0">
              <a:lnSpc>
                <a:spcPts val="2510"/>
              </a:lnSpc>
              <a:buNone/>
            </a:pPr>
            <a:r>
              <a:rPr lang="en-US" sz="2320" b="1" spc="-50" kern="0" dirty="0">
                <a:solidFill>
                  <a:srgbClr val="101A22"/>
                </a:solidFill>
                <a:latin typeface="Arial" pitchFamily="34" charset="0"/>
                <a:ea typeface="Arial" pitchFamily="34" charset="-122"/>
                <a:cs typeface="Arial" pitchFamily="34" charset="-120"/>
              </a:rPr>
              <a:t>OpenSearch stores the events and searches them</a:t>
            </a:r>
            <a:endParaRPr lang="en-US" sz="2320" dirty="0"/>
          </a:p>
        </p:txBody>
      </p:sp>
      <p:sp>
        <p:nvSpPr>
          <p:cNvPr id="10" name="Text 8"/>
          <p:cNvSpPr txBox="1"/>
          <p:nvPr/>
        </p:nvSpPr>
        <p:spPr>
          <a:xfrm>
            <a:off x="2076789" y="1238220"/>
            <a:ext cx="8095571" cy="548074"/>
          </a:xfrm>
          <a:prstGeom prst="rect">
            <a:avLst/>
          </a:prstGeom>
          <a:noFill/>
          <a:ln/>
        </p:spPr>
        <p:txBody>
          <a:bodyPr wrap="square" lIns="0" tIns="0" rIns="0" bIns="0" rtlCol="0" anchor="t"/>
          <a:lstStyle/>
          <a:p>
            <a:pPr algn="l" indent="0" marL="0">
              <a:lnSpc>
                <a:spcPts val="2160"/>
              </a:lnSpc>
              <a:buNone/>
            </a:pPr>
            <a:r>
              <a:rPr lang="en-US" sz="1440" dirty="0">
                <a:solidFill>
                  <a:srgbClr val="5A6D7A"/>
                </a:solidFill>
                <a:latin typeface="Arial" pitchFamily="34" charset="0"/>
                <a:ea typeface="Arial" pitchFamily="34" charset="-122"/>
                <a:cs typeface="Arial" pitchFamily="34" charset="-120"/>
              </a:rPr>
              <a:t>OpenSearch is an open-source search engine and document store, forked from </a:t>
            </a:r>
            <a:pPr algn="l" indent="0" marL="0">
              <a:lnSpc>
                <a:spcPts val="2160"/>
              </a:lnSpc>
              <a:buNone/>
            </a:pPr>
            <a:r>
              <a:rPr lang="en-US" sz="1440" b="1" dirty="0">
                <a:solidFill>
                  <a:srgbClr val="5A6D7A"/>
                </a:solidFill>
                <a:latin typeface="Arial" pitchFamily="34" charset="0"/>
                <a:ea typeface="Arial" pitchFamily="34" charset="-122"/>
                <a:cs typeface="Arial" pitchFamily="34" charset="-120"/>
              </a:rPr>
              <a:t>Elasticsearch</a:t>
            </a:r>
            <a:pPr algn="l" indent="0" marL="0">
              <a:lnSpc>
                <a:spcPts val="2160"/>
              </a:lnSpc>
              <a:buNone/>
            </a:pPr>
            <a:r>
              <a:rPr lang="en-US" sz="1440" dirty="0">
                <a:solidFill>
                  <a:srgbClr val="5A6D7A"/>
                </a:solidFill>
                <a:latin typeface="Arial" pitchFamily="34" charset="0"/>
                <a:ea typeface="Arial" pitchFamily="34" charset="-122"/>
                <a:cs typeface="Arial" pitchFamily="34" charset="-120"/>
              </a:rPr>
              <a:t>, with a web front end called </a:t>
            </a:r>
            <a:pPr algn="l" indent="0" marL="0">
              <a:lnSpc>
                <a:spcPts val="2160"/>
              </a:lnSpc>
              <a:buNone/>
            </a:pPr>
            <a:r>
              <a:rPr lang="en-US" sz="1440" b="1" dirty="0">
                <a:solidFill>
                  <a:srgbClr val="5A6D7A"/>
                </a:solidFill>
                <a:latin typeface="Arial" pitchFamily="34" charset="0"/>
                <a:ea typeface="Arial" pitchFamily="34" charset="-122"/>
                <a:cs typeface="Arial" pitchFamily="34" charset="-120"/>
              </a:rPr>
              <a:t>OpenSearch Dashboards</a:t>
            </a:r>
            <a:pPr algn="l" indent="0" marL="0">
              <a:lnSpc>
                <a:spcPts val="2160"/>
              </a:lnSpc>
              <a:buNone/>
            </a:pPr>
            <a:r>
              <a:rPr lang="en-US" sz="1440" dirty="0">
                <a:solidFill>
                  <a:srgbClr val="5A6D7A"/>
                </a:solidFill>
                <a:latin typeface="Arial" pitchFamily="34" charset="0"/>
                <a:ea typeface="Arial" pitchFamily="34" charset="-122"/>
                <a:cs typeface="Arial" pitchFamily="34" charset="-120"/>
              </a:rPr>
              <a:t>.</a:t>
            </a:r>
            <a:endParaRPr lang="en-US" sz="1440" dirty="0"/>
          </a:p>
        </p:txBody>
      </p:sp>
      <p:sp>
        <p:nvSpPr>
          <p:cNvPr id="11" name="Text 9"/>
          <p:cNvSpPr txBox="1"/>
          <p:nvPr/>
        </p:nvSpPr>
        <p:spPr>
          <a:xfrm>
            <a:off x="2076789" y="1997806"/>
            <a:ext cx="8095571" cy="151836"/>
          </a:xfrm>
          <a:prstGeom prst="rect">
            <a:avLst/>
          </a:prstGeom>
          <a:noFill/>
          <a:ln/>
        </p:spPr>
        <p:txBody>
          <a:bodyPr wrap="none" lIns="0" tIns="0" rIns="0" bIns="0" rtlCol="0" anchor="t"/>
          <a:lstStyle/>
          <a:p>
            <a:pPr algn="l" indent="0" marL="0">
              <a:lnSpc>
                <a:spcPts val="1200"/>
              </a:lnSpc>
              <a:buNone/>
            </a:pPr>
            <a:r>
              <a:rPr lang="en-US" sz="1000" b="1" dirty="0">
                <a:solidFill>
                  <a:srgbClr val="0B6E99"/>
                </a:solidFill>
                <a:latin typeface="Arial" pitchFamily="34" charset="0"/>
                <a:ea typeface="Arial" pitchFamily="34" charset="-122"/>
                <a:cs typeface="Arial" pitchFamily="34" charset="-120"/>
              </a:rPr>
              <a:t>What it does</a:t>
            </a:r>
            <a:endParaRPr lang="en-US" sz="1000" dirty="0"/>
          </a:p>
        </p:txBody>
      </p:sp>
      <p:sp>
        <p:nvSpPr>
          <p:cNvPr id="12" name="Text 10"/>
          <p:cNvSpPr txBox="1"/>
          <p:nvPr/>
        </p:nvSpPr>
        <p:spPr>
          <a:xfrm>
            <a:off x="2076789" y="2191731"/>
            <a:ext cx="8095571" cy="695633"/>
          </a:xfrm>
          <a:prstGeom prst="rect">
            <a:avLst/>
          </a:prstGeom>
          <a:noFill/>
          <a:ln/>
        </p:spPr>
        <p:txBody>
          <a:bodyPr wrap="square" lIns="0" tIns="0" rIns="0" bIns="0" rtlCol="0" anchor="t"/>
          <a:lstStyle/>
          <a:p>
            <a:pPr algn="l" indent="0" marL="0">
              <a:lnSpc>
                <a:spcPts val="1830"/>
              </a:lnSpc>
              <a:buNone/>
            </a:pPr>
            <a:r>
              <a:rPr lang="en-US" sz="1220" b="1" dirty="0">
                <a:solidFill>
                  <a:srgbClr val="101A22"/>
                </a:solidFill>
                <a:latin typeface="Arial" pitchFamily="34" charset="0"/>
                <a:ea typeface="Arial" pitchFamily="34" charset="-122"/>
                <a:cs typeface="Arial" pitchFamily="34" charset="-120"/>
              </a:rPr>
              <a:t>Indexes</a:t>
            </a:r>
            <a:pPr algn="l" indent="0" marL="0">
              <a:lnSpc>
                <a:spcPts val="1830"/>
              </a:lnSpc>
              <a:buNone/>
            </a:pPr>
            <a:r>
              <a:rPr lang="en-US" sz="1220" dirty="0">
                <a:solidFill>
                  <a:srgbClr val="101A22"/>
                </a:solidFill>
                <a:latin typeface="Arial" pitchFamily="34" charset="0"/>
                <a:ea typeface="Arial" pitchFamily="34" charset="-122"/>
                <a:cs typeface="Arial" pitchFamily="34" charset="-120"/>
              </a:rPr>
              <a:t> every event, and every timing, as one document, then answers questions about millions of them in milliseconds. OpenSearch Dashboards draws charts from them. </a:t>
            </a:r>
            <a:pPr algn="l" indent="0" marL="0">
              <a:lnSpc>
                <a:spcPts val="1830"/>
              </a:lnSpc>
              <a:buNone/>
            </a:pPr>
            <a:r>
              <a:rPr lang="en-US" sz="1220" b="1" dirty="0">
                <a:solidFill>
                  <a:srgbClr val="101A22"/>
                </a:solidFill>
                <a:latin typeface="Arial" pitchFamily="34" charset="0"/>
                <a:ea typeface="Arial" pitchFamily="34" charset="-122"/>
                <a:cs typeface="Arial" pitchFamily="34" charset="-120"/>
              </a:rPr>
              <a:t>Indexing</a:t>
            </a:r>
            <a:pPr algn="l" indent="0" marL="0">
              <a:lnSpc>
                <a:spcPts val="1830"/>
              </a:lnSpc>
              <a:buNone/>
            </a:pPr>
            <a:r>
              <a:rPr lang="en-US" sz="1220" dirty="0">
                <a:solidFill>
                  <a:srgbClr val="101A22"/>
                </a:solidFill>
                <a:latin typeface="Arial" pitchFamily="34" charset="0"/>
                <a:ea typeface="Arial" pitchFamily="34" charset="-122"/>
                <a:cs typeface="Arial" pitchFamily="34" charset="-120"/>
              </a:rPr>
              <a:t> means every field — duration, task name, file path, line number — is written into a structure built for searching.</a:t>
            </a:r>
            <a:endParaRPr lang="en-US" sz="1220" dirty="0"/>
          </a:p>
        </p:txBody>
      </p:sp>
      <p:sp>
        <p:nvSpPr>
          <p:cNvPr id="13" name="Text 11"/>
          <p:cNvSpPr txBox="1"/>
          <p:nvPr/>
        </p:nvSpPr>
        <p:spPr>
          <a:xfrm>
            <a:off x="2076789" y="3023689"/>
            <a:ext cx="8095571" cy="151836"/>
          </a:xfrm>
          <a:prstGeom prst="rect">
            <a:avLst/>
          </a:prstGeom>
          <a:noFill/>
          <a:ln/>
        </p:spPr>
        <p:txBody>
          <a:bodyPr wrap="none" lIns="0" tIns="0" rIns="0" bIns="0" rtlCol="0" anchor="t"/>
          <a:lstStyle/>
          <a:p>
            <a:pPr algn="l" indent="0" marL="0">
              <a:lnSpc>
                <a:spcPts val="1200"/>
              </a:lnSpc>
              <a:buNone/>
            </a:pPr>
            <a:r>
              <a:rPr lang="en-US" sz="1000" b="1" dirty="0">
                <a:solidFill>
                  <a:srgbClr val="0B6E99"/>
                </a:solidFill>
                <a:latin typeface="Arial" pitchFamily="34" charset="0"/>
                <a:ea typeface="Arial" pitchFamily="34" charset="-122"/>
                <a:cs typeface="Arial" pitchFamily="34" charset="-120"/>
              </a:rPr>
              <a:t>Why choose OpenSearch</a:t>
            </a:r>
            <a:endParaRPr lang="en-US" sz="1000" dirty="0"/>
          </a:p>
        </p:txBody>
      </p:sp>
      <p:sp>
        <p:nvSpPr>
          <p:cNvPr id="14" name="Text 12"/>
          <p:cNvSpPr txBox="1"/>
          <p:nvPr/>
        </p:nvSpPr>
        <p:spPr>
          <a:xfrm>
            <a:off x="2287673" y="3224467"/>
            <a:ext cx="3724945" cy="904674"/>
          </a:xfrm>
          <a:prstGeom prst="rect">
            <a:avLst/>
          </a:prstGeom>
          <a:noFill/>
          <a:ln/>
        </p:spPr>
        <p:txBody>
          <a:bodyPr wrap="square" lIns="0" tIns="0" rIns="0" bIns="0" rtlCol="0" anchor="t"/>
          <a:lstStyle/>
          <a:p>
            <a:pPr algn="l" indent="0" marL="0">
              <a:lnSpc>
                <a:spcPts val="1780"/>
              </a:lnSpc>
              <a:buNone/>
            </a:pPr>
            <a:r>
              <a:rPr lang="en-US" sz="1270" b="1" dirty="0">
                <a:solidFill>
                  <a:srgbClr val="101A22"/>
                </a:solidFill>
                <a:latin typeface="Arial" pitchFamily="34" charset="0"/>
                <a:ea typeface="Arial" pitchFamily="34" charset="-122"/>
                <a:cs typeface="Arial" pitchFamily="34" charset="-120"/>
              </a:rPr>
              <a:t>Grows by adding servers.</a:t>
            </a:r>
            <a:pPr algn="l" indent="0" marL="0">
              <a:lnSpc>
                <a:spcPts val="1780"/>
              </a:lnSpc>
              <a:buNone/>
            </a:pPr>
            <a:r>
              <a:rPr lang="en-US" sz="1270" dirty="0">
                <a:solidFill>
                  <a:srgbClr val="101A22"/>
                </a:solidFill>
                <a:latin typeface="Arial" pitchFamily="34" charset="0"/>
                <a:ea typeface="Arial" pitchFamily="34" charset="-122"/>
                <a:cs typeface="Arial" pitchFamily="34" charset="-120"/>
              </a:rPr>
              <a:t> An index is split into shards spread over the nodes of a cluster; a replica of each shard survives a lost node.</a:t>
            </a:r>
            <a:endParaRPr lang="en-US" sz="1270" dirty="0"/>
          </a:p>
        </p:txBody>
      </p:sp>
      <p:sp>
        <p:nvSpPr>
          <p:cNvPr id="15" name="Text 13"/>
          <p:cNvSpPr txBox="1"/>
          <p:nvPr/>
        </p:nvSpPr>
        <p:spPr>
          <a:xfrm>
            <a:off x="6447416" y="3224467"/>
            <a:ext cx="3724945" cy="904674"/>
          </a:xfrm>
          <a:prstGeom prst="rect">
            <a:avLst/>
          </a:prstGeom>
          <a:noFill/>
          <a:ln/>
        </p:spPr>
        <p:txBody>
          <a:bodyPr wrap="square" lIns="0" tIns="0" rIns="0" bIns="0" rtlCol="0" anchor="t"/>
          <a:lstStyle/>
          <a:p>
            <a:pPr algn="l" indent="0" marL="0">
              <a:lnSpc>
                <a:spcPts val="1780"/>
              </a:lnSpc>
              <a:buNone/>
            </a:pPr>
            <a:r>
              <a:rPr lang="en-US" sz="1270" b="1" dirty="0">
                <a:solidFill>
                  <a:srgbClr val="101A22"/>
                </a:solidFill>
                <a:latin typeface="Arial" pitchFamily="34" charset="0"/>
                <a:ea typeface="Arial" pitchFamily="34" charset="-122"/>
                <a:cs typeface="Arial" pitchFamily="34" charset="-120"/>
              </a:rPr>
              <a:t>Fast on large volumes.</a:t>
            </a:r>
            <a:pPr algn="l" indent="0" marL="0">
              <a:lnSpc>
                <a:spcPts val="1780"/>
              </a:lnSpc>
              <a:buNone/>
            </a:pPr>
            <a:r>
              <a:rPr lang="en-US" sz="1270" dirty="0">
                <a:solidFill>
                  <a:srgbClr val="101A22"/>
                </a:solidFill>
                <a:latin typeface="Arial" pitchFamily="34" charset="0"/>
                <a:ea typeface="Arial" pitchFamily="34" charset="-122"/>
                <a:cs typeface="Arial" pitchFamily="34" charset="-120"/>
              </a:rPr>
              <a:t> A search looks up the index instead of scanning every stored document, like the index at the back of a book, so it stays fast as the data grows.</a:t>
            </a:r>
            <a:endParaRPr lang="en-US" sz="1270" dirty="0"/>
          </a:p>
        </p:txBody>
      </p:sp>
      <p:sp>
        <p:nvSpPr>
          <p:cNvPr id="16" name="Text 14"/>
          <p:cNvSpPr txBox="1"/>
          <p:nvPr/>
        </p:nvSpPr>
        <p:spPr>
          <a:xfrm>
            <a:off x="2287673" y="4255619"/>
            <a:ext cx="3724945" cy="904674"/>
          </a:xfrm>
          <a:prstGeom prst="rect">
            <a:avLst/>
          </a:prstGeom>
          <a:noFill/>
          <a:ln/>
        </p:spPr>
        <p:txBody>
          <a:bodyPr wrap="square" lIns="0" tIns="0" rIns="0" bIns="0" rtlCol="0" anchor="t"/>
          <a:lstStyle/>
          <a:p>
            <a:pPr algn="l" indent="0" marL="0">
              <a:lnSpc>
                <a:spcPts val="1780"/>
              </a:lnSpc>
              <a:buNone/>
            </a:pPr>
            <a:r>
              <a:rPr lang="en-US" sz="1270" b="1" dirty="0">
                <a:solidFill>
                  <a:srgbClr val="101A22"/>
                </a:solidFill>
                <a:latin typeface="Arial" pitchFamily="34" charset="0"/>
                <a:ea typeface="Arial" pitchFamily="34" charset="-122"/>
                <a:cs typeface="Arial" pitchFamily="34" charset="-120"/>
              </a:rPr>
              <a:t>Speaks OpenTelemetry.</a:t>
            </a:r>
            <a:pPr algn="l" indent="0" marL="0">
              <a:lnSpc>
                <a:spcPts val="1780"/>
              </a:lnSpc>
              <a:buNone/>
            </a:pPr>
            <a:r>
              <a:rPr lang="en-US" sz="1270" dirty="0">
                <a:solidFill>
                  <a:srgbClr val="101A22"/>
                </a:solidFill>
                <a:latin typeface="Arial" pitchFamily="34" charset="0"/>
                <a:ea typeface="Arial" pitchFamily="34" charset="-122"/>
                <a:cs typeface="Arial" pitchFamily="34" charset="-120"/>
              </a:rPr>
              <a:t> The OpenTelemetry Collector ships an OpenSearch exporter; OpenSearch Dashboards has Trace analytics built in.</a:t>
            </a:r>
            <a:endParaRPr lang="en-US" sz="1270" dirty="0"/>
          </a:p>
        </p:txBody>
      </p:sp>
      <p:sp>
        <p:nvSpPr>
          <p:cNvPr id="17" name="Text 15"/>
          <p:cNvSpPr txBox="1"/>
          <p:nvPr/>
        </p:nvSpPr>
        <p:spPr>
          <a:xfrm>
            <a:off x="6447416" y="4255619"/>
            <a:ext cx="3724945" cy="960886"/>
          </a:xfrm>
          <a:prstGeom prst="rect">
            <a:avLst/>
          </a:prstGeom>
          <a:noFill/>
          <a:ln/>
        </p:spPr>
        <p:txBody>
          <a:bodyPr wrap="square" lIns="0" tIns="0" rIns="0" bIns="0" rtlCol="0" anchor="t"/>
          <a:lstStyle/>
          <a:p>
            <a:pPr algn="l" indent="0" marL="0">
              <a:lnSpc>
                <a:spcPts val="1780"/>
              </a:lnSpc>
              <a:buNone/>
            </a:pPr>
            <a:r>
              <a:rPr lang="en-US" sz="1270" b="1" dirty="0">
                <a:solidFill>
                  <a:srgbClr val="101A22"/>
                </a:solidFill>
                <a:latin typeface="Arial" pitchFamily="34" charset="0"/>
                <a:ea typeface="Arial" pitchFamily="34" charset="-122"/>
                <a:cs typeface="Arial" pitchFamily="34" charset="-120"/>
              </a:rPr>
              <a:t>Retention built in.</a:t>
            </a:r>
            <a:pPr algn="l" indent="0" marL="0">
              <a:lnSpc>
                <a:spcPts val="1780"/>
              </a:lnSpc>
              <a:buNone/>
            </a:pPr>
            <a:r>
              <a:rPr lang="en-US" sz="1270" dirty="0">
                <a:solidFill>
                  <a:srgbClr val="101A22"/>
                </a:solidFill>
                <a:latin typeface="Arial" pitchFamily="34" charset="0"/>
                <a:ea typeface="Arial" pitchFamily="34" charset="-122"/>
                <a:cs typeface="Arial" pitchFamily="34" charset="-120"/>
              </a:rPr>
              <a:t> A policy deletes whole indices on schedule.</a:t>
            </a:r>
            <a:endParaRPr lang="en-US" sz="1270" dirty="0"/>
          </a:p>
        </p:txBody>
      </p:sp>
      <p:sp>
        <p:nvSpPr>
          <p:cNvPr id="18" name="Text 16"/>
          <p:cNvSpPr txBox="1"/>
          <p:nvPr/>
        </p:nvSpPr>
        <p:spPr>
          <a:xfrm>
            <a:off x="2196290" y="5419605"/>
            <a:ext cx="1634083" cy="179251"/>
          </a:xfrm>
          <a:prstGeom prst="rect">
            <a:avLst/>
          </a:prstGeom>
          <a:noFill/>
          <a:ln/>
        </p:spPr>
        <p:txBody>
          <a:bodyPr wrap="none" lIns="0" tIns="0" rIns="0" bIns="0" rtlCol="0" anchor="t"/>
          <a:lstStyle/>
          <a:p>
            <a:pPr algn="l" indent="0" marL="0">
              <a:lnSpc>
                <a:spcPts val="1410"/>
              </a:lnSpc>
              <a:buNone/>
            </a:pPr>
            <a:r>
              <a:rPr lang="en-US" sz="940" dirty="0">
                <a:solidFill>
                  <a:srgbClr val="0B6E99"/>
                </a:solidFill>
                <a:latin typeface="Courier New" pitchFamily="34" charset="0"/>
                <a:ea typeface="Courier New" pitchFamily="34" charset="-122"/>
                <a:cs typeface="Courier New" pitchFamily="34" charset="-120"/>
              </a:rPr>
              <a:t>https://opensearch.org</a:t>
            </a:r>
            <a:endParaRPr lang="en-US" sz="940" dirty="0"/>
          </a:p>
        </p:txBody>
      </p:sp>
      <p:sp>
        <p:nvSpPr>
          <p:cNvPr id="19" name="Text 17"/>
          <p:cNvSpPr txBox="1"/>
          <p:nvPr/>
        </p:nvSpPr>
        <p:spPr>
          <a:xfrm>
            <a:off x="647700" y="6465190"/>
            <a:ext cx="1320403" cy="142875"/>
          </a:xfrm>
          <a:prstGeom prst="rect">
            <a:avLst/>
          </a:prstGeom>
          <a:noFill/>
          <a:ln/>
        </p:spPr>
        <p:txBody>
          <a:bodyPr wrap="none" lIns="0" tIns="0" rIns="0" bIns="0" rtlCol="0" anchor="t"/>
          <a:lstStyle/>
          <a:p>
            <a:pPr algn="l" indent="0" marL="0">
              <a:lnSpc>
                <a:spcPts val="860"/>
              </a:lnSpc>
              <a:buNone/>
            </a:pPr>
            <a:r>
              <a:rPr lang="en-US" sz="720" dirty="0">
                <a:solidFill>
                  <a:srgbClr val="8496A2"/>
                </a:solidFill>
                <a:latin typeface="Courier New" pitchFamily="34" charset="0"/>
                <a:ea typeface="Courier New" pitchFamily="34" charset="-122"/>
                <a:cs typeface="Courier New" pitchFamily="34" charset="-120"/>
              </a:rPr>
              <a:t>Setting the scene</a:t>
            </a:r>
            <a:endParaRPr lang="en-US" sz="720" dirty="0"/>
          </a:p>
        </p:txBody>
      </p:sp>
      <p:sp>
        <p:nvSpPr>
          <p:cNvPr id="20" name="Text 18"/>
          <p:cNvSpPr txBox="1"/>
          <p:nvPr/>
        </p:nvSpPr>
        <p:spPr>
          <a:xfrm>
            <a:off x="11098411" y="6465190"/>
            <a:ext cx="503039" cy="142875"/>
          </a:xfrm>
          <a:prstGeom prst="rect">
            <a:avLst/>
          </a:prstGeom>
          <a:noFill/>
          <a:ln/>
        </p:spPr>
        <p:txBody>
          <a:bodyPr wrap="none" lIns="0" tIns="0" rIns="0" bIns="0" rtlCol="0" anchor="t"/>
          <a:lstStyle/>
          <a:p>
            <a:pPr algn="l" indent="0" marL="0">
              <a:lnSpc>
                <a:spcPts val="860"/>
              </a:lnSpc>
              <a:buNone/>
            </a:pPr>
            <a:r>
              <a:rPr lang="en-US" sz="720" dirty="0">
                <a:solidFill>
                  <a:srgbClr val="8496A2"/>
                </a:solidFill>
                <a:latin typeface="Courier New" pitchFamily="34" charset="0"/>
                <a:ea typeface="Courier New" pitchFamily="34" charset="-122"/>
                <a:cs typeface="Courier New" pitchFamily="34" charset="-120"/>
              </a:rPr>
              <a:t>7 / 39</a:t>
            </a:r>
            <a:endParaRPr lang="en-US" sz="720" dirty="0"/>
          </a:p>
        </p:txBody>
      </p:sp>
      <p:pic>
        <p:nvPicPr>
          <p:cNvPr id="900" name="NetSapiensis mark" descr="NetSapiensis"/>
          <p:cNvPicPr>
            <a:picLocks noChangeAspect="1"/>
          </p:cNvPicPr>
          <p:nvPr/>
        </p:nvPicPr>
        <p:blipFill>
          <a:blip r:embed="rId3"/>
          <a:stretch>
            <a:fillRect/>
          </a:stretch>
        </p:blipFill>
        <p:spPr>
          <a:xfrm>
            <a:off x="10776204" y="6419088"/>
            <a:ext cx="178308" cy="237744"/>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01A22"/>
        </a:solidFill>
      </p:bgPr>
    </p:bg>
    <p:spTree>
      <p:nvGrpSpPr>
        <p:cNvPr id="1" name=""/>
        <p:cNvGrpSpPr/>
        <p:nvPr/>
      </p:nvGrpSpPr>
      <p:grpSpPr>
        <a:xfrm>
          <a:off x="0" y="0"/>
          <a:ext cx="0" cy="0"/>
          <a:chOff x="0" y="0"/>
          <a:chExt cx="0" cy="0"/>
        </a:xfrm>
      </p:grpSpPr>
      <p:sp>
        <p:nvSpPr>
          <p:cNvPr id="2" name="Shape 0"/>
          <p:cNvSpPr/>
          <p:nvPr/>
        </p:nvSpPr>
        <p:spPr>
          <a:xfrm>
            <a:off x="647700" y="6343650"/>
            <a:ext cx="10896600" cy="0"/>
          </a:xfrm>
          <a:prstGeom prst="line">
            <a:avLst/>
          </a:prstGeom>
          <a:noFill/>
          <a:ln w="10160">
            <a:solidFill>
              <a:srgbClr val="2A3B47"/>
            </a:solidFill>
            <a:prstDash val="solid"/>
          </a:ln>
        </p:spPr>
      </p:sp>
      <p:sp>
        <p:nvSpPr>
          <p:cNvPr id="3" name="Text 1"/>
          <p:cNvSpPr txBox="1"/>
          <p:nvPr/>
        </p:nvSpPr>
        <p:spPr>
          <a:xfrm>
            <a:off x="647700" y="2757785"/>
            <a:ext cx="10953750" cy="1151930"/>
          </a:xfrm>
          <a:prstGeom prst="rect">
            <a:avLst/>
          </a:prstGeom>
          <a:noFill/>
          <a:ln/>
        </p:spPr>
        <p:txBody>
          <a:bodyPr wrap="square" lIns="0" tIns="0" rIns="0" bIns="0" rtlCol="0" anchor="t"/>
          <a:lstStyle/>
          <a:p>
            <a:pPr algn="l" indent="0" marL="0">
              <a:lnSpc>
                <a:spcPts val="4540"/>
              </a:lnSpc>
              <a:buNone/>
            </a:pPr>
            <a:r>
              <a:rPr lang="en-US" sz="4200" b="1" spc="-80" kern="0" dirty="0">
                <a:solidFill>
                  <a:srgbClr val="FFFFFF"/>
                </a:solidFill>
                <a:latin typeface="Arial" pitchFamily="34" charset="0"/>
                <a:ea typeface="Arial" pitchFamily="34" charset="-122"/>
                <a:cs typeface="Arial" pitchFamily="34" charset="-120"/>
              </a:rPr>
              <a:t>How do events travel from Moodle to OpenSearch?</a:t>
            </a:r>
            <a:endParaRPr lang="en-US" sz="4200" dirty="0"/>
          </a:p>
        </p:txBody>
      </p:sp>
      <p:sp>
        <p:nvSpPr>
          <p:cNvPr id="4" name="Text 2"/>
          <p:cNvSpPr txBox="1"/>
          <p:nvPr/>
        </p:nvSpPr>
        <p:spPr>
          <a:xfrm>
            <a:off x="647700" y="6464379"/>
            <a:ext cx="725984" cy="148590"/>
          </a:xfrm>
          <a:prstGeom prst="rect">
            <a:avLst/>
          </a:prstGeom>
          <a:noFill/>
          <a:ln/>
        </p:spPr>
        <p:txBody>
          <a:bodyPr wrap="none" lIns="0" tIns="0" rIns="0" bIns="0" rtlCol="0" anchor="t"/>
          <a:lstStyle/>
          <a:p>
            <a:pPr algn="l" indent="0" marL="0">
              <a:lnSpc>
                <a:spcPts val="1170"/>
              </a:lnSpc>
              <a:buNone/>
            </a:pPr>
            <a:r>
              <a:rPr lang="en-US" sz="980" dirty="0">
                <a:solidFill>
                  <a:srgbClr val="56707F"/>
                </a:solidFill>
                <a:latin typeface="Courier New" pitchFamily="34" charset="0"/>
                <a:ea typeface="Courier New" pitchFamily="34" charset="-122"/>
                <a:cs typeface="Courier New" pitchFamily="34" charset="-120"/>
              </a:rPr>
              <a:t>The chain</a:t>
            </a:r>
            <a:endParaRPr lang="en-US" sz="980" dirty="0"/>
          </a:p>
        </p:txBody>
      </p:sp>
      <p:sp>
        <p:nvSpPr>
          <p:cNvPr id="5" name="Text 3"/>
          <p:cNvSpPr txBox="1"/>
          <p:nvPr/>
        </p:nvSpPr>
        <p:spPr>
          <a:xfrm>
            <a:off x="11098411" y="6464379"/>
            <a:ext cx="503039" cy="148590"/>
          </a:xfrm>
          <a:prstGeom prst="rect">
            <a:avLst/>
          </a:prstGeom>
          <a:noFill/>
          <a:ln/>
        </p:spPr>
        <p:txBody>
          <a:bodyPr wrap="none" lIns="0" tIns="0" rIns="0" bIns="0" rtlCol="0" anchor="t"/>
          <a:lstStyle/>
          <a:p>
            <a:pPr algn="l" indent="0" marL="0">
              <a:lnSpc>
                <a:spcPts val="1170"/>
              </a:lnSpc>
              <a:buNone/>
            </a:pPr>
            <a:r>
              <a:rPr lang="en-US" sz="980" dirty="0">
                <a:solidFill>
                  <a:srgbClr val="56707F"/>
                </a:solidFill>
                <a:latin typeface="Courier New" pitchFamily="34" charset="0"/>
                <a:ea typeface="Courier New" pitchFamily="34" charset="-122"/>
                <a:cs typeface="Courier New" pitchFamily="34" charset="-120"/>
              </a:rPr>
              <a:t>8 / 39</a:t>
            </a:r>
            <a:endParaRPr lang="en-US" sz="980" dirty="0"/>
          </a:p>
        </p:txBody>
      </p:sp>
      <p:pic>
        <p:nvPicPr>
          <p:cNvPr id="900" name="NetSapiensis mark" descr="NetSapiensis"/>
          <p:cNvPicPr>
            <a:picLocks noChangeAspect="1"/>
          </p:cNvPicPr>
          <p:nvPr/>
        </p:nvPicPr>
        <p:blipFill>
          <a:blip r:embed="rId3"/>
          <a:stretch>
            <a:fillRect/>
          </a:stretch>
        </p:blipFill>
        <p:spPr>
          <a:xfrm>
            <a:off x="10776204" y="6419088"/>
            <a:ext cx="178308" cy="237744"/>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7700" y="2522786"/>
            <a:ext cx="1466850" cy="1070521"/>
          </a:xfrm>
          <a:prstGeom prst="roundRect">
            <a:avLst>
              <a:gd name="adj" fmla="val 15200"/>
            </a:avLst>
          </a:prstGeom>
          <a:solidFill>
            <a:srgbClr val="FFFFFF"/>
          </a:solidFill>
          <a:ln w="19050">
            <a:solidFill>
              <a:srgbClr val="CBD7DF"/>
            </a:solidFill>
            <a:prstDash val="solid"/>
          </a:ln>
        </p:spPr>
      </p:sp>
      <p:sp>
        <p:nvSpPr>
          <p:cNvPr id="3" name="Shape 1"/>
          <p:cNvSpPr/>
          <p:nvPr/>
        </p:nvSpPr>
        <p:spPr>
          <a:xfrm>
            <a:off x="2533650" y="2522786"/>
            <a:ext cx="1466850" cy="1070521"/>
          </a:xfrm>
          <a:prstGeom prst="roundRect">
            <a:avLst>
              <a:gd name="adj" fmla="val 15200"/>
            </a:avLst>
          </a:prstGeom>
          <a:solidFill>
            <a:srgbClr val="E1F0F7"/>
          </a:solidFill>
          <a:ln w="19050">
            <a:solidFill>
              <a:srgbClr val="0B6E99"/>
            </a:solidFill>
            <a:prstDash val="solid"/>
          </a:ln>
        </p:spPr>
      </p:sp>
      <p:sp>
        <p:nvSpPr>
          <p:cNvPr id="4" name="Shape 2"/>
          <p:cNvSpPr/>
          <p:nvPr/>
        </p:nvSpPr>
        <p:spPr>
          <a:xfrm>
            <a:off x="4419600" y="2522786"/>
            <a:ext cx="1466850" cy="1070521"/>
          </a:xfrm>
          <a:prstGeom prst="roundRect">
            <a:avLst>
              <a:gd name="adj" fmla="val 15200"/>
            </a:avLst>
          </a:prstGeom>
          <a:solidFill>
            <a:srgbClr val="E1F0F7"/>
          </a:solidFill>
          <a:ln w="19050">
            <a:solidFill>
              <a:srgbClr val="0B6E99"/>
            </a:solidFill>
            <a:prstDash val="solid"/>
          </a:ln>
        </p:spPr>
      </p:sp>
      <p:sp>
        <p:nvSpPr>
          <p:cNvPr id="5" name="Shape 3"/>
          <p:cNvSpPr/>
          <p:nvPr/>
        </p:nvSpPr>
        <p:spPr>
          <a:xfrm>
            <a:off x="6305550" y="2522786"/>
            <a:ext cx="1466850" cy="1070521"/>
          </a:xfrm>
          <a:prstGeom prst="roundRect">
            <a:avLst>
              <a:gd name="adj" fmla="val 15200"/>
            </a:avLst>
          </a:prstGeom>
          <a:solidFill>
            <a:srgbClr val="E1F0F7"/>
          </a:solidFill>
          <a:ln w="19050">
            <a:solidFill>
              <a:srgbClr val="0B6E99"/>
            </a:solidFill>
            <a:prstDash val="solid"/>
          </a:ln>
        </p:spPr>
      </p:sp>
      <p:sp>
        <p:nvSpPr>
          <p:cNvPr id="6" name="Shape 4"/>
          <p:cNvSpPr/>
          <p:nvPr/>
        </p:nvSpPr>
        <p:spPr>
          <a:xfrm>
            <a:off x="8191500" y="2522786"/>
            <a:ext cx="1466850" cy="1070521"/>
          </a:xfrm>
          <a:prstGeom prst="roundRect">
            <a:avLst>
              <a:gd name="adj" fmla="val 15200"/>
            </a:avLst>
          </a:prstGeom>
          <a:solidFill>
            <a:srgbClr val="E1F0F7"/>
          </a:solidFill>
          <a:ln w="19050">
            <a:solidFill>
              <a:srgbClr val="0B6E99"/>
            </a:solidFill>
            <a:prstDash val="solid"/>
          </a:ln>
        </p:spPr>
      </p:sp>
      <p:sp>
        <p:nvSpPr>
          <p:cNvPr id="7" name="Shape 5"/>
          <p:cNvSpPr/>
          <p:nvPr/>
        </p:nvSpPr>
        <p:spPr>
          <a:xfrm>
            <a:off x="10077450" y="2522786"/>
            <a:ext cx="1466850" cy="1070521"/>
          </a:xfrm>
          <a:prstGeom prst="roundRect">
            <a:avLst>
              <a:gd name="adj" fmla="val 15200"/>
            </a:avLst>
          </a:prstGeom>
          <a:solidFill>
            <a:srgbClr val="0B6E99"/>
          </a:solidFill>
          <a:ln w="19050">
            <a:solidFill>
              <a:srgbClr val="0B6E99"/>
            </a:solidFill>
            <a:prstDash val="solid"/>
          </a:ln>
        </p:spPr>
      </p:sp>
      <p:sp>
        <p:nvSpPr>
          <p:cNvPr id="8" name="Shape 6"/>
          <p:cNvSpPr/>
          <p:nvPr/>
        </p:nvSpPr>
        <p:spPr>
          <a:xfrm>
            <a:off x="647700" y="3802856"/>
            <a:ext cx="1466701" cy="0"/>
          </a:xfrm>
          <a:prstGeom prst="line">
            <a:avLst/>
          </a:prstGeom>
          <a:noFill/>
          <a:ln w="19050">
            <a:solidFill>
              <a:srgbClr val="CBD7DF"/>
            </a:solidFill>
            <a:prstDash val="dash"/>
          </a:ln>
        </p:spPr>
      </p:sp>
      <p:sp>
        <p:nvSpPr>
          <p:cNvPr id="9" name="Shape 7"/>
          <p:cNvSpPr/>
          <p:nvPr/>
        </p:nvSpPr>
        <p:spPr>
          <a:xfrm>
            <a:off x="2724001" y="3802856"/>
            <a:ext cx="7124551" cy="0"/>
          </a:xfrm>
          <a:prstGeom prst="line">
            <a:avLst/>
          </a:prstGeom>
          <a:noFill/>
          <a:ln w="19050">
            <a:solidFill>
              <a:srgbClr val="0B6E99"/>
            </a:solidFill>
            <a:prstDash val="dash"/>
          </a:ln>
        </p:spPr>
      </p:sp>
      <p:sp>
        <p:nvSpPr>
          <p:cNvPr id="10" name="Shape 8"/>
          <p:cNvSpPr/>
          <p:nvPr/>
        </p:nvSpPr>
        <p:spPr>
          <a:xfrm>
            <a:off x="10458152" y="3802856"/>
            <a:ext cx="1086148" cy="0"/>
          </a:xfrm>
          <a:prstGeom prst="line">
            <a:avLst/>
          </a:prstGeom>
          <a:noFill/>
          <a:ln w="19050">
            <a:solidFill>
              <a:srgbClr val="0B6E99"/>
            </a:solidFill>
            <a:prstDash val="dash"/>
          </a:ln>
        </p:spPr>
      </p:sp>
      <p:sp>
        <p:nvSpPr>
          <p:cNvPr id="11" name="Shape 9"/>
          <p:cNvSpPr/>
          <p:nvPr/>
        </p:nvSpPr>
        <p:spPr>
          <a:xfrm>
            <a:off x="647700" y="6343650"/>
            <a:ext cx="10896600" cy="0"/>
          </a:xfrm>
          <a:prstGeom prst="line">
            <a:avLst/>
          </a:prstGeom>
          <a:noFill/>
          <a:ln w="10160">
            <a:solidFill>
              <a:srgbClr val="CBD7DF"/>
            </a:solidFill>
            <a:prstDash val="solid"/>
          </a:ln>
        </p:spPr>
      </p:sp>
      <p:sp>
        <p:nvSpPr>
          <p:cNvPr id="12" name="Text 10"/>
          <p:cNvSpPr txBox="1"/>
          <p:nvPr/>
        </p:nvSpPr>
        <p:spPr>
          <a:xfrm>
            <a:off x="647700" y="511731"/>
            <a:ext cx="10953750" cy="185738"/>
          </a:xfrm>
          <a:prstGeom prst="rect">
            <a:avLst/>
          </a:prstGeom>
          <a:noFill/>
          <a:ln/>
        </p:spPr>
        <p:txBody>
          <a:bodyPr wrap="none" lIns="0" tIns="0" rIns="0" bIns="0" rtlCol="0" anchor="t"/>
          <a:lstStyle/>
          <a:p>
            <a:pPr algn="l" indent="0" marL="0">
              <a:lnSpc>
                <a:spcPts val="1460"/>
              </a:lnSpc>
              <a:buNone/>
            </a:pPr>
            <a:r>
              <a:rPr lang="en-US" sz="980" spc="160" kern="0" dirty="0">
                <a:solidFill>
                  <a:srgbClr val="0B6E99"/>
                </a:solidFill>
                <a:latin typeface="Courier New" pitchFamily="34" charset="0"/>
                <a:ea typeface="Courier New" pitchFamily="34" charset="-122"/>
                <a:cs typeface="Courier New" pitchFamily="34" charset="-120"/>
              </a:rPr>
              <a:t>HOW THE THREE FIT TOGETHER</a:t>
            </a:r>
            <a:endParaRPr lang="en-US" sz="980" dirty="0"/>
          </a:p>
        </p:txBody>
      </p:sp>
      <p:sp>
        <p:nvSpPr>
          <p:cNvPr id="13" name="Text 11"/>
          <p:cNvSpPr txBox="1"/>
          <p:nvPr/>
        </p:nvSpPr>
        <p:spPr>
          <a:xfrm>
            <a:off x="647700" y="852488"/>
            <a:ext cx="10953750" cy="432054"/>
          </a:xfrm>
          <a:prstGeom prst="rect">
            <a:avLst/>
          </a:prstGeom>
          <a:noFill/>
          <a:ln/>
        </p:spPr>
        <p:txBody>
          <a:bodyPr wrap="none" lIns="0" tIns="0" rIns="0" bIns="0" rtlCol="0" anchor="t"/>
          <a:lstStyle/>
          <a:p>
            <a:pPr algn="l" indent="0" marL="0">
              <a:lnSpc>
                <a:spcPts val="3400"/>
              </a:lnSpc>
              <a:buNone/>
            </a:pPr>
            <a:r>
              <a:rPr lang="en-US" sz="3150" b="1" spc="-60" kern="0" dirty="0">
                <a:solidFill>
                  <a:srgbClr val="101A22"/>
                </a:solidFill>
                <a:latin typeface="Arial" pitchFamily="34" charset="0"/>
                <a:ea typeface="Arial" pitchFamily="34" charset="-122"/>
                <a:cs typeface="Arial" pitchFamily="34" charset="-120"/>
              </a:rPr>
              <a:t>Why you need both OpenTelemetry and OpenSearch</a:t>
            </a:r>
            <a:endParaRPr lang="en-US" sz="3150" dirty="0"/>
          </a:p>
        </p:txBody>
      </p:sp>
      <p:sp>
        <p:nvSpPr>
          <p:cNvPr id="14" name="Text 12"/>
          <p:cNvSpPr txBox="1"/>
          <p:nvPr/>
        </p:nvSpPr>
        <p:spPr>
          <a:xfrm>
            <a:off x="647700" y="1488847"/>
            <a:ext cx="10953750" cy="742950"/>
          </a:xfrm>
          <a:prstGeom prst="rect">
            <a:avLst/>
          </a:prstGeom>
          <a:noFill/>
          <a:ln/>
        </p:spPr>
        <p:txBody>
          <a:bodyPr wrap="square" lIns="0" tIns="0" rIns="0" bIns="0" rtlCol="0" anchor="t"/>
          <a:lstStyle/>
          <a:p>
            <a:pPr algn="l" indent="0" marL="0">
              <a:lnSpc>
                <a:spcPts val="2930"/>
              </a:lnSpc>
              <a:buNone/>
            </a:pPr>
            <a:r>
              <a:rPr lang="en-US" sz="1950" dirty="0">
                <a:solidFill>
                  <a:srgbClr val="5A6D7A"/>
                </a:solidFill>
                <a:latin typeface="Arial" pitchFamily="34" charset="0"/>
                <a:ea typeface="Arial" pitchFamily="34" charset="-122"/>
                <a:cs typeface="Arial" pitchFamily="34" charset="-120"/>
              </a:rPr>
              <a:t>Moodle produces the data. OpenTelemetry records it and sends it. OpenSearch keeps it and searches it.</a:t>
            </a:r>
            <a:endParaRPr lang="en-US" sz="1950" dirty="0"/>
          </a:p>
        </p:txBody>
      </p:sp>
      <p:sp>
        <p:nvSpPr>
          <p:cNvPr id="15" name="Text 13"/>
          <p:cNvSpPr txBox="1"/>
          <p:nvPr/>
        </p:nvSpPr>
        <p:spPr>
          <a:xfrm>
            <a:off x="752475" y="2672328"/>
            <a:ext cx="1257300" cy="137160"/>
          </a:xfrm>
          <a:prstGeom prst="rect">
            <a:avLst/>
          </a:prstGeom>
          <a:noFill/>
          <a:ln/>
        </p:spPr>
        <p:txBody>
          <a:bodyPr wrap="none" lIns="0" tIns="0" rIns="0" bIns="0" rtlCol="0" anchor="t"/>
          <a:lstStyle/>
          <a:p>
            <a:pPr algn="ctr" indent="0" marL="0">
              <a:lnSpc>
                <a:spcPts val="1080"/>
              </a:lnSpc>
              <a:buNone/>
            </a:pPr>
            <a:r>
              <a:rPr lang="en-US" sz="900" dirty="0">
                <a:solidFill>
                  <a:srgbClr val="0B6E99"/>
                </a:solidFill>
                <a:latin typeface="Courier New" pitchFamily="34" charset="0"/>
                <a:ea typeface="Courier New" pitchFamily="34" charset="-122"/>
                <a:cs typeface="Courier New" pitchFamily="34" charset="-120"/>
              </a:rPr>
              <a:t>1</a:t>
            </a:r>
            <a:endParaRPr lang="en-US" sz="900" dirty="0"/>
          </a:p>
        </p:txBody>
      </p:sp>
      <p:sp>
        <p:nvSpPr>
          <p:cNvPr id="16" name="Text 14"/>
          <p:cNvSpPr txBox="1"/>
          <p:nvPr/>
        </p:nvSpPr>
        <p:spPr>
          <a:xfrm>
            <a:off x="752475" y="2858542"/>
            <a:ext cx="1257300" cy="178594"/>
          </a:xfrm>
          <a:prstGeom prst="rect">
            <a:avLst/>
          </a:prstGeom>
          <a:noFill/>
          <a:ln/>
        </p:spPr>
        <p:txBody>
          <a:bodyPr wrap="none" lIns="0" tIns="0" rIns="0" bIns="0" rtlCol="0" anchor="t"/>
          <a:lstStyle/>
          <a:p>
            <a:pPr algn="ctr" indent="0" marL="0">
              <a:lnSpc>
                <a:spcPts val="1410"/>
              </a:lnSpc>
              <a:buNone/>
            </a:pPr>
            <a:r>
              <a:rPr lang="en-US" sz="1130" b="1" dirty="0">
                <a:solidFill>
                  <a:srgbClr val="101A22"/>
                </a:solidFill>
                <a:latin typeface="Courier New" pitchFamily="34" charset="0"/>
                <a:ea typeface="Courier New" pitchFamily="34" charset="-122"/>
                <a:cs typeface="Courier New" pitchFamily="34" charset="-120"/>
              </a:rPr>
              <a:t>Moodle 5.2</a:t>
            </a:r>
            <a:endParaRPr lang="en-US" sz="1130" dirty="0"/>
          </a:p>
        </p:txBody>
      </p:sp>
      <p:sp>
        <p:nvSpPr>
          <p:cNvPr id="17" name="Text 15"/>
          <p:cNvSpPr txBox="1"/>
          <p:nvPr/>
        </p:nvSpPr>
        <p:spPr>
          <a:xfrm>
            <a:off x="752475" y="3092142"/>
            <a:ext cx="1257300" cy="321766"/>
          </a:xfrm>
          <a:prstGeom prst="rect">
            <a:avLst/>
          </a:prstGeom>
          <a:noFill/>
          <a:ln/>
        </p:spPr>
        <p:txBody>
          <a:bodyPr wrap="square" lIns="0" tIns="0" rIns="0" bIns="0" rtlCol="0" anchor="t"/>
          <a:lstStyle/>
          <a:p>
            <a:pPr algn="ctr" indent="0" marL="0">
              <a:lnSpc>
                <a:spcPts val="1270"/>
              </a:lnSpc>
              <a:buNone/>
            </a:pPr>
            <a:r>
              <a:rPr lang="en-US" sz="980" dirty="0">
                <a:solidFill>
                  <a:srgbClr val="5A6D7A"/>
                </a:solidFill>
                <a:latin typeface="Arial" pitchFamily="34" charset="0"/>
                <a:ea typeface="Arial" pitchFamily="34" charset="-122"/>
                <a:cs typeface="Arial" pitchFamily="34" charset="-120"/>
              </a:rPr>
              <a:t>the source of the events and timings</a:t>
            </a:r>
            <a:endParaRPr lang="en-US" sz="980" dirty="0"/>
          </a:p>
        </p:txBody>
      </p:sp>
      <p:sp>
        <p:nvSpPr>
          <p:cNvPr id="18" name="Text 16"/>
          <p:cNvSpPr txBox="1"/>
          <p:nvPr/>
        </p:nvSpPr>
        <p:spPr>
          <a:xfrm>
            <a:off x="2114550" y="2517547"/>
            <a:ext cx="476250" cy="1070521"/>
          </a:xfrm>
          <a:prstGeom prst="rect">
            <a:avLst/>
          </a:prstGeom>
          <a:noFill/>
          <a:ln/>
        </p:spPr>
        <p:txBody>
          <a:bodyPr wrap="none" lIns="0" tIns="0" rIns="0" bIns="0" rtlCol="0" anchor="t"/>
          <a:lstStyle/>
          <a:p>
            <a:pPr algn="l" indent="0" marL="0">
              <a:lnSpc>
                <a:spcPts val="1980"/>
              </a:lnSpc>
              <a:buNone/>
            </a:pPr>
            <a:r>
              <a:rPr lang="en-US" sz="1650" dirty="0">
                <a:solidFill>
                  <a:srgbClr val="0B6E99"/>
                </a:solidFill>
                <a:latin typeface="Arial" pitchFamily="34" charset="0"/>
                <a:ea typeface="Arial" pitchFamily="34" charset="-122"/>
                <a:cs typeface="Arial" pitchFamily="34" charset="-120"/>
              </a:rPr>
              <a:t>→</a:t>
            </a:r>
            <a:endParaRPr lang="en-US" sz="1650" dirty="0"/>
          </a:p>
        </p:txBody>
      </p:sp>
      <p:sp>
        <p:nvSpPr>
          <p:cNvPr id="19" name="Text 17"/>
          <p:cNvSpPr txBox="1"/>
          <p:nvPr/>
        </p:nvSpPr>
        <p:spPr>
          <a:xfrm>
            <a:off x="2638425" y="2672328"/>
            <a:ext cx="1257300" cy="137160"/>
          </a:xfrm>
          <a:prstGeom prst="rect">
            <a:avLst/>
          </a:prstGeom>
          <a:noFill/>
          <a:ln/>
        </p:spPr>
        <p:txBody>
          <a:bodyPr wrap="none" lIns="0" tIns="0" rIns="0" bIns="0" rtlCol="0" anchor="t"/>
          <a:lstStyle/>
          <a:p>
            <a:pPr algn="ctr" indent="0" marL="0">
              <a:lnSpc>
                <a:spcPts val="1080"/>
              </a:lnSpc>
              <a:buNone/>
            </a:pPr>
            <a:r>
              <a:rPr lang="en-US" sz="900" dirty="0">
                <a:solidFill>
                  <a:srgbClr val="0B6E99"/>
                </a:solidFill>
                <a:latin typeface="Courier New" pitchFamily="34" charset="0"/>
                <a:ea typeface="Courier New" pitchFamily="34" charset="-122"/>
                <a:cs typeface="Courier New" pitchFamily="34" charset="-120"/>
              </a:rPr>
              <a:t>2</a:t>
            </a:r>
            <a:endParaRPr lang="en-US" sz="900" dirty="0"/>
          </a:p>
        </p:txBody>
      </p:sp>
      <p:sp>
        <p:nvSpPr>
          <p:cNvPr id="20" name="Text 18"/>
          <p:cNvSpPr txBox="1"/>
          <p:nvPr/>
        </p:nvSpPr>
        <p:spPr>
          <a:xfrm>
            <a:off x="2638425" y="2858542"/>
            <a:ext cx="1257300" cy="178594"/>
          </a:xfrm>
          <a:prstGeom prst="rect">
            <a:avLst/>
          </a:prstGeom>
          <a:noFill/>
          <a:ln/>
        </p:spPr>
        <p:txBody>
          <a:bodyPr wrap="none" lIns="0" tIns="0" rIns="0" bIns="0" rtlCol="0" anchor="t"/>
          <a:lstStyle/>
          <a:p>
            <a:pPr algn="ctr" indent="0" marL="0">
              <a:lnSpc>
                <a:spcPts val="1410"/>
              </a:lnSpc>
              <a:buNone/>
            </a:pPr>
            <a:r>
              <a:rPr lang="en-US" sz="1130" b="1" dirty="0">
                <a:solidFill>
                  <a:srgbClr val="101A22"/>
                </a:solidFill>
                <a:latin typeface="Courier New" pitchFamily="34" charset="0"/>
                <a:ea typeface="Courier New" pitchFamily="34" charset="-122"/>
                <a:cs typeface="Courier New" pitchFamily="34" charset="-120"/>
              </a:rPr>
              <a:t>PHP extension</a:t>
            </a:r>
            <a:endParaRPr lang="en-US" sz="1130" dirty="0"/>
          </a:p>
        </p:txBody>
      </p:sp>
      <p:sp>
        <p:nvSpPr>
          <p:cNvPr id="21" name="Text 19"/>
          <p:cNvSpPr txBox="1"/>
          <p:nvPr/>
        </p:nvSpPr>
        <p:spPr>
          <a:xfrm>
            <a:off x="2638425" y="3092142"/>
            <a:ext cx="1257300" cy="321766"/>
          </a:xfrm>
          <a:prstGeom prst="rect">
            <a:avLst/>
          </a:prstGeom>
          <a:noFill/>
          <a:ln/>
        </p:spPr>
        <p:txBody>
          <a:bodyPr wrap="square" lIns="0" tIns="0" rIns="0" bIns="0" rtlCol="0" anchor="t"/>
          <a:lstStyle/>
          <a:p>
            <a:pPr algn="ctr" indent="0" marL="0">
              <a:lnSpc>
                <a:spcPts val="1270"/>
              </a:lnSpc>
              <a:buNone/>
            </a:pPr>
            <a:r>
              <a:rPr lang="en-US" sz="980" dirty="0">
                <a:solidFill>
                  <a:srgbClr val="5A6D7A"/>
                </a:solidFill>
                <a:latin typeface="Arial" pitchFamily="34" charset="0"/>
                <a:ea typeface="Arial" pitchFamily="34" charset="-122"/>
                <a:cs typeface="Arial" pitchFamily="34" charset="-120"/>
              </a:rPr>
              <a:t>hooks into running PHP code</a:t>
            </a:r>
            <a:endParaRPr lang="en-US" sz="980" dirty="0"/>
          </a:p>
        </p:txBody>
      </p:sp>
      <p:sp>
        <p:nvSpPr>
          <p:cNvPr id="22" name="Text 20"/>
          <p:cNvSpPr txBox="1"/>
          <p:nvPr/>
        </p:nvSpPr>
        <p:spPr>
          <a:xfrm>
            <a:off x="4000500" y="2517547"/>
            <a:ext cx="476250" cy="1070521"/>
          </a:xfrm>
          <a:prstGeom prst="rect">
            <a:avLst/>
          </a:prstGeom>
          <a:noFill/>
          <a:ln/>
        </p:spPr>
        <p:txBody>
          <a:bodyPr wrap="none" lIns="0" tIns="0" rIns="0" bIns="0" rtlCol="0" anchor="t"/>
          <a:lstStyle/>
          <a:p>
            <a:pPr algn="l" indent="0" marL="0">
              <a:lnSpc>
                <a:spcPts val="1980"/>
              </a:lnSpc>
              <a:buNone/>
            </a:pPr>
            <a:r>
              <a:rPr lang="en-US" sz="1650" dirty="0">
                <a:solidFill>
                  <a:srgbClr val="0B6E99"/>
                </a:solidFill>
                <a:latin typeface="Arial" pitchFamily="34" charset="0"/>
                <a:ea typeface="Arial" pitchFamily="34" charset="-122"/>
                <a:cs typeface="Arial" pitchFamily="34" charset="-120"/>
              </a:rPr>
              <a:t>→</a:t>
            </a:r>
            <a:endParaRPr lang="en-US" sz="1650" dirty="0"/>
          </a:p>
        </p:txBody>
      </p:sp>
      <p:sp>
        <p:nvSpPr>
          <p:cNvPr id="23" name="Text 21"/>
          <p:cNvSpPr txBox="1"/>
          <p:nvPr/>
        </p:nvSpPr>
        <p:spPr>
          <a:xfrm>
            <a:off x="4524375" y="2672328"/>
            <a:ext cx="1257300" cy="137160"/>
          </a:xfrm>
          <a:prstGeom prst="rect">
            <a:avLst/>
          </a:prstGeom>
          <a:noFill/>
          <a:ln/>
        </p:spPr>
        <p:txBody>
          <a:bodyPr wrap="none" lIns="0" tIns="0" rIns="0" bIns="0" rtlCol="0" anchor="t"/>
          <a:lstStyle/>
          <a:p>
            <a:pPr algn="ctr" indent="0" marL="0">
              <a:lnSpc>
                <a:spcPts val="1080"/>
              </a:lnSpc>
              <a:buNone/>
            </a:pPr>
            <a:r>
              <a:rPr lang="en-US" sz="900" dirty="0">
                <a:solidFill>
                  <a:srgbClr val="0B6E99"/>
                </a:solidFill>
                <a:latin typeface="Courier New" pitchFamily="34" charset="0"/>
                <a:ea typeface="Courier New" pitchFamily="34" charset="-122"/>
                <a:cs typeface="Courier New" pitchFamily="34" charset="-120"/>
              </a:rPr>
              <a:t>3</a:t>
            </a:r>
            <a:endParaRPr lang="en-US" sz="900" dirty="0"/>
          </a:p>
        </p:txBody>
      </p:sp>
      <p:sp>
        <p:nvSpPr>
          <p:cNvPr id="24" name="Text 22"/>
          <p:cNvSpPr txBox="1"/>
          <p:nvPr/>
        </p:nvSpPr>
        <p:spPr>
          <a:xfrm>
            <a:off x="4524375" y="2858542"/>
            <a:ext cx="1257300" cy="357188"/>
          </a:xfrm>
          <a:prstGeom prst="rect">
            <a:avLst/>
          </a:prstGeom>
          <a:noFill/>
          <a:ln/>
        </p:spPr>
        <p:txBody>
          <a:bodyPr wrap="square" lIns="0" tIns="0" rIns="0" bIns="0" rtlCol="0" anchor="t"/>
          <a:lstStyle/>
          <a:p>
            <a:pPr algn="ctr" indent="0" marL="0">
              <a:lnSpc>
                <a:spcPts val="1410"/>
              </a:lnSpc>
              <a:buNone/>
            </a:pPr>
            <a:r>
              <a:rPr lang="en-US" sz="1130" b="1" dirty="0">
                <a:solidFill>
                  <a:srgbClr val="101A22"/>
                </a:solidFill>
                <a:latin typeface="Courier New" pitchFamily="34" charset="0"/>
                <a:ea typeface="Courier New" pitchFamily="34" charset="-122"/>
                <a:cs typeface="Courier New" pitchFamily="34" charset="-120"/>
              </a:rPr>
              <a:t>Moodle package</a:t>
            </a:r>
            <a:endParaRPr lang="en-US" sz="1130" dirty="0"/>
          </a:p>
        </p:txBody>
      </p:sp>
      <p:sp>
        <p:nvSpPr>
          <p:cNvPr id="25" name="Text 23"/>
          <p:cNvSpPr txBox="1"/>
          <p:nvPr/>
        </p:nvSpPr>
        <p:spPr>
          <a:xfrm>
            <a:off x="4524375" y="3270736"/>
            <a:ext cx="1257300" cy="160973"/>
          </a:xfrm>
          <a:prstGeom prst="rect">
            <a:avLst/>
          </a:prstGeom>
          <a:noFill/>
          <a:ln/>
        </p:spPr>
        <p:txBody>
          <a:bodyPr wrap="none" lIns="0" tIns="0" rIns="0" bIns="0" rtlCol="0" anchor="t"/>
          <a:lstStyle/>
          <a:p>
            <a:pPr algn="ctr" indent="0" marL="0">
              <a:lnSpc>
                <a:spcPts val="1270"/>
              </a:lnSpc>
              <a:buNone/>
            </a:pPr>
            <a:r>
              <a:rPr lang="en-US" sz="980" dirty="0">
                <a:solidFill>
                  <a:srgbClr val="5A6D7A"/>
                </a:solidFill>
                <a:latin typeface="Arial" pitchFamily="34" charset="0"/>
                <a:ea typeface="Arial" pitchFamily="34" charset="-122"/>
                <a:cs typeface="Arial" pitchFamily="34" charset="-120"/>
              </a:rPr>
              <a:t>knows what to time</a:t>
            </a:r>
            <a:endParaRPr lang="en-US" sz="980" dirty="0"/>
          </a:p>
        </p:txBody>
      </p:sp>
      <p:sp>
        <p:nvSpPr>
          <p:cNvPr id="26" name="Text 24"/>
          <p:cNvSpPr txBox="1"/>
          <p:nvPr/>
        </p:nvSpPr>
        <p:spPr>
          <a:xfrm>
            <a:off x="5886450" y="2517547"/>
            <a:ext cx="476250" cy="1070521"/>
          </a:xfrm>
          <a:prstGeom prst="rect">
            <a:avLst/>
          </a:prstGeom>
          <a:noFill/>
          <a:ln/>
        </p:spPr>
        <p:txBody>
          <a:bodyPr wrap="none" lIns="0" tIns="0" rIns="0" bIns="0" rtlCol="0" anchor="t"/>
          <a:lstStyle/>
          <a:p>
            <a:pPr algn="l" indent="0" marL="0">
              <a:lnSpc>
                <a:spcPts val="1980"/>
              </a:lnSpc>
              <a:buNone/>
            </a:pPr>
            <a:r>
              <a:rPr lang="en-US" sz="1650" dirty="0">
                <a:solidFill>
                  <a:srgbClr val="0B6E99"/>
                </a:solidFill>
                <a:latin typeface="Arial" pitchFamily="34" charset="0"/>
                <a:ea typeface="Arial" pitchFamily="34" charset="-122"/>
                <a:cs typeface="Arial" pitchFamily="34" charset="-120"/>
              </a:rPr>
              <a:t>→</a:t>
            </a:r>
            <a:endParaRPr lang="en-US" sz="1650" dirty="0"/>
          </a:p>
        </p:txBody>
      </p:sp>
      <p:sp>
        <p:nvSpPr>
          <p:cNvPr id="27" name="Text 25"/>
          <p:cNvSpPr txBox="1"/>
          <p:nvPr/>
        </p:nvSpPr>
        <p:spPr>
          <a:xfrm>
            <a:off x="6410325" y="2672328"/>
            <a:ext cx="1257300" cy="137160"/>
          </a:xfrm>
          <a:prstGeom prst="rect">
            <a:avLst/>
          </a:prstGeom>
          <a:noFill/>
          <a:ln/>
        </p:spPr>
        <p:txBody>
          <a:bodyPr wrap="none" lIns="0" tIns="0" rIns="0" bIns="0" rtlCol="0" anchor="t"/>
          <a:lstStyle/>
          <a:p>
            <a:pPr algn="ctr" indent="0" marL="0">
              <a:lnSpc>
                <a:spcPts val="1080"/>
              </a:lnSpc>
              <a:buNone/>
            </a:pPr>
            <a:r>
              <a:rPr lang="en-US" sz="900" dirty="0">
                <a:solidFill>
                  <a:srgbClr val="0B6E99"/>
                </a:solidFill>
                <a:latin typeface="Courier New" pitchFamily="34" charset="0"/>
                <a:ea typeface="Courier New" pitchFamily="34" charset="-122"/>
                <a:cs typeface="Courier New" pitchFamily="34" charset="-120"/>
              </a:rPr>
              <a:t>4</a:t>
            </a:r>
            <a:endParaRPr lang="en-US" sz="900" dirty="0"/>
          </a:p>
        </p:txBody>
      </p:sp>
      <p:sp>
        <p:nvSpPr>
          <p:cNvPr id="28" name="Text 26"/>
          <p:cNvSpPr txBox="1"/>
          <p:nvPr/>
        </p:nvSpPr>
        <p:spPr>
          <a:xfrm>
            <a:off x="6410325" y="2858542"/>
            <a:ext cx="1257300" cy="357188"/>
          </a:xfrm>
          <a:prstGeom prst="rect">
            <a:avLst/>
          </a:prstGeom>
          <a:noFill/>
          <a:ln/>
        </p:spPr>
        <p:txBody>
          <a:bodyPr wrap="square" lIns="0" tIns="0" rIns="0" bIns="0" rtlCol="0" anchor="t"/>
          <a:lstStyle/>
          <a:p>
            <a:pPr algn="ctr" indent="0" marL="0">
              <a:lnSpc>
                <a:spcPts val="1410"/>
              </a:lnSpc>
              <a:buNone/>
            </a:pPr>
            <a:r>
              <a:rPr lang="en-US" sz="1130" b="1" dirty="0">
                <a:solidFill>
                  <a:srgbClr val="101A22"/>
                </a:solidFill>
                <a:latin typeface="Courier New" pitchFamily="34" charset="0"/>
                <a:ea typeface="Courier New" pitchFamily="34" charset="-122"/>
                <a:cs typeface="Courier New" pitchFamily="34" charset="-120"/>
              </a:rPr>
              <a:t>sdk + exporter</a:t>
            </a:r>
            <a:endParaRPr lang="en-US" sz="1130" dirty="0"/>
          </a:p>
        </p:txBody>
      </p:sp>
      <p:sp>
        <p:nvSpPr>
          <p:cNvPr id="29" name="Text 27"/>
          <p:cNvSpPr txBox="1"/>
          <p:nvPr/>
        </p:nvSpPr>
        <p:spPr>
          <a:xfrm>
            <a:off x="6410325" y="3270736"/>
            <a:ext cx="1257300" cy="160973"/>
          </a:xfrm>
          <a:prstGeom prst="rect">
            <a:avLst/>
          </a:prstGeom>
          <a:noFill/>
          <a:ln/>
        </p:spPr>
        <p:txBody>
          <a:bodyPr wrap="none" lIns="0" tIns="0" rIns="0" bIns="0" rtlCol="0" anchor="t"/>
          <a:lstStyle/>
          <a:p>
            <a:pPr algn="ctr" indent="0" marL="0">
              <a:lnSpc>
                <a:spcPts val="1270"/>
              </a:lnSpc>
              <a:buNone/>
            </a:pPr>
            <a:r>
              <a:rPr lang="en-US" sz="980" dirty="0">
                <a:solidFill>
                  <a:srgbClr val="5A6D7A"/>
                </a:solidFill>
                <a:latin typeface="Arial" pitchFamily="34" charset="0"/>
                <a:ea typeface="Arial" pitchFamily="34" charset="-122"/>
                <a:cs typeface="Arial" pitchFamily="34" charset="-120"/>
              </a:rPr>
              <a:t>packs and sends</a:t>
            </a:r>
            <a:endParaRPr lang="en-US" sz="980" dirty="0"/>
          </a:p>
        </p:txBody>
      </p:sp>
      <p:sp>
        <p:nvSpPr>
          <p:cNvPr id="30" name="Text 28"/>
          <p:cNvSpPr txBox="1"/>
          <p:nvPr/>
        </p:nvSpPr>
        <p:spPr>
          <a:xfrm>
            <a:off x="7772400" y="2517547"/>
            <a:ext cx="476250" cy="1070521"/>
          </a:xfrm>
          <a:prstGeom prst="rect">
            <a:avLst/>
          </a:prstGeom>
          <a:noFill/>
          <a:ln/>
        </p:spPr>
        <p:txBody>
          <a:bodyPr wrap="none" lIns="0" tIns="0" rIns="0" bIns="0" rtlCol="0" anchor="t"/>
          <a:lstStyle/>
          <a:p>
            <a:pPr algn="l" indent="0" marL="0">
              <a:lnSpc>
                <a:spcPts val="1980"/>
              </a:lnSpc>
              <a:buNone/>
            </a:pPr>
            <a:r>
              <a:rPr lang="en-US" sz="1650" dirty="0">
                <a:solidFill>
                  <a:srgbClr val="0B6E99"/>
                </a:solidFill>
                <a:latin typeface="Arial" pitchFamily="34" charset="0"/>
                <a:ea typeface="Arial" pitchFamily="34" charset="-122"/>
                <a:cs typeface="Arial" pitchFamily="34" charset="-120"/>
              </a:rPr>
              <a:t>→</a:t>
            </a:r>
            <a:endParaRPr lang="en-US" sz="1650" dirty="0"/>
          </a:p>
        </p:txBody>
      </p:sp>
      <p:sp>
        <p:nvSpPr>
          <p:cNvPr id="31" name="Text 29"/>
          <p:cNvSpPr txBox="1"/>
          <p:nvPr/>
        </p:nvSpPr>
        <p:spPr>
          <a:xfrm>
            <a:off x="8296275" y="2672328"/>
            <a:ext cx="1257300" cy="137160"/>
          </a:xfrm>
          <a:prstGeom prst="rect">
            <a:avLst/>
          </a:prstGeom>
          <a:noFill/>
          <a:ln/>
        </p:spPr>
        <p:txBody>
          <a:bodyPr wrap="none" lIns="0" tIns="0" rIns="0" bIns="0" rtlCol="0" anchor="t"/>
          <a:lstStyle/>
          <a:p>
            <a:pPr algn="ctr" indent="0" marL="0">
              <a:lnSpc>
                <a:spcPts val="1080"/>
              </a:lnSpc>
              <a:buNone/>
            </a:pPr>
            <a:r>
              <a:rPr lang="en-US" sz="900" dirty="0">
                <a:solidFill>
                  <a:srgbClr val="0B6E99"/>
                </a:solidFill>
                <a:latin typeface="Courier New" pitchFamily="34" charset="0"/>
                <a:ea typeface="Courier New" pitchFamily="34" charset="-122"/>
                <a:cs typeface="Courier New" pitchFamily="34" charset="-120"/>
              </a:rPr>
              <a:t>5</a:t>
            </a:r>
            <a:endParaRPr lang="en-US" sz="900" dirty="0"/>
          </a:p>
        </p:txBody>
      </p:sp>
      <p:sp>
        <p:nvSpPr>
          <p:cNvPr id="32" name="Text 30"/>
          <p:cNvSpPr txBox="1"/>
          <p:nvPr/>
        </p:nvSpPr>
        <p:spPr>
          <a:xfrm>
            <a:off x="8296275" y="2858542"/>
            <a:ext cx="1257300" cy="357188"/>
          </a:xfrm>
          <a:prstGeom prst="rect">
            <a:avLst/>
          </a:prstGeom>
          <a:noFill/>
          <a:ln/>
        </p:spPr>
        <p:txBody>
          <a:bodyPr wrap="square" lIns="0" tIns="0" rIns="0" bIns="0" rtlCol="0" anchor="t"/>
          <a:lstStyle/>
          <a:p>
            <a:pPr algn="ctr" indent="0" marL="0">
              <a:lnSpc>
                <a:spcPts val="1410"/>
              </a:lnSpc>
              <a:buNone/>
            </a:pPr>
            <a:r>
              <a:rPr lang="en-US" sz="1130" b="1" dirty="0">
                <a:solidFill>
                  <a:srgbClr val="101A22"/>
                </a:solidFill>
                <a:latin typeface="Courier New" pitchFamily="34" charset="0"/>
                <a:ea typeface="Courier New" pitchFamily="34" charset="-122"/>
                <a:cs typeface="Courier New" pitchFamily="34" charset="-120"/>
              </a:rPr>
              <a:t>OpenTelemetry Collector</a:t>
            </a:r>
            <a:endParaRPr lang="en-US" sz="1130" dirty="0"/>
          </a:p>
        </p:txBody>
      </p:sp>
      <p:sp>
        <p:nvSpPr>
          <p:cNvPr id="33" name="Text 31"/>
          <p:cNvSpPr txBox="1"/>
          <p:nvPr/>
        </p:nvSpPr>
        <p:spPr>
          <a:xfrm>
            <a:off x="8296275" y="3270736"/>
            <a:ext cx="1257300" cy="160973"/>
          </a:xfrm>
          <a:prstGeom prst="rect">
            <a:avLst/>
          </a:prstGeom>
          <a:noFill/>
          <a:ln/>
        </p:spPr>
        <p:txBody>
          <a:bodyPr wrap="none" lIns="0" tIns="0" rIns="0" bIns="0" rtlCol="0" anchor="t"/>
          <a:lstStyle/>
          <a:p>
            <a:pPr algn="ctr" indent="0" marL="0">
              <a:lnSpc>
                <a:spcPts val="1270"/>
              </a:lnSpc>
              <a:buNone/>
            </a:pPr>
            <a:r>
              <a:rPr lang="en-US" sz="980" dirty="0">
                <a:solidFill>
                  <a:srgbClr val="5A6D7A"/>
                </a:solidFill>
                <a:latin typeface="Arial" pitchFamily="34" charset="0"/>
                <a:ea typeface="Arial" pitchFamily="34" charset="-122"/>
                <a:cs typeface="Arial" pitchFamily="34" charset="-120"/>
              </a:rPr>
              <a:t>receives, forwards</a:t>
            </a:r>
            <a:endParaRPr lang="en-US" sz="980" dirty="0"/>
          </a:p>
        </p:txBody>
      </p:sp>
      <p:sp>
        <p:nvSpPr>
          <p:cNvPr id="34" name="Text 32"/>
          <p:cNvSpPr txBox="1"/>
          <p:nvPr/>
        </p:nvSpPr>
        <p:spPr>
          <a:xfrm>
            <a:off x="9658350" y="2517547"/>
            <a:ext cx="476250" cy="1070521"/>
          </a:xfrm>
          <a:prstGeom prst="rect">
            <a:avLst/>
          </a:prstGeom>
          <a:noFill/>
          <a:ln/>
        </p:spPr>
        <p:txBody>
          <a:bodyPr wrap="none" lIns="0" tIns="0" rIns="0" bIns="0" rtlCol="0" anchor="t"/>
          <a:lstStyle/>
          <a:p>
            <a:pPr algn="l" indent="0" marL="0">
              <a:lnSpc>
                <a:spcPts val="1980"/>
              </a:lnSpc>
              <a:buNone/>
            </a:pPr>
            <a:r>
              <a:rPr lang="en-US" sz="1650" dirty="0">
                <a:solidFill>
                  <a:srgbClr val="0B6E99"/>
                </a:solidFill>
                <a:latin typeface="Arial" pitchFamily="34" charset="0"/>
                <a:ea typeface="Arial" pitchFamily="34" charset="-122"/>
                <a:cs typeface="Arial" pitchFamily="34" charset="-120"/>
              </a:rPr>
              <a:t>→</a:t>
            </a:r>
            <a:endParaRPr lang="en-US" sz="1650" dirty="0"/>
          </a:p>
        </p:txBody>
      </p:sp>
      <p:sp>
        <p:nvSpPr>
          <p:cNvPr id="35" name="Text 33"/>
          <p:cNvSpPr txBox="1"/>
          <p:nvPr/>
        </p:nvSpPr>
        <p:spPr>
          <a:xfrm>
            <a:off x="10182225" y="2672328"/>
            <a:ext cx="1257300" cy="137160"/>
          </a:xfrm>
          <a:prstGeom prst="rect">
            <a:avLst/>
          </a:prstGeom>
          <a:noFill/>
          <a:ln/>
        </p:spPr>
        <p:txBody>
          <a:bodyPr wrap="none" lIns="0" tIns="0" rIns="0" bIns="0" rtlCol="0" anchor="t"/>
          <a:lstStyle/>
          <a:p>
            <a:pPr algn="ctr" indent="0" marL="0">
              <a:lnSpc>
                <a:spcPts val="1080"/>
              </a:lnSpc>
              <a:buNone/>
            </a:pPr>
            <a:r>
              <a:rPr lang="en-US" sz="900" dirty="0">
                <a:solidFill>
                  <a:srgbClr val="FFFFFF"/>
                </a:solidFill>
                <a:latin typeface="Courier New" pitchFamily="34" charset="0"/>
                <a:ea typeface="Courier New" pitchFamily="34" charset="-122"/>
                <a:cs typeface="Courier New" pitchFamily="34" charset="-120"/>
              </a:rPr>
              <a:t>6</a:t>
            </a:r>
            <a:endParaRPr lang="en-US" sz="900" dirty="0"/>
          </a:p>
        </p:txBody>
      </p:sp>
      <p:sp>
        <p:nvSpPr>
          <p:cNvPr id="36" name="Text 34"/>
          <p:cNvSpPr txBox="1"/>
          <p:nvPr/>
        </p:nvSpPr>
        <p:spPr>
          <a:xfrm>
            <a:off x="10182225" y="2858542"/>
            <a:ext cx="1257300" cy="178594"/>
          </a:xfrm>
          <a:prstGeom prst="rect">
            <a:avLst/>
          </a:prstGeom>
          <a:noFill/>
          <a:ln/>
        </p:spPr>
        <p:txBody>
          <a:bodyPr wrap="none" lIns="0" tIns="0" rIns="0" bIns="0" rtlCol="0" anchor="t"/>
          <a:lstStyle/>
          <a:p>
            <a:pPr algn="ctr" indent="0" marL="0">
              <a:lnSpc>
                <a:spcPts val="1410"/>
              </a:lnSpc>
              <a:buNone/>
            </a:pPr>
            <a:r>
              <a:rPr lang="en-US" sz="1130" b="1" dirty="0">
                <a:solidFill>
                  <a:srgbClr val="FFFFFF"/>
                </a:solidFill>
                <a:latin typeface="Courier New" pitchFamily="34" charset="0"/>
                <a:ea typeface="Courier New" pitchFamily="34" charset="-122"/>
                <a:cs typeface="Courier New" pitchFamily="34" charset="-120"/>
              </a:rPr>
              <a:t>OpenSearch</a:t>
            </a:r>
            <a:endParaRPr lang="en-US" sz="1130" dirty="0"/>
          </a:p>
        </p:txBody>
      </p:sp>
      <p:sp>
        <p:nvSpPr>
          <p:cNvPr id="37" name="Text 35"/>
          <p:cNvSpPr txBox="1"/>
          <p:nvPr/>
        </p:nvSpPr>
        <p:spPr>
          <a:xfrm>
            <a:off x="10182225" y="3092142"/>
            <a:ext cx="1257300" cy="160973"/>
          </a:xfrm>
          <a:prstGeom prst="rect">
            <a:avLst/>
          </a:prstGeom>
          <a:noFill/>
          <a:ln/>
        </p:spPr>
        <p:txBody>
          <a:bodyPr wrap="none" lIns="0" tIns="0" rIns="0" bIns="0" rtlCol="0" anchor="t"/>
          <a:lstStyle/>
          <a:p>
            <a:pPr algn="ctr" indent="0" marL="0">
              <a:lnSpc>
                <a:spcPts val="1270"/>
              </a:lnSpc>
              <a:buNone/>
            </a:pPr>
            <a:r>
              <a:rPr lang="en-US" sz="980" dirty="0">
                <a:solidFill>
                  <a:srgbClr val="FFFFFF"/>
                </a:solidFill>
                <a:latin typeface="Arial" pitchFamily="34" charset="0"/>
                <a:ea typeface="Arial" pitchFamily="34" charset="-122"/>
                <a:cs typeface="Arial" pitchFamily="34" charset="-120"/>
              </a:rPr>
              <a:t>stores, searches</a:t>
            </a:r>
            <a:endParaRPr lang="en-US" sz="980" dirty="0"/>
          </a:p>
        </p:txBody>
      </p:sp>
      <p:sp>
        <p:nvSpPr>
          <p:cNvPr id="38" name="Text 36"/>
          <p:cNvSpPr txBox="1"/>
          <p:nvPr/>
        </p:nvSpPr>
        <p:spPr>
          <a:xfrm>
            <a:off x="619125" y="3895011"/>
            <a:ext cx="1523851" cy="438150"/>
          </a:xfrm>
          <a:prstGeom prst="rect">
            <a:avLst/>
          </a:prstGeom>
          <a:noFill/>
          <a:ln/>
        </p:spPr>
        <p:txBody>
          <a:bodyPr wrap="none" lIns="0" tIns="0" rIns="0" bIns="0" rtlCol="0" anchor="t"/>
          <a:lstStyle/>
          <a:p>
            <a:pPr algn="ctr" indent="0" marL="0">
              <a:lnSpc>
                <a:spcPts val="1170"/>
              </a:lnSpc>
              <a:buNone/>
            </a:pPr>
            <a:r>
              <a:rPr lang="en-US" sz="980" dirty="0">
                <a:solidFill>
                  <a:srgbClr val="5A6D7A"/>
                </a:solidFill>
                <a:latin typeface="Courier New" pitchFamily="34" charset="0"/>
                <a:ea typeface="Courier New" pitchFamily="34" charset="-122"/>
                <a:cs typeface="Courier New" pitchFamily="34" charset="-120"/>
              </a:rPr>
              <a:t>Moodle</a:t>
            </a:r>
            <a:endParaRPr lang="en-US" sz="980" dirty="0"/>
          </a:p>
        </p:txBody>
      </p:sp>
      <p:sp>
        <p:nvSpPr>
          <p:cNvPr id="39" name="Text 37"/>
          <p:cNvSpPr txBox="1"/>
          <p:nvPr/>
        </p:nvSpPr>
        <p:spPr>
          <a:xfrm>
            <a:off x="2695426" y="3895011"/>
            <a:ext cx="7181701" cy="438150"/>
          </a:xfrm>
          <a:prstGeom prst="rect">
            <a:avLst/>
          </a:prstGeom>
          <a:noFill/>
          <a:ln/>
        </p:spPr>
        <p:txBody>
          <a:bodyPr wrap="none" lIns="0" tIns="0" rIns="0" bIns="0" rtlCol="0" anchor="t"/>
          <a:lstStyle/>
          <a:p>
            <a:pPr algn="ctr" indent="0" marL="0">
              <a:lnSpc>
                <a:spcPts val="1170"/>
              </a:lnSpc>
              <a:buNone/>
            </a:pPr>
            <a:r>
              <a:rPr lang="en-US" sz="980" b="1" dirty="0">
                <a:solidFill>
                  <a:srgbClr val="0B6E99"/>
                </a:solidFill>
                <a:latin typeface="Arial" pitchFamily="34" charset="0"/>
                <a:ea typeface="Arial" pitchFamily="34" charset="-122"/>
                <a:cs typeface="Arial" pitchFamily="34" charset="-120"/>
              </a:rPr>
              <a:t>OpenTelemetry</a:t>
            </a:r>
            <a:pPr algn="ctr" indent="0" marL="0">
              <a:lnSpc>
                <a:spcPts val="1170"/>
              </a:lnSpc>
              <a:buNone/>
            </a:pPr>
            <a:r>
              <a:rPr lang="en-US" sz="980" dirty="0">
                <a:solidFill>
                  <a:srgbClr val="0B6E99"/>
                </a:solidFill>
                <a:latin typeface="Courier New" pitchFamily="34" charset="0"/>
                <a:ea typeface="Courier New" pitchFamily="34" charset="-122"/>
                <a:cs typeface="Courier New" pitchFamily="34" charset="-120"/>
              </a:rPr>
              <a:t> — records and sends</a:t>
            </a:r>
            <a:endParaRPr lang="en-US" sz="980" dirty="0"/>
          </a:p>
        </p:txBody>
      </p:sp>
      <p:sp>
        <p:nvSpPr>
          <p:cNvPr id="40" name="Text 38"/>
          <p:cNvSpPr txBox="1"/>
          <p:nvPr/>
        </p:nvSpPr>
        <p:spPr>
          <a:xfrm>
            <a:off x="10429577" y="3895011"/>
            <a:ext cx="1143298" cy="438150"/>
          </a:xfrm>
          <a:prstGeom prst="rect">
            <a:avLst/>
          </a:prstGeom>
          <a:noFill/>
          <a:ln/>
        </p:spPr>
        <p:txBody>
          <a:bodyPr wrap="square" lIns="0" tIns="0" rIns="0" bIns="0" rtlCol="0" anchor="t"/>
          <a:lstStyle/>
          <a:p>
            <a:pPr algn="ctr" indent="0" marL="0">
              <a:lnSpc>
                <a:spcPts val="1170"/>
              </a:lnSpc>
              <a:buNone/>
            </a:pPr>
            <a:r>
              <a:rPr lang="en-US" sz="980" b="1" dirty="0">
                <a:solidFill>
                  <a:srgbClr val="0B6E99"/>
                </a:solidFill>
                <a:latin typeface="Arial" pitchFamily="34" charset="0"/>
                <a:ea typeface="Arial" pitchFamily="34" charset="-122"/>
                <a:cs typeface="Arial" pitchFamily="34" charset="-120"/>
              </a:rPr>
              <a:t>OpenSearch</a:t>
            </a:r>
            <a:pPr algn="ctr" indent="0" marL="0">
              <a:lnSpc>
                <a:spcPts val="1170"/>
              </a:lnSpc>
              <a:buNone/>
            </a:pPr>
            <a:r>
              <a:rPr lang="en-US" sz="980" dirty="0">
                <a:solidFill>
                  <a:srgbClr val="0B6E99"/>
                </a:solidFill>
                <a:latin typeface="Courier New" pitchFamily="34" charset="0"/>
                <a:ea typeface="Courier New" pitchFamily="34" charset="-122"/>
                <a:cs typeface="Courier New" pitchFamily="34" charset="-120"/>
              </a:rPr>
              <a:t> — stores and searches</a:t>
            </a:r>
            <a:endParaRPr lang="en-US" sz="980" dirty="0"/>
          </a:p>
        </p:txBody>
      </p:sp>
      <p:sp>
        <p:nvSpPr>
          <p:cNvPr id="41" name="Text 39"/>
          <p:cNvSpPr txBox="1"/>
          <p:nvPr/>
        </p:nvSpPr>
        <p:spPr>
          <a:xfrm>
            <a:off x="647700" y="4585335"/>
            <a:ext cx="10953750" cy="628650"/>
          </a:xfrm>
          <a:prstGeom prst="rect">
            <a:avLst/>
          </a:prstGeom>
          <a:noFill/>
          <a:ln/>
        </p:spPr>
        <p:txBody>
          <a:bodyPr wrap="square" lIns="0" tIns="0" rIns="0" bIns="0" rtlCol="0" anchor="t"/>
          <a:lstStyle/>
          <a:p>
            <a:pPr algn="l" indent="0" marL="0">
              <a:lnSpc>
                <a:spcPts val="2480"/>
              </a:lnSpc>
              <a:buNone/>
            </a:pPr>
            <a:r>
              <a:rPr lang="en-US" sz="1650" dirty="0">
                <a:solidFill>
                  <a:srgbClr val="101A22"/>
                </a:solidFill>
                <a:latin typeface="Arial" pitchFamily="34" charset="0"/>
                <a:ea typeface="Arial" pitchFamily="34" charset="-122"/>
                <a:cs typeface="Arial" pitchFamily="34" charset="-120"/>
              </a:rPr>
              <a:t>Four of the six components are OpenTelemetry — and </a:t>
            </a:r>
            <a:pPr algn="l" indent="0" marL="0">
              <a:lnSpc>
                <a:spcPts val="2480"/>
              </a:lnSpc>
              <a:buNone/>
            </a:pPr>
            <a:r>
              <a:rPr lang="en-US" sz="1650" b="1" dirty="0">
                <a:solidFill>
                  <a:srgbClr val="101A22"/>
                </a:solidFill>
                <a:latin typeface="Arial" pitchFamily="34" charset="0"/>
                <a:ea typeface="Arial" pitchFamily="34" charset="-122"/>
                <a:cs typeface="Arial" pitchFamily="34" charset="-120"/>
              </a:rPr>
              <a:t>none of them ships with Moodle</a:t>
            </a:r>
            <a:pPr algn="l" indent="0" marL="0">
              <a:lnSpc>
                <a:spcPts val="2480"/>
              </a:lnSpc>
              <a:buNone/>
            </a:pPr>
            <a:r>
              <a:rPr lang="en-US" sz="1650" dirty="0">
                <a:solidFill>
                  <a:srgbClr val="101A22"/>
                </a:solidFill>
                <a:latin typeface="Arial" pitchFamily="34" charset="0"/>
                <a:ea typeface="Arial" pitchFamily="34" charset="-122"/>
                <a:cs typeface="Arial" pitchFamily="34" charset="-120"/>
              </a:rPr>
              <a:t>: you install all four separately. Moodle 5.2's only contribution is that it loads them once they are in place.</a:t>
            </a:r>
            <a:endParaRPr lang="en-US" sz="1650" dirty="0"/>
          </a:p>
        </p:txBody>
      </p:sp>
      <p:sp>
        <p:nvSpPr>
          <p:cNvPr id="42" name="Text 40"/>
          <p:cNvSpPr txBox="1"/>
          <p:nvPr/>
        </p:nvSpPr>
        <p:spPr>
          <a:xfrm>
            <a:off x="647700" y="6464379"/>
            <a:ext cx="725984" cy="148590"/>
          </a:xfrm>
          <a:prstGeom prst="rect">
            <a:avLst/>
          </a:prstGeom>
          <a:noFill/>
          <a:ln/>
        </p:spPr>
        <p:txBody>
          <a:bodyPr wrap="none" lIns="0" tIns="0" rIns="0" bIns="0" rtlCol="0" anchor="t"/>
          <a:lstStyle/>
          <a:p>
            <a:pPr algn="l" indent="0" marL="0">
              <a:lnSpc>
                <a:spcPts val="1170"/>
              </a:lnSpc>
              <a:buNone/>
            </a:pPr>
            <a:r>
              <a:rPr lang="en-US" sz="980" dirty="0">
                <a:solidFill>
                  <a:srgbClr val="8496A2"/>
                </a:solidFill>
                <a:latin typeface="Courier New" pitchFamily="34" charset="0"/>
                <a:ea typeface="Courier New" pitchFamily="34" charset="-122"/>
                <a:cs typeface="Courier New" pitchFamily="34" charset="-120"/>
              </a:rPr>
              <a:t>The chain</a:t>
            </a:r>
            <a:endParaRPr lang="en-US" sz="980" dirty="0"/>
          </a:p>
        </p:txBody>
      </p:sp>
      <p:sp>
        <p:nvSpPr>
          <p:cNvPr id="43" name="Text 41"/>
          <p:cNvSpPr txBox="1"/>
          <p:nvPr/>
        </p:nvSpPr>
        <p:spPr>
          <a:xfrm>
            <a:off x="11098411" y="6464379"/>
            <a:ext cx="503039" cy="148590"/>
          </a:xfrm>
          <a:prstGeom prst="rect">
            <a:avLst/>
          </a:prstGeom>
          <a:noFill/>
          <a:ln/>
        </p:spPr>
        <p:txBody>
          <a:bodyPr wrap="none" lIns="0" tIns="0" rIns="0" bIns="0" rtlCol="0" anchor="t"/>
          <a:lstStyle/>
          <a:p>
            <a:pPr algn="l" indent="0" marL="0">
              <a:lnSpc>
                <a:spcPts val="1170"/>
              </a:lnSpc>
              <a:buNone/>
            </a:pPr>
            <a:r>
              <a:rPr lang="en-US" sz="980" dirty="0">
                <a:solidFill>
                  <a:srgbClr val="8496A2"/>
                </a:solidFill>
                <a:latin typeface="Courier New" pitchFamily="34" charset="0"/>
                <a:ea typeface="Courier New" pitchFamily="34" charset="-122"/>
                <a:cs typeface="Courier New" pitchFamily="34" charset="-120"/>
              </a:rPr>
              <a:t>9 / 39</a:t>
            </a:r>
            <a:endParaRPr lang="en-US" sz="980" dirty="0"/>
          </a:p>
        </p:txBody>
      </p:sp>
      <p:pic>
        <p:nvPicPr>
          <p:cNvPr id="900" name="NetSapiensis mark" descr="NetSapiensis"/>
          <p:cNvPicPr>
            <a:picLocks noChangeAspect="1"/>
          </p:cNvPicPr>
          <p:nvPr/>
        </p:nvPicPr>
        <p:blipFill>
          <a:blip r:embed="rId3"/>
          <a:stretch>
            <a:fillRect/>
          </a:stretch>
        </p:blipFill>
        <p:spPr>
          <a:xfrm>
            <a:off x="10776204" y="6419088"/>
            <a:ext cx="178308" cy="237744"/>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7700" y="6343650"/>
            <a:ext cx="10896600" cy="0"/>
          </a:xfrm>
          <a:prstGeom prst="line">
            <a:avLst/>
          </a:prstGeom>
          <a:noFill/>
          <a:ln w="10160">
            <a:solidFill>
              <a:srgbClr val="CBD7DF"/>
            </a:solidFill>
            <a:prstDash val="solid"/>
          </a:ln>
        </p:spPr>
      </p:sp>
      <p:pic>
        <p:nvPicPr>
          <p:cNvPr id="3" name="Image 0" descr="Placement diagram: components one to four run inside one PHP process on the Moodle web server; the OpenTelemetry Collector runs on that same server as a separate service, reached at localhost port 4318; OpenSearch is always a separate machine, reached on port 9200. A shared collector on its own host is the other option.">    </p:cNvPr>
          <p:cNvPicPr>
            <a:picLocks noChangeAspect="1"/>
          </p:cNvPicPr>
          <p:nvPr/>
        </p:nvPicPr>
        <p:blipFill>
          <a:blip r:embed="rId1"/>
          <a:stretch>
            <a:fillRect/>
          </a:stretch>
        </p:blipFill>
        <p:spPr>
          <a:xfrm>
            <a:off x="647700" y="1532186"/>
            <a:ext cx="10896600" cy="3682157"/>
          </a:xfrm>
          <a:prstGeom prst="rect">
            <a:avLst/>
          </a:prstGeom>
        </p:spPr>
      </p:pic>
      <p:sp>
        <p:nvSpPr>
          <p:cNvPr id="4" name="Text 1"/>
          <p:cNvSpPr txBox="1"/>
          <p:nvPr/>
        </p:nvSpPr>
        <p:spPr>
          <a:xfrm>
            <a:off x="647700" y="511731"/>
            <a:ext cx="10953750" cy="185738"/>
          </a:xfrm>
          <a:prstGeom prst="rect">
            <a:avLst/>
          </a:prstGeom>
          <a:noFill/>
          <a:ln/>
        </p:spPr>
        <p:txBody>
          <a:bodyPr wrap="none" lIns="0" tIns="0" rIns="0" bIns="0" rtlCol="0" anchor="t"/>
          <a:lstStyle/>
          <a:p>
            <a:pPr algn="l" indent="0" marL="0">
              <a:lnSpc>
                <a:spcPts val="1460"/>
              </a:lnSpc>
              <a:buNone/>
            </a:pPr>
            <a:r>
              <a:rPr lang="en-US" sz="980" spc="160" kern="0" dirty="0">
                <a:solidFill>
                  <a:srgbClr val="0B6E99"/>
                </a:solidFill>
                <a:latin typeface="Courier New" pitchFamily="34" charset="0"/>
                <a:ea typeface="Courier New" pitchFamily="34" charset="-122"/>
                <a:cs typeface="Courier New" pitchFamily="34" charset="-120"/>
              </a:rPr>
              <a:t>THE PIPELINE · WHERE IT ALL RUNS</a:t>
            </a:r>
            <a:endParaRPr lang="en-US" sz="980" dirty="0"/>
          </a:p>
        </p:txBody>
      </p:sp>
      <p:sp>
        <p:nvSpPr>
          <p:cNvPr id="5" name="Text 2"/>
          <p:cNvSpPr txBox="1"/>
          <p:nvPr/>
        </p:nvSpPr>
        <p:spPr>
          <a:xfrm>
            <a:off x="647700" y="852488"/>
            <a:ext cx="10953750" cy="432054"/>
          </a:xfrm>
          <a:prstGeom prst="rect">
            <a:avLst/>
          </a:prstGeom>
          <a:noFill/>
          <a:ln/>
        </p:spPr>
        <p:txBody>
          <a:bodyPr wrap="none" lIns="0" tIns="0" rIns="0" bIns="0" rtlCol="0" anchor="t"/>
          <a:lstStyle/>
          <a:p>
            <a:pPr algn="l" indent="0" marL="0">
              <a:lnSpc>
                <a:spcPts val="3400"/>
              </a:lnSpc>
              <a:buNone/>
            </a:pPr>
            <a:r>
              <a:rPr lang="en-US" sz="3150" b="1" spc="-60" kern="0" dirty="0">
                <a:solidFill>
                  <a:srgbClr val="101A22"/>
                </a:solidFill>
                <a:latin typeface="Arial" pitchFamily="34" charset="0"/>
                <a:ea typeface="Arial" pitchFamily="34" charset="-122"/>
                <a:cs typeface="Arial" pitchFamily="34" charset="-120"/>
              </a:rPr>
              <a:t>Where does each component run?</a:t>
            </a:r>
            <a:endParaRPr lang="en-US" sz="3150" dirty="0"/>
          </a:p>
        </p:txBody>
      </p:sp>
      <p:sp>
        <p:nvSpPr>
          <p:cNvPr id="6" name="Text 3"/>
          <p:cNvSpPr txBox="1"/>
          <p:nvPr/>
        </p:nvSpPr>
        <p:spPr>
          <a:xfrm>
            <a:off x="647700" y="6464379"/>
            <a:ext cx="725984" cy="148590"/>
          </a:xfrm>
          <a:prstGeom prst="rect">
            <a:avLst/>
          </a:prstGeom>
          <a:noFill/>
          <a:ln/>
        </p:spPr>
        <p:txBody>
          <a:bodyPr wrap="none" lIns="0" tIns="0" rIns="0" bIns="0" rtlCol="0" anchor="t"/>
          <a:lstStyle/>
          <a:p>
            <a:pPr algn="l" indent="0" marL="0">
              <a:lnSpc>
                <a:spcPts val="1170"/>
              </a:lnSpc>
              <a:buNone/>
            </a:pPr>
            <a:r>
              <a:rPr lang="en-US" sz="980" dirty="0">
                <a:solidFill>
                  <a:srgbClr val="8496A2"/>
                </a:solidFill>
                <a:latin typeface="Courier New" pitchFamily="34" charset="0"/>
                <a:ea typeface="Courier New" pitchFamily="34" charset="-122"/>
                <a:cs typeface="Courier New" pitchFamily="34" charset="-120"/>
              </a:rPr>
              <a:t>The chain</a:t>
            </a:r>
            <a:endParaRPr lang="en-US" sz="980" dirty="0"/>
          </a:p>
        </p:txBody>
      </p:sp>
      <p:sp>
        <p:nvSpPr>
          <p:cNvPr id="7" name="Text 4"/>
          <p:cNvSpPr txBox="1"/>
          <p:nvPr/>
        </p:nvSpPr>
        <p:spPr>
          <a:xfrm>
            <a:off x="11024146" y="6464379"/>
            <a:ext cx="577304" cy="148590"/>
          </a:xfrm>
          <a:prstGeom prst="rect">
            <a:avLst/>
          </a:prstGeom>
          <a:noFill/>
          <a:ln/>
        </p:spPr>
        <p:txBody>
          <a:bodyPr wrap="none" lIns="0" tIns="0" rIns="0" bIns="0" rtlCol="0" anchor="t"/>
          <a:lstStyle/>
          <a:p>
            <a:pPr algn="l" indent="0" marL="0">
              <a:lnSpc>
                <a:spcPts val="1170"/>
              </a:lnSpc>
              <a:buNone/>
            </a:pPr>
            <a:r>
              <a:rPr lang="en-US" sz="980" dirty="0">
                <a:solidFill>
                  <a:srgbClr val="8496A2"/>
                </a:solidFill>
                <a:latin typeface="Courier New" pitchFamily="34" charset="0"/>
                <a:ea typeface="Courier New" pitchFamily="34" charset="-122"/>
                <a:cs typeface="Courier New" pitchFamily="34" charset="-120"/>
              </a:rPr>
              <a:t>10 / 39</a:t>
            </a:r>
            <a:endParaRPr lang="en-US" sz="980" dirty="0"/>
          </a:p>
        </p:txBody>
      </p:sp>
      <p:pic>
        <p:nvPicPr>
          <p:cNvPr id="900" name="NetSapiensis mark" descr="NetSapiensis"/>
          <p:cNvPicPr>
            <a:picLocks noChangeAspect="1"/>
          </p:cNvPicPr>
          <p:nvPr/>
        </p:nvPicPr>
        <p:blipFill>
          <a:blip r:embed="rId4"/>
          <a:stretch>
            <a:fillRect/>
          </a:stretch>
        </p:blipFill>
        <p:spPr>
          <a:xfrm>
            <a:off x="10776204" y="6419088"/>
            <a:ext cx="178308" cy="237744"/>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01A22"/>
        </a:solidFill>
      </p:bgPr>
    </p:bg>
    <p:spTree>
      <p:nvGrpSpPr>
        <p:cNvPr id="1" name=""/>
        <p:cNvGrpSpPr/>
        <p:nvPr/>
      </p:nvGrpSpPr>
      <p:grpSpPr>
        <a:xfrm>
          <a:off x="0" y="0"/>
          <a:ext cx="0" cy="0"/>
          <a:chOff x="0" y="0"/>
          <a:chExt cx="0" cy="0"/>
        </a:xfrm>
      </p:grpSpPr>
      <p:sp>
        <p:nvSpPr>
          <p:cNvPr id="2" name="Shape 0"/>
          <p:cNvSpPr/>
          <p:nvPr/>
        </p:nvSpPr>
        <p:spPr>
          <a:xfrm>
            <a:off x="647700" y="6343650"/>
            <a:ext cx="10896600" cy="0"/>
          </a:xfrm>
          <a:prstGeom prst="line">
            <a:avLst/>
          </a:prstGeom>
          <a:noFill/>
          <a:ln w="10160">
            <a:solidFill>
              <a:srgbClr val="2A3B47"/>
            </a:solidFill>
            <a:prstDash val="solid"/>
          </a:ln>
        </p:spPr>
      </p:sp>
      <p:sp>
        <p:nvSpPr>
          <p:cNvPr id="3" name="Text 1"/>
          <p:cNvSpPr txBox="1"/>
          <p:nvPr/>
        </p:nvSpPr>
        <p:spPr>
          <a:xfrm>
            <a:off x="647700" y="2757785"/>
            <a:ext cx="10953750" cy="1151930"/>
          </a:xfrm>
          <a:prstGeom prst="rect">
            <a:avLst/>
          </a:prstGeom>
          <a:noFill/>
          <a:ln/>
        </p:spPr>
        <p:txBody>
          <a:bodyPr wrap="square" lIns="0" tIns="0" rIns="0" bIns="0" rtlCol="0" anchor="t"/>
          <a:lstStyle/>
          <a:p>
            <a:pPr algn="l" indent="0" marL="0">
              <a:lnSpc>
                <a:spcPts val="4540"/>
              </a:lnSpc>
              <a:buNone/>
            </a:pPr>
            <a:r>
              <a:rPr lang="en-US" sz="4200" b="1" spc="-80" kern="0" dirty="0">
                <a:solidFill>
                  <a:srgbClr val="FFFFFF"/>
                </a:solidFill>
                <a:latin typeface="Arial" pitchFamily="34" charset="0"/>
                <a:ea typeface="Arial" pitchFamily="34" charset="-122"/>
                <a:cs typeface="Arial" pitchFamily="34" charset="-120"/>
              </a:rPr>
              <a:t>These terms appear in the commands and in the searches</a:t>
            </a:r>
            <a:endParaRPr lang="en-US" sz="4200" dirty="0"/>
          </a:p>
        </p:txBody>
      </p:sp>
      <p:sp>
        <p:nvSpPr>
          <p:cNvPr id="4" name="Text 2"/>
          <p:cNvSpPr txBox="1"/>
          <p:nvPr/>
        </p:nvSpPr>
        <p:spPr>
          <a:xfrm>
            <a:off x="647700" y="6464379"/>
            <a:ext cx="725984" cy="148590"/>
          </a:xfrm>
          <a:prstGeom prst="rect">
            <a:avLst/>
          </a:prstGeom>
          <a:noFill/>
          <a:ln/>
        </p:spPr>
        <p:txBody>
          <a:bodyPr wrap="none" lIns="0" tIns="0" rIns="0" bIns="0" rtlCol="0" anchor="t"/>
          <a:lstStyle/>
          <a:p>
            <a:pPr algn="l" indent="0" marL="0">
              <a:lnSpc>
                <a:spcPts val="1170"/>
              </a:lnSpc>
              <a:buNone/>
            </a:pPr>
            <a:r>
              <a:rPr lang="en-US" sz="980" dirty="0">
                <a:solidFill>
                  <a:srgbClr val="56707F"/>
                </a:solidFill>
                <a:latin typeface="Courier New" pitchFamily="34" charset="0"/>
                <a:ea typeface="Courier New" pitchFamily="34" charset="-122"/>
                <a:cs typeface="Courier New" pitchFamily="34" charset="-120"/>
              </a:rPr>
              <a:t>The terms</a:t>
            </a:r>
            <a:endParaRPr lang="en-US" sz="980" dirty="0"/>
          </a:p>
        </p:txBody>
      </p:sp>
      <p:sp>
        <p:nvSpPr>
          <p:cNvPr id="5" name="Text 3"/>
          <p:cNvSpPr txBox="1"/>
          <p:nvPr/>
        </p:nvSpPr>
        <p:spPr>
          <a:xfrm>
            <a:off x="11024146" y="6464379"/>
            <a:ext cx="577304" cy="148590"/>
          </a:xfrm>
          <a:prstGeom prst="rect">
            <a:avLst/>
          </a:prstGeom>
          <a:noFill/>
          <a:ln/>
        </p:spPr>
        <p:txBody>
          <a:bodyPr wrap="none" lIns="0" tIns="0" rIns="0" bIns="0" rtlCol="0" anchor="t"/>
          <a:lstStyle/>
          <a:p>
            <a:pPr algn="l" indent="0" marL="0">
              <a:lnSpc>
                <a:spcPts val="1170"/>
              </a:lnSpc>
              <a:buNone/>
            </a:pPr>
            <a:r>
              <a:rPr lang="en-US" sz="980" dirty="0">
                <a:solidFill>
                  <a:srgbClr val="56707F"/>
                </a:solidFill>
                <a:latin typeface="Courier New" pitchFamily="34" charset="0"/>
                <a:ea typeface="Courier New" pitchFamily="34" charset="-122"/>
                <a:cs typeface="Courier New" pitchFamily="34" charset="-120"/>
              </a:rPr>
              <a:t>11 / 39</a:t>
            </a:r>
            <a:endParaRPr lang="en-US" sz="980" dirty="0"/>
          </a:p>
        </p:txBody>
      </p:sp>
      <p:pic>
        <p:nvPicPr>
          <p:cNvPr id="900" name="NetSapiensis mark" descr="NetSapiensis"/>
          <p:cNvPicPr>
            <a:picLocks noChangeAspect="1"/>
          </p:cNvPicPr>
          <p:nvPr/>
        </p:nvPicPr>
        <p:blipFill>
          <a:blip r:embed="rId3"/>
          <a:stretch>
            <a:fillRect/>
          </a:stretch>
        </p:blipFill>
        <p:spPr>
          <a:xfrm>
            <a:off x="10776204" y="6419088"/>
            <a:ext cx="178308" cy="237744"/>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7700" y="2522786"/>
            <a:ext cx="10896600" cy="1171575"/>
          </a:xfrm>
          <a:prstGeom prst="roundRect">
            <a:avLst>
              <a:gd name="adj" fmla="val 12691"/>
            </a:avLst>
          </a:prstGeom>
          <a:solidFill>
            <a:srgbClr val="0F2027"/>
          </a:solidFill>
          <a:ln/>
        </p:spPr>
      </p:sp>
      <p:sp>
        <p:nvSpPr>
          <p:cNvPr id="3" name="Shape 1"/>
          <p:cNvSpPr/>
          <p:nvPr/>
        </p:nvSpPr>
        <p:spPr>
          <a:xfrm>
            <a:off x="647700" y="6343650"/>
            <a:ext cx="10896600" cy="0"/>
          </a:xfrm>
          <a:prstGeom prst="line">
            <a:avLst/>
          </a:prstGeom>
          <a:noFill/>
          <a:ln w="10160">
            <a:solidFill>
              <a:srgbClr val="CBD7DF"/>
            </a:solidFill>
            <a:prstDash val="solid"/>
          </a:ln>
        </p:spPr>
      </p:sp>
      <p:sp>
        <p:nvSpPr>
          <p:cNvPr id="4" name="Text 2"/>
          <p:cNvSpPr txBox="1"/>
          <p:nvPr/>
        </p:nvSpPr>
        <p:spPr>
          <a:xfrm>
            <a:off x="647700" y="511731"/>
            <a:ext cx="10953750" cy="185738"/>
          </a:xfrm>
          <a:prstGeom prst="rect">
            <a:avLst/>
          </a:prstGeom>
          <a:noFill/>
          <a:ln/>
        </p:spPr>
        <p:txBody>
          <a:bodyPr wrap="none" lIns="0" tIns="0" rIns="0" bIns="0" rtlCol="0" anchor="t"/>
          <a:lstStyle/>
          <a:p>
            <a:pPr algn="l" indent="0" marL="0">
              <a:lnSpc>
                <a:spcPts val="1460"/>
              </a:lnSpc>
              <a:buNone/>
            </a:pPr>
            <a:r>
              <a:rPr lang="en-US" sz="980" spc="160" kern="0" dirty="0">
                <a:solidFill>
                  <a:srgbClr val="0B6E99"/>
                </a:solidFill>
                <a:latin typeface="Courier New" pitchFamily="34" charset="0"/>
                <a:ea typeface="Courier New" pitchFamily="34" charset="-122"/>
                <a:cs typeface="Courier New" pitchFamily="34" charset="-120"/>
              </a:rPr>
              <a:t>TERM</a:t>
            </a:r>
            <a:endParaRPr lang="en-US" sz="980" dirty="0"/>
          </a:p>
        </p:txBody>
      </p:sp>
      <p:sp>
        <p:nvSpPr>
          <p:cNvPr id="5" name="Text 3"/>
          <p:cNvSpPr txBox="1"/>
          <p:nvPr/>
        </p:nvSpPr>
        <p:spPr>
          <a:xfrm>
            <a:off x="647700" y="852488"/>
            <a:ext cx="10953750" cy="432054"/>
          </a:xfrm>
          <a:prstGeom prst="rect">
            <a:avLst/>
          </a:prstGeom>
          <a:noFill/>
          <a:ln/>
        </p:spPr>
        <p:txBody>
          <a:bodyPr wrap="none" lIns="0" tIns="0" rIns="0" bIns="0" rtlCol="0" anchor="t"/>
          <a:lstStyle/>
          <a:p>
            <a:pPr algn="l" indent="0" marL="0">
              <a:lnSpc>
                <a:spcPts val="3400"/>
              </a:lnSpc>
              <a:buNone/>
            </a:pPr>
            <a:r>
              <a:rPr lang="en-US" sz="3150" b="1" spc="-60" kern="0" dirty="0">
                <a:solidFill>
                  <a:srgbClr val="101A22"/>
                </a:solidFill>
                <a:latin typeface="Arial" pitchFamily="34" charset="0"/>
                <a:ea typeface="Arial" pitchFamily="34" charset="-122"/>
                <a:cs typeface="Arial" pitchFamily="34" charset="-120"/>
              </a:rPr>
              <a:t>Log record: one Moodle event stored as one document</a:t>
            </a:r>
            <a:endParaRPr lang="en-US" sz="3150" dirty="0"/>
          </a:p>
        </p:txBody>
      </p:sp>
      <p:sp>
        <p:nvSpPr>
          <p:cNvPr id="6" name="Text 4"/>
          <p:cNvSpPr txBox="1"/>
          <p:nvPr/>
        </p:nvSpPr>
        <p:spPr>
          <a:xfrm>
            <a:off x="647700" y="1488847"/>
            <a:ext cx="10953750" cy="742950"/>
          </a:xfrm>
          <a:prstGeom prst="rect">
            <a:avLst/>
          </a:prstGeom>
          <a:noFill/>
          <a:ln/>
        </p:spPr>
        <p:txBody>
          <a:bodyPr wrap="square" lIns="0" tIns="0" rIns="0" bIns="0" rtlCol="0" anchor="t"/>
          <a:lstStyle/>
          <a:p>
            <a:pPr algn="l" indent="0" marL="0">
              <a:lnSpc>
                <a:spcPts val="2930"/>
              </a:lnSpc>
              <a:buNone/>
            </a:pPr>
            <a:r>
              <a:rPr lang="en-US" sz="1950" dirty="0">
                <a:solidFill>
                  <a:srgbClr val="5A6D7A"/>
                </a:solidFill>
                <a:latin typeface="Arial" pitchFamily="34" charset="0"/>
                <a:ea typeface="Arial" pitchFamily="34" charset="-122"/>
                <a:cs typeface="Arial" pitchFamily="34" charset="-120"/>
              </a:rPr>
              <a:t>When anything happens in Moodle, it emits an </a:t>
            </a:r>
            <a:pPr algn="l" indent="0" marL="0">
              <a:lnSpc>
                <a:spcPts val="2930"/>
              </a:lnSpc>
              <a:buNone/>
            </a:pPr>
            <a:r>
              <a:rPr lang="en-US" sz="1950" b="1" dirty="0">
                <a:solidFill>
                  <a:srgbClr val="5A6D7A"/>
                </a:solidFill>
                <a:latin typeface="Arial" pitchFamily="34" charset="0"/>
                <a:ea typeface="Arial" pitchFamily="34" charset="-122"/>
                <a:cs typeface="Arial" pitchFamily="34" charset="-120"/>
              </a:rPr>
              <a:t>event</a:t>
            </a:r>
            <a:pPr algn="l" indent="0" marL="0">
              <a:lnSpc>
                <a:spcPts val="2930"/>
              </a:lnSpc>
              <a:buNone/>
            </a:pPr>
            <a:r>
              <a:rPr lang="en-US" sz="1950" dirty="0">
                <a:solidFill>
                  <a:srgbClr val="5A6D7A"/>
                </a:solidFill>
                <a:latin typeface="Arial" pitchFamily="34" charset="0"/>
                <a:ea typeface="Arial" pitchFamily="34" charset="-122"/>
                <a:cs typeface="Arial" pitchFamily="34" charset="-120"/>
              </a:rPr>
              <a:t>. Shipped to OpenSearch, each event becomes one document.</a:t>
            </a:r>
            <a:endParaRPr lang="en-US" sz="1950" dirty="0"/>
          </a:p>
        </p:txBody>
      </p:sp>
      <p:sp>
        <p:nvSpPr>
          <p:cNvPr id="7" name="Text 5"/>
          <p:cNvSpPr txBox="1"/>
          <p:nvPr/>
        </p:nvSpPr>
        <p:spPr>
          <a:xfrm>
            <a:off x="857250" y="2672804"/>
            <a:ext cx="10534650" cy="828675"/>
          </a:xfrm>
          <a:prstGeom prst="rect">
            <a:avLst/>
          </a:prstGeom>
          <a:noFill/>
          <a:ln/>
        </p:spPr>
        <p:txBody>
          <a:bodyPr wrap="square" lIns="0" tIns="0" rIns="0" bIns="0" rtlCol="0" anchor="t"/>
          <a:lstStyle/>
          <a:p>
            <a:pPr algn="l" indent="0" marL="0">
              <a:lnSpc>
                <a:spcPts val="1630"/>
              </a:lnSpc>
              <a:buNone/>
            </a:pPr>
            <a:r>
              <a:rPr lang="en-US" sz="1130" dirty="0">
                <a:solidFill>
                  <a:srgbClr val="E4EDF2"/>
                </a:solidFill>
                <a:latin typeface="Courier New" pitchFamily="34" charset="0"/>
                <a:ea typeface="Courier New" pitchFamily="34" charset="-122"/>
                <a:cs typeface="Courier New" pitchFamily="34" charset="-120"/>
              </a:rPr>
              <a:t>body     </a:t>
            </a:r>
            <a:pPr algn="l" indent="0" marL="0">
              <a:lnSpc>
                <a:spcPts val="1630"/>
              </a:lnSpc>
              <a:buNone/>
            </a:pPr>
            <a:r>
              <a:rPr lang="en-US" sz="1130" dirty="0">
                <a:solidFill>
                  <a:srgbClr val="F0C070"/>
                </a:solidFill>
                <a:latin typeface="Courier New" pitchFamily="34" charset="0"/>
                <a:ea typeface="Courier New" pitchFamily="34" charset="-122"/>
                <a:cs typeface="Courier New" pitchFamily="34" charset="-120"/>
              </a:rPr>
              <a:t>"The user with id '2' viewed the 'assign' activity</a:t>
            </a:r>
            <a:endParaRPr lang="en-US" sz="1130" dirty="0"/>
          </a:p>
          <a:p>
            <a:pPr algn="l" indent="0" marL="0">
              <a:lnSpc>
                <a:spcPts val="1630"/>
              </a:lnSpc>
              <a:buNone/>
            </a:pPr>
            <a:r>
              <a:rPr lang="en-US" sz="1130" dirty="0">
                <a:solidFill>
                  <a:srgbClr val="F0C070"/>
                </a:solidFill>
                <a:latin typeface="Courier New" pitchFamily="34" charset="0"/>
                <a:ea typeface="Courier New" pitchFamily="34" charset="-122"/>
                <a:cs typeface="Courier New" pitchFamily="34" charset="-120"/>
              </a:rPr>
              <a:t>          with course module id '2'."</a:t>
            </a:r>
            <a:pPr algn="l" indent="0" marL="0">
              <a:lnSpc>
                <a:spcPts val="1630"/>
              </a:lnSpc>
              <a:buNone/>
            </a:pPr>
            <a:r>
              <a:rPr lang="en-US" sz="1130" dirty="0">
                <a:solidFill>
                  <a:srgbClr val="E4EDF2"/>
                </a:solidFill>
                <a:latin typeface="Courier New" pitchFamily="34" charset="0"/>
                <a:ea typeface="Courier New" pitchFamily="34" charset="-122"/>
                <a:cs typeface="Courier New" pitchFamily="34" charset="-120"/>
              </a:rPr>
              <a:t> </a:t>
            </a:r>
            <a:endParaRPr lang="en-US" sz="1130" dirty="0"/>
          </a:p>
          <a:p>
            <a:pPr algn="l" indent="0" marL="0">
              <a:lnSpc>
                <a:spcPts val="1630"/>
              </a:lnSpc>
              <a:buNone/>
            </a:pPr>
            <a:r>
              <a:rPr lang="en-US" sz="1130" dirty="0">
                <a:solidFill>
                  <a:srgbClr val="E4EDF2"/>
                </a:solidFill>
                <a:latin typeface="Courier New" pitchFamily="34" charset="0"/>
                <a:ea typeface="Courier New" pitchFamily="34" charset="-122"/>
                <a:cs typeface="Courier New" pitchFamily="34" charset="-120"/>
              </a:rPr>
              <a:t>time     </a:t>
            </a:r>
            <a:pPr algn="l" indent="0" marL="0">
              <a:lnSpc>
                <a:spcPts val="1630"/>
              </a:lnSpc>
              <a:buNone/>
            </a:pPr>
            <a:r>
              <a:rPr lang="en-US" sz="1130" dirty="0">
                <a:solidFill>
                  <a:srgbClr val="6FC7EE"/>
                </a:solidFill>
                <a:latin typeface="Courier New" pitchFamily="34" charset="0"/>
                <a:ea typeface="Courier New" pitchFamily="34" charset="-122"/>
                <a:cs typeface="Courier New" pitchFamily="34" charset="-120"/>
              </a:rPr>
              <a:t>2026-08-23T21:30:58Z</a:t>
            </a:r>
            <a:pPr algn="l" indent="0" marL="0">
              <a:lnSpc>
                <a:spcPts val="1630"/>
              </a:lnSpc>
              <a:buNone/>
            </a:pPr>
            <a:r>
              <a:rPr lang="en-US" sz="1130" dirty="0">
                <a:solidFill>
                  <a:srgbClr val="E4EDF2"/>
                </a:solidFill>
                <a:latin typeface="Courier New" pitchFamily="34" charset="0"/>
                <a:ea typeface="Courier New" pitchFamily="34" charset="-122"/>
                <a:cs typeface="Courier New" pitchFamily="34" charset="-120"/>
              </a:rPr>
              <a:t> </a:t>
            </a:r>
            <a:endParaRPr lang="en-US" sz="1130" dirty="0"/>
          </a:p>
          <a:p>
            <a:pPr algn="l" indent="0" marL="0">
              <a:lnSpc>
                <a:spcPts val="1630"/>
              </a:lnSpc>
              <a:buNone/>
            </a:pPr>
            <a:r>
              <a:rPr lang="en-US" sz="1130" dirty="0">
                <a:solidFill>
                  <a:srgbClr val="E4EDF2"/>
                </a:solidFill>
                <a:latin typeface="Courier New" pitchFamily="34" charset="0"/>
                <a:ea typeface="Courier New" pitchFamily="34" charset="-122"/>
                <a:cs typeface="Courier New" pitchFamily="34" charset="-120"/>
              </a:rPr>
              <a:t>service  </a:t>
            </a:r>
            <a:pPr algn="l" indent="0" marL="0">
              <a:lnSpc>
                <a:spcPts val="1630"/>
              </a:lnSpc>
              <a:buNone/>
            </a:pPr>
            <a:r>
              <a:rPr lang="en-US" sz="1130" dirty="0">
                <a:solidFill>
                  <a:srgbClr val="6FC7EE"/>
                </a:solidFill>
                <a:latin typeface="Courier New" pitchFamily="34" charset="0"/>
                <a:ea typeface="Courier New" pitchFamily="34" charset="-122"/>
                <a:cs typeface="Courier New" pitchFamily="34" charset="-120"/>
              </a:rPr>
              <a:t>moodlelms</a:t>
            </a:r>
            <a:endParaRPr lang="en-US" sz="1130" dirty="0"/>
          </a:p>
        </p:txBody>
      </p:sp>
      <p:sp>
        <p:nvSpPr>
          <p:cNvPr id="8" name="Text 6"/>
          <p:cNvSpPr txBox="1"/>
          <p:nvPr/>
        </p:nvSpPr>
        <p:spPr>
          <a:xfrm>
            <a:off x="647700" y="6464379"/>
            <a:ext cx="725984" cy="148590"/>
          </a:xfrm>
          <a:prstGeom prst="rect">
            <a:avLst/>
          </a:prstGeom>
          <a:noFill/>
          <a:ln/>
        </p:spPr>
        <p:txBody>
          <a:bodyPr wrap="none" lIns="0" tIns="0" rIns="0" bIns="0" rtlCol="0" anchor="t"/>
          <a:lstStyle/>
          <a:p>
            <a:pPr algn="l" indent="0" marL="0">
              <a:lnSpc>
                <a:spcPts val="1170"/>
              </a:lnSpc>
              <a:buNone/>
            </a:pPr>
            <a:r>
              <a:rPr lang="en-US" sz="980" dirty="0">
                <a:solidFill>
                  <a:srgbClr val="8496A2"/>
                </a:solidFill>
                <a:latin typeface="Courier New" pitchFamily="34" charset="0"/>
                <a:ea typeface="Courier New" pitchFamily="34" charset="-122"/>
                <a:cs typeface="Courier New" pitchFamily="34" charset="-120"/>
              </a:rPr>
              <a:t>The terms</a:t>
            </a:r>
            <a:endParaRPr lang="en-US" sz="980" dirty="0"/>
          </a:p>
        </p:txBody>
      </p:sp>
      <p:sp>
        <p:nvSpPr>
          <p:cNvPr id="9" name="Text 7"/>
          <p:cNvSpPr txBox="1"/>
          <p:nvPr/>
        </p:nvSpPr>
        <p:spPr>
          <a:xfrm>
            <a:off x="11024146" y="6464379"/>
            <a:ext cx="577304" cy="148590"/>
          </a:xfrm>
          <a:prstGeom prst="rect">
            <a:avLst/>
          </a:prstGeom>
          <a:noFill/>
          <a:ln/>
        </p:spPr>
        <p:txBody>
          <a:bodyPr wrap="none" lIns="0" tIns="0" rIns="0" bIns="0" rtlCol="0" anchor="t"/>
          <a:lstStyle/>
          <a:p>
            <a:pPr algn="l" indent="0" marL="0">
              <a:lnSpc>
                <a:spcPts val="1170"/>
              </a:lnSpc>
              <a:buNone/>
            </a:pPr>
            <a:r>
              <a:rPr lang="en-US" sz="980" dirty="0">
                <a:solidFill>
                  <a:srgbClr val="8496A2"/>
                </a:solidFill>
                <a:latin typeface="Courier New" pitchFamily="34" charset="0"/>
                <a:ea typeface="Courier New" pitchFamily="34" charset="-122"/>
                <a:cs typeface="Courier New" pitchFamily="34" charset="-120"/>
              </a:rPr>
              <a:t>12 / 39</a:t>
            </a:r>
            <a:endParaRPr lang="en-US" sz="980" dirty="0"/>
          </a:p>
        </p:txBody>
      </p:sp>
      <p:pic>
        <p:nvPicPr>
          <p:cNvPr id="900" name="NetSapiensis mark" descr="NetSapiensis"/>
          <p:cNvPicPr>
            <a:picLocks noChangeAspect="1"/>
          </p:cNvPicPr>
          <p:nvPr/>
        </p:nvPicPr>
        <p:blipFill>
          <a:blip r:embed="rId3"/>
          <a:stretch>
            <a:fillRect/>
          </a:stretch>
        </p:blipFill>
        <p:spPr>
          <a:xfrm>
            <a:off x="10776204" y="6419088"/>
            <a:ext cx="178308" cy="237744"/>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37597" y="2858234"/>
            <a:ext cx="10716806" cy="2782248"/>
          </a:xfrm>
          <a:prstGeom prst="roundRect">
            <a:avLst>
              <a:gd name="adj" fmla="val 2214"/>
            </a:avLst>
          </a:prstGeom>
          <a:solidFill>
            <a:srgbClr val="0F2027"/>
          </a:solidFill>
          <a:ln/>
        </p:spPr>
      </p:sp>
      <p:sp>
        <p:nvSpPr>
          <p:cNvPr id="3" name="Shape 1"/>
          <p:cNvSpPr/>
          <p:nvPr/>
        </p:nvSpPr>
        <p:spPr>
          <a:xfrm>
            <a:off x="647700" y="6343650"/>
            <a:ext cx="10896600" cy="0"/>
          </a:xfrm>
          <a:prstGeom prst="line">
            <a:avLst/>
          </a:prstGeom>
          <a:noFill/>
          <a:ln w="8890">
            <a:solidFill>
              <a:srgbClr val="CBD7DF"/>
            </a:solidFill>
            <a:prstDash val="solid"/>
          </a:ln>
        </p:spPr>
      </p:sp>
      <p:sp>
        <p:nvSpPr>
          <p:cNvPr id="4" name="Text 2"/>
          <p:cNvSpPr txBox="1"/>
          <p:nvPr/>
        </p:nvSpPr>
        <p:spPr>
          <a:xfrm>
            <a:off x="737597" y="512077"/>
            <a:ext cx="10773956" cy="182766"/>
          </a:xfrm>
          <a:prstGeom prst="rect">
            <a:avLst/>
          </a:prstGeom>
          <a:noFill/>
          <a:ln/>
        </p:spPr>
        <p:txBody>
          <a:bodyPr wrap="none" lIns="0" tIns="0" rIns="0" bIns="0" rtlCol="0" anchor="t"/>
          <a:lstStyle/>
          <a:p>
            <a:pPr algn="l" indent="0" marL="0">
              <a:lnSpc>
                <a:spcPts val="1440"/>
              </a:lnSpc>
              <a:buNone/>
            </a:pPr>
            <a:r>
              <a:rPr lang="en-US" sz="960" spc="150" kern="0" dirty="0">
                <a:solidFill>
                  <a:srgbClr val="0B6E99"/>
                </a:solidFill>
                <a:latin typeface="Courier New" pitchFamily="34" charset="0"/>
                <a:ea typeface="Courier New" pitchFamily="34" charset="-122"/>
                <a:cs typeface="Courier New" pitchFamily="34" charset="-120"/>
              </a:rPr>
              <a:t>TERM</a:t>
            </a:r>
            <a:endParaRPr lang="en-US" sz="960" dirty="0"/>
          </a:p>
        </p:txBody>
      </p:sp>
      <p:sp>
        <p:nvSpPr>
          <p:cNvPr id="5" name="Text 3"/>
          <p:cNvSpPr txBox="1"/>
          <p:nvPr/>
        </p:nvSpPr>
        <p:spPr>
          <a:xfrm>
            <a:off x="737597" y="847223"/>
            <a:ext cx="10773956" cy="425141"/>
          </a:xfrm>
          <a:prstGeom prst="rect">
            <a:avLst/>
          </a:prstGeom>
          <a:noFill/>
          <a:ln/>
        </p:spPr>
        <p:txBody>
          <a:bodyPr wrap="none" lIns="0" tIns="0" rIns="0" bIns="0" rtlCol="0" anchor="t"/>
          <a:lstStyle/>
          <a:p>
            <a:pPr algn="l" indent="0" marL="0">
              <a:lnSpc>
                <a:spcPts val="3350"/>
              </a:lnSpc>
              <a:buNone/>
            </a:pPr>
            <a:r>
              <a:rPr lang="en-US" sz="3100" b="1" spc="-60" kern="0" dirty="0">
                <a:solidFill>
                  <a:srgbClr val="101A22"/>
                </a:solidFill>
                <a:latin typeface="Arial" pitchFamily="34" charset="0"/>
                <a:ea typeface="Arial" pitchFamily="34" charset="-122"/>
                <a:cs typeface="Arial" pitchFamily="34" charset="-120"/>
              </a:rPr>
              <a:t>Attributes: the key = value pairs on a log record</a:t>
            </a:r>
            <a:endParaRPr lang="en-US" sz="3100" dirty="0"/>
          </a:p>
        </p:txBody>
      </p:sp>
      <p:sp>
        <p:nvSpPr>
          <p:cNvPr id="6" name="Text 4"/>
          <p:cNvSpPr txBox="1"/>
          <p:nvPr/>
        </p:nvSpPr>
        <p:spPr>
          <a:xfrm>
            <a:off x="737597" y="1473060"/>
            <a:ext cx="10773956" cy="1098964"/>
          </a:xfrm>
          <a:prstGeom prst="rect">
            <a:avLst/>
          </a:prstGeom>
          <a:noFill/>
          <a:ln/>
        </p:spPr>
        <p:txBody>
          <a:bodyPr wrap="square" lIns="0" tIns="0" rIns="0" bIns="0" rtlCol="0" anchor="t"/>
          <a:lstStyle/>
          <a:p>
            <a:pPr algn="l" indent="0" marL="0">
              <a:lnSpc>
                <a:spcPts val="2880"/>
              </a:lnSpc>
              <a:buNone/>
            </a:pPr>
            <a:r>
              <a:rPr lang="en-US" sz="1920" dirty="0">
                <a:solidFill>
                  <a:srgbClr val="5A6D7A"/>
                </a:solidFill>
                <a:latin typeface="Arial" pitchFamily="34" charset="0"/>
                <a:ea typeface="Arial" pitchFamily="34" charset="-122"/>
                <a:cs typeface="Arial" pitchFamily="34" charset="-120"/>
              </a:rPr>
              <a:t>Every record carries a list of </a:t>
            </a:r>
            <a:pPr algn="l" indent="0" marL="0">
              <a:lnSpc>
                <a:spcPts val="2880"/>
              </a:lnSpc>
              <a:buNone/>
            </a:pPr>
            <a:r>
              <a:rPr lang="en-US" sz="1920" b="1" dirty="0">
                <a:solidFill>
                  <a:srgbClr val="5A6D7A"/>
                </a:solidFill>
                <a:latin typeface="Arial" pitchFamily="34" charset="0"/>
                <a:ea typeface="Arial" pitchFamily="34" charset="-122"/>
                <a:cs typeface="Arial" pitchFamily="34" charset="-120"/>
              </a:rPr>
              <a:t>key = value</a:t>
            </a:r>
            <a:pPr algn="l" indent="0" marL="0">
              <a:lnSpc>
                <a:spcPts val="2880"/>
              </a:lnSpc>
              <a:buNone/>
            </a:pPr>
            <a:r>
              <a:rPr lang="en-US" sz="1920" dirty="0">
                <a:solidFill>
                  <a:srgbClr val="5A6D7A"/>
                </a:solidFill>
                <a:latin typeface="Arial" pitchFamily="34" charset="0"/>
                <a:ea typeface="Arial" pitchFamily="34" charset="-122"/>
                <a:cs typeface="Arial" pitchFamily="34" charset="-120"/>
              </a:rPr>
              <a:t> pairs, its attributes. OpenSearch stores each one as a searchable field under the prefix </a:t>
            </a:r>
            <a:pPr algn="l" indent="0" marL="0">
              <a:lnSpc>
                <a:spcPts val="2880"/>
              </a:lnSpc>
              <a:buNone/>
            </a:pPr>
            <a:r>
              <a:rPr lang="en-US" sz="1690" dirty="0">
                <a:solidFill>
                  <a:srgbClr val="5A6D7A"/>
                </a:solidFill>
                <a:highlight>
                  <a:srgbClr val="E1F0F7"/>
                </a:highlight>
                <a:latin typeface="Courier New" pitchFamily="34" charset="0"/>
                <a:ea typeface="Courier New" pitchFamily="34" charset="-122"/>
                <a:cs typeface="Courier New" pitchFamily="34" charset="-120"/>
              </a:rPr>
              <a:t>attributes.</a:t>
            </a:r>
            <a:pPr algn="l" indent="0" marL="0">
              <a:lnSpc>
                <a:spcPts val="2880"/>
              </a:lnSpc>
              <a:buNone/>
            </a:pPr>
            <a:r>
              <a:rPr lang="en-US" sz="1920" dirty="0">
                <a:solidFill>
                  <a:srgbClr val="5A6D7A"/>
                </a:solidFill>
                <a:latin typeface="Arial" pitchFamily="34" charset="0"/>
                <a:ea typeface="Arial" pitchFamily="34" charset="-122"/>
                <a:cs typeface="Arial" pitchFamily="34" charset="-120"/>
              </a:rPr>
              <a:t> This is the same log record with seven of its seventeen attributes. The body sentence is built from the first three.</a:t>
            </a:r>
            <a:endParaRPr lang="en-US" sz="1920" dirty="0"/>
          </a:p>
        </p:txBody>
      </p:sp>
      <p:sp>
        <p:nvSpPr>
          <p:cNvPr id="7" name="Text 5"/>
          <p:cNvSpPr txBox="1"/>
          <p:nvPr/>
        </p:nvSpPr>
        <p:spPr>
          <a:xfrm>
            <a:off x="943794" y="3005852"/>
            <a:ext cx="10361562" cy="2444834"/>
          </a:xfrm>
          <a:prstGeom prst="rect">
            <a:avLst/>
          </a:prstGeom>
          <a:noFill/>
          <a:ln/>
        </p:spPr>
        <p:txBody>
          <a:bodyPr wrap="square" lIns="0" tIns="0" rIns="0" bIns="0" rtlCol="0" anchor="t"/>
          <a:lstStyle/>
          <a:p>
            <a:pPr algn="l" indent="0" marL="0">
              <a:lnSpc>
                <a:spcPts val="1610"/>
              </a:lnSpc>
              <a:buNone/>
            </a:pPr>
            <a:r>
              <a:rPr lang="en-US" sz="1110" dirty="0">
                <a:solidFill>
                  <a:srgbClr val="E4EDF2"/>
                </a:solidFill>
                <a:latin typeface="Courier New" pitchFamily="34" charset="0"/>
                <a:ea typeface="Courier New" pitchFamily="34" charset="-122"/>
                <a:cs typeface="Courier New" pitchFamily="34" charset="-120"/>
              </a:rPr>
              <a:t>body     </a:t>
            </a:r>
            <a:pPr algn="l" indent="0" marL="0">
              <a:lnSpc>
                <a:spcPts val="1610"/>
              </a:lnSpc>
              <a:buNone/>
            </a:pPr>
            <a:r>
              <a:rPr lang="en-US" sz="1110" dirty="0">
                <a:solidFill>
                  <a:srgbClr val="F0C070"/>
                </a:solidFill>
                <a:latin typeface="Courier New" pitchFamily="34" charset="0"/>
                <a:ea typeface="Courier New" pitchFamily="34" charset="-122"/>
                <a:cs typeface="Courier New" pitchFamily="34" charset="-120"/>
              </a:rPr>
              <a:t>"The user with id '2' viewed the 'assign' activity</a:t>
            </a:r>
            <a:endParaRPr lang="en-US" sz="1110" dirty="0"/>
          </a:p>
          <a:p>
            <a:pPr algn="l" indent="0" marL="0">
              <a:lnSpc>
                <a:spcPts val="1610"/>
              </a:lnSpc>
              <a:buNone/>
            </a:pPr>
            <a:r>
              <a:rPr lang="en-US" sz="1110" dirty="0">
                <a:solidFill>
                  <a:srgbClr val="F0C070"/>
                </a:solidFill>
                <a:latin typeface="Courier New" pitchFamily="34" charset="0"/>
                <a:ea typeface="Courier New" pitchFamily="34" charset="-122"/>
                <a:cs typeface="Courier New" pitchFamily="34" charset="-120"/>
              </a:rPr>
              <a:t>          with course module id '2'."</a:t>
            </a:r>
            <a:pPr algn="l" indent="0" marL="0">
              <a:lnSpc>
                <a:spcPts val="1610"/>
              </a:lnSpc>
              <a:buNone/>
            </a:pPr>
            <a:r>
              <a:rPr lang="en-US" sz="1110" dirty="0">
                <a:solidFill>
                  <a:srgbClr val="E4EDF2"/>
                </a:solidFill>
                <a:latin typeface="Courier New" pitchFamily="34" charset="0"/>
                <a:ea typeface="Courier New" pitchFamily="34" charset="-122"/>
                <a:cs typeface="Courier New" pitchFamily="34" charset="-120"/>
              </a:rPr>
              <a:t> </a:t>
            </a:r>
            <a:endParaRPr lang="en-US" sz="1110" dirty="0"/>
          </a:p>
          <a:p>
            <a:pPr algn="l" indent="0" marL="0">
              <a:lnSpc>
                <a:spcPts val="1610"/>
              </a:lnSpc>
              <a:buNone/>
            </a:pPr>
            <a:r>
              <a:rPr lang="en-US" sz="1110" dirty="0">
                <a:solidFill>
                  <a:srgbClr val="E4EDF2"/>
                </a:solidFill>
                <a:latin typeface="Courier New" pitchFamily="34" charset="0"/>
                <a:ea typeface="Courier New" pitchFamily="34" charset="-122"/>
                <a:cs typeface="Courier New" pitchFamily="34" charset="-120"/>
              </a:rPr>
              <a:t>time     </a:t>
            </a:r>
            <a:pPr algn="l" indent="0" marL="0">
              <a:lnSpc>
                <a:spcPts val="1610"/>
              </a:lnSpc>
              <a:buNone/>
            </a:pPr>
            <a:r>
              <a:rPr lang="en-US" sz="1110" dirty="0">
                <a:solidFill>
                  <a:srgbClr val="6FC7EE"/>
                </a:solidFill>
                <a:latin typeface="Courier New" pitchFamily="34" charset="0"/>
                <a:ea typeface="Courier New" pitchFamily="34" charset="-122"/>
                <a:cs typeface="Courier New" pitchFamily="34" charset="-120"/>
              </a:rPr>
              <a:t>2026-08-23T21:30:58Z</a:t>
            </a:r>
            <a:pPr algn="l" indent="0" marL="0">
              <a:lnSpc>
                <a:spcPts val="1610"/>
              </a:lnSpc>
              <a:buNone/>
            </a:pPr>
            <a:r>
              <a:rPr lang="en-US" sz="1110" dirty="0">
                <a:solidFill>
                  <a:srgbClr val="E4EDF2"/>
                </a:solidFill>
                <a:latin typeface="Courier New" pitchFamily="34" charset="0"/>
                <a:ea typeface="Courier New" pitchFamily="34" charset="-122"/>
                <a:cs typeface="Courier New" pitchFamily="34" charset="-120"/>
              </a:rPr>
              <a:t> </a:t>
            </a:r>
            <a:endParaRPr lang="en-US" sz="1110" dirty="0"/>
          </a:p>
          <a:p>
            <a:pPr algn="l" indent="0" marL="0">
              <a:lnSpc>
                <a:spcPts val="1610"/>
              </a:lnSpc>
              <a:buNone/>
            </a:pPr>
            <a:r>
              <a:rPr lang="en-US" sz="1110" dirty="0">
                <a:solidFill>
                  <a:srgbClr val="E4EDF2"/>
                </a:solidFill>
                <a:latin typeface="Courier New" pitchFamily="34" charset="0"/>
                <a:ea typeface="Courier New" pitchFamily="34" charset="-122"/>
                <a:cs typeface="Courier New" pitchFamily="34" charset="-120"/>
              </a:rPr>
              <a:t>service  </a:t>
            </a:r>
            <a:pPr algn="l" indent="0" marL="0">
              <a:lnSpc>
                <a:spcPts val="1610"/>
              </a:lnSpc>
              <a:buNone/>
            </a:pPr>
            <a:r>
              <a:rPr lang="en-US" sz="1110" dirty="0">
                <a:solidFill>
                  <a:srgbClr val="6FC7EE"/>
                </a:solidFill>
                <a:latin typeface="Courier New" pitchFamily="34" charset="0"/>
                <a:ea typeface="Courier New" pitchFamily="34" charset="-122"/>
                <a:cs typeface="Courier New" pitchFamily="34" charset="-120"/>
              </a:rPr>
              <a:t>moodlelms</a:t>
            </a:r>
            <a:pPr algn="l" indent="0" marL="0">
              <a:lnSpc>
                <a:spcPts val="1610"/>
              </a:lnSpc>
              <a:buNone/>
            </a:pPr>
            <a:r>
              <a:rPr lang="en-US" sz="1110" dirty="0">
                <a:solidFill>
                  <a:srgbClr val="E4EDF2"/>
                </a:solidFill>
                <a:latin typeface="Courier New" pitchFamily="34" charset="0"/>
                <a:ea typeface="Courier New" pitchFamily="34" charset="-122"/>
                <a:cs typeface="Courier New" pitchFamily="34" charset="-120"/>
              </a:rPr>
              <a:t> </a:t>
            </a:r>
            <a:endParaRPr lang="en-US" sz="1110" dirty="0"/>
          </a:p>
          <a:p>
            <a:pPr algn="l" indent="0" marL="0">
              <a:lnSpc>
                <a:spcPts val="1610"/>
              </a:lnSpc>
              <a:buNone/>
            </a:pPr>
            <a:r>
              <a:rPr lang="en-US" sz="1110" dirty="0">
                <a:solidFill>
                  <a:srgbClr val="E4EDF2"/>
                </a:solidFill>
                <a:latin typeface="Courier New" pitchFamily="34" charset="0"/>
                <a:ea typeface="Courier New" pitchFamily="34" charset="-122"/>
                <a:cs typeface="Courier New" pitchFamily="34" charset="-120"/>
              </a:rPr>
              <a:t> </a:t>
            </a:r>
            <a:endParaRPr lang="en-US" sz="1110" dirty="0"/>
          </a:p>
          <a:p>
            <a:pPr algn="l" indent="0" marL="0">
              <a:lnSpc>
                <a:spcPts val="1610"/>
              </a:lnSpc>
              <a:buNone/>
            </a:pPr>
            <a:r>
              <a:rPr lang="en-US" sz="1110" dirty="0">
                <a:solidFill>
                  <a:srgbClr val="E4EDF2"/>
                </a:solidFill>
                <a:latin typeface="Courier New" pitchFamily="34" charset="0"/>
                <a:ea typeface="Courier New" pitchFamily="34" charset="-122"/>
                <a:cs typeface="Courier New" pitchFamily="34" charset="-120"/>
              </a:rPr>
              <a:t>attributes.event.data.userid              </a:t>
            </a:r>
            <a:pPr algn="l" indent="0" marL="0">
              <a:lnSpc>
                <a:spcPts val="1610"/>
              </a:lnSpc>
              <a:buNone/>
            </a:pPr>
            <a:r>
              <a:rPr lang="en-US" sz="1110" dirty="0">
                <a:solidFill>
                  <a:srgbClr val="6FC7EE"/>
                </a:solidFill>
                <a:latin typeface="Courier New" pitchFamily="34" charset="0"/>
                <a:ea typeface="Courier New" pitchFamily="34" charset="-122"/>
                <a:cs typeface="Courier New" pitchFamily="34" charset="-120"/>
              </a:rPr>
              <a:t>2</a:t>
            </a:r>
            <a:pPr algn="l" indent="0" marL="0">
              <a:lnSpc>
                <a:spcPts val="1610"/>
              </a:lnSpc>
              <a:buNone/>
            </a:pPr>
            <a:r>
              <a:rPr lang="en-US" sz="1110" dirty="0">
                <a:solidFill>
                  <a:srgbClr val="E4EDF2"/>
                </a:solidFill>
                <a:latin typeface="Courier New" pitchFamily="34" charset="0"/>
                <a:ea typeface="Courier New" pitchFamily="34" charset="-122"/>
                <a:cs typeface="Courier New" pitchFamily="34" charset="-120"/>
              </a:rPr>
              <a:t>        </a:t>
            </a:r>
            <a:pPr algn="l" indent="0" marL="0">
              <a:lnSpc>
                <a:spcPts val="1610"/>
              </a:lnSpc>
              <a:buNone/>
            </a:pPr>
            <a:r>
              <a:rPr lang="en-US" sz="1110" dirty="0">
                <a:solidFill>
                  <a:srgbClr val="86A5B4"/>
                </a:solidFill>
                <a:latin typeface="Courier New" pitchFamily="34" charset="0"/>
                <a:ea typeface="Courier New" pitchFamily="34" charset="-122"/>
                <a:cs typeface="Courier New" pitchFamily="34" charset="-120"/>
              </a:rPr>
              <a:t># the user with id '2'</a:t>
            </a:r>
            <a:pPr algn="l" indent="0" marL="0">
              <a:lnSpc>
                <a:spcPts val="1610"/>
              </a:lnSpc>
              <a:buNone/>
            </a:pPr>
            <a:r>
              <a:rPr lang="en-US" sz="1110" dirty="0">
                <a:solidFill>
                  <a:srgbClr val="E4EDF2"/>
                </a:solidFill>
                <a:latin typeface="Courier New" pitchFamily="34" charset="0"/>
                <a:ea typeface="Courier New" pitchFamily="34" charset="-122"/>
                <a:cs typeface="Courier New" pitchFamily="34" charset="-120"/>
              </a:rPr>
              <a:t> </a:t>
            </a:r>
            <a:endParaRPr lang="en-US" sz="1110" dirty="0"/>
          </a:p>
          <a:p>
            <a:pPr algn="l" indent="0" marL="0">
              <a:lnSpc>
                <a:spcPts val="1610"/>
              </a:lnSpc>
              <a:buNone/>
            </a:pPr>
            <a:r>
              <a:rPr lang="en-US" sz="1110" dirty="0">
                <a:solidFill>
                  <a:srgbClr val="E4EDF2"/>
                </a:solidFill>
                <a:latin typeface="Courier New" pitchFamily="34" charset="0"/>
                <a:ea typeface="Courier New" pitchFamily="34" charset="-122"/>
                <a:cs typeface="Courier New" pitchFamily="34" charset="-120"/>
              </a:rPr>
              <a:t>attributes.event.data.objecttable         </a:t>
            </a:r>
            <a:pPr algn="l" indent="0" marL="0">
              <a:lnSpc>
                <a:spcPts val="1610"/>
              </a:lnSpc>
              <a:buNone/>
            </a:pPr>
            <a:r>
              <a:rPr lang="en-US" sz="1110" dirty="0">
                <a:solidFill>
                  <a:srgbClr val="F0C070"/>
                </a:solidFill>
                <a:latin typeface="Courier New" pitchFamily="34" charset="0"/>
                <a:ea typeface="Courier New" pitchFamily="34" charset="-122"/>
                <a:cs typeface="Courier New" pitchFamily="34" charset="-120"/>
              </a:rPr>
              <a:t>assign</a:t>
            </a:r>
            <a:pPr algn="l" indent="0" marL="0">
              <a:lnSpc>
                <a:spcPts val="1610"/>
              </a:lnSpc>
              <a:buNone/>
            </a:pPr>
            <a:r>
              <a:rPr lang="en-US" sz="1110" dirty="0">
                <a:solidFill>
                  <a:srgbClr val="E4EDF2"/>
                </a:solidFill>
                <a:latin typeface="Courier New" pitchFamily="34" charset="0"/>
                <a:ea typeface="Courier New" pitchFamily="34" charset="-122"/>
                <a:cs typeface="Courier New" pitchFamily="34" charset="-120"/>
              </a:rPr>
              <a:t>   </a:t>
            </a:r>
            <a:pPr algn="l" indent="0" marL="0">
              <a:lnSpc>
                <a:spcPts val="1610"/>
              </a:lnSpc>
              <a:buNone/>
            </a:pPr>
            <a:r>
              <a:rPr lang="en-US" sz="1110" dirty="0">
                <a:solidFill>
                  <a:srgbClr val="86A5B4"/>
                </a:solidFill>
                <a:latin typeface="Courier New" pitchFamily="34" charset="0"/>
                <a:ea typeface="Courier New" pitchFamily="34" charset="-122"/>
                <a:cs typeface="Courier New" pitchFamily="34" charset="-120"/>
              </a:rPr>
              <a:t># the 'assign' activity</a:t>
            </a:r>
            <a:pPr algn="l" indent="0" marL="0">
              <a:lnSpc>
                <a:spcPts val="1610"/>
              </a:lnSpc>
              <a:buNone/>
            </a:pPr>
            <a:r>
              <a:rPr lang="en-US" sz="1110" dirty="0">
                <a:solidFill>
                  <a:srgbClr val="E4EDF2"/>
                </a:solidFill>
                <a:latin typeface="Courier New" pitchFamily="34" charset="0"/>
                <a:ea typeface="Courier New" pitchFamily="34" charset="-122"/>
                <a:cs typeface="Courier New" pitchFamily="34" charset="-120"/>
              </a:rPr>
              <a:t> </a:t>
            </a:r>
            <a:endParaRPr lang="en-US" sz="1110" dirty="0"/>
          </a:p>
          <a:p>
            <a:pPr algn="l" indent="0" marL="0">
              <a:lnSpc>
                <a:spcPts val="1610"/>
              </a:lnSpc>
              <a:buNone/>
            </a:pPr>
            <a:r>
              <a:rPr lang="en-US" sz="1110" dirty="0">
                <a:solidFill>
                  <a:srgbClr val="E4EDF2"/>
                </a:solidFill>
                <a:latin typeface="Courier New" pitchFamily="34" charset="0"/>
                <a:ea typeface="Courier New" pitchFamily="34" charset="-122"/>
                <a:cs typeface="Courier New" pitchFamily="34" charset="-120"/>
              </a:rPr>
              <a:t>attributes.event.data.contextinstanceid   </a:t>
            </a:r>
            <a:pPr algn="l" indent="0" marL="0">
              <a:lnSpc>
                <a:spcPts val="1610"/>
              </a:lnSpc>
              <a:buNone/>
            </a:pPr>
            <a:r>
              <a:rPr lang="en-US" sz="1110" dirty="0">
                <a:solidFill>
                  <a:srgbClr val="6FC7EE"/>
                </a:solidFill>
                <a:latin typeface="Courier New" pitchFamily="34" charset="0"/>
                <a:ea typeface="Courier New" pitchFamily="34" charset="-122"/>
                <a:cs typeface="Courier New" pitchFamily="34" charset="-120"/>
              </a:rPr>
              <a:t>2</a:t>
            </a:r>
            <a:pPr algn="l" indent="0" marL="0">
              <a:lnSpc>
                <a:spcPts val="1610"/>
              </a:lnSpc>
              <a:buNone/>
            </a:pPr>
            <a:r>
              <a:rPr lang="en-US" sz="1110" dirty="0">
                <a:solidFill>
                  <a:srgbClr val="E4EDF2"/>
                </a:solidFill>
                <a:latin typeface="Courier New" pitchFamily="34" charset="0"/>
                <a:ea typeface="Courier New" pitchFamily="34" charset="-122"/>
                <a:cs typeface="Courier New" pitchFamily="34" charset="-120"/>
              </a:rPr>
              <a:t>        </a:t>
            </a:r>
            <a:pPr algn="l" indent="0" marL="0">
              <a:lnSpc>
                <a:spcPts val="1610"/>
              </a:lnSpc>
              <a:buNone/>
            </a:pPr>
            <a:r>
              <a:rPr lang="en-US" sz="1110" dirty="0">
                <a:solidFill>
                  <a:srgbClr val="86A5B4"/>
                </a:solidFill>
                <a:latin typeface="Courier New" pitchFamily="34" charset="0"/>
                <a:ea typeface="Courier New" pitchFamily="34" charset="-122"/>
                <a:cs typeface="Courier New" pitchFamily="34" charset="-120"/>
              </a:rPr>
              <a:t># course module id '2'</a:t>
            </a:r>
            <a:pPr algn="l" indent="0" marL="0">
              <a:lnSpc>
                <a:spcPts val="1610"/>
              </a:lnSpc>
              <a:buNone/>
            </a:pPr>
            <a:r>
              <a:rPr lang="en-US" sz="1110" dirty="0">
                <a:solidFill>
                  <a:srgbClr val="E4EDF2"/>
                </a:solidFill>
                <a:latin typeface="Courier New" pitchFamily="34" charset="0"/>
                <a:ea typeface="Courier New" pitchFamily="34" charset="-122"/>
                <a:cs typeface="Courier New" pitchFamily="34" charset="-120"/>
              </a:rPr>
              <a:t> </a:t>
            </a:r>
            <a:endParaRPr lang="en-US" sz="1110" dirty="0"/>
          </a:p>
          <a:p>
            <a:pPr algn="l" indent="0" marL="0">
              <a:lnSpc>
                <a:spcPts val="1610"/>
              </a:lnSpc>
              <a:buNone/>
            </a:pPr>
            <a:r>
              <a:rPr lang="en-US" sz="1110" dirty="0">
                <a:solidFill>
                  <a:srgbClr val="E4EDF2"/>
                </a:solidFill>
                <a:latin typeface="Courier New" pitchFamily="34" charset="0"/>
                <a:ea typeface="Courier New" pitchFamily="34" charset="-122"/>
                <a:cs typeface="Courier New" pitchFamily="34" charset="-120"/>
              </a:rPr>
              <a:t>attributes.event.data.action              </a:t>
            </a:r>
            <a:pPr algn="l" indent="0" marL="0">
              <a:lnSpc>
                <a:spcPts val="1610"/>
              </a:lnSpc>
              <a:buNone/>
            </a:pPr>
            <a:r>
              <a:rPr lang="en-US" sz="1110" dirty="0">
                <a:solidFill>
                  <a:srgbClr val="F0C070"/>
                </a:solidFill>
                <a:latin typeface="Courier New" pitchFamily="34" charset="0"/>
                <a:ea typeface="Courier New" pitchFamily="34" charset="-122"/>
                <a:cs typeface="Courier New" pitchFamily="34" charset="-120"/>
              </a:rPr>
              <a:t>viewed</a:t>
            </a:r>
            <a:pPr algn="l" indent="0" marL="0">
              <a:lnSpc>
                <a:spcPts val="1610"/>
              </a:lnSpc>
              <a:buNone/>
            </a:pPr>
            <a:r>
              <a:rPr lang="en-US" sz="1110" dirty="0">
                <a:solidFill>
                  <a:srgbClr val="E4EDF2"/>
                </a:solidFill>
                <a:latin typeface="Courier New" pitchFamily="34" charset="0"/>
                <a:ea typeface="Courier New" pitchFamily="34" charset="-122"/>
                <a:cs typeface="Courier New" pitchFamily="34" charset="-120"/>
              </a:rPr>
              <a:t> </a:t>
            </a:r>
            <a:endParaRPr lang="en-US" sz="1110" dirty="0"/>
          </a:p>
          <a:p>
            <a:pPr algn="l" indent="0" marL="0">
              <a:lnSpc>
                <a:spcPts val="1610"/>
              </a:lnSpc>
              <a:buNone/>
            </a:pPr>
            <a:r>
              <a:rPr lang="en-US" sz="1110" dirty="0">
                <a:solidFill>
                  <a:srgbClr val="E4EDF2"/>
                </a:solidFill>
                <a:latin typeface="Courier New" pitchFamily="34" charset="0"/>
                <a:ea typeface="Courier New" pitchFamily="34" charset="-122"/>
                <a:cs typeface="Courier New" pitchFamily="34" charset="-120"/>
              </a:rPr>
              <a:t>attributes.event.data.eventname           </a:t>
            </a:r>
            <a:pPr algn="l" indent="0" marL="0">
              <a:lnSpc>
                <a:spcPts val="1610"/>
              </a:lnSpc>
              <a:buNone/>
            </a:pPr>
            <a:r>
              <a:rPr lang="en-US" sz="1110" dirty="0">
                <a:solidFill>
                  <a:srgbClr val="F0C070"/>
                </a:solidFill>
                <a:latin typeface="Courier New" pitchFamily="34" charset="0"/>
                <a:ea typeface="Courier New" pitchFamily="34" charset="-122"/>
                <a:cs typeface="Courier New" pitchFamily="34" charset="-120"/>
              </a:rPr>
              <a:t>\mod_assign\event\course_module_viewed</a:t>
            </a:r>
            <a:pPr algn="l" indent="0" marL="0">
              <a:lnSpc>
                <a:spcPts val="1610"/>
              </a:lnSpc>
              <a:buNone/>
            </a:pPr>
            <a:r>
              <a:rPr lang="en-US" sz="1110" dirty="0">
                <a:solidFill>
                  <a:srgbClr val="E4EDF2"/>
                </a:solidFill>
                <a:latin typeface="Courier New" pitchFamily="34" charset="0"/>
                <a:ea typeface="Courier New" pitchFamily="34" charset="-122"/>
                <a:cs typeface="Courier New" pitchFamily="34" charset="-120"/>
              </a:rPr>
              <a:t> </a:t>
            </a:r>
            <a:endParaRPr lang="en-US" sz="1110" dirty="0"/>
          </a:p>
          <a:p>
            <a:pPr algn="l" indent="0" marL="0">
              <a:lnSpc>
                <a:spcPts val="1610"/>
              </a:lnSpc>
              <a:buNone/>
            </a:pPr>
            <a:r>
              <a:rPr lang="en-US" sz="1110" dirty="0">
                <a:solidFill>
                  <a:srgbClr val="E4EDF2"/>
                </a:solidFill>
                <a:latin typeface="Courier New" pitchFamily="34" charset="0"/>
                <a:ea typeface="Courier New" pitchFamily="34" charset="-122"/>
                <a:cs typeface="Courier New" pitchFamily="34" charset="-120"/>
              </a:rPr>
              <a:t>attributes.event.data.crud                </a:t>
            </a:r>
            <a:pPr algn="l" indent="0" marL="0">
              <a:lnSpc>
                <a:spcPts val="1610"/>
              </a:lnSpc>
              <a:buNone/>
            </a:pPr>
            <a:r>
              <a:rPr lang="en-US" sz="1110" dirty="0">
                <a:solidFill>
                  <a:srgbClr val="F0C070"/>
                </a:solidFill>
                <a:latin typeface="Courier New" pitchFamily="34" charset="0"/>
                <a:ea typeface="Courier New" pitchFamily="34" charset="-122"/>
                <a:cs typeface="Courier New" pitchFamily="34" charset="-120"/>
              </a:rPr>
              <a:t>r</a:t>
            </a:r>
            <a:pPr algn="l" indent="0" marL="0">
              <a:lnSpc>
                <a:spcPts val="1610"/>
              </a:lnSpc>
              <a:buNone/>
            </a:pPr>
            <a:r>
              <a:rPr lang="en-US" sz="1110" dirty="0">
                <a:solidFill>
                  <a:srgbClr val="E4EDF2"/>
                </a:solidFill>
                <a:latin typeface="Courier New" pitchFamily="34" charset="0"/>
                <a:ea typeface="Courier New" pitchFamily="34" charset="-122"/>
                <a:cs typeface="Courier New" pitchFamily="34" charset="-120"/>
              </a:rPr>
              <a:t> </a:t>
            </a:r>
            <a:endParaRPr lang="en-US" sz="1110" dirty="0"/>
          </a:p>
          <a:p>
            <a:pPr algn="l" indent="0" marL="0">
              <a:lnSpc>
                <a:spcPts val="1610"/>
              </a:lnSpc>
              <a:buNone/>
            </a:pPr>
            <a:r>
              <a:rPr lang="en-US" sz="1110" dirty="0">
                <a:solidFill>
                  <a:srgbClr val="E4EDF2"/>
                </a:solidFill>
                <a:latin typeface="Courier New" pitchFamily="34" charset="0"/>
                <a:ea typeface="Courier New" pitchFamily="34" charset="-122"/>
                <a:cs typeface="Courier New" pitchFamily="34" charset="-120"/>
              </a:rPr>
              <a:t>attributes.event.data.courseid            </a:t>
            </a:r>
            <a:pPr algn="l" indent="0" marL="0">
              <a:lnSpc>
                <a:spcPts val="1610"/>
              </a:lnSpc>
              <a:buNone/>
            </a:pPr>
            <a:r>
              <a:rPr lang="en-US" sz="1110" dirty="0">
                <a:solidFill>
                  <a:srgbClr val="6FC7EE"/>
                </a:solidFill>
                <a:latin typeface="Courier New" pitchFamily="34" charset="0"/>
                <a:ea typeface="Courier New" pitchFamily="34" charset="-122"/>
                <a:cs typeface="Courier New" pitchFamily="34" charset="-120"/>
              </a:rPr>
              <a:t>2</a:t>
            </a:r>
            <a:endParaRPr lang="en-US" sz="1110" dirty="0"/>
          </a:p>
        </p:txBody>
      </p:sp>
      <p:sp>
        <p:nvSpPr>
          <p:cNvPr id="8" name="Text 6"/>
          <p:cNvSpPr txBox="1"/>
          <p:nvPr/>
        </p:nvSpPr>
        <p:spPr>
          <a:xfrm>
            <a:off x="647700" y="6464429"/>
            <a:ext cx="725984" cy="146213"/>
          </a:xfrm>
          <a:prstGeom prst="rect">
            <a:avLst/>
          </a:prstGeom>
          <a:noFill/>
          <a:ln/>
        </p:spPr>
        <p:txBody>
          <a:bodyPr wrap="none" lIns="0" tIns="0" rIns="0" bIns="0" rtlCol="0" anchor="t"/>
          <a:lstStyle/>
          <a:p>
            <a:pPr algn="l" indent="0" marL="0">
              <a:lnSpc>
                <a:spcPts val="1150"/>
              </a:lnSpc>
              <a:buNone/>
            </a:pPr>
            <a:r>
              <a:rPr lang="en-US" sz="960" dirty="0">
                <a:solidFill>
                  <a:srgbClr val="8496A2"/>
                </a:solidFill>
                <a:latin typeface="Courier New" pitchFamily="34" charset="0"/>
                <a:ea typeface="Courier New" pitchFamily="34" charset="-122"/>
                <a:cs typeface="Courier New" pitchFamily="34" charset="-120"/>
              </a:rPr>
              <a:t>The terms</a:t>
            </a:r>
            <a:endParaRPr lang="en-US" sz="960" dirty="0"/>
          </a:p>
        </p:txBody>
      </p:sp>
      <p:sp>
        <p:nvSpPr>
          <p:cNvPr id="9" name="Text 7"/>
          <p:cNvSpPr txBox="1"/>
          <p:nvPr/>
        </p:nvSpPr>
        <p:spPr>
          <a:xfrm>
            <a:off x="11024146" y="6464429"/>
            <a:ext cx="577304" cy="146213"/>
          </a:xfrm>
          <a:prstGeom prst="rect">
            <a:avLst/>
          </a:prstGeom>
          <a:noFill/>
          <a:ln/>
        </p:spPr>
        <p:txBody>
          <a:bodyPr wrap="none" lIns="0" tIns="0" rIns="0" bIns="0" rtlCol="0" anchor="t"/>
          <a:lstStyle/>
          <a:p>
            <a:pPr algn="l" indent="0" marL="0">
              <a:lnSpc>
                <a:spcPts val="1150"/>
              </a:lnSpc>
              <a:buNone/>
            </a:pPr>
            <a:r>
              <a:rPr lang="en-US" sz="960" dirty="0">
                <a:solidFill>
                  <a:srgbClr val="8496A2"/>
                </a:solidFill>
                <a:latin typeface="Courier New" pitchFamily="34" charset="0"/>
                <a:ea typeface="Courier New" pitchFamily="34" charset="-122"/>
                <a:cs typeface="Courier New" pitchFamily="34" charset="-120"/>
              </a:rPr>
              <a:t>13 / 39</a:t>
            </a:r>
            <a:endParaRPr lang="en-US" sz="960" dirty="0"/>
          </a:p>
        </p:txBody>
      </p:sp>
      <p:pic>
        <p:nvPicPr>
          <p:cNvPr id="900" name="NetSapiensis mark" descr="NetSapiensis"/>
          <p:cNvPicPr>
            <a:picLocks noChangeAspect="1"/>
          </p:cNvPicPr>
          <p:nvPr/>
        </p:nvPicPr>
        <p:blipFill>
          <a:blip r:embed="rId3"/>
          <a:stretch>
            <a:fillRect/>
          </a:stretch>
        </p:blipFill>
        <p:spPr>
          <a:xfrm>
            <a:off x="10776204" y="6419088"/>
            <a:ext cx="178308" cy="237744"/>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01A22"/>
        </a:solidFill>
      </p:bgPr>
    </p:bg>
    <p:spTree>
      <p:nvGrpSpPr>
        <p:cNvPr id="1" name=""/>
        <p:cNvGrpSpPr/>
        <p:nvPr/>
      </p:nvGrpSpPr>
      <p:grpSpPr>
        <a:xfrm>
          <a:off x="0" y="0"/>
          <a:ext cx="0" cy="0"/>
          <a:chOff x="0" y="0"/>
          <a:chExt cx="0" cy="0"/>
        </a:xfrm>
      </p:grpSpPr>
      <p:sp>
        <p:nvSpPr>
          <p:cNvPr id="2" name="Shape 0"/>
          <p:cNvSpPr/>
          <p:nvPr/>
        </p:nvSpPr>
        <p:spPr>
          <a:xfrm>
            <a:off x="647700" y="1233636"/>
            <a:ext cx="5567958" cy="1019175"/>
          </a:xfrm>
          <a:prstGeom prst="roundRect">
            <a:avLst>
              <a:gd name="adj" fmla="val 16770"/>
            </a:avLst>
          </a:prstGeom>
          <a:ln w="10160">
            <a:solidFill>
              <a:srgbClr val="3D5566"/>
            </a:solidFill>
            <a:prstDash val="solid"/>
          </a:ln>
        </p:spPr>
      </p:sp>
      <p:sp>
        <p:nvSpPr>
          <p:cNvPr id="3" name="Shape 1"/>
          <p:cNvSpPr/>
          <p:nvPr/>
        </p:nvSpPr>
        <p:spPr>
          <a:xfrm>
            <a:off x="647700" y="2386161"/>
            <a:ext cx="5567958" cy="1704975"/>
          </a:xfrm>
          <a:prstGeom prst="roundRect">
            <a:avLst>
              <a:gd name="adj" fmla="val 5992"/>
            </a:avLst>
          </a:prstGeom>
          <a:ln w="10160">
            <a:solidFill>
              <a:srgbClr val="3D5566"/>
            </a:solidFill>
            <a:prstDash val="solid"/>
          </a:ln>
        </p:spPr>
      </p:sp>
      <p:sp>
        <p:nvSpPr>
          <p:cNvPr id="4" name="Shape 2"/>
          <p:cNvSpPr/>
          <p:nvPr/>
        </p:nvSpPr>
        <p:spPr>
          <a:xfrm>
            <a:off x="6482358" y="1233636"/>
            <a:ext cx="5061942" cy="735806"/>
          </a:xfrm>
          <a:prstGeom prst="roundRect">
            <a:avLst>
              <a:gd name="adj" fmla="val 32174"/>
            </a:avLst>
          </a:prstGeom>
          <a:ln w="10160">
            <a:solidFill>
              <a:srgbClr val="3D5566"/>
            </a:solidFill>
            <a:prstDash val="solid"/>
          </a:ln>
        </p:spPr>
      </p:sp>
      <p:sp>
        <p:nvSpPr>
          <p:cNvPr id="5" name="Shape 3"/>
          <p:cNvSpPr/>
          <p:nvPr/>
        </p:nvSpPr>
        <p:spPr>
          <a:xfrm>
            <a:off x="6482358" y="2102793"/>
            <a:ext cx="5061942" cy="1235869"/>
          </a:xfrm>
          <a:prstGeom prst="roundRect">
            <a:avLst>
              <a:gd name="adj" fmla="val 11405"/>
            </a:avLst>
          </a:prstGeom>
          <a:ln w="10160">
            <a:solidFill>
              <a:srgbClr val="3D5566"/>
            </a:solidFill>
            <a:prstDash val="solid"/>
          </a:ln>
        </p:spPr>
      </p:sp>
      <p:sp>
        <p:nvSpPr>
          <p:cNvPr id="6" name="Shape 4"/>
          <p:cNvSpPr/>
          <p:nvPr/>
        </p:nvSpPr>
        <p:spPr>
          <a:xfrm>
            <a:off x="6482358" y="3472011"/>
            <a:ext cx="5061942" cy="735806"/>
          </a:xfrm>
          <a:prstGeom prst="roundRect">
            <a:avLst>
              <a:gd name="adj" fmla="val 32174"/>
            </a:avLst>
          </a:prstGeom>
          <a:ln w="10160">
            <a:solidFill>
              <a:srgbClr val="3D5566"/>
            </a:solidFill>
            <a:prstDash val="solid"/>
          </a:ln>
        </p:spPr>
      </p:sp>
      <p:sp>
        <p:nvSpPr>
          <p:cNvPr id="7" name="Shape 5"/>
          <p:cNvSpPr/>
          <p:nvPr/>
        </p:nvSpPr>
        <p:spPr>
          <a:xfrm>
            <a:off x="647700" y="6343650"/>
            <a:ext cx="10896600" cy="0"/>
          </a:xfrm>
          <a:prstGeom prst="line">
            <a:avLst/>
          </a:prstGeom>
          <a:noFill/>
          <a:ln w="10160">
            <a:solidFill>
              <a:srgbClr val="2A3B47"/>
            </a:solidFill>
            <a:prstDash val="solid"/>
          </a:ln>
        </p:spPr>
      </p:sp>
      <p:sp>
        <p:nvSpPr>
          <p:cNvPr id="8" name="Text 6"/>
          <p:cNvSpPr txBox="1"/>
          <p:nvPr/>
        </p:nvSpPr>
        <p:spPr>
          <a:xfrm>
            <a:off x="647700" y="533400"/>
            <a:ext cx="10953750" cy="452628"/>
          </a:xfrm>
          <a:prstGeom prst="rect">
            <a:avLst/>
          </a:prstGeom>
          <a:noFill/>
          <a:ln/>
        </p:spPr>
        <p:txBody>
          <a:bodyPr wrap="none" lIns="0" tIns="0" rIns="0" bIns="0" rtlCol="0" anchor="t"/>
          <a:lstStyle/>
          <a:p>
            <a:pPr algn="l" indent="0" marL="0">
              <a:lnSpc>
                <a:spcPts val="3560"/>
              </a:lnSpc>
              <a:buNone/>
            </a:pPr>
            <a:r>
              <a:rPr lang="en-US" sz="3300" b="1" spc="-70" kern="0" dirty="0">
                <a:solidFill>
                  <a:srgbClr val="FFFFFF"/>
                </a:solidFill>
                <a:latin typeface="Arial" pitchFamily="34" charset="0"/>
                <a:ea typeface="Arial" pitchFamily="34" charset="-122"/>
                <a:cs typeface="Arial" pitchFamily="34" charset="-120"/>
              </a:rPr>
              <a:t>We install and configure the components in nine steps</a:t>
            </a:r>
            <a:endParaRPr lang="en-US" sz="3300" dirty="0"/>
          </a:p>
        </p:txBody>
      </p:sp>
      <p:sp>
        <p:nvSpPr>
          <p:cNvPr id="9" name="Text 7"/>
          <p:cNvSpPr txBox="1"/>
          <p:nvPr/>
        </p:nvSpPr>
        <p:spPr>
          <a:xfrm>
            <a:off x="809625" y="1335792"/>
            <a:ext cx="5301258" cy="185738"/>
          </a:xfrm>
          <a:prstGeom prst="rect">
            <a:avLst/>
          </a:prstGeom>
          <a:noFill/>
          <a:ln/>
        </p:spPr>
        <p:txBody>
          <a:bodyPr wrap="none" lIns="0" tIns="0" rIns="0" bIns="0" rtlCol="0" anchor="t"/>
          <a:lstStyle/>
          <a:p>
            <a:pPr algn="l" indent="0" marL="0">
              <a:lnSpc>
                <a:spcPts val="1460"/>
              </a:lnSpc>
              <a:buNone/>
            </a:pPr>
            <a:r>
              <a:rPr lang="en-US" sz="980" spc="80" kern="0" dirty="0">
                <a:solidFill>
                  <a:srgbClr val="6FC7EE"/>
                </a:solidFill>
                <a:latin typeface="Courier New" pitchFamily="34" charset="0"/>
                <a:ea typeface="Courier New" pitchFamily="34" charset="-122"/>
                <a:cs typeface="Courier New" pitchFamily="34" charset="-120"/>
              </a:rPr>
              <a:t>COMPONENT 2 · THE PHP EXTENSION</a:t>
            </a:r>
            <a:endParaRPr lang="en-US" sz="980" dirty="0"/>
          </a:p>
        </p:txBody>
      </p:sp>
      <p:sp>
        <p:nvSpPr>
          <p:cNvPr id="10" name="Text 8"/>
          <p:cNvSpPr txBox="1"/>
          <p:nvPr/>
        </p:nvSpPr>
        <p:spPr>
          <a:xfrm>
            <a:off x="1133475" y="1606897"/>
            <a:ext cx="4977408" cy="216694"/>
          </a:xfrm>
          <a:prstGeom prst="rect">
            <a:avLst/>
          </a:prstGeom>
          <a:noFill/>
          <a:ln/>
        </p:spPr>
        <p:txBody>
          <a:bodyPr wrap="none" lIns="0" tIns="0" rIns="0" bIns="0" rtlCol="0" anchor="t"/>
          <a:lstStyle/>
          <a:p>
            <a:pPr algn="l" indent="0" marL="0">
              <a:lnSpc>
                <a:spcPts val="1710"/>
              </a:lnSpc>
              <a:buNone/>
            </a:pPr>
            <a:r>
              <a:rPr lang="en-US" sz="1310" dirty="0">
                <a:solidFill>
                  <a:srgbClr val="DCE7EE"/>
                </a:solidFill>
                <a:latin typeface="Arial" pitchFamily="34" charset="0"/>
                <a:ea typeface="Arial" pitchFamily="34" charset="-122"/>
                <a:cs typeface="Arial" pitchFamily="34" charset="-120"/>
              </a:rPr>
              <a:t>Install the C compiler, the PHP header files and pecl</a:t>
            </a:r>
            <a:endParaRPr lang="en-US" sz="1310" dirty="0"/>
          </a:p>
        </p:txBody>
      </p:sp>
      <p:sp>
        <p:nvSpPr>
          <p:cNvPr id="11" name="Text 9"/>
          <p:cNvSpPr txBox="1"/>
          <p:nvPr/>
        </p:nvSpPr>
        <p:spPr>
          <a:xfrm>
            <a:off x="1133475" y="1890266"/>
            <a:ext cx="4977408" cy="216694"/>
          </a:xfrm>
          <a:prstGeom prst="rect">
            <a:avLst/>
          </a:prstGeom>
          <a:noFill/>
          <a:ln/>
        </p:spPr>
        <p:txBody>
          <a:bodyPr wrap="none" lIns="0" tIns="0" rIns="0" bIns="0" rtlCol="0" anchor="t"/>
          <a:lstStyle/>
          <a:p>
            <a:pPr algn="l" indent="0" marL="0">
              <a:lnSpc>
                <a:spcPts val="1710"/>
              </a:lnSpc>
              <a:buNone/>
            </a:pPr>
            <a:r>
              <a:rPr lang="en-US" sz="1310" dirty="0">
                <a:solidFill>
                  <a:srgbClr val="DCE7EE"/>
                </a:solidFill>
                <a:latin typeface="Arial" pitchFamily="34" charset="0"/>
                <a:ea typeface="Arial" pitchFamily="34" charset="-122"/>
                <a:cs typeface="Arial" pitchFamily="34" charset="-120"/>
              </a:rPr>
              <a:t>Install and enable the OpenTelemetry PHP extension</a:t>
            </a:r>
            <a:endParaRPr lang="en-US" sz="1310" dirty="0"/>
          </a:p>
        </p:txBody>
      </p:sp>
      <p:sp>
        <p:nvSpPr>
          <p:cNvPr id="12" name="Text 10"/>
          <p:cNvSpPr txBox="1"/>
          <p:nvPr/>
        </p:nvSpPr>
        <p:spPr>
          <a:xfrm>
            <a:off x="809625" y="2488317"/>
            <a:ext cx="5301258" cy="371475"/>
          </a:xfrm>
          <a:prstGeom prst="rect">
            <a:avLst/>
          </a:prstGeom>
          <a:noFill/>
          <a:ln/>
        </p:spPr>
        <p:txBody>
          <a:bodyPr wrap="square" lIns="0" tIns="0" rIns="0" bIns="0" rtlCol="0" anchor="t"/>
          <a:lstStyle/>
          <a:p>
            <a:pPr algn="l" indent="0" marL="0">
              <a:lnSpc>
                <a:spcPts val="1460"/>
              </a:lnSpc>
              <a:buNone/>
            </a:pPr>
            <a:r>
              <a:rPr lang="en-US" sz="980" spc="80" kern="0" dirty="0">
                <a:solidFill>
                  <a:srgbClr val="6FC7EE"/>
                </a:solidFill>
                <a:latin typeface="Courier New" pitchFamily="34" charset="0"/>
                <a:ea typeface="Courier New" pitchFamily="34" charset="-122"/>
                <a:cs typeface="Courier New" pitchFamily="34" charset="-120"/>
              </a:rPr>
              <a:t>COMPONENTS 3 AND 4 · THE MOODLE PACKAGE, THE SDK AND THE EXPORTER</a:t>
            </a:r>
            <a:endParaRPr lang="en-US" sz="980" dirty="0"/>
          </a:p>
        </p:txBody>
      </p:sp>
      <p:sp>
        <p:nvSpPr>
          <p:cNvPr id="13" name="Text 11"/>
          <p:cNvSpPr txBox="1"/>
          <p:nvPr/>
        </p:nvSpPr>
        <p:spPr>
          <a:xfrm>
            <a:off x="1133475" y="2945160"/>
            <a:ext cx="4977408" cy="216694"/>
          </a:xfrm>
          <a:prstGeom prst="rect">
            <a:avLst/>
          </a:prstGeom>
          <a:noFill/>
          <a:ln/>
        </p:spPr>
        <p:txBody>
          <a:bodyPr wrap="none" lIns="0" tIns="0" rIns="0" bIns="0" rtlCol="0" anchor="t"/>
          <a:lstStyle/>
          <a:p>
            <a:pPr algn="l" indent="0" marL="0">
              <a:lnSpc>
                <a:spcPts val="1710"/>
              </a:lnSpc>
              <a:buNone/>
            </a:pPr>
            <a:r>
              <a:rPr lang="en-US" sz="1310" dirty="0">
                <a:solidFill>
                  <a:srgbClr val="DCE7EE"/>
                </a:solidFill>
                <a:latin typeface="Arial" pitchFamily="34" charset="0"/>
                <a:ea typeface="Arial" pitchFamily="34" charset="-122"/>
                <a:cs typeface="Arial" pitchFamily="34" charset="-120"/>
              </a:rPr>
              <a:t>Install PHP Composer and the two OpenTelemetry PHP packages</a:t>
            </a:r>
            <a:endParaRPr lang="en-US" sz="1310" dirty="0"/>
          </a:p>
        </p:txBody>
      </p:sp>
      <p:sp>
        <p:nvSpPr>
          <p:cNvPr id="14" name="Text 12"/>
          <p:cNvSpPr txBox="1"/>
          <p:nvPr/>
        </p:nvSpPr>
        <p:spPr>
          <a:xfrm>
            <a:off x="1133475" y="3228529"/>
            <a:ext cx="4977408" cy="433388"/>
          </a:xfrm>
          <a:prstGeom prst="rect">
            <a:avLst/>
          </a:prstGeom>
          <a:noFill/>
          <a:ln/>
        </p:spPr>
        <p:txBody>
          <a:bodyPr wrap="square" lIns="0" tIns="0" rIns="0" bIns="0" rtlCol="0" anchor="t"/>
          <a:lstStyle/>
          <a:p>
            <a:pPr algn="l" indent="0" marL="0">
              <a:lnSpc>
                <a:spcPts val="1710"/>
              </a:lnSpc>
              <a:buNone/>
            </a:pPr>
            <a:r>
              <a:rPr lang="en-US" sz="1310" dirty="0">
                <a:solidFill>
                  <a:srgbClr val="DCE7EE"/>
                </a:solidFill>
                <a:latin typeface="Arial" pitchFamily="34" charset="0"/>
                <a:ea typeface="Arial" pitchFamily="34" charset="-122"/>
                <a:cs typeface="Arial" pitchFamily="34" charset="-120"/>
              </a:rPr>
              <a:t>Six environment variables configure the OpenTelemetry PHP libraries</a:t>
            </a:r>
            <a:endParaRPr lang="en-US" sz="1310" dirty="0"/>
          </a:p>
        </p:txBody>
      </p:sp>
      <p:sp>
        <p:nvSpPr>
          <p:cNvPr id="15" name="Text 13"/>
          <p:cNvSpPr txBox="1"/>
          <p:nvPr/>
        </p:nvSpPr>
        <p:spPr>
          <a:xfrm>
            <a:off x="1133475" y="3728591"/>
            <a:ext cx="4977408" cy="216694"/>
          </a:xfrm>
          <a:prstGeom prst="rect">
            <a:avLst/>
          </a:prstGeom>
          <a:noFill/>
          <a:ln/>
        </p:spPr>
        <p:txBody>
          <a:bodyPr wrap="none" lIns="0" tIns="0" rIns="0" bIns="0" rtlCol="0" anchor="t"/>
          <a:lstStyle/>
          <a:p>
            <a:pPr algn="l" indent="0" marL="0">
              <a:lnSpc>
                <a:spcPts val="1710"/>
              </a:lnSpc>
              <a:buNone/>
            </a:pPr>
            <a:r>
              <a:rPr lang="en-US" sz="1310" dirty="0">
                <a:solidFill>
                  <a:srgbClr val="DCE7EE"/>
                </a:solidFill>
                <a:latin typeface="Arial" pitchFamily="34" charset="0"/>
                <a:ea typeface="Arial" pitchFamily="34" charset="-122"/>
                <a:cs typeface="Arial" pitchFamily="34" charset="-120"/>
              </a:rPr>
              <a:t>Write the six environment variables into two files</a:t>
            </a:r>
            <a:endParaRPr lang="en-US" sz="1310" dirty="0"/>
          </a:p>
        </p:txBody>
      </p:sp>
      <p:sp>
        <p:nvSpPr>
          <p:cNvPr id="16" name="Text 14"/>
          <p:cNvSpPr txBox="1"/>
          <p:nvPr/>
        </p:nvSpPr>
        <p:spPr>
          <a:xfrm>
            <a:off x="6644283" y="1335792"/>
            <a:ext cx="4795242" cy="185738"/>
          </a:xfrm>
          <a:prstGeom prst="rect">
            <a:avLst/>
          </a:prstGeom>
          <a:noFill/>
          <a:ln/>
        </p:spPr>
        <p:txBody>
          <a:bodyPr wrap="none" lIns="0" tIns="0" rIns="0" bIns="0" rtlCol="0" anchor="t"/>
          <a:lstStyle/>
          <a:p>
            <a:pPr algn="l" indent="0" marL="0">
              <a:lnSpc>
                <a:spcPts val="1460"/>
              </a:lnSpc>
              <a:buNone/>
            </a:pPr>
            <a:r>
              <a:rPr lang="en-US" sz="980" spc="80" kern="0" dirty="0">
                <a:solidFill>
                  <a:srgbClr val="6FC7EE"/>
                </a:solidFill>
                <a:latin typeface="Courier New" pitchFamily="34" charset="0"/>
                <a:ea typeface="Courier New" pitchFamily="34" charset="-122"/>
                <a:cs typeface="Courier New" pitchFamily="34" charset="-120"/>
              </a:rPr>
              <a:t>COMPONENT 6 · OPENSEARCH</a:t>
            </a:r>
            <a:endParaRPr lang="en-US" sz="980" dirty="0"/>
          </a:p>
        </p:txBody>
      </p:sp>
      <p:sp>
        <p:nvSpPr>
          <p:cNvPr id="17" name="Text 15"/>
          <p:cNvSpPr txBox="1"/>
          <p:nvPr/>
        </p:nvSpPr>
        <p:spPr>
          <a:xfrm>
            <a:off x="6968133" y="1606897"/>
            <a:ext cx="4471392" cy="216694"/>
          </a:xfrm>
          <a:prstGeom prst="rect">
            <a:avLst/>
          </a:prstGeom>
          <a:noFill/>
          <a:ln/>
        </p:spPr>
        <p:txBody>
          <a:bodyPr wrap="none" lIns="0" tIns="0" rIns="0" bIns="0" rtlCol="0" anchor="t"/>
          <a:lstStyle/>
          <a:p>
            <a:pPr algn="l" indent="0" marL="0">
              <a:lnSpc>
                <a:spcPts val="1710"/>
              </a:lnSpc>
              <a:buNone/>
            </a:pPr>
            <a:r>
              <a:rPr lang="en-US" sz="1310" dirty="0">
                <a:solidFill>
                  <a:srgbClr val="DCE7EE"/>
                </a:solidFill>
                <a:latin typeface="Arial" pitchFamily="34" charset="0"/>
                <a:ea typeface="Arial" pitchFamily="34" charset="-122"/>
                <a:cs typeface="Arial" pitchFamily="34" charset="-120"/>
              </a:rPr>
              <a:t>Configure OpenSearch</a:t>
            </a:r>
            <a:endParaRPr lang="en-US" sz="1310" dirty="0"/>
          </a:p>
        </p:txBody>
      </p:sp>
      <p:sp>
        <p:nvSpPr>
          <p:cNvPr id="18" name="Text 16"/>
          <p:cNvSpPr txBox="1"/>
          <p:nvPr/>
        </p:nvSpPr>
        <p:spPr>
          <a:xfrm>
            <a:off x="6644283" y="2204948"/>
            <a:ext cx="4795242" cy="185738"/>
          </a:xfrm>
          <a:prstGeom prst="rect">
            <a:avLst/>
          </a:prstGeom>
          <a:noFill/>
          <a:ln/>
        </p:spPr>
        <p:txBody>
          <a:bodyPr wrap="none" lIns="0" tIns="0" rIns="0" bIns="0" rtlCol="0" anchor="t"/>
          <a:lstStyle/>
          <a:p>
            <a:pPr algn="l" indent="0" marL="0">
              <a:lnSpc>
                <a:spcPts val="1460"/>
              </a:lnSpc>
              <a:buNone/>
            </a:pPr>
            <a:r>
              <a:rPr lang="en-US" sz="980" spc="80" kern="0" dirty="0">
                <a:solidFill>
                  <a:srgbClr val="6FC7EE"/>
                </a:solidFill>
                <a:latin typeface="Courier New" pitchFamily="34" charset="0"/>
                <a:ea typeface="Courier New" pitchFamily="34" charset="-122"/>
                <a:cs typeface="Courier New" pitchFamily="34" charset="-120"/>
              </a:rPr>
              <a:t>COMPONENT 5 · THE OPENTELEMETRY COLLECTOR</a:t>
            </a:r>
            <a:endParaRPr lang="en-US" sz="980" dirty="0"/>
          </a:p>
        </p:txBody>
      </p:sp>
      <p:sp>
        <p:nvSpPr>
          <p:cNvPr id="19" name="Text 17"/>
          <p:cNvSpPr txBox="1"/>
          <p:nvPr/>
        </p:nvSpPr>
        <p:spPr>
          <a:xfrm>
            <a:off x="6968133" y="2476054"/>
            <a:ext cx="4471392" cy="216694"/>
          </a:xfrm>
          <a:prstGeom prst="rect">
            <a:avLst/>
          </a:prstGeom>
          <a:noFill/>
          <a:ln/>
        </p:spPr>
        <p:txBody>
          <a:bodyPr wrap="none" lIns="0" tIns="0" rIns="0" bIns="0" rtlCol="0" anchor="t"/>
          <a:lstStyle/>
          <a:p>
            <a:pPr algn="l" indent="0" marL="0">
              <a:lnSpc>
                <a:spcPts val="1710"/>
              </a:lnSpc>
              <a:buNone/>
            </a:pPr>
            <a:r>
              <a:rPr lang="en-US" sz="1310" dirty="0">
                <a:solidFill>
                  <a:srgbClr val="DCE7EE"/>
                </a:solidFill>
                <a:latin typeface="Arial" pitchFamily="34" charset="0"/>
                <a:ea typeface="Arial" pitchFamily="34" charset="-122"/>
                <a:cs typeface="Arial" pitchFamily="34" charset="-120"/>
              </a:rPr>
              <a:t>Install the OpenTelemetry Collector</a:t>
            </a:r>
            <a:endParaRPr lang="en-US" sz="1310" dirty="0"/>
          </a:p>
        </p:txBody>
      </p:sp>
      <p:sp>
        <p:nvSpPr>
          <p:cNvPr id="20" name="Text 18"/>
          <p:cNvSpPr txBox="1"/>
          <p:nvPr/>
        </p:nvSpPr>
        <p:spPr>
          <a:xfrm>
            <a:off x="6968133" y="2759422"/>
            <a:ext cx="4471392" cy="433388"/>
          </a:xfrm>
          <a:prstGeom prst="rect">
            <a:avLst/>
          </a:prstGeom>
          <a:noFill/>
          <a:ln/>
        </p:spPr>
        <p:txBody>
          <a:bodyPr wrap="square" lIns="0" tIns="0" rIns="0" bIns="0" rtlCol="0" anchor="t"/>
          <a:lstStyle/>
          <a:p>
            <a:pPr algn="l" indent="0" marL="0">
              <a:lnSpc>
                <a:spcPts val="1710"/>
              </a:lnSpc>
              <a:buNone/>
            </a:pPr>
            <a:r>
              <a:rPr lang="en-US" sz="1310" dirty="0">
                <a:solidFill>
                  <a:srgbClr val="DCE7EE"/>
                </a:solidFill>
                <a:latin typeface="Arial" pitchFamily="34" charset="0"/>
                <a:ea typeface="Arial" pitchFamily="34" charset="-122"/>
                <a:cs typeface="Arial" pitchFamily="34" charset="-120"/>
              </a:rPr>
              <a:t>Configure the OpenTelemetry Collector to receive and send the records</a:t>
            </a:r>
            <a:endParaRPr lang="en-US" sz="1310" dirty="0"/>
          </a:p>
        </p:txBody>
      </p:sp>
      <p:sp>
        <p:nvSpPr>
          <p:cNvPr id="21" name="Text 19"/>
          <p:cNvSpPr txBox="1"/>
          <p:nvPr/>
        </p:nvSpPr>
        <p:spPr>
          <a:xfrm>
            <a:off x="6644283" y="3574167"/>
            <a:ext cx="4795242" cy="185738"/>
          </a:xfrm>
          <a:prstGeom prst="rect">
            <a:avLst/>
          </a:prstGeom>
          <a:noFill/>
          <a:ln/>
        </p:spPr>
        <p:txBody>
          <a:bodyPr wrap="none" lIns="0" tIns="0" rIns="0" bIns="0" rtlCol="0" anchor="t"/>
          <a:lstStyle/>
          <a:p>
            <a:pPr algn="l" indent="0" marL="0">
              <a:lnSpc>
                <a:spcPts val="1460"/>
              </a:lnSpc>
              <a:buNone/>
            </a:pPr>
            <a:r>
              <a:rPr lang="en-US" sz="980" spc="80" kern="0" dirty="0">
                <a:solidFill>
                  <a:srgbClr val="6FC7EE"/>
                </a:solidFill>
                <a:latin typeface="Courier New" pitchFamily="34" charset="0"/>
                <a:ea typeface="Courier New" pitchFamily="34" charset="-122"/>
                <a:cs typeface="Courier New" pitchFamily="34" charset="-120"/>
              </a:rPr>
              <a:t>THE CHECK</a:t>
            </a:r>
            <a:endParaRPr lang="en-US" sz="980" dirty="0"/>
          </a:p>
        </p:txBody>
      </p:sp>
      <p:sp>
        <p:nvSpPr>
          <p:cNvPr id="22" name="Text 20"/>
          <p:cNvSpPr txBox="1"/>
          <p:nvPr/>
        </p:nvSpPr>
        <p:spPr>
          <a:xfrm>
            <a:off x="6968133" y="3845272"/>
            <a:ext cx="4471392" cy="216694"/>
          </a:xfrm>
          <a:prstGeom prst="rect">
            <a:avLst/>
          </a:prstGeom>
          <a:noFill/>
          <a:ln/>
        </p:spPr>
        <p:txBody>
          <a:bodyPr wrap="none" lIns="0" tIns="0" rIns="0" bIns="0" rtlCol="0" anchor="t"/>
          <a:lstStyle/>
          <a:p>
            <a:pPr algn="l" indent="0" marL="0">
              <a:lnSpc>
                <a:spcPts val="1710"/>
              </a:lnSpc>
              <a:buNone/>
            </a:pPr>
            <a:r>
              <a:rPr lang="en-US" sz="1310" dirty="0">
                <a:solidFill>
                  <a:srgbClr val="DCE7EE"/>
                </a:solidFill>
                <a:latin typeface="Arial" pitchFamily="34" charset="0"/>
                <a:ea typeface="Arial" pitchFamily="34" charset="-122"/>
                <a:cs typeface="Arial" pitchFamily="34" charset="-120"/>
              </a:rPr>
              <a:t>Check with curl that the events have arrived in OpenSearch</a:t>
            </a:r>
            <a:endParaRPr lang="en-US" sz="1310" dirty="0"/>
          </a:p>
        </p:txBody>
      </p:sp>
      <p:sp>
        <p:nvSpPr>
          <p:cNvPr id="23" name="Text 21"/>
          <p:cNvSpPr txBox="1"/>
          <p:nvPr/>
        </p:nvSpPr>
        <p:spPr>
          <a:xfrm>
            <a:off x="647700" y="6464379"/>
            <a:ext cx="948928" cy="148590"/>
          </a:xfrm>
          <a:prstGeom prst="rect">
            <a:avLst/>
          </a:prstGeom>
          <a:noFill/>
          <a:ln/>
        </p:spPr>
        <p:txBody>
          <a:bodyPr wrap="none" lIns="0" tIns="0" rIns="0" bIns="0" rtlCol="0" anchor="t"/>
          <a:lstStyle/>
          <a:p>
            <a:pPr algn="l" indent="0" marL="0">
              <a:lnSpc>
                <a:spcPts val="1170"/>
              </a:lnSpc>
              <a:buNone/>
            </a:pPr>
            <a:r>
              <a:rPr lang="en-US" sz="980" dirty="0">
                <a:solidFill>
                  <a:srgbClr val="56707F"/>
                </a:solidFill>
                <a:latin typeface="Courier New" pitchFamily="34" charset="0"/>
                <a:ea typeface="Courier New" pitchFamily="34" charset="-122"/>
                <a:cs typeface="Courier New" pitchFamily="34" charset="-120"/>
              </a:rPr>
              <a:t>Walk-through</a:t>
            </a:r>
            <a:endParaRPr lang="en-US" sz="980" dirty="0"/>
          </a:p>
        </p:txBody>
      </p:sp>
      <p:sp>
        <p:nvSpPr>
          <p:cNvPr id="24" name="Text 22"/>
          <p:cNvSpPr txBox="1"/>
          <p:nvPr/>
        </p:nvSpPr>
        <p:spPr>
          <a:xfrm>
            <a:off x="11024146" y="6464379"/>
            <a:ext cx="577304" cy="148590"/>
          </a:xfrm>
          <a:prstGeom prst="rect">
            <a:avLst/>
          </a:prstGeom>
          <a:noFill/>
          <a:ln/>
        </p:spPr>
        <p:txBody>
          <a:bodyPr wrap="none" lIns="0" tIns="0" rIns="0" bIns="0" rtlCol="0" anchor="t"/>
          <a:lstStyle/>
          <a:p>
            <a:pPr algn="l" indent="0" marL="0">
              <a:lnSpc>
                <a:spcPts val="1170"/>
              </a:lnSpc>
              <a:buNone/>
            </a:pPr>
            <a:r>
              <a:rPr lang="en-US" sz="980" dirty="0">
                <a:solidFill>
                  <a:srgbClr val="56707F"/>
                </a:solidFill>
                <a:latin typeface="Courier New" pitchFamily="34" charset="0"/>
                <a:ea typeface="Courier New" pitchFamily="34" charset="-122"/>
                <a:cs typeface="Courier New" pitchFamily="34" charset="-120"/>
              </a:rPr>
              <a:t>14 / 39</a:t>
            </a:r>
            <a:endParaRPr lang="en-US" sz="980" dirty="0"/>
          </a:p>
        </p:txBody>
      </p:sp>
      <p:sp>
        <p:nvSpPr>
          <p:cNvPr id="25" name="Text 23"/>
          <p:cNvSpPr txBox="1"/>
          <p:nvPr/>
        </p:nvSpPr>
        <p:spPr>
          <a:xfrm>
            <a:off x="771525" y="1619399"/>
            <a:ext cx="285750" cy="216694"/>
          </a:xfrm>
          <a:prstGeom prst="rect">
            <a:avLst/>
          </a:prstGeom>
          <a:noFill/>
          <a:ln/>
        </p:spPr>
        <p:txBody>
          <a:bodyPr wrap="square" lIns="0" tIns="0" rIns="0" bIns="0" rtlCol="0" anchor="t"/>
          <a:lstStyle/>
          <a:p>
            <a:pPr algn="r" indent="0" marL="0">
              <a:lnSpc>
                <a:spcPts val="1710"/>
              </a:lnSpc>
              <a:buNone/>
            </a:pPr>
            <a:r>
              <a:rPr lang="en-US" sz="1050" dirty="0">
                <a:solidFill>
                  <a:srgbClr val="6FC7EE"/>
                </a:solidFill>
                <a:latin typeface="Courier New" pitchFamily="34" charset="0"/>
                <a:ea typeface="Courier New" pitchFamily="34" charset="-122"/>
                <a:cs typeface="Courier New" pitchFamily="34" charset="-120"/>
              </a:rPr>
              <a:t>1.</a:t>
            </a:r>
            <a:endParaRPr lang="en-US" sz="1050" dirty="0"/>
          </a:p>
        </p:txBody>
      </p:sp>
      <p:sp>
        <p:nvSpPr>
          <p:cNvPr id="26" name="Text 24"/>
          <p:cNvSpPr txBox="1"/>
          <p:nvPr/>
        </p:nvSpPr>
        <p:spPr>
          <a:xfrm>
            <a:off x="771525" y="1902768"/>
            <a:ext cx="285750" cy="216694"/>
          </a:xfrm>
          <a:prstGeom prst="rect">
            <a:avLst/>
          </a:prstGeom>
          <a:noFill/>
          <a:ln/>
        </p:spPr>
        <p:txBody>
          <a:bodyPr wrap="square" lIns="0" tIns="0" rIns="0" bIns="0" rtlCol="0" anchor="t"/>
          <a:lstStyle/>
          <a:p>
            <a:pPr algn="r" indent="0" marL="0">
              <a:lnSpc>
                <a:spcPts val="1710"/>
              </a:lnSpc>
              <a:buNone/>
            </a:pPr>
            <a:r>
              <a:rPr lang="en-US" sz="1050" dirty="0">
                <a:solidFill>
                  <a:srgbClr val="6FC7EE"/>
                </a:solidFill>
                <a:latin typeface="Courier New" pitchFamily="34" charset="0"/>
                <a:ea typeface="Courier New" pitchFamily="34" charset="-122"/>
                <a:cs typeface="Courier New" pitchFamily="34" charset="-120"/>
              </a:rPr>
              <a:t>2.</a:t>
            </a:r>
            <a:endParaRPr lang="en-US" sz="1050" dirty="0"/>
          </a:p>
        </p:txBody>
      </p:sp>
      <p:sp>
        <p:nvSpPr>
          <p:cNvPr id="27" name="Text 25"/>
          <p:cNvSpPr txBox="1"/>
          <p:nvPr/>
        </p:nvSpPr>
        <p:spPr>
          <a:xfrm>
            <a:off x="771525" y="2957661"/>
            <a:ext cx="285750" cy="216694"/>
          </a:xfrm>
          <a:prstGeom prst="rect">
            <a:avLst/>
          </a:prstGeom>
          <a:noFill/>
          <a:ln/>
        </p:spPr>
        <p:txBody>
          <a:bodyPr wrap="square" lIns="0" tIns="0" rIns="0" bIns="0" rtlCol="0" anchor="t"/>
          <a:lstStyle/>
          <a:p>
            <a:pPr algn="r" indent="0" marL="0">
              <a:lnSpc>
                <a:spcPts val="1710"/>
              </a:lnSpc>
              <a:buNone/>
            </a:pPr>
            <a:r>
              <a:rPr lang="en-US" sz="1050" dirty="0">
                <a:solidFill>
                  <a:srgbClr val="6FC7EE"/>
                </a:solidFill>
                <a:latin typeface="Courier New" pitchFamily="34" charset="0"/>
                <a:ea typeface="Courier New" pitchFamily="34" charset="-122"/>
                <a:cs typeface="Courier New" pitchFamily="34" charset="-120"/>
              </a:rPr>
              <a:t>3.</a:t>
            </a:r>
            <a:endParaRPr lang="en-US" sz="1050" dirty="0"/>
          </a:p>
        </p:txBody>
      </p:sp>
      <p:sp>
        <p:nvSpPr>
          <p:cNvPr id="28" name="Text 26"/>
          <p:cNvSpPr txBox="1"/>
          <p:nvPr/>
        </p:nvSpPr>
        <p:spPr>
          <a:xfrm>
            <a:off x="771525" y="3241030"/>
            <a:ext cx="285750" cy="216694"/>
          </a:xfrm>
          <a:prstGeom prst="rect">
            <a:avLst/>
          </a:prstGeom>
          <a:noFill/>
          <a:ln/>
        </p:spPr>
        <p:txBody>
          <a:bodyPr wrap="square" lIns="0" tIns="0" rIns="0" bIns="0" rtlCol="0" anchor="t"/>
          <a:lstStyle/>
          <a:p>
            <a:pPr algn="r" indent="0" marL="0">
              <a:lnSpc>
                <a:spcPts val="1710"/>
              </a:lnSpc>
              <a:buNone/>
            </a:pPr>
            <a:r>
              <a:rPr lang="en-US" sz="1050" dirty="0">
                <a:solidFill>
                  <a:srgbClr val="6FC7EE"/>
                </a:solidFill>
                <a:latin typeface="Courier New" pitchFamily="34" charset="0"/>
                <a:ea typeface="Courier New" pitchFamily="34" charset="-122"/>
                <a:cs typeface="Courier New" pitchFamily="34" charset="-120"/>
              </a:rPr>
              <a:t>4.</a:t>
            </a:r>
            <a:endParaRPr lang="en-US" sz="1050" dirty="0"/>
          </a:p>
        </p:txBody>
      </p:sp>
      <p:sp>
        <p:nvSpPr>
          <p:cNvPr id="29" name="Text 27"/>
          <p:cNvSpPr txBox="1"/>
          <p:nvPr/>
        </p:nvSpPr>
        <p:spPr>
          <a:xfrm>
            <a:off x="771525" y="3741093"/>
            <a:ext cx="285750" cy="216694"/>
          </a:xfrm>
          <a:prstGeom prst="rect">
            <a:avLst/>
          </a:prstGeom>
          <a:noFill/>
          <a:ln/>
        </p:spPr>
        <p:txBody>
          <a:bodyPr wrap="square" lIns="0" tIns="0" rIns="0" bIns="0" rtlCol="0" anchor="t"/>
          <a:lstStyle/>
          <a:p>
            <a:pPr algn="r" indent="0" marL="0">
              <a:lnSpc>
                <a:spcPts val="1710"/>
              </a:lnSpc>
              <a:buNone/>
            </a:pPr>
            <a:r>
              <a:rPr lang="en-US" sz="1050" dirty="0">
                <a:solidFill>
                  <a:srgbClr val="6FC7EE"/>
                </a:solidFill>
                <a:latin typeface="Courier New" pitchFamily="34" charset="0"/>
                <a:ea typeface="Courier New" pitchFamily="34" charset="-122"/>
                <a:cs typeface="Courier New" pitchFamily="34" charset="-120"/>
              </a:rPr>
              <a:t>5.</a:t>
            </a:r>
            <a:endParaRPr lang="en-US" sz="1050" dirty="0"/>
          </a:p>
        </p:txBody>
      </p:sp>
      <p:sp>
        <p:nvSpPr>
          <p:cNvPr id="30" name="Text 28"/>
          <p:cNvSpPr txBox="1"/>
          <p:nvPr/>
        </p:nvSpPr>
        <p:spPr>
          <a:xfrm>
            <a:off x="6606183" y="1619399"/>
            <a:ext cx="285750" cy="216694"/>
          </a:xfrm>
          <a:prstGeom prst="rect">
            <a:avLst/>
          </a:prstGeom>
          <a:noFill/>
          <a:ln/>
        </p:spPr>
        <p:txBody>
          <a:bodyPr wrap="square" lIns="0" tIns="0" rIns="0" bIns="0" rtlCol="0" anchor="t"/>
          <a:lstStyle/>
          <a:p>
            <a:pPr algn="r" indent="0" marL="0">
              <a:lnSpc>
                <a:spcPts val="1710"/>
              </a:lnSpc>
              <a:buNone/>
            </a:pPr>
            <a:r>
              <a:rPr lang="en-US" sz="1050" dirty="0">
                <a:solidFill>
                  <a:srgbClr val="6FC7EE"/>
                </a:solidFill>
                <a:latin typeface="Courier New" pitchFamily="34" charset="0"/>
                <a:ea typeface="Courier New" pitchFamily="34" charset="-122"/>
                <a:cs typeface="Courier New" pitchFamily="34" charset="-120"/>
              </a:rPr>
              <a:t>6.</a:t>
            </a:r>
            <a:endParaRPr lang="en-US" sz="1050" dirty="0"/>
          </a:p>
        </p:txBody>
      </p:sp>
      <p:sp>
        <p:nvSpPr>
          <p:cNvPr id="31" name="Text 29"/>
          <p:cNvSpPr txBox="1"/>
          <p:nvPr/>
        </p:nvSpPr>
        <p:spPr>
          <a:xfrm>
            <a:off x="6606183" y="2488555"/>
            <a:ext cx="285750" cy="216694"/>
          </a:xfrm>
          <a:prstGeom prst="rect">
            <a:avLst/>
          </a:prstGeom>
          <a:noFill/>
          <a:ln/>
        </p:spPr>
        <p:txBody>
          <a:bodyPr wrap="square" lIns="0" tIns="0" rIns="0" bIns="0" rtlCol="0" anchor="t"/>
          <a:lstStyle/>
          <a:p>
            <a:pPr algn="r" indent="0" marL="0">
              <a:lnSpc>
                <a:spcPts val="1710"/>
              </a:lnSpc>
              <a:buNone/>
            </a:pPr>
            <a:r>
              <a:rPr lang="en-US" sz="1050" dirty="0">
                <a:solidFill>
                  <a:srgbClr val="6FC7EE"/>
                </a:solidFill>
                <a:latin typeface="Courier New" pitchFamily="34" charset="0"/>
                <a:ea typeface="Courier New" pitchFamily="34" charset="-122"/>
                <a:cs typeface="Courier New" pitchFamily="34" charset="-120"/>
              </a:rPr>
              <a:t>7.</a:t>
            </a:r>
            <a:endParaRPr lang="en-US" sz="1050" dirty="0"/>
          </a:p>
        </p:txBody>
      </p:sp>
      <p:sp>
        <p:nvSpPr>
          <p:cNvPr id="32" name="Text 30"/>
          <p:cNvSpPr txBox="1"/>
          <p:nvPr/>
        </p:nvSpPr>
        <p:spPr>
          <a:xfrm>
            <a:off x="6606183" y="2771924"/>
            <a:ext cx="285750" cy="216694"/>
          </a:xfrm>
          <a:prstGeom prst="rect">
            <a:avLst/>
          </a:prstGeom>
          <a:noFill/>
          <a:ln/>
        </p:spPr>
        <p:txBody>
          <a:bodyPr wrap="square" lIns="0" tIns="0" rIns="0" bIns="0" rtlCol="0" anchor="t"/>
          <a:lstStyle/>
          <a:p>
            <a:pPr algn="r" indent="0" marL="0">
              <a:lnSpc>
                <a:spcPts val="1710"/>
              </a:lnSpc>
              <a:buNone/>
            </a:pPr>
            <a:r>
              <a:rPr lang="en-US" sz="1050" dirty="0">
                <a:solidFill>
                  <a:srgbClr val="6FC7EE"/>
                </a:solidFill>
                <a:latin typeface="Courier New" pitchFamily="34" charset="0"/>
                <a:ea typeface="Courier New" pitchFamily="34" charset="-122"/>
                <a:cs typeface="Courier New" pitchFamily="34" charset="-120"/>
              </a:rPr>
              <a:t>8.</a:t>
            </a:r>
            <a:endParaRPr lang="en-US" sz="1050" dirty="0"/>
          </a:p>
        </p:txBody>
      </p:sp>
      <p:sp>
        <p:nvSpPr>
          <p:cNvPr id="33" name="Text 31"/>
          <p:cNvSpPr txBox="1"/>
          <p:nvPr/>
        </p:nvSpPr>
        <p:spPr>
          <a:xfrm>
            <a:off x="6606183" y="3857774"/>
            <a:ext cx="285750" cy="216694"/>
          </a:xfrm>
          <a:prstGeom prst="rect">
            <a:avLst/>
          </a:prstGeom>
          <a:noFill/>
          <a:ln/>
        </p:spPr>
        <p:txBody>
          <a:bodyPr wrap="square" lIns="0" tIns="0" rIns="0" bIns="0" rtlCol="0" anchor="t"/>
          <a:lstStyle/>
          <a:p>
            <a:pPr algn="r" indent="0" marL="0">
              <a:lnSpc>
                <a:spcPts val="1710"/>
              </a:lnSpc>
              <a:buNone/>
            </a:pPr>
            <a:r>
              <a:rPr lang="en-US" sz="1050" dirty="0">
                <a:solidFill>
                  <a:srgbClr val="6FC7EE"/>
                </a:solidFill>
                <a:latin typeface="Courier New" pitchFamily="34" charset="0"/>
                <a:ea typeface="Courier New" pitchFamily="34" charset="-122"/>
                <a:cs typeface="Courier New" pitchFamily="34" charset="-120"/>
              </a:rPr>
              <a:t>9.</a:t>
            </a:r>
            <a:endParaRPr lang="en-US" sz="1050" dirty="0"/>
          </a:p>
        </p:txBody>
      </p:sp>
      <p:pic>
        <p:nvPicPr>
          <p:cNvPr id="900" name="NetSapiensis mark" descr="NetSapiensis"/>
          <p:cNvPicPr>
            <a:picLocks noChangeAspect="1"/>
          </p:cNvPicPr>
          <p:nvPr/>
        </p:nvPicPr>
        <p:blipFill>
          <a:blip r:embed="rId3"/>
          <a:stretch>
            <a:fillRect/>
          </a:stretch>
        </p:blipFill>
        <p:spPr>
          <a:xfrm>
            <a:off x="10776204" y="6419088"/>
            <a:ext cx="178308" cy="237744"/>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7700" y="2795439"/>
            <a:ext cx="5257800" cy="688479"/>
          </a:xfrm>
          <a:prstGeom prst="roundRect">
            <a:avLst>
              <a:gd name="adj" fmla="val 36749"/>
            </a:avLst>
          </a:prstGeom>
          <a:solidFill>
            <a:srgbClr val="0F2027"/>
          </a:solidFill>
          <a:ln/>
        </p:spPr>
      </p:sp>
      <p:sp>
        <p:nvSpPr>
          <p:cNvPr id="3" name="Shape 1"/>
          <p:cNvSpPr/>
          <p:nvPr/>
        </p:nvSpPr>
        <p:spPr>
          <a:xfrm>
            <a:off x="6286500" y="2795439"/>
            <a:ext cx="5257800" cy="688479"/>
          </a:xfrm>
          <a:prstGeom prst="roundRect">
            <a:avLst>
              <a:gd name="adj" fmla="val 36749"/>
            </a:avLst>
          </a:prstGeom>
          <a:solidFill>
            <a:srgbClr val="0F2027"/>
          </a:solidFill>
          <a:ln/>
        </p:spPr>
      </p:sp>
      <p:sp>
        <p:nvSpPr>
          <p:cNvPr id="4" name="Shape 2"/>
          <p:cNvSpPr/>
          <p:nvPr/>
        </p:nvSpPr>
        <p:spPr>
          <a:xfrm>
            <a:off x="647700" y="6343650"/>
            <a:ext cx="10896600" cy="0"/>
          </a:xfrm>
          <a:prstGeom prst="line">
            <a:avLst/>
          </a:prstGeom>
          <a:noFill/>
          <a:ln w="10160">
            <a:solidFill>
              <a:srgbClr val="CBD7DF"/>
            </a:solidFill>
            <a:prstDash val="solid"/>
          </a:ln>
        </p:spPr>
      </p:sp>
      <p:sp>
        <p:nvSpPr>
          <p:cNvPr id="5" name="Text 3"/>
          <p:cNvSpPr txBox="1"/>
          <p:nvPr/>
        </p:nvSpPr>
        <p:spPr>
          <a:xfrm>
            <a:off x="647700" y="511731"/>
            <a:ext cx="10953750" cy="185738"/>
          </a:xfrm>
          <a:prstGeom prst="rect">
            <a:avLst/>
          </a:prstGeom>
          <a:noFill/>
          <a:ln/>
        </p:spPr>
        <p:txBody>
          <a:bodyPr wrap="none" lIns="0" tIns="0" rIns="0" bIns="0" rtlCol="0" anchor="t"/>
          <a:lstStyle/>
          <a:p>
            <a:pPr algn="l" indent="0" marL="0">
              <a:lnSpc>
                <a:spcPts val="1460"/>
              </a:lnSpc>
              <a:buNone/>
            </a:pPr>
            <a:r>
              <a:rPr lang="en-US" sz="980" spc="160" kern="0" dirty="0">
                <a:solidFill>
                  <a:srgbClr val="0B6E99"/>
                </a:solidFill>
                <a:latin typeface="Courier New" pitchFamily="34" charset="0"/>
                <a:ea typeface="Courier New" pitchFamily="34" charset="-122"/>
                <a:cs typeface="Courier New" pitchFamily="34" charset="-120"/>
              </a:rPr>
              <a:t>STEP 1 OF 9</a:t>
            </a:r>
            <a:endParaRPr lang="en-US" sz="980" dirty="0"/>
          </a:p>
        </p:txBody>
      </p:sp>
      <p:sp>
        <p:nvSpPr>
          <p:cNvPr id="6" name="Text 4"/>
          <p:cNvSpPr txBox="1"/>
          <p:nvPr/>
        </p:nvSpPr>
        <p:spPr>
          <a:xfrm>
            <a:off x="647700" y="852488"/>
            <a:ext cx="10953750" cy="432054"/>
          </a:xfrm>
          <a:prstGeom prst="rect">
            <a:avLst/>
          </a:prstGeom>
          <a:noFill/>
          <a:ln/>
        </p:spPr>
        <p:txBody>
          <a:bodyPr wrap="none" lIns="0" tIns="0" rIns="0" bIns="0" rtlCol="0" anchor="t"/>
          <a:lstStyle/>
          <a:p>
            <a:pPr algn="l" indent="0" marL="0">
              <a:lnSpc>
                <a:spcPts val="3400"/>
              </a:lnSpc>
              <a:buNone/>
            </a:pPr>
            <a:r>
              <a:rPr lang="en-US" sz="3150" b="1" spc="-60" kern="0" dirty="0">
                <a:solidFill>
                  <a:srgbClr val="101A22"/>
                </a:solidFill>
                <a:latin typeface="Arial" pitchFamily="34" charset="0"/>
                <a:ea typeface="Arial" pitchFamily="34" charset="-122"/>
                <a:cs typeface="Arial" pitchFamily="34" charset="-120"/>
              </a:rPr>
              <a:t>Install the C compiler, the PHP header files and pecl</a:t>
            </a:r>
            <a:endParaRPr lang="en-US" sz="3150" dirty="0"/>
          </a:p>
        </p:txBody>
      </p:sp>
      <p:sp>
        <p:nvSpPr>
          <p:cNvPr id="7" name="Text 5"/>
          <p:cNvSpPr txBox="1"/>
          <p:nvPr/>
        </p:nvSpPr>
        <p:spPr>
          <a:xfrm>
            <a:off x="647700" y="1488847"/>
            <a:ext cx="10953750" cy="748903"/>
          </a:xfrm>
          <a:prstGeom prst="rect">
            <a:avLst/>
          </a:prstGeom>
          <a:noFill/>
          <a:ln/>
        </p:spPr>
        <p:txBody>
          <a:bodyPr wrap="square" lIns="0" tIns="0" rIns="0" bIns="0" rtlCol="0" anchor="t"/>
          <a:lstStyle/>
          <a:p>
            <a:pPr algn="l" indent="0" marL="0">
              <a:lnSpc>
                <a:spcPts val="2930"/>
              </a:lnSpc>
              <a:buNone/>
            </a:pPr>
            <a:r>
              <a:rPr lang="en-US" sz="1950" dirty="0">
                <a:solidFill>
                  <a:srgbClr val="5A6D7A"/>
                </a:solidFill>
                <a:latin typeface="Arial" pitchFamily="34" charset="0"/>
                <a:ea typeface="Arial" pitchFamily="34" charset="-122"/>
                <a:cs typeface="Arial" pitchFamily="34" charset="-120"/>
              </a:rPr>
              <a:t>To install the OpenTelemetry PHP extension, the server needs the PHP header files, the </a:t>
            </a:r>
            <a:pPr algn="l" indent="0" marL="0">
              <a:lnSpc>
                <a:spcPts val="2930"/>
              </a:lnSpc>
              <a:buNone/>
            </a:pPr>
            <a:r>
              <a:rPr lang="en-US" sz="1720" dirty="0">
                <a:solidFill>
                  <a:srgbClr val="5A6D7A"/>
                </a:solidFill>
                <a:highlight>
                  <a:srgbClr val="E1F0F7"/>
                </a:highlight>
                <a:latin typeface="Courier New" pitchFamily="34" charset="0"/>
                <a:ea typeface="Courier New" pitchFamily="34" charset="-122"/>
                <a:cs typeface="Courier New" pitchFamily="34" charset="-120"/>
              </a:rPr>
              <a:t>pecl</a:t>
            </a:r>
            <a:pPr algn="l" indent="0" marL="0">
              <a:lnSpc>
                <a:spcPts val="2930"/>
              </a:lnSpc>
              <a:buNone/>
            </a:pPr>
            <a:r>
              <a:rPr lang="en-US" sz="1950" dirty="0">
                <a:solidFill>
                  <a:srgbClr val="5A6D7A"/>
                </a:solidFill>
                <a:latin typeface="Arial" pitchFamily="34" charset="0"/>
                <a:ea typeface="Arial" pitchFamily="34" charset="-122"/>
                <a:cs typeface="Arial" pitchFamily="34" charset="-120"/>
              </a:rPr>
              <a:t> command and a C compiler. The package </a:t>
            </a:r>
            <a:pPr algn="l" indent="0" marL="0">
              <a:lnSpc>
                <a:spcPts val="2930"/>
              </a:lnSpc>
              <a:buNone/>
            </a:pPr>
            <a:r>
              <a:rPr lang="en-US" sz="1720" dirty="0">
                <a:solidFill>
                  <a:srgbClr val="5A6D7A"/>
                </a:solidFill>
                <a:highlight>
                  <a:srgbClr val="E1F0F7"/>
                </a:highlight>
                <a:latin typeface="Courier New" pitchFamily="34" charset="0"/>
                <a:ea typeface="Courier New" pitchFamily="34" charset="-122"/>
                <a:cs typeface="Courier New" pitchFamily="34" charset="-120"/>
              </a:rPr>
              <a:t>php-pear</a:t>
            </a:r>
            <a:pPr algn="l" indent="0" marL="0">
              <a:lnSpc>
                <a:spcPts val="2930"/>
              </a:lnSpc>
              <a:buNone/>
            </a:pPr>
            <a:r>
              <a:rPr lang="en-US" sz="1950" dirty="0">
                <a:solidFill>
                  <a:srgbClr val="5A6D7A"/>
                </a:solidFill>
                <a:latin typeface="Arial" pitchFamily="34" charset="0"/>
                <a:ea typeface="Arial" pitchFamily="34" charset="-122"/>
                <a:cs typeface="Arial" pitchFamily="34" charset="-120"/>
              </a:rPr>
              <a:t> provides the </a:t>
            </a:r>
            <a:pPr algn="l" indent="0" marL="0">
              <a:lnSpc>
                <a:spcPts val="2930"/>
              </a:lnSpc>
              <a:buNone/>
            </a:pPr>
            <a:r>
              <a:rPr lang="en-US" sz="1720" dirty="0">
                <a:solidFill>
                  <a:srgbClr val="5A6D7A"/>
                </a:solidFill>
                <a:highlight>
                  <a:srgbClr val="E1F0F7"/>
                </a:highlight>
                <a:latin typeface="Courier New" pitchFamily="34" charset="0"/>
                <a:ea typeface="Courier New" pitchFamily="34" charset="-122"/>
                <a:cs typeface="Courier New" pitchFamily="34" charset="-120"/>
              </a:rPr>
              <a:t>pecl</a:t>
            </a:r>
            <a:pPr algn="l" indent="0" marL="0">
              <a:lnSpc>
                <a:spcPts val="2930"/>
              </a:lnSpc>
              <a:buNone/>
            </a:pPr>
            <a:r>
              <a:rPr lang="en-US" sz="1950" dirty="0">
                <a:solidFill>
                  <a:srgbClr val="5A6D7A"/>
                </a:solidFill>
                <a:latin typeface="Arial" pitchFamily="34" charset="0"/>
                <a:ea typeface="Arial" pitchFamily="34" charset="-122"/>
                <a:cs typeface="Arial" pitchFamily="34" charset="-120"/>
              </a:rPr>
              <a:t> command.</a:t>
            </a:r>
            <a:endParaRPr lang="en-US" sz="1950" dirty="0"/>
          </a:p>
        </p:txBody>
      </p:sp>
      <p:sp>
        <p:nvSpPr>
          <p:cNvPr id="8" name="Text 6"/>
          <p:cNvSpPr txBox="1"/>
          <p:nvPr/>
        </p:nvSpPr>
        <p:spPr>
          <a:xfrm>
            <a:off x="647700" y="2524929"/>
            <a:ext cx="5314950" cy="182880"/>
          </a:xfrm>
          <a:prstGeom prst="rect">
            <a:avLst/>
          </a:prstGeom>
          <a:noFill/>
          <a:ln/>
        </p:spPr>
        <p:txBody>
          <a:bodyPr wrap="none" lIns="0" tIns="0" rIns="0" bIns="0" rtlCol="0" anchor="t"/>
          <a:lstStyle/>
          <a:p>
            <a:pPr algn="l" indent="0" marL="0">
              <a:lnSpc>
                <a:spcPts val="1440"/>
              </a:lnSpc>
              <a:buNone/>
            </a:pPr>
            <a:r>
              <a:rPr lang="en-US" sz="1200" b="1" dirty="0">
                <a:solidFill>
                  <a:srgbClr val="0B6E99"/>
                </a:solidFill>
                <a:latin typeface="Courier New" pitchFamily="34" charset="0"/>
                <a:ea typeface="Courier New" pitchFamily="34" charset="-122"/>
                <a:cs typeface="Courier New" pitchFamily="34" charset="-120"/>
              </a:rPr>
              <a:t>Ubuntu 24.04 LTS</a:t>
            </a:r>
            <a:endParaRPr lang="en-US" sz="1200" dirty="0"/>
          </a:p>
        </p:txBody>
      </p:sp>
      <p:sp>
        <p:nvSpPr>
          <p:cNvPr id="9" name="Text 7"/>
          <p:cNvSpPr txBox="1"/>
          <p:nvPr/>
        </p:nvSpPr>
        <p:spPr>
          <a:xfrm>
            <a:off x="819150" y="2923074"/>
            <a:ext cx="4972050" cy="383679"/>
          </a:xfrm>
          <a:prstGeom prst="rect">
            <a:avLst/>
          </a:prstGeom>
          <a:noFill/>
          <a:ln/>
        </p:spPr>
        <p:txBody>
          <a:bodyPr wrap="square" lIns="0" tIns="0" rIns="0" bIns="0" rtlCol="0" anchor="t"/>
          <a:lstStyle/>
          <a:p>
            <a:pPr algn="l" indent="0" marL="0">
              <a:lnSpc>
                <a:spcPts val="1510"/>
              </a:lnSpc>
              <a:buNone/>
            </a:pPr>
            <a:r>
              <a:rPr lang="en-US" sz="980" dirty="0">
                <a:solidFill>
                  <a:srgbClr val="E4EDF2"/>
                </a:solidFill>
                <a:latin typeface="Courier New" pitchFamily="34" charset="0"/>
                <a:ea typeface="Courier New" pitchFamily="34" charset="-122"/>
                <a:cs typeface="Courier New" pitchFamily="34" charset="-120"/>
              </a:rPr>
              <a:t>apt install php8.3-dev php-pear \</a:t>
            </a:r>
            <a:endParaRPr lang="en-US" sz="980" dirty="0"/>
          </a:p>
          <a:p>
            <a:pPr algn="l" indent="0" marL="0">
              <a:lnSpc>
                <a:spcPts val="1510"/>
              </a:lnSpc>
              <a:buNone/>
            </a:pPr>
            <a:r>
              <a:rPr lang="en-US" sz="980" dirty="0">
                <a:solidFill>
                  <a:srgbClr val="E4EDF2"/>
                </a:solidFill>
                <a:latin typeface="Courier New" pitchFamily="34" charset="0"/>
                <a:ea typeface="Courier New" pitchFamily="34" charset="-122"/>
                <a:cs typeface="Courier New" pitchFamily="34" charset="-120"/>
              </a:rPr>
              <a:t>            gcc make autoconf</a:t>
            </a:r>
            <a:endParaRPr lang="en-US" sz="980" dirty="0"/>
          </a:p>
        </p:txBody>
      </p:sp>
      <p:sp>
        <p:nvSpPr>
          <p:cNvPr id="10" name="Text 8"/>
          <p:cNvSpPr txBox="1"/>
          <p:nvPr/>
        </p:nvSpPr>
        <p:spPr>
          <a:xfrm>
            <a:off x="6286500" y="2524929"/>
            <a:ext cx="5314950" cy="182880"/>
          </a:xfrm>
          <a:prstGeom prst="rect">
            <a:avLst/>
          </a:prstGeom>
          <a:noFill/>
          <a:ln/>
        </p:spPr>
        <p:txBody>
          <a:bodyPr wrap="none" lIns="0" tIns="0" rIns="0" bIns="0" rtlCol="0" anchor="t"/>
          <a:lstStyle/>
          <a:p>
            <a:pPr algn="l" indent="0" marL="0">
              <a:lnSpc>
                <a:spcPts val="1440"/>
              </a:lnSpc>
              <a:buNone/>
            </a:pPr>
            <a:r>
              <a:rPr lang="en-US" sz="1200" b="1" dirty="0">
                <a:solidFill>
                  <a:srgbClr val="0B6E99"/>
                </a:solidFill>
                <a:latin typeface="Courier New" pitchFamily="34" charset="0"/>
                <a:ea typeface="Courier New" pitchFamily="34" charset="-122"/>
                <a:cs typeface="Courier New" pitchFamily="34" charset="-120"/>
              </a:rPr>
              <a:t>RHEL 9 · Rocky 9</a:t>
            </a:r>
            <a:endParaRPr lang="en-US" sz="1200" dirty="0"/>
          </a:p>
        </p:txBody>
      </p:sp>
      <p:sp>
        <p:nvSpPr>
          <p:cNvPr id="11" name="Text 9"/>
          <p:cNvSpPr txBox="1"/>
          <p:nvPr/>
        </p:nvSpPr>
        <p:spPr>
          <a:xfrm>
            <a:off x="6457950" y="2923074"/>
            <a:ext cx="4972050" cy="383679"/>
          </a:xfrm>
          <a:prstGeom prst="rect">
            <a:avLst/>
          </a:prstGeom>
          <a:noFill/>
          <a:ln/>
        </p:spPr>
        <p:txBody>
          <a:bodyPr wrap="square" lIns="0" tIns="0" rIns="0" bIns="0" rtlCol="0" anchor="t"/>
          <a:lstStyle/>
          <a:p>
            <a:pPr algn="l" indent="0" marL="0">
              <a:lnSpc>
                <a:spcPts val="1510"/>
              </a:lnSpc>
              <a:buNone/>
            </a:pPr>
            <a:r>
              <a:rPr lang="en-US" sz="980" dirty="0">
                <a:solidFill>
                  <a:srgbClr val="E4EDF2"/>
                </a:solidFill>
                <a:latin typeface="Courier New" pitchFamily="34" charset="0"/>
                <a:ea typeface="Courier New" pitchFamily="34" charset="-122"/>
                <a:cs typeface="Courier New" pitchFamily="34" charset="-120"/>
              </a:rPr>
              <a:t>dnf install php-devel php-pear \</a:t>
            </a:r>
            <a:endParaRPr lang="en-US" sz="980" dirty="0"/>
          </a:p>
          <a:p>
            <a:pPr algn="l" indent="0" marL="0">
              <a:lnSpc>
                <a:spcPts val="1510"/>
              </a:lnSpc>
              <a:buNone/>
            </a:pPr>
            <a:r>
              <a:rPr lang="en-US" sz="980" dirty="0">
                <a:solidFill>
                  <a:srgbClr val="E4EDF2"/>
                </a:solidFill>
                <a:latin typeface="Courier New" pitchFamily="34" charset="0"/>
                <a:ea typeface="Courier New" pitchFamily="34" charset="-122"/>
                <a:cs typeface="Courier New" pitchFamily="34" charset="-120"/>
              </a:rPr>
              <a:t>            gcc make autoconf</a:t>
            </a:r>
            <a:endParaRPr lang="en-US" sz="980" dirty="0"/>
          </a:p>
        </p:txBody>
      </p:sp>
      <p:sp>
        <p:nvSpPr>
          <p:cNvPr id="12" name="Text 10"/>
          <p:cNvSpPr txBox="1"/>
          <p:nvPr/>
        </p:nvSpPr>
        <p:spPr>
          <a:xfrm>
            <a:off x="647700" y="6464379"/>
            <a:ext cx="948928" cy="148590"/>
          </a:xfrm>
          <a:prstGeom prst="rect">
            <a:avLst/>
          </a:prstGeom>
          <a:noFill/>
          <a:ln/>
        </p:spPr>
        <p:txBody>
          <a:bodyPr wrap="none" lIns="0" tIns="0" rIns="0" bIns="0" rtlCol="0" anchor="t"/>
          <a:lstStyle/>
          <a:p>
            <a:pPr algn="l" indent="0" marL="0">
              <a:lnSpc>
                <a:spcPts val="1170"/>
              </a:lnSpc>
              <a:buNone/>
            </a:pPr>
            <a:r>
              <a:rPr lang="en-US" sz="980" dirty="0">
                <a:solidFill>
                  <a:srgbClr val="8496A2"/>
                </a:solidFill>
                <a:latin typeface="Courier New" pitchFamily="34" charset="0"/>
                <a:ea typeface="Courier New" pitchFamily="34" charset="-122"/>
                <a:cs typeface="Courier New" pitchFamily="34" charset="-120"/>
              </a:rPr>
              <a:t>Walk-through</a:t>
            </a:r>
            <a:endParaRPr lang="en-US" sz="980" dirty="0"/>
          </a:p>
        </p:txBody>
      </p:sp>
      <p:sp>
        <p:nvSpPr>
          <p:cNvPr id="13" name="Text 11"/>
          <p:cNvSpPr txBox="1"/>
          <p:nvPr/>
        </p:nvSpPr>
        <p:spPr>
          <a:xfrm>
            <a:off x="11024146" y="6464379"/>
            <a:ext cx="577304" cy="148590"/>
          </a:xfrm>
          <a:prstGeom prst="rect">
            <a:avLst/>
          </a:prstGeom>
          <a:noFill/>
          <a:ln/>
        </p:spPr>
        <p:txBody>
          <a:bodyPr wrap="none" lIns="0" tIns="0" rIns="0" bIns="0" rtlCol="0" anchor="t"/>
          <a:lstStyle/>
          <a:p>
            <a:pPr algn="l" indent="0" marL="0">
              <a:lnSpc>
                <a:spcPts val="1170"/>
              </a:lnSpc>
              <a:buNone/>
            </a:pPr>
            <a:r>
              <a:rPr lang="en-US" sz="980" dirty="0">
                <a:solidFill>
                  <a:srgbClr val="8496A2"/>
                </a:solidFill>
                <a:latin typeface="Courier New" pitchFamily="34" charset="0"/>
                <a:ea typeface="Courier New" pitchFamily="34" charset="-122"/>
                <a:cs typeface="Courier New" pitchFamily="34" charset="-120"/>
              </a:rPr>
              <a:t>15 / 39</a:t>
            </a:r>
            <a:endParaRPr lang="en-US" sz="980" dirty="0"/>
          </a:p>
        </p:txBody>
      </p:sp>
      <p:pic>
        <p:nvPicPr>
          <p:cNvPr id="900" name="NetSapiensis mark" descr="NetSapiensis"/>
          <p:cNvPicPr>
            <a:picLocks noChangeAspect="1"/>
          </p:cNvPicPr>
          <p:nvPr/>
        </p:nvPicPr>
        <p:blipFill>
          <a:blip r:embed="rId3"/>
          <a:stretch>
            <a:fillRect/>
          </a:stretch>
        </p:blipFill>
        <p:spPr>
          <a:xfrm>
            <a:off x="10776204" y="6419088"/>
            <a:ext cx="178308" cy="237744"/>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43590" y="3120564"/>
            <a:ext cx="5165263" cy="1618677"/>
          </a:xfrm>
          <a:prstGeom prst="roundRect">
            <a:avLst>
              <a:gd name="adj" fmla="val 6529"/>
            </a:avLst>
          </a:prstGeom>
          <a:solidFill>
            <a:srgbClr val="0F2027"/>
          </a:solidFill>
          <a:ln/>
        </p:spPr>
      </p:sp>
      <p:sp>
        <p:nvSpPr>
          <p:cNvPr id="3" name="Shape 1"/>
          <p:cNvSpPr/>
          <p:nvPr/>
        </p:nvSpPr>
        <p:spPr>
          <a:xfrm>
            <a:off x="6283147" y="3120564"/>
            <a:ext cx="5165263" cy="1618677"/>
          </a:xfrm>
          <a:prstGeom prst="roundRect">
            <a:avLst>
              <a:gd name="adj" fmla="val 6529"/>
            </a:avLst>
          </a:prstGeom>
          <a:solidFill>
            <a:srgbClr val="0F2027"/>
          </a:solidFill>
          <a:ln/>
        </p:spPr>
      </p:sp>
      <p:sp>
        <p:nvSpPr>
          <p:cNvPr id="4" name="Shape 2"/>
          <p:cNvSpPr/>
          <p:nvPr/>
        </p:nvSpPr>
        <p:spPr>
          <a:xfrm>
            <a:off x="647700" y="6343650"/>
            <a:ext cx="10896600" cy="0"/>
          </a:xfrm>
          <a:prstGeom prst="line">
            <a:avLst/>
          </a:prstGeom>
          <a:noFill/>
          <a:ln w="8890">
            <a:solidFill>
              <a:srgbClr val="CBD7DF"/>
            </a:solidFill>
            <a:prstDash val="solid"/>
          </a:ln>
        </p:spPr>
      </p:sp>
      <p:sp>
        <p:nvSpPr>
          <p:cNvPr id="5" name="Text 3"/>
          <p:cNvSpPr txBox="1"/>
          <p:nvPr/>
        </p:nvSpPr>
        <p:spPr>
          <a:xfrm>
            <a:off x="743590" y="512121"/>
            <a:ext cx="10761971" cy="182469"/>
          </a:xfrm>
          <a:prstGeom prst="rect">
            <a:avLst/>
          </a:prstGeom>
          <a:noFill/>
          <a:ln/>
        </p:spPr>
        <p:txBody>
          <a:bodyPr wrap="none" lIns="0" tIns="0" rIns="0" bIns="0" rtlCol="0" anchor="t"/>
          <a:lstStyle/>
          <a:p>
            <a:pPr algn="l" indent="0" marL="0">
              <a:lnSpc>
                <a:spcPts val="1440"/>
              </a:lnSpc>
              <a:buNone/>
            </a:pPr>
            <a:r>
              <a:rPr lang="en-US" sz="960" spc="150" kern="0" dirty="0">
                <a:solidFill>
                  <a:srgbClr val="0B6E99"/>
                </a:solidFill>
                <a:latin typeface="Courier New" pitchFamily="34" charset="0"/>
                <a:ea typeface="Courier New" pitchFamily="34" charset="-122"/>
                <a:cs typeface="Courier New" pitchFamily="34" charset="-120"/>
              </a:rPr>
              <a:t>STEP 2 OF 9</a:t>
            </a:r>
            <a:endParaRPr lang="en-US" sz="960" dirty="0"/>
          </a:p>
        </p:txBody>
      </p:sp>
      <p:sp>
        <p:nvSpPr>
          <p:cNvPr id="6" name="Text 4"/>
          <p:cNvSpPr txBox="1"/>
          <p:nvPr/>
        </p:nvSpPr>
        <p:spPr>
          <a:xfrm>
            <a:off x="743590" y="846872"/>
            <a:ext cx="10761971" cy="424444"/>
          </a:xfrm>
          <a:prstGeom prst="rect">
            <a:avLst/>
          </a:prstGeom>
          <a:noFill/>
          <a:ln/>
        </p:spPr>
        <p:txBody>
          <a:bodyPr wrap="none" lIns="0" tIns="0" rIns="0" bIns="0" rtlCol="0" anchor="t"/>
          <a:lstStyle/>
          <a:p>
            <a:pPr algn="l" indent="0" marL="0">
              <a:lnSpc>
                <a:spcPts val="3340"/>
              </a:lnSpc>
              <a:buNone/>
            </a:pPr>
            <a:r>
              <a:rPr lang="en-US" sz="3090" b="1" spc="-60" kern="0" dirty="0">
                <a:solidFill>
                  <a:srgbClr val="101A22"/>
                </a:solidFill>
                <a:latin typeface="Arial" pitchFamily="34" charset="0"/>
                <a:ea typeface="Arial" pitchFamily="34" charset="-122"/>
                <a:cs typeface="Arial" pitchFamily="34" charset="-120"/>
              </a:rPr>
              <a:t>Install and enable the OpenTelemetry PHP extension</a:t>
            </a:r>
            <a:endParaRPr lang="en-US" sz="3090" dirty="0"/>
          </a:p>
        </p:txBody>
      </p:sp>
      <p:sp>
        <p:nvSpPr>
          <p:cNvPr id="7" name="Text 5"/>
          <p:cNvSpPr txBox="1"/>
          <p:nvPr/>
        </p:nvSpPr>
        <p:spPr>
          <a:xfrm>
            <a:off x="743590" y="1472048"/>
            <a:ext cx="10761971" cy="1100660"/>
          </a:xfrm>
          <a:prstGeom prst="rect">
            <a:avLst/>
          </a:prstGeom>
          <a:noFill/>
          <a:ln/>
        </p:spPr>
        <p:txBody>
          <a:bodyPr wrap="square" lIns="0" tIns="0" rIns="0" bIns="0" rtlCol="0" anchor="t"/>
          <a:lstStyle/>
          <a:p>
            <a:pPr algn="l" indent="0" marL="0">
              <a:lnSpc>
                <a:spcPts val="2870"/>
              </a:lnSpc>
              <a:buNone/>
            </a:pPr>
            <a:r>
              <a:rPr lang="en-US" sz="1910" dirty="0">
                <a:solidFill>
                  <a:srgbClr val="5A6D7A"/>
                </a:solidFill>
                <a:latin typeface="Arial" pitchFamily="34" charset="0"/>
                <a:ea typeface="Arial" pitchFamily="34" charset="-122"/>
                <a:cs typeface="Arial" pitchFamily="34" charset="-120"/>
              </a:rPr>
              <a:t>PECL is the PHP site that publishes extensions. The command </a:t>
            </a:r>
            <a:pPr algn="l" indent="0" marL="0">
              <a:lnSpc>
                <a:spcPts val="2870"/>
              </a:lnSpc>
              <a:buNone/>
            </a:pPr>
            <a:r>
              <a:rPr lang="en-US" sz="1690" dirty="0">
                <a:solidFill>
                  <a:srgbClr val="5A6D7A"/>
                </a:solidFill>
                <a:highlight>
                  <a:srgbClr val="E1F0F7"/>
                </a:highlight>
                <a:latin typeface="Courier New" pitchFamily="34" charset="0"/>
                <a:ea typeface="Courier New" pitchFamily="34" charset="-122"/>
                <a:cs typeface="Courier New" pitchFamily="34" charset="-120"/>
              </a:rPr>
              <a:t>pecl install opentelemetry</a:t>
            </a:r>
            <a:pPr algn="l" indent="0" marL="0">
              <a:lnSpc>
                <a:spcPts val="2870"/>
              </a:lnSpc>
              <a:buNone/>
            </a:pPr>
            <a:r>
              <a:rPr lang="en-US" sz="1910" dirty="0">
                <a:solidFill>
                  <a:srgbClr val="5A6D7A"/>
                </a:solidFill>
                <a:latin typeface="Arial" pitchFamily="34" charset="0"/>
                <a:ea typeface="Arial" pitchFamily="34" charset="-122"/>
                <a:cs typeface="Arial" pitchFamily="34" charset="-120"/>
              </a:rPr>
              <a:t> downloads the extension and builds the file </a:t>
            </a:r>
            <a:pPr algn="l" indent="0" marL="0">
              <a:lnSpc>
                <a:spcPts val="2870"/>
              </a:lnSpc>
              <a:buNone/>
            </a:pPr>
            <a:r>
              <a:rPr lang="en-US" sz="1690" dirty="0">
                <a:solidFill>
                  <a:srgbClr val="5A6D7A"/>
                </a:solidFill>
                <a:highlight>
                  <a:srgbClr val="E1F0F7"/>
                </a:highlight>
                <a:latin typeface="Courier New" pitchFamily="34" charset="0"/>
                <a:ea typeface="Courier New" pitchFamily="34" charset="-122"/>
                <a:cs typeface="Courier New" pitchFamily="34" charset="-120"/>
              </a:rPr>
              <a:t>opentelemetry.so</a:t>
            </a:r>
            <a:pPr algn="l" indent="0" marL="0">
              <a:lnSpc>
                <a:spcPts val="2870"/>
              </a:lnSpc>
              <a:buNone/>
            </a:pPr>
            <a:r>
              <a:rPr lang="en-US" sz="1910" dirty="0">
                <a:solidFill>
                  <a:srgbClr val="5A6D7A"/>
                </a:solidFill>
                <a:latin typeface="Arial" pitchFamily="34" charset="0"/>
                <a:ea typeface="Arial" pitchFamily="34" charset="-122"/>
                <a:cs typeface="Arial" pitchFamily="34" charset="-120"/>
              </a:rPr>
              <a:t> for the PHP version on your server. A small php.ini file then tells PHP to load it.</a:t>
            </a:r>
            <a:endParaRPr lang="en-US" sz="1910" dirty="0"/>
          </a:p>
        </p:txBody>
      </p:sp>
      <p:sp>
        <p:nvSpPr>
          <p:cNvPr id="8" name="Text 6"/>
          <p:cNvSpPr txBox="1"/>
          <p:nvPr/>
        </p:nvSpPr>
        <p:spPr>
          <a:xfrm>
            <a:off x="743590" y="2854816"/>
            <a:ext cx="5222413" cy="179588"/>
          </a:xfrm>
          <a:prstGeom prst="rect">
            <a:avLst/>
          </a:prstGeom>
          <a:noFill/>
          <a:ln/>
        </p:spPr>
        <p:txBody>
          <a:bodyPr wrap="none" lIns="0" tIns="0" rIns="0" bIns="0" rtlCol="0" anchor="t"/>
          <a:lstStyle/>
          <a:p>
            <a:pPr algn="l" indent="0" marL="0">
              <a:lnSpc>
                <a:spcPts val="1410"/>
              </a:lnSpc>
              <a:buNone/>
            </a:pPr>
            <a:r>
              <a:rPr lang="en-US" sz="1180" b="1" dirty="0">
                <a:solidFill>
                  <a:srgbClr val="0B6E99"/>
                </a:solidFill>
                <a:latin typeface="Courier New" pitchFamily="34" charset="0"/>
                <a:ea typeface="Courier New" pitchFamily="34" charset="-122"/>
                <a:cs typeface="Courier New" pitchFamily="34" charset="-120"/>
              </a:rPr>
              <a:t>Ubuntu 24.04 LTS</a:t>
            </a:r>
            <a:endParaRPr lang="en-US" sz="1180" dirty="0"/>
          </a:p>
        </p:txBody>
      </p:sp>
      <p:sp>
        <p:nvSpPr>
          <p:cNvPr id="9" name="Text 7"/>
          <p:cNvSpPr txBox="1"/>
          <p:nvPr/>
        </p:nvSpPr>
        <p:spPr>
          <a:xfrm>
            <a:off x="911954" y="3245901"/>
            <a:ext cx="4885685" cy="1319363"/>
          </a:xfrm>
          <a:prstGeom prst="rect">
            <a:avLst/>
          </a:prstGeom>
          <a:noFill/>
          <a:ln/>
        </p:spPr>
        <p:txBody>
          <a:bodyPr wrap="square" lIns="0" tIns="0" rIns="0" bIns="0" rtlCol="0" anchor="t"/>
          <a:lstStyle/>
          <a:p>
            <a:pPr algn="l" indent="0" marL="0">
              <a:lnSpc>
                <a:spcPts val="1480"/>
              </a:lnSpc>
              <a:buNone/>
            </a:pPr>
            <a:r>
              <a:rPr lang="en-US" sz="960" dirty="0">
                <a:solidFill>
                  <a:srgbClr val="E4EDF2"/>
                </a:solidFill>
                <a:latin typeface="Courier New" pitchFamily="34" charset="0"/>
                <a:ea typeface="Courier New" pitchFamily="34" charset="-122"/>
                <a:cs typeface="Courier New" pitchFamily="34" charset="-120"/>
              </a:rPr>
              <a:t>pecl install opentelemetry   </a:t>
            </a:r>
            <a:pPr algn="l" indent="0" marL="0">
              <a:lnSpc>
                <a:spcPts val="1480"/>
              </a:lnSpc>
              <a:buNone/>
            </a:pPr>
            <a:r>
              <a:rPr lang="en-US" sz="960" dirty="0">
                <a:solidFill>
                  <a:srgbClr val="86A5B4"/>
                </a:solidFill>
                <a:latin typeface="Courier New" pitchFamily="34" charset="0"/>
                <a:ea typeface="Courier New" pitchFamily="34" charset="-122"/>
                <a:cs typeface="Courier New" pitchFamily="34" charset="-120"/>
              </a:rPr>
              <a:t># compiles the C source with gcc</a:t>
            </a:r>
            <a:pPr algn="l" indent="0" marL="0">
              <a:lnSpc>
                <a:spcPts val="1480"/>
              </a:lnSpc>
              <a:buNone/>
            </a:pPr>
            <a:r>
              <a:rPr lang="en-US" sz="960" dirty="0">
                <a:solidFill>
                  <a:srgbClr val="E4EDF2"/>
                </a:solidFill>
                <a:latin typeface="Courier New" pitchFamily="34" charset="0"/>
                <a:ea typeface="Courier New" pitchFamily="34" charset="-122"/>
                <a:cs typeface="Courier New" pitchFamily="34" charset="-120"/>
              </a:rPr>
              <a:t> </a:t>
            </a:r>
            <a:endParaRPr lang="en-US" sz="960" dirty="0"/>
          </a:p>
          <a:p>
            <a:pPr algn="l" indent="0" marL="0">
              <a:lnSpc>
                <a:spcPts val="1480"/>
              </a:lnSpc>
              <a:buNone/>
            </a:pPr>
            <a:r>
              <a:rPr lang="en-US" sz="960" dirty="0">
                <a:solidFill>
                  <a:srgbClr val="E4EDF2"/>
                </a:solidFill>
                <a:latin typeface="Courier New" pitchFamily="34" charset="0"/>
                <a:ea typeface="Courier New" pitchFamily="34" charset="-122"/>
                <a:cs typeface="Courier New" pitchFamily="34" charset="-120"/>
              </a:rPr>
              <a:t> </a:t>
            </a:r>
            <a:endParaRPr lang="en-US" sz="960" dirty="0"/>
          </a:p>
          <a:p>
            <a:pPr algn="l" indent="0" marL="0">
              <a:lnSpc>
                <a:spcPts val="1480"/>
              </a:lnSpc>
              <a:buNone/>
            </a:pPr>
            <a:r>
              <a:rPr lang="en-US" sz="960" dirty="0">
                <a:solidFill>
                  <a:srgbClr val="E4EDF2"/>
                </a:solidFill>
                <a:latin typeface="Courier New" pitchFamily="34" charset="0"/>
                <a:ea typeface="Courier New" pitchFamily="34" charset="-122"/>
                <a:cs typeface="Courier New" pitchFamily="34" charset="-120"/>
              </a:rPr>
              <a:t>echo "extension=opentelemetry.so" \</a:t>
            </a:r>
            <a:endParaRPr lang="en-US" sz="960" dirty="0"/>
          </a:p>
          <a:p>
            <a:pPr algn="l" indent="0" marL="0">
              <a:lnSpc>
                <a:spcPts val="1480"/>
              </a:lnSpc>
              <a:buNone/>
            </a:pPr>
            <a:r>
              <a:rPr lang="en-US" sz="960" dirty="0">
                <a:solidFill>
                  <a:srgbClr val="E4EDF2"/>
                </a:solidFill>
                <a:latin typeface="Courier New" pitchFamily="34" charset="0"/>
                <a:ea typeface="Courier New" pitchFamily="34" charset="-122"/>
                <a:cs typeface="Courier New" pitchFamily="34" charset="-120"/>
              </a:rPr>
              <a:t> &gt; /etc/php/8.3/mods-available/opentelemetry.ini</a:t>
            </a:r>
            <a:endParaRPr lang="en-US" sz="960" dirty="0"/>
          </a:p>
          <a:p>
            <a:pPr algn="l" indent="0" marL="0">
              <a:lnSpc>
                <a:spcPts val="1480"/>
              </a:lnSpc>
              <a:buNone/>
            </a:pPr>
            <a:r>
              <a:rPr lang="en-US" sz="960" dirty="0">
                <a:solidFill>
                  <a:srgbClr val="E4EDF2"/>
                </a:solidFill>
                <a:latin typeface="Courier New" pitchFamily="34" charset="0"/>
                <a:ea typeface="Courier New" pitchFamily="34" charset="-122"/>
                <a:cs typeface="Courier New" pitchFamily="34" charset="-120"/>
              </a:rPr>
              <a:t> </a:t>
            </a:r>
            <a:endParaRPr lang="en-US" sz="960" dirty="0"/>
          </a:p>
          <a:p>
            <a:pPr algn="l" indent="0" marL="0">
              <a:lnSpc>
                <a:spcPts val="1480"/>
              </a:lnSpc>
              <a:buNone/>
            </a:pPr>
            <a:r>
              <a:rPr lang="en-US" sz="960" dirty="0">
                <a:solidFill>
                  <a:srgbClr val="E4EDF2"/>
                </a:solidFill>
                <a:latin typeface="Courier New" pitchFamily="34" charset="0"/>
                <a:ea typeface="Courier New" pitchFamily="34" charset="-122"/>
                <a:cs typeface="Courier New" pitchFamily="34" charset="-120"/>
              </a:rPr>
              <a:t>phpenmod opentelemetry</a:t>
            </a:r>
            <a:endParaRPr lang="en-US" sz="960" dirty="0"/>
          </a:p>
          <a:p>
            <a:pPr algn="l" indent="0" marL="0">
              <a:lnSpc>
                <a:spcPts val="1480"/>
              </a:lnSpc>
              <a:buNone/>
            </a:pPr>
            <a:r>
              <a:rPr lang="en-US" sz="960" dirty="0">
                <a:solidFill>
                  <a:srgbClr val="E4EDF2"/>
                </a:solidFill>
                <a:latin typeface="Courier New" pitchFamily="34" charset="0"/>
                <a:ea typeface="Courier New" pitchFamily="34" charset="-122"/>
                <a:cs typeface="Courier New" pitchFamily="34" charset="-120"/>
              </a:rPr>
              <a:t>systemctl restart php8.3-fpm</a:t>
            </a:r>
            <a:endParaRPr lang="en-US" sz="960" dirty="0"/>
          </a:p>
        </p:txBody>
      </p:sp>
      <p:sp>
        <p:nvSpPr>
          <p:cNvPr id="10" name="Text 8"/>
          <p:cNvSpPr txBox="1"/>
          <p:nvPr/>
        </p:nvSpPr>
        <p:spPr>
          <a:xfrm>
            <a:off x="6283147" y="2854816"/>
            <a:ext cx="5222413" cy="179588"/>
          </a:xfrm>
          <a:prstGeom prst="rect">
            <a:avLst/>
          </a:prstGeom>
          <a:noFill/>
          <a:ln/>
        </p:spPr>
        <p:txBody>
          <a:bodyPr wrap="none" lIns="0" tIns="0" rIns="0" bIns="0" rtlCol="0" anchor="t"/>
          <a:lstStyle/>
          <a:p>
            <a:pPr algn="l" indent="0" marL="0">
              <a:lnSpc>
                <a:spcPts val="1410"/>
              </a:lnSpc>
              <a:buNone/>
            </a:pPr>
            <a:r>
              <a:rPr lang="en-US" sz="1180" b="1" dirty="0">
                <a:solidFill>
                  <a:srgbClr val="0B6E99"/>
                </a:solidFill>
                <a:latin typeface="Courier New" pitchFamily="34" charset="0"/>
                <a:ea typeface="Courier New" pitchFamily="34" charset="-122"/>
                <a:cs typeface="Courier New" pitchFamily="34" charset="-120"/>
              </a:rPr>
              <a:t>RHEL 9 · Rocky 9</a:t>
            </a:r>
            <a:endParaRPr lang="en-US" sz="1180" dirty="0"/>
          </a:p>
        </p:txBody>
      </p:sp>
      <p:sp>
        <p:nvSpPr>
          <p:cNvPr id="11" name="Text 9"/>
          <p:cNvSpPr txBox="1"/>
          <p:nvPr/>
        </p:nvSpPr>
        <p:spPr>
          <a:xfrm>
            <a:off x="6451511" y="3245901"/>
            <a:ext cx="4885685" cy="1319363"/>
          </a:xfrm>
          <a:prstGeom prst="rect">
            <a:avLst/>
          </a:prstGeom>
          <a:noFill/>
          <a:ln/>
        </p:spPr>
        <p:txBody>
          <a:bodyPr wrap="square" lIns="0" tIns="0" rIns="0" bIns="0" rtlCol="0" anchor="t"/>
          <a:lstStyle/>
          <a:p>
            <a:pPr algn="l" indent="0" marL="0">
              <a:lnSpc>
                <a:spcPts val="1480"/>
              </a:lnSpc>
              <a:buNone/>
            </a:pPr>
            <a:r>
              <a:rPr lang="en-US" sz="960" dirty="0">
                <a:solidFill>
                  <a:srgbClr val="E4EDF2"/>
                </a:solidFill>
                <a:latin typeface="Courier New" pitchFamily="34" charset="0"/>
                <a:ea typeface="Courier New" pitchFamily="34" charset="-122"/>
                <a:cs typeface="Courier New" pitchFamily="34" charset="-120"/>
              </a:rPr>
              <a:t>pecl install opentelemetry   </a:t>
            </a:r>
            <a:pPr algn="l" indent="0" marL="0">
              <a:lnSpc>
                <a:spcPts val="1480"/>
              </a:lnSpc>
              <a:buNone/>
            </a:pPr>
            <a:r>
              <a:rPr lang="en-US" sz="960" dirty="0">
                <a:solidFill>
                  <a:srgbClr val="86A5B4"/>
                </a:solidFill>
                <a:latin typeface="Courier New" pitchFamily="34" charset="0"/>
                <a:ea typeface="Courier New" pitchFamily="34" charset="-122"/>
                <a:cs typeface="Courier New" pitchFamily="34" charset="-120"/>
              </a:rPr>
              <a:t># same: compiles with gcc</a:t>
            </a:r>
            <a:pPr algn="l" indent="0" marL="0">
              <a:lnSpc>
                <a:spcPts val="1480"/>
              </a:lnSpc>
              <a:buNone/>
            </a:pPr>
            <a:r>
              <a:rPr lang="en-US" sz="960" dirty="0">
                <a:solidFill>
                  <a:srgbClr val="E4EDF2"/>
                </a:solidFill>
                <a:latin typeface="Courier New" pitchFamily="34" charset="0"/>
                <a:ea typeface="Courier New" pitchFamily="34" charset="-122"/>
                <a:cs typeface="Courier New" pitchFamily="34" charset="-120"/>
              </a:rPr>
              <a:t> </a:t>
            </a:r>
            <a:endParaRPr lang="en-US" sz="960" dirty="0"/>
          </a:p>
          <a:p>
            <a:pPr algn="l" indent="0" marL="0">
              <a:lnSpc>
                <a:spcPts val="1480"/>
              </a:lnSpc>
              <a:buNone/>
            </a:pPr>
            <a:r>
              <a:rPr lang="en-US" sz="960" dirty="0">
                <a:solidFill>
                  <a:srgbClr val="E4EDF2"/>
                </a:solidFill>
                <a:latin typeface="Courier New" pitchFamily="34" charset="0"/>
                <a:ea typeface="Courier New" pitchFamily="34" charset="-122"/>
                <a:cs typeface="Courier New" pitchFamily="34" charset="-120"/>
              </a:rPr>
              <a:t> </a:t>
            </a:r>
            <a:endParaRPr lang="en-US" sz="960" dirty="0"/>
          </a:p>
          <a:p>
            <a:pPr algn="l" indent="0" marL="0">
              <a:lnSpc>
                <a:spcPts val="1480"/>
              </a:lnSpc>
              <a:buNone/>
            </a:pPr>
            <a:r>
              <a:rPr lang="en-US" sz="960" dirty="0">
                <a:solidFill>
                  <a:srgbClr val="E4EDF2"/>
                </a:solidFill>
                <a:latin typeface="Courier New" pitchFamily="34" charset="0"/>
                <a:ea typeface="Courier New" pitchFamily="34" charset="-122"/>
                <a:cs typeface="Courier New" pitchFamily="34" charset="-120"/>
              </a:rPr>
              <a:t>echo "extension=opentelemetry.so" \</a:t>
            </a:r>
            <a:endParaRPr lang="en-US" sz="960" dirty="0"/>
          </a:p>
          <a:p>
            <a:pPr algn="l" indent="0" marL="0">
              <a:lnSpc>
                <a:spcPts val="1480"/>
              </a:lnSpc>
              <a:buNone/>
            </a:pPr>
            <a:r>
              <a:rPr lang="en-US" sz="960" dirty="0">
                <a:solidFill>
                  <a:srgbClr val="E4EDF2"/>
                </a:solidFill>
                <a:latin typeface="Courier New" pitchFamily="34" charset="0"/>
                <a:ea typeface="Courier New" pitchFamily="34" charset="-122"/>
                <a:cs typeface="Courier New" pitchFamily="34" charset="-120"/>
              </a:rPr>
              <a:t> &gt; /etc/php.d/40-opentelemetry.ini</a:t>
            </a:r>
            <a:endParaRPr lang="en-US" sz="960" dirty="0"/>
          </a:p>
          <a:p>
            <a:pPr algn="l" indent="0" marL="0">
              <a:lnSpc>
                <a:spcPts val="1480"/>
              </a:lnSpc>
              <a:buNone/>
            </a:pPr>
            <a:r>
              <a:rPr lang="en-US" sz="960" dirty="0">
                <a:solidFill>
                  <a:srgbClr val="E4EDF2"/>
                </a:solidFill>
                <a:latin typeface="Courier New" pitchFamily="34" charset="0"/>
                <a:ea typeface="Courier New" pitchFamily="34" charset="-122"/>
                <a:cs typeface="Courier New" pitchFamily="34" charset="-120"/>
              </a:rPr>
              <a:t> </a:t>
            </a:r>
            <a:endParaRPr lang="en-US" sz="960" dirty="0"/>
          </a:p>
          <a:p>
            <a:pPr algn="l" indent="0" marL="0">
              <a:lnSpc>
                <a:spcPts val="1480"/>
              </a:lnSpc>
              <a:buNone/>
            </a:pPr>
            <a:r>
              <a:rPr lang="en-US" sz="960" dirty="0">
                <a:solidFill>
                  <a:srgbClr val="E4EDF2"/>
                </a:solidFill>
                <a:latin typeface="Courier New" pitchFamily="34" charset="0"/>
                <a:ea typeface="Courier New" pitchFamily="34" charset="-122"/>
                <a:cs typeface="Courier New" pitchFamily="34" charset="-120"/>
              </a:rPr>
              <a:t> </a:t>
            </a:r>
            <a:pPr algn="l" indent="0" marL="0">
              <a:lnSpc>
                <a:spcPts val="1480"/>
              </a:lnSpc>
              <a:buNone/>
            </a:pPr>
            <a:r>
              <a:rPr lang="en-US" sz="960" dirty="0">
                <a:solidFill>
                  <a:srgbClr val="86A5B4"/>
                </a:solidFill>
                <a:latin typeface="Courier New" pitchFamily="34" charset="0"/>
                <a:ea typeface="Courier New" pitchFamily="34" charset="-122"/>
                <a:cs typeface="Courier New" pitchFamily="34" charset="-120"/>
              </a:rPr>
              <a:t># no phpenmod — the drop-in is enough</a:t>
            </a:r>
            <a:pPr algn="l" indent="0" marL="0">
              <a:lnSpc>
                <a:spcPts val="1480"/>
              </a:lnSpc>
              <a:buNone/>
            </a:pPr>
            <a:r>
              <a:rPr lang="en-US" sz="960" dirty="0">
                <a:solidFill>
                  <a:srgbClr val="E4EDF2"/>
                </a:solidFill>
                <a:latin typeface="Courier New" pitchFamily="34" charset="0"/>
                <a:ea typeface="Courier New" pitchFamily="34" charset="-122"/>
                <a:cs typeface="Courier New" pitchFamily="34" charset="-120"/>
              </a:rPr>
              <a:t> </a:t>
            </a:r>
            <a:endParaRPr lang="en-US" sz="960" dirty="0"/>
          </a:p>
          <a:p>
            <a:pPr algn="l" indent="0" marL="0">
              <a:lnSpc>
                <a:spcPts val="1480"/>
              </a:lnSpc>
              <a:buNone/>
            </a:pPr>
            <a:r>
              <a:rPr lang="en-US" sz="960" dirty="0">
                <a:solidFill>
                  <a:srgbClr val="E4EDF2"/>
                </a:solidFill>
                <a:latin typeface="Courier New" pitchFamily="34" charset="0"/>
                <a:ea typeface="Courier New" pitchFamily="34" charset="-122"/>
                <a:cs typeface="Courier New" pitchFamily="34" charset="-120"/>
              </a:rPr>
              <a:t>systemctl restart php-fpm</a:t>
            </a:r>
            <a:endParaRPr lang="en-US" sz="960" dirty="0"/>
          </a:p>
        </p:txBody>
      </p:sp>
      <p:sp>
        <p:nvSpPr>
          <p:cNvPr id="12" name="Text 10"/>
          <p:cNvSpPr txBox="1"/>
          <p:nvPr/>
        </p:nvSpPr>
        <p:spPr>
          <a:xfrm>
            <a:off x="743590" y="5033547"/>
            <a:ext cx="10761971" cy="732798"/>
          </a:xfrm>
          <a:prstGeom prst="rect">
            <a:avLst/>
          </a:prstGeom>
          <a:noFill/>
          <a:ln/>
        </p:spPr>
        <p:txBody>
          <a:bodyPr wrap="square" lIns="0" tIns="0" rIns="0" bIns="0" rtlCol="0" anchor="t"/>
          <a:lstStyle/>
          <a:p>
            <a:pPr algn="l" indent="0" marL="0">
              <a:lnSpc>
                <a:spcPts val="2870"/>
              </a:lnSpc>
              <a:buNone/>
            </a:pPr>
            <a:r>
              <a:rPr lang="en-US" sz="1910" dirty="0">
                <a:solidFill>
                  <a:srgbClr val="5A6D7A"/>
                </a:solidFill>
                <a:latin typeface="Arial" pitchFamily="34" charset="0"/>
                <a:ea typeface="Arial" pitchFamily="34" charset="-122"/>
                <a:cs typeface="Arial" pitchFamily="34" charset="-120"/>
              </a:rPr>
              <a:t>Run </a:t>
            </a:r>
            <a:pPr algn="l" indent="0" marL="0">
              <a:lnSpc>
                <a:spcPts val="2870"/>
              </a:lnSpc>
              <a:buNone/>
            </a:pPr>
            <a:r>
              <a:rPr lang="en-US" sz="1690" dirty="0">
                <a:solidFill>
                  <a:srgbClr val="5A6D7A"/>
                </a:solidFill>
                <a:highlight>
                  <a:srgbClr val="E1F0F7"/>
                </a:highlight>
                <a:latin typeface="Courier New" pitchFamily="34" charset="0"/>
                <a:ea typeface="Courier New" pitchFamily="34" charset="-122"/>
                <a:cs typeface="Courier New" pitchFamily="34" charset="-120"/>
              </a:rPr>
              <a:t>php --ri opentelemetry</a:t>
            </a:r>
            <a:pPr algn="l" indent="0" marL="0">
              <a:lnSpc>
                <a:spcPts val="2870"/>
              </a:lnSpc>
              <a:buNone/>
            </a:pPr>
            <a:r>
              <a:rPr lang="en-US" sz="1910" dirty="0">
                <a:solidFill>
                  <a:srgbClr val="5A6D7A"/>
                </a:solidFill>
                <a:latin typeface="Arial" pitchFamily="34" charset="0"/>
                <a:ea typeface="Arial" pitchFamily="34" charset="-122"/>
                <a:cs typeface="Arial" pitchFamily="34" charset="-120"/>
              </a:rPr>
              <a:t> to check the result. The output must contain </a:t>
            </a:r>
            <a:pPr algn="l" indent="0" marL="0">
              <a:lnSpc>
                <a:spcPts val="2870"/>
              </a:lnSpc>
              <a:buNone/>
            </a:pPr>
            <a:r>
              <a:rPr lang="en-US" sz="1910" b="1" dirty="0">
                <a:solidFill>
                  <a:srgbClr val="5A6D7A"/>
                </a:solidFill>
                <a:latin typeface="Arial" pitchFamily="34" charset="0"/>
                <a:ea typeface="Arial" pitchFamily="34" charset="-122"/>
                <a:cs typeface="Arial" pitchFamily="34" charset="-120"/>
              </a:rPr>
              <a:t>opentelemetry hooks =&gt; enabled</a:t>
            </a:r>
            <a:pPr algn="l" indent="0" marL="0">
              <a:lnSpc>
                <a:spcPts val="2870"/>
              </a:lnSpc>
              <a:buNone/>
            </a:pPr>
            <a:r>
              <a:rPr lang="en-US" sz="1910" dirty="0">
                <a:solidFill>
                  <a:srgbClr val="5A6D7A"/>
                </a:solidFill>
                <a:latin typeface="Arial" pitchFamily="34" charset="0"/>
                <a:ea typeface="Arial" pitchFamily="34" charset="-122"/>
                <a:cs typeface="Arial" pitchFamily="34" charset="-120"/>
              </a:rPr>
              <a:t>.</a:t>
            </a:r>
            <a:endParaRPr lang="en-US" sz="1910" dirty="0"/>
          </a:p>
        </p:txBody>
      </p:sp>
      <p:sp>
        <p:nvSpPr>
          <p:cNvPr id="13" name="Text 11"/>
          <p:cNvSpPr txBox="1"/>
          <p:nvPr/>
        </p:nvSpPr>
        <p:spPr>
          <a:xfrm>
            <a:off x="647700" y="6464435"/>
            <a:ext cx="948928" cy="145915"/>
          </a:xfrm>
          <a:prstGeom prst="rect">
            <a:avLst/>
          </a:prstGeom>
          <a:noFill/>
          <a:ln/>
        </p:spPr>
        <p:txBody>
          <a:bodyPr wrap="none" lIns="0" tIns="0" rIns="0" bIns="0" rtlCol="0" anchor="t"/>
          <a:lstStyle/>
          <a:p>
            <a:pPr algn="l" indent="0" marL="0">
              <a:lnSpc>
                <a:spcPts val="1150"/>
              </a:lnSpc>
              <a:buNone/>
            </a:pPr>
            <a:r>
              <a:rPr lang="en-US" sz="960" dirty="0">
                <a:solidFill>
                  <a:srgbClr val="8496A2"/>
                </a:solidFill>
                <a:latin typeface="Courier New" pitchFamily="34" charset="0"/>
                <a:ea typeface="Courier New" pitchFamily="34" charset="-122"/>
                <a:cs typeface="Courier New" pitchFamily="34" charset="-120"/>
              </a:rPr>
              <a:t>Walk-through</a:t>
            </a:r>
            <a:endParaRPr lang="en-US" sz="960" dirty="0"/>
          </a:p>
        </p:txBody>
      </p:sp>
      <p:sp>
        <p:nvSpPr>
          <p:cNvPr id="14" name="Text 12"/>
          <p:cNvSpPr txBox="1"/>
          <p:nvPr/>
        </p:nvSpPr>
        <p:spPr>
          <a:xfrm>
            <a:off x="11024146" y="6464435"/>
            <a:ext cx="577304" cy="145915"/>
          </a:xfrm>
          <a:prstGeom prst="rect">
            <a:avLst/>
          </a:prstGeom>
          <a:noFill/>
          <a:ln/>
        </p:spPr>
        <p:txBody>
          <a:bodyPr wrap="none" lIns="0" tIns="0" rIns="0" bIns="0" rtlCol="0" anchor="t"/>
          <a:lstStyle/>
          <a:p>
            <a:pPr algn="l" indent="0" marL="0">
              <a:lnSpc>
                <a:spcPts val="1150"/>
              </a:lnSpc>
              <a:buNone/>
            </a:pPr>
            <a:r>
              <a:rPr lang="en-US" sz="960" dirty="0">
                <a:solidFill>
                  <a:srgbClr val="8496A2"/>
                </a:solidFill>
                <a:latin typeface="Courier New" pitchFamily="34" charset="0"/>
                <a:ea typeface="Courier New" pitchFamily="34" charset="-122"/>
                <a:cs typeface="Courier New" pitchFamily="34" charset="-120"/>
              </a:rPr>
              <a:t>16 / 39</a:t>
            </a:r>
            <a:endParaRPr lang="en-US" sz="960" dirty="0"/>
          </a:p>
        </p:txBody>
      </p:sp>
      <p:pic>
        <p:nvPicPr>
          <p:cNvPr id="900" name="NetSapiensis mark" descr="NetSapiensis"/>
          <p:cNvPicPr>
            <a:picLocks noChangeAspect="1"/>
          </p:cNvPicPr>
          <p:nvPr/>
        </p:nvPicPr>
        <p:blipFill>
          <a:blip r:embed="rId3"/>
          <a:stretch>
            <a:fillRect/>
          </a:stretch>
        </p:blipFill>
        <p:spPr>
          <a:xfrm>
            <a:off x="10776204" y="6419088"/>
            <a:ext cx="178308" cy="237744"/>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35666" y="2652018"/>
            <a:ext cx="5076406" cy="664726"/>
          </a:xfrm>
          <a:prstGeom prst="roundRect">
            <a:avLst>
              <a:gd name="adj" fmla="val 38043"/>
            </a:avLst>
          </a:prstGeom>
          <a:solidFill>
            <a:srgbClr val="0F2027"/>
          </a:solidFill>
          <a:ln/>
        </p:spPr>
      </p:sp>
      <p:sp>
        <p:nvSpPr>
          <p:cNvPr id="3" name="Shape 1"/>
          <p:cNvSpPr/>
          <p:nvPr/>
        </p:nvSpPr>
        <p:spPr>
          <a:xfrm>
            <a:off x="6279928" y="2652018"/>
            <a:ext cx="5076406" cy="1035168"/>
          </a:xfrm>
          <a:prstGeom prst="roundRect">
            <a:avLst>
              <a:gd name="adj" fmla="val 15687"/>
            </a:avLst>
          </a:prstGeom>
          <a:solidFill>
            <a:srgbClr val="0F2027"/>
          </a:solidFill>
          <a:ln/>
        </p:spPr>
      </p:sp>
      <p:sp>
        <p:nvSpPr>
          <p:cNvPr id="4" name="Shape 2"/>
          <p:cNvSpPr/>
          <p:nvPr/>
        </p:nvSpPr>
        <p:spPr>
          <a:xfrm>
            <a:off x="835666" y="4793627"/>
            <a:ext cx="10520667" cy="849948"/>
          </a:xfrm>
          <a:prstGeom prst="roundRect">
            <a:avLst>
              <a:gd name="adj" fmla="val 23269"/>
            </a:avLst>
          </a:prstGeom>
          <a:solidFill>
            <a:srgbClr val="0F2027"/>
          </a:solidFill>
          <a:ln/>
        </p:spPr>
      </p:sp>
      <p:sp>
        <p:nvSpPr>
          <p:cNvPr id="5" name="Shape 3"/>
          <p:cNvSpPr/>
          <p:nvPr/>
        </p:nvSpPr>
        <p:spPr>
          <a:xfrm>
            <a:off x="647700" y="6343650"/>
            <a:ext cx="10896600" cy="0"/>
          </a:xfrm>
          <a:prstGeom prst="line">
            <a:avLst/>
          </a:prstGeom>
          <a:noFill/>
          <a:ln w="8890">
            <a:solidFill>
              <a:srgbClr val="CBD7DF"/>
            </a:solidFill>
            <a:prstDash val="solid"/>
          </a:ln>
        </p:spPr>
      </p:sp>
      <p:sp>
        <p:nvSpPr>
          <p:cNvPr id="6" name="Text 4"/>
          <p:cNvSpPr txBox="1"/>
          <p:nvPr/>
        </p:nvSpPr>
        <p:spPr>
          <a:xfrm>
            <a:off x="835666" y="512489"/>
            <a:ext cx="10577817" cy="179330"/>
          </a:xfrm>
          <a:prstGeom prst="rect">
            <a:avLst/>
          </a:prstGeom>
          <a:noFill/>
          <a:ln/>
        </p:spPr>
        <p:txBody>
          <a:bodyPr wrap="none" lIns="0" tIns="0" rIns="0" bIns="0" rtlCol="0" anchor="t"/>
          <a:lstStyle/>
          <a:p>
            <a:pPr algn="l" indent="0" marL="0">
              <a:lnSpc>
                <a:spcPts val="1410"/>
              </a:lnSpc>
              <a:buNone/>
            </a:pPr>
            <a:r>
              <a:rPr lang="en-US" sz="940" spc="150" kern="0" dirty="0">
                <a:solidFill>
                  <a:srgbClr val="0B6E99"/>
                </a:solidFill>
                <a:latin typeface="Courier New" pitchFamily="34" charset="0"/>
                <a:ea typeface="Courier New" pitchFamily="34" charset="-122"/>
                <a:cs typeface="Courier New" pitchFamily="34" charset="-120"/>
              </a:rPr>
              <a:t>STEP 3 OF 9</a:t>
            </a:r>
            <a:endParaRPr lang="en-US" sz="940" dirty="0"/>
          </a:p>
        </p:txBody>
      </p:sp>
      <p:sp>
        <p:nvSpPr>
          <p:cNvPr id="7" name="Text 5"/>
          <p:cNvSpPr txBox="1"/>
          <p:nvPr/>
        </p:nvSpPr>
        <p:spPr>
          <a:xfrm>
            <a:off x="835666" y="841479"/>
            <a:ext cx="10577817" cy="357510"/>
          </a:xfrm>
          <a:prstGeom prst="rect">
            <a:avLst/>
          </a:prstGeom>
          <a:noFill/>
          <a:ln/>
        </p:spPr>
        <p:txBody>
          <a:bodyPr wrap="none" lIns="0" tIns="0" rIns="0" bIns="0" rtlCol="0" anchor="t"/>
          <a:lstStyle/>
          <a:p>
            <a:pPr algn="l" indent="0" marL="0">
              <a:lnSpc>
                <a:spcPts val="2810"/>
              </a:lnSpc>
              <a:buNone/>
            </a:pPr>
            <a:r>
              <a:rPr lang="en-US" sz="2610" b="1" spc="-50" kern="0" dirty="0">
                <a:solidFill>
                  <a:srgbClr val="101A22"/>
                </a:solidFill>
                <a:latin typeface="Arial" pitchFamily="34" charset="0"/>
                <a:ea typeface="Arial" pitchFamily="34" charset="-122"/>
                <a:cs typeface="Arial" pitchFamily="34" charset="-120"/>
              </a:rPr>
              <a:t>Install PHP Composer and the two OpenTelemetry PHP packages</a:t>
            </a:r>
            <a:endParaRPr lang="en-US" sz="2610" dirty="0"/>
          </a:p>
        </p:txBody>
      </p:sp>
      <p:sp>
        <p:nvSpPr>
          <p:cNvPr id="8" name="Text 6"/>
          <p:cNvSpPr txBox="1"/>
          <p:nvPr/>
        </p:nvSpPr>
        <p:spPr>
          <a:xfrm>
            <a:off x="835666" y="1396273"/>
            <a:ext cx="10577817" cy="717318"/>
          </a:xfrm>
          <a:prstGeom prst="rect">
            <a:avLst/>
          </a:prstGeom>
          <a:noFill/>
          <a:ln/>
        </p:spPr>
        <p:txBody>
          <a:bodyPr wrap="square" lIns="0" tIns="0" rIns="0" bIns="0" rtlCol="0" anchor="t"/>
          <a:lstStyle/>
          <a:p>
            <a:pPr algn="l" indent="0" marL="0">
              <a:lnSpc>
                <a:spcPts val="2820"/>
              </a:lnSpc>
              <a:buNone/>
            </a:pPr>
            <a:r>
              <a:rPr lang="en-US" sz="1880" dirty="0">
                <a:solidFill>
                  <a:srgbClr val="5A6D7A"/>
                </a:solidFill>
                <a:latin typeface="Arial" pitchFamily="34" charset="0"/>
                <a:ea typeface="Arial" pitchFamily="34" charset="-122"/>
                <a:cs typeface="Arial" pitchFamily="34" charset="-120"/>
              </a:rPr>
              <a:t>The OpenTelemetry PHP code comes as two packages. PHP Composer is the tool that downloads PHP packages. Install PHP Composer first.</a:t>
            </a:r>
            <a:endParaRPr lang="en-US" sz="1880" dirty="0"/>
          </a:p>
        </p:txBody>
      </p:sp>
      <p:sp>
        <p:nvSpPr>
          <p:cNvPr id="9" name="Text 7"/>
          <p:cNvSpPr txBox="1"/>
          <p:nvPr/>
        </p:nvSpPr>
        <p:spPr>
          <a:xfrm>
            <a:off x="835666" y="2390842"/>
            <a:ext cx="5133556" cy="176479"/>
          </a:xfrm>
          <a:prstGeom prst="rect">
            <a:avLst/>
          </a:prstGeom>
          <a:noFill/>
          <a:ln/>
        </p:spPr>
        <p:txBody>
          <a:bodyPr wrap="none" lIns="0" tIns="0" rIns="0" bIns="0" rtlCol="0" anchor="t"/>
          <a:lstStyle/>
          <a:p>
            <a:pPr algn="l" indent="0" marL="0">
              <a:lnSpc>
                <a:spcPts val="1390"/>
              </a:lnSpc>
              <a:buNone/>
            </a:pPr>
            <a:r>
              <a:rPr lang="en-US" sz="1160" b="1" dirty="0">
                <a:solidFill>
                  <a:srgbClr val="0B6E99"/>
                </a:solidFill>
                <a:latin typeface="Courier New" pitchFamily="34" charset="0"/>
                <a:ea typeface="Courier New" pitchFamily="34" charset="-122"/>
                <a:cs typeface="Courier New" pitchFamily="34" charset="-120"/>
              </a:rPr>
              <a:t>Ubuntu 24.04 LTS</a:t>
            </a:r>
            <a:endParaRPr lang="en-US" sz="1160" dirty="0"/>
          </a:p>
        </p:txBody>
      </p:sp>
      <p:sp>
        <p:nvSpPr>
          <p:cNvPr id="10" name="Text 8"/>
          <p:cNvSpPr txBox="1"/>
          <p:nvPr/>
        </p:nvSpPr>
        <p:spPr>
          <a:xfrm>
            <a:off x="1001116" y="2775186"/>
            <a:ext cx="4802657" cy="370594"/>
          </a:xfrm>
          <a:prstGeom prst="rect">
            <a:avLst/>
          </a:prstGeom>
          <a:noFill/>
          <a:ln/>
        </p:spPr>
        <p:txBody>
          <a:bodyPr wrap="square" lIns="0" tIns="0" rIns="0" bIns="0" rtlCol="0" anchor="t"/>
          <a:lstStyle/>
          <a:p>
            <a:pPr algn="l" indent="0" marL="0">
              <a:lnSpc>
                <a:spcPts val="1460"/>
              </a:lnSpc>
              <a:buNone/>
            </a:pPr>
            <a:r>
              <a:rPr lang="en-US" sz="940" dirty="0">
                <a:solidFill>
                  <a:srgbClr val="86A5B4"/>
                </a:solidFill>
                <a:latin typeface="Courier New" pitchFamily="34" charset="0"/>
                <a:ea typeface="Courier New" pitchFamily="34" charset="-122"/>
                <a:cs typeface="Courier New" pitchFamily="34" charset="-120"/>
              </a:rPr>
              <a:t># packaged, version 2.7</a:t>
            </a:r>
            <a:pPr algn="l" indent="0" marL="0">
              <a:lnSpc>
                <a:spcPts val="1460"/>
              </a:lnSpc>
              <a:buNone/>
            </a:pPr>
            <a:r>
              <a:rPr lang="en-US" sz="940" dirty="0">
                <a:solidFill>
                  <a:srgbClr val="E4EDF2"/>
                </a:solidFill>
                <a:latin typeface="Courier New" pitchFamily="34" charset="0"/>
                <a:ea typeface="Courier New" pitchFamily="34" charset="-122"/>
                <a:cs typeface="Courier New" pitchFamily="34" charset="-120"/>
              </a:rPr>
              <a:t> </a:t>
            </a:r>
            <a:endParaRPr lang="en-US" sz="940" dirty="0"/>
          </a:p>
          <a:p>
            <a:pPr algn="l" indent="0" marL="0">
              <a:lnSpc>
                <a:spcPts val="1460"/>
              </a:lnSpc>
              <a:buNone/>
            </a:pPr>
            <a:r>
              <a:rPr lang="en-US" sz="940" dirty="0">
                <a:solidFill>
                  <a:srgbClr val="E4EDF2"/>
                </a:solidFill>
                <a:latin typeface="Courier New" pitchFamily="34" charset="0"/>
                <a:ea typeface="Courier New" pitchFamily="34" charset="-122"/>
                <a:cs typeface="Courier New" pitchFamily="34" charset="-120"/>
              </a:rPr>
              <a:t>apt install composer</a:t>
            </a:r>
            <a:endParaRPr lang="en-US" sz="940" dirty="0"/>
          </a:p>
        </p:txBody>
      </p:sp>
      <p:sp>
        <p:nvSpPr>
          <p:cNvPr id="11" name="Text 9"/>
          <p:cNvSpPr txBox="1"/>
          <p:nvPr/>
        </p:nvSpPr>
        <p:spPr>
          <a:xfrm>
            <a:off x="6279928" y="2390842"/>
            <a:ext cx="5133556" cy="176479"/>
          </a:xfrm>
          <a:prstGeom prst="rect">
            <a:avLst/>
          </a:prstGeom>
          <a:noFill/>
          <a:ln/>
        </p:spPr>
        <p:txBody>
          <a:bodyPr wrap="none" lIns="0" tIns="0" rIns="0" bIns="0" rtlCol="0" anchor="t"/>
          <a:lstStyle/>
          <a:p>
            <a:pPr algn="l" indent="0" marL="0">
              <a:lnSpc>
                <a:spcPts val="1390"/>
              </a:lnSpc>
              <a:buNone/>
            </a:pPr>
            <a:r>
              <a:rPr lang="en-US" sz="1160" b="1" dirty="0">
                <a:solidFill>
                  <a:srgbClr val="0B6E99"/>
                </a:solidFill>
                <a:latin typeface="Courier New" pitchFamily="34" charset="0"/>
                <a:ea typeface="Courier New" pitchFamily="34" charset="-122"/>
                <a:cs typeface="Courier New" pitchFamily="34" charset="-120"/>
              </a:rPr>
              <a:t>RHEL 9 · Rocky 9</a:t>
            </a:r>
            <a:endParaRPr lang="en-US" sz="1160" dirty="0"/>
          </a:p>
        </p:txBody>
      </p:sp>
      <p:sp>
        <p:nvSpPr>
          <p:cNvPr id="12" name="Text 10"/>
          <p:cNvSpPr txBox="1"/>
          <p:nvPr/>
        </p:nvSpPr>
        <p:spPr>
          <a:xfrm>
            <a:off x="6445377" y="2775186"/>
            <a:ext cx="4802657" cy="741036"/>
          </a:xfrm>
          <a:prstGeom prst="rect">
            <a:avLst/>
          </a:prstGeom>
          <a:noFill/>
          <a:ln/>
        </p:spPr>
        <p:txBody>
          <a:bodyPr wrap="square" lIns="0" tIns="0" rIns="0" bIns="0" rtlCol="0" anchor="t"/>
          <a:lstStyle/>
          <a:p>
            <a:pPr algn="l" indent="0" marL="0">
              <a:lnSpc>
                <a:spcPts val="1460"/>
              </a:lnSpc>
              <a:buNone/>
            </a:pPr>
            <a:r>
              <a:rPr lang="en-US" sz="940" dirty="0">
                <a:solidFill>
                  <a:srgbClr val="86A5B4"/>
                </a:solidFill>
                <a:latin typeface="Courier New" pitchFamily="34" charset="0"/>
                <a:ea typeface="Courier New" pitchFamily="34" charset="-122"/>
                <a:cs typeface="Courier New" pitchFamily="34" charset="-120"/>
              </a:rPr>
              <a:t># not in AppStream — use the installer</a:t>
            </a:r>
            <a:pPr algn="l" indent="0" marL="0">
              <a:lnSpc>
                <a:spcPts val="1460"/>
              </a:lnSpc>
              <a:buNone/>
            </a:pPr>
            <a:r>
              <a:rPr lang="en-US" sz="940" dirty="0">
                <a:solidFill>
                  <a:srgbClr val="E4EDF2"/>
                </a:solidFill>
                <a:latin typeface="Courier New" pitchFamily="34" charset="0"/>
                <a:ea typeface="Courier New" pitchFamily="34" charset="-122"/>
                <a:cs typeface="Courier New" pitchFamily="34" charset="-120"/>
              </a:rPr>
              <a:t> </a:t>
            </a:r>
            <a:endParaRPr lang="en-US" sz="940" dirty="0"/>
          </a:p>
          <a:p>
            <a:pPr algn="l" indent="0" marL="0">
              <a:lnSpc>
                <a:spcPts val="1460"/>
              </a:lnSpc>
              <a:buNone/>
            </a:pPr>
            <a:r>
              <a:rPr lang="en-US" sz="940" dirty="0">
                <a:solidFill>
                  <a:srgbClr val="E4EDF2"/>
                </a:solidFill>
                <a:latin typeface="Courier New" pitchFamily="34" charset="0"/>
                <a:ea typeface="Courier New" pitchFamily="34" charset="-122"/>
                <a:cs typeface="Courier New" pitchFamily="34" charset="-120"/>
              </a:rPr>
              <a:t>curl -sS https://getcomposer.org/installer \</a:t>
            </a:r>
            <a:endParaRPr lang="en-US" sz="940" dirty="0"/>
          </a:p>
          <a:p>
            <a:pPr algn="l" indent="0" marL="0">
              <a:lnSpc>
                <a:spcPts val="1460"/>
              </a:lnSpc>
              <a:buNone/>
            </a:pPr>
            <a:r>
              <a:rPr lang="en-US" sz="940" dirty="0">
                <a:solidFill>
                  <a:srgbClr val="E4EDF2"/>
                </a:solidFill>
                <a:latin typeface="Courier New" pitchFamily="34" charset="0"/>
                <a:ea typeface="Courier New" pitchFamily="34" charset="-122"/>
                <a:cs typeface="Courier New" pitchFamily="34" charset="-120"/>
              </a:rPr>
              <a:t>  | php</a:t>
            </a:r>
            <a:endParaRPr lang="en-US" sz="940" dirty="0"/>
          </a:p>
          <a:p>
            <a:pPr algn="l" indent="0" marL="0">
              <a:lnSpc>
                <a:spcPts val="1460"/>
              </a:lnSpc>
              <a:buNone/>
            </a:pPr>
            <a:r>
              <a:rPr lang="en-US" sz="940" dirty="0">
                <a:solidFill>
                  <a:srgbClr val="E4EDF2"/>
                </a:solidFill>
                <a:latin typeface="Courier New" pitchFamily="34" charset="0"/>
                <a:ea typeface="Courier New" pitchFamily="34" charset="-122"/>
                <a:cs typeface="Courier New" pitchFamily="34" charset="-120"/>
              </a:rPr>
              <a:t>mv composer.phar /usr/local/bin/composer</a:t>
            </a:r>
            <a:endParaRPr lang="en-US" sz="940" dirty="0"/>
          </a:p>
        </p:txBody>
      </p:sp>
      <p:sp>
        <p:nvSpPr>
          <p:cNvPr id="13" name="Text 11"/>
          <p:cNvSpPr txBox="1"/>
          <p:nvPr/>
        </p:nvSpPr>
        <p:spPr>
          <a:xfrm>
            <a:off x="835666" y="3866078"/>
            <a:ext cx="10577817" cy="720192"/>
          </a:xfrm>
          <a:prstGeom prst="rect">
            <a:avLst/>
          </a:prstGeom>
          <a:noFill/>
          <a:ln/>
        </p:spPr>
        <p:txBody>
          <a:bodyPr wrap="square" lIns="0" tIns="0" rIns="0" bIns="0" rtlCol="0" anchor="t"/>
          <a:lstStyle/>
          <a:p>
            <a:pPr algn="l" indent="0" marL="0">
              <a:lnSpc>
                <a:spcPts val="2820"/>
              </a:lnSpc>
              <a:buNone/>
            </a:pPr>
            <a:r>
              <a:rPr lang="en-US" sz="1880" dirty="0">
                <a:solidFill>
                  <a:srgbClr val="5A6D7A"/>
                </a:solidFill>
                <a:latin typeface="Arial" pitchFamily="34" charset="0"/>
                <a:ea typeface="Arial" pitchFamily="34" charset="-122"/>
                <a:cs typeface="Arial" pitchFamily="34" charset="-120"/>
              </a:rPr>
              <a:t>Then run these two commands in the Moodle folder. They are the same on Ubuntu and on Red Hat. Each command downloads one package into the folder </a:t>
            </a:r>
            <a:pPr algn="l" indent="0" marL="0">
              <a:lnSpc>
                <a:spcPts val="2820"/>
              </a:lnSpc>
              <a:buNone/>
            </a:pPr>
            <a:r>
              <a:rPr lang="en-US" sz="1660" dirty="0">
                <a:solidFill>
                  <a:srgbClr val="5A6D7A"/>
                </a:solidFill>
                <a:highlight>
                  <a:srgbClr val="E1F0F7"/>
                </a:highlight>
                <a:latin typeface="Courier New" pitchFamily="34" charset="0"/>
                <a:ea typeface="Courier New" pitchFamily="34" charset="-122"/>
                <a:cs typeface="Courier New" pitchFamily="34" charset="-120"/>
              </a:rPr>
              <a:t>/var/www/moodle/vendor/</a:t>
            </a:r>
            <a:pPr algn="l" indent="0" marL="0">
              <a:lnSpc>
                <a:spcPts val="2820"/>
              </a:lnSpc>
              <a:buNone/>
            </a:pPr>
            <a:r>
              <a:rPr lang="en-US" sz="1880" dirty="0">
                <a:solidFill>
                  <a:srgbClr val="5A6D7A"/>
                </a:solidFill>
                <a:latin typeface="Arial" pitchFamily="34" charset="0"/>
                <a:ea typeface="Arial" pitchFamily="34" charset="-122"/>
                <a:cs typeface="Arial" pitchFamily="34" charset="-120"/>
              </a:rPr>
              <a:t>.</a:t>
            </a:r>
            <a:endParaRPr lang="en-US" sz="1880" dirty="0"/>
          </a:p>
        </p:txBody>
      </p:sp>
      <p:sp>
        <p:nvSpPr>
          <p:cNvPr id="14" name="Text 12"/>
          <p:cNvSpPr txBox="1"/>
          <p:nvPr/>
        </p:nvSpPr>
        <p:spPr>
          <a:xfrm>
            <a:off x="1001116" y="4916794"/>
            <a:ext cx="10246919" cy="555816"/>
          </a:xfrm>
          <a:prstGeom prst="rect">
            <a:avLst/>
          </a:prstGeom>
          <a:noFill/>
          <a:ln/>
        </p:spPr>
        <p:txBody>
          <a:bodyPr wrap="square" lIns="0" tIns="0" rIns="0" bIns="0" rtlCol="0" anchor="t"/>
          <a:lstStyle/>
          <a:p>
            <a:pPr algn="l" indent="0" marL="0">
              <a:lnSpc>
                <a:spcPts val="1460"/>
              </a:lnSpc>
              <a:buNone/>
            </a:pPr>
            <a:r>
              <a:rPr lang="en-US" sz="940" dirty="0">
                <a:solidFill>
                  <a:srgbClr val="E4EDF2"/>
                </a:solidFill>
                <a:latin typeface="Courier New" pitchFamily="34" charset="0"/>
                <a:ea typeface="Courier New" pitchFamily="34" charset="-122"/>
                <a:cs typeface="Courier New" pitchFamily="34" charset="-120"/>
              </a:rPr>
              <a:t>cd /var/www/moodle</a:t>
            </a:r>
            <a:endParaRPr lang="en-US" sz="940" dirty="0"/>
          </a:p>
          <a:p>
            <a:pPr algn="l" indent="0" marL="0">
              <a:lnSpc>
                <a:spcPts val="1460"/>
              </a:lnSpc>
              <a:buNone/>
            </a:pPr>
            <a:r>
              <a:rPr lang="en-US" sz="940" dirty="0">
                <a:solidFill>
                  <a:srgbClr val="E4EDF2"/>
                </a:solidFill>
                <a:latin typeface="Courier New" pitchFamily="34" charset="0"/>
                <a:ea typeface="Courier New" pitchFamily="34" charset="-122"/>
                <a:cs typeface="Courier New" pitchFamily="34" charset="-120"/>
              </a:rPr>
              <a:t>composer require moodlehq/moodle-package-otel   </a:t>
            </a:r>
            <a:pPr algn="l" indent="0" marL="0">
              <a:lnSpc>
                <a:spcPts val="1460"/>
              </a:lnSpc>
              <a:buNone/>
            </a:pPr>
            <a:r>
              <a:rPr lang="en-US" sz="940" dirty="0">
                <a:solidFill>
                  <a:srgbClr val="86A5B4"/>
                </a:solidFill>
                <a:latin typeface="Courier New" pitchFamily="34" charset="0"/>
                <a:ea typeface="Courier New" pitchFamily="34" charset="-122"/>
                <a:cs typeface="Courier New" pitchFamily="34" charset="-120"/>
              </a:rPr>
              <a:t># records the Moodle events and timings</a:t>
            </a:r>
            <a:pPr algn="l" indent="0" marL="0">
              <a:lnSpc>
                <a:spcPts val="1460"/>
              </a:lnSpc>
              <a:buNone/>
            </a:pPr>
            <a:r>
              <a:rPr lang="en-US" sz="940" dirty="0">
                <a:solidFill>
                  <a:srgbClr val="E4EDF2"/>
                </a:solidFill>
                <a:latin typeface="Courier New" pitchFamily="34" charset="0"/>
                <a:ea typeface="Courier New" pitchFamily="34" charset="-122"/>
                <a:cs typeface="Courier New" pitchFamily="34" charset="-120"/>
              </a:rPr>
              <a:t> </a:t>
            </a:r>
            <a:endParaRPr lang="en-US" sz="940" dirty="0"/>
          </a:p>
          <a:p>
            <a:pPr algn="l" indent="0" marL="0">
              <a:lnSpc>
                <a:spcPts val="1460"/>
              </a:lnSpc>
              <a:buNone/>
            </a:pPr>
            <a:r>
              <a:rPr lang="en-US" sz="940" dirty="0">
                <a:solidFill>
                  <a:srgbClr val="E4EDF2"/>
                </a:solidFill>
                <a:latin typeface="Courier New" pitchFamily="34" charset="0"/>
                <a:ea typeface="Courier New" pitchFamily="34" charset="-122"/>
                <a:cs typeface="Courier New" pitchFamily="34" charset="-120"/>
              </a:rPr>
              <a:t>composer require open-telemetry/exporter-otlp   </a:t>
            </a:r>
            <a:pPr algn="l" indent="0" marL="0">
              <a:lnSpc>
                <a:spcPts val="1460"/>
              </a:lnSpc>
              <a:buNone/>
            </a:pPr>
            <a:r>
              <a:rPr lang="en-US" sz="940" dirty="0">
                <a:solidFill>
                  <a:srgbClr val="86A5B4"/>
                </a:solidFill>
                <a:latin typeface="Courier New" pitchFamily="34" charset="0"/>
                <a:ea typeface="Courier New" pitchFamily="34" charset="-122"/>
                <a:cs typeface="Courier New" pitchFamily="34" charset="-120"/>
              </a:rPr>
              <a:t># sends the records to the OpenTelemetry Collector</a:t>
            </a:r>
            <a:endParaRPr lang="en-US" sz="940" dirty="0"/>
          </a:p>
        </p:txBody>
      </p:sp>
      <p:sp>
        <p:nvSpPr>
          <p:cNvPr id="15" name="Text 13"/>
          <p:cNvSpPr txBox="1"/>
          <p:nvPr/>
        </p:nvSpPr>
        <p:spPr>
          <a:xfrm>
            <a:off x="647700" y="6464488"/>
            <a:ext cx="948928" cy="143389"/>
          </a:xfrm>
          <a:prstGeom prst="rect">
            <a:avLst/>
          </a:prstGeom>
          <a:noFill/>
          <a:ln/>
        </p:spPr>
        <p:txBody>
          <a:bodyPr wrap="none" lIns="0" tIns="0" rIns="0" bIns="0" rtlCol="0" anchor="t"/>
          <a:lstStyle/>
          <a:p>
            <a:pPr algn="l" indent="0" marL="0">
              <a:lnSpc>
                <a:spcPts val="1130"/>
              </a:lnSpc>
              <a:buNone/>
            </a:pPr>
            <a:r>
              <a:rPr lang="en-US" sz="940" dirty="0">
                <a:solidFill>
                  <a:srgbClr val="8496A2"/>
                </a:solidFill>
                <a:latin typeface="Courier New" pitchFamily="34" charset="0"/>
                <a:ea typeface="Courier New" pitchFamily="34" charset="-122"/>
                <a:cs typeface="Courier New" pitchFamily="34" charset="-120"/>
              </a:rPr>
              <a:t>Walk-through</a:t>
            </a:r>
            <a:endParaRPr lang="en-US" sz="940" dirty="0"/>
          </a:p>
        </p:txBody>
      </p:sp>
      <p:sp>
        <p:nvSpPr>
          <p:cNvPr id="16" name="Text 14"/>
          <p:cNvSpPr txBox="1"/>
          <p:nvPr/>
        </p:nvSpPr>
        <p:spPr>
          <a:xfrm>
            <a:off x="11024146" y="6464488"/>
            <a:ext cx="577304" cy="143389"/>
          </a:xfrm>
          <a:prstGeom prst="rect">
            <a:avLst/>
          </a:prstGeom>
          <a:noFill/>
          <a:ln/>
        </p:spPr>
        <p:txBody>
          <a:bodyPr wrap="none" lIns="0" tIns="0" rIns="0" bIns="0" rtlCol="0" anchor="t"/>
          <a:lstStyle/>
          <a:p>
            <a:pPr algn="l" indent="0" marL="0">
              <a:lnSpc>
                <a:spcPts val="1130"/>
              </a:lnSpc>
              <a:buNone/>
            </a:pPr>
            <a:r>
              <a:rPr lang="en-US" sz="940" dirty="0">
                <a:solidFill>
                  <a:srgbClr val="8496A2"/>
                </a:solidFill>
                <a:latin typeface="Courier New" pitchFamily="34" charset="0"/>
                <a:ea typeface="Courier New" pitchFamily="34" charset="-122"/>
                <a:cs typeface="Courier New" pitchFamily="34" charset="-120"/>
              </a:rPr>
              <a:t>17 / 39</a:t>
            </a:r>
            <a:endParaRPr lang="en-US" sz="940" dirty="0"/>
          </a:p>
        </p:txBody>
      </p:sp>
      <p:pic>
        <p:nvPicPr>
          <p:cNvPr id="900" name="NetSapiensis mark" descr="NetSapiensis"/>
          <p:cNvPicPr>
            <a:picLocks noChangeAspect="1"/>
          </p:cNvPicPr>
          <p:nvPr/>
        </p:nvPicPr>
        <p:blipFill>
          <a:blip r:embed="rId3"/>
          <a:stretch>
            <a:fillRect/>
          </a:stretch>
        </p:blipFill>
        <p:spPr>
          <a:xfrm>
            <a:off x="10776204" y="6419088"/>
            <a:ext cx="178308" cy="237744"/>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7700" y="2461022"/>
            <a:ext cx="10896600" cy="1455837"/>
          </a:xfrm>
          <a:prstGeom prst="roundRect">
            <a:avLst>
              <a:gd name="adj" fmla="val 8219"/>
            </a:avLst>
          </a:prstGeom>
          <a:solidFill>
            <a:srgbClr val="0F2027"/>
          </a:solidFill>
          <a:ln/>
        </p:spPr>
      </p:sp>
      <p:sp>
        <p:nvSpPr>
          <p:cNvPr id="3" name="Shape 1"/>
          <p:cNvSpPr/>
          <p:nvPr/>
        </p:nvSpPr>
        <p:spPr>
          <a:xfrm>
            <a:off x="647700" y="6343650"/>
            <a:ext cx="10896600" cy="0"/>
          </a:xfrm>
          <a:prstGeom prst="line">
            <a:avLst/>
          </a:prstGeom>
          <a:noFill/>
          <a:ln w="10160">
            <a:solidFill>
              <a:srgbClr val="CBD7DF"/>
            </a:solidFill>
            <a:prstDash val="solid"/>
          </a:ln>
        </p:spPr>
      </p:sp>
      <p:sp>
        <p:nvSpPr>
          <p:cNvPr id="4" name="Text 2"/>
          <p:cNvSpPr txBox="1"/>
          <p:nvPr/>
        </p:nvSpPr>
        <p:spPr>
          <a:xfrm>
            <a:off x="647700" y="511731"/>
            <a:ext cx="10953750" cy="185738"/>
          </a:xfrm>
          <a:prstGeom prst="rect">
            <a:avLst/>
          </a:prstGeom>
          <a:noFill/>
          <a:ln/>
        </p:spPr>
        <p:txBody>
          <a:bodyPr wrap="none" lIns="0" tIns="0" rIns="0" bIns="0" rtlCol="0" anchor="t"/>
          <a:lstStyle/>
          <a:p>
            <a:pPr algn="l" indent="0" marL="0">
              <a:lnSpc>
                <a:spcPts val="1460"/>
              </a:lnSpc>
              <a:buNone/>
            </a:pPr>
            <a:r>
              <a:rPr lang="en-US" sz="980" spc="160" kern="0" dirty="0">
                <a:solidFill>
                  <a:srgbClr val="0B6E99"/>
                </a:solidFill>
                <a:latin typeface="Courier New" pitchFamily="34" charset="0"/>
                <a:ea typeface="Courier New" pitchFamily="34" charset="-122"/>
                <a:cs typeface="Courier New" pitchFamily="34" charset="-120"/>
              </a:rPr>
              <a:t>STEP 4 OF 9</a:t>
            </a:r>
            <a:endParaRPr lang="en-US" sz="980" dirty="0"/>
          </a:p>
        </p:txBody>
      </p:sp>
      <p:sp>
        <p:nvSpPr>
          <p:cNvPr id="5" name="Text 3"/>
          <p:cNvSpPr txBox="1"/>
          <p:nvPr/>
        </p:nvSpPr>
        <p:spPr>
          <a:xfrm>
            <a:off x="647700" y="852488"/>
            <a:ext cx="10953750" cy="370332"/>
          </a:xfrm>
          <a:prstGeom prst="rect">
            <a:avLst/>
          </a:prstGeom>
          <a:noFill/>
          <a:ln/>
        </p:spPr>
        <p:txBody>
          <a:bodyPr wrap="none" lIns="0" tIns="0" rIns="0" bIns="0" rtlCol="0" anchor="t"/>
          <a:lstStyle/>
          <a:p>
            <a:pPr algn="l" indent="0" marL="0">
              <a:lnSpc>
                <a:spcPts val="2920"/>
              </a:lnSpc>
              <a:buNone/>
            </a:pPr>
            <a:r>
              <a:rPr lang="en-US" sz="2700" b="1" spc="-50" kern="0" dirty="0">
                <a:solidFill>
                  <a:srgbClr val="101A22"/>
                </a:solidFill>
                <a:latin typeface="Arial" pitchFamily="34" charset="0"/>
                <a:ea typeface="Arial" pitchFamily="34" charset="-122"/>
                <a:cs typeface="Arial" pitchFamily="34" charset="-120"/>
              </a:rPr>
              <a:t>Six environment variables configure the OpenTelemetry PHP libraries</a:t>
            </a:r>
            <a:endParaRPr lang="en-US" sz="2700" dirty="0"/>
          </a:p>
        </p:txBody>
      </p:sp>
      <p:sp>
        <p:nvSpPr>
          <p:cNvPr id="6" name="Text 4"/>
          <p:cNvSpPr txBox="1"/>
          <p:nvPr/>
        </p:nvSpPr>
        <p:spPr>
          <a:xfrm>
            <a:off x="647700" y="1427083"/>
            <a:ext cx="10953750" cy="742950"/>
          </a:xfrm>
          <a:prstGeom prst="rect">
            <a:avLst/>
          </a:prstGeom>
          <a:noFill/>
          <a:ln/>
        </p:spPr>
        <p:txBody>
          <a:bodyPr wrap="square" lIns="0" tIns="0" rIns="0" bIns="0" rtlCol="0" anchor="t"/>
          <a:lstStyle/>
          <a:p>
            <a:pPr algn="l" indent="0" marL="0">
              <a:lnSpc>
                <a:spcPts val="2930"/>
              </a:lnSpc>
              <a:buNone/>
            </a:pPr>
            <a:r>
              <a:rPr lang="en-US" sz="1950" dirty="0">
                <a:solidFill>
                  <a:srgbClr val="5A6D7A"/>
                </a:solidFill>
                <a:latin typeface="Arial" pitchFamily="34" charset="0"/>
                <a:ea typeface="Arial" pitchFamily="34" charset="-122"/>
                <a:cs typeface="Arial" pitchFamily="34" charset="-120"/>
              </a:rPr>
              <a:t>The OpenTelemetry PHP code reads its settings from environment variables of the PHP process. These are the six.</a:t>
            </a:r>
            <a:endParaRPr lang="en-US" sz="1950" dirty="0"/>
          </a:p>
        </p:txBody>
      </p:sp>
      <p:sp>
        <p:nvSpPr>
          <p:cNvPr id="7" name="Text 5"/>
          <p:cNvSpPr txBox="1"/>
          <p:nvPr/>
        </p:nvSpPr>
        <p:spPr>
          <a:xfrm>
            <a:off x="819150" y="2588657"/>
            <a:ext cx="10610850" cy="1151037"/>
          </a:xfrm>
          <a:prstGeom prst="rect">
            <a:avLst/>
          </a:prstGeom>
          <a:noFill/>
          <a:ln/>
        </p:spPr>
        <p:txBody>
          <a:bodyPr wrap="square" lIns="0" tIns="0" rIns="0" bIns="0" rtlCol="0" anchor="t"/>
          <a:lstStyle/>
          <a:p>
            <a:pPr algn="l" indent="0" marL="0">
              <a:lnSpc>
                <a:spcPts val="1510"/>
              </a:lnSpc>
              <a:buNone/>
            </a:pPr>
            <a:r>
              <a:rPr lang="en-US" sz="980" dirty="0">
                <a:solidFill>
                  <a:srgbClr val="E4EDF2"/>
                </a:solidFill>
                <a:latin typeface="Courier New" pitchFamily="34" charset="0"/>
                <a:ea typeface="Courier New" pitchFamily="34" charset="-122"/>
                <a:cs typeface="Courier New" pitchFamily="34" charset="-120"/>
              </a:rPr>
              <a:t>OTEL_PHP_AUTOLOAD_ENABLED=true                             </a:t>
            </a:r>
            <a:pPr algn="l" indent="0" marL="0">
              <a:lnSpc>
                <a:spcPts val="1510"/>
              </a:lnSpc>
              <a:buNone/>
            </a:pPr>
            <a:r>
              <a:rPr lang="en-US" sz="980" dirty="0">
                <a:solidFill>
                  <a:srgbClr val="86A5B4"/>
                </a:solidFill>
                <a:latin typeface="Courier New" pitchFamily="34" charset="0"/>
                <a:ea typeface="Courier New" pitchFamily="34" charset="-122"/>
                <a:cs typeface="Courier New" pitchFamily="34" charset="-120"/>
              </a:rPr>
              <a:t># switches the OpenTelemetry PHP code on</a:t>
            </a:r>
            <a:pPr algn="l" indent="0" marL="0">
              <a:lnSpc>
                <a:spcPts val="1510"/>
              </a:lnSpc>
              <a:buNone/>
            </a:pPr>
            <a:r>
              <a:rPr lang="en-US" sz="980" dirty="0">
                <a:solidFill>
                  <a:srgbClr val="E4EDF2"/>
                </a:solidFill>
                <a:latin typeface="Courier New" pitchFamily="34" charset="0"/>
                <a:ea typeface="Courier New" pitchFamily="34" charset="-122"/>
                <a:cs typeface="Courier New" pitchFamily="34" charset="-120"/>
              </a:rPr>
              <a:t> </a:t>
            </a:r>
            <a:endParaRPr lang="en-US" sz="980" dirty="0"/>
          </a:p>
          <a:p>
            <a:pPr algn="l" indent="0" marL="0">
              <a:lnSpc>
                <a:spcPts val="1510"/>
              </a:lnSpc>
              <a:buNone/>
            </a:pPr>
            <a:r>
              <a:rPr lang="en-US" sz="980" dirty="0">
                <a:solidFill>
                  <a:srgbClr val="E4EDF2"/>
                </a:solidFill>
                <a:latin typeface="Courier New" pitchFamily="34" charset="0"/>
                <a:ea typeface="Courier New" pitchFamily="34" charset="-122"/>
                <a:cs typeface="Courier New" pitchFamily="34" charset="-120"/>
              </a:rPr>
              <a:t>OTEL_EXPORTER_OTLP_ENDPOINT=http://localhost:4318          </a:t>
            </a:r>
            <a:pPr algn="l" indent="0" marL="0">
              <a:lnSpc>
                <a:spcPts val="1510"/>
              </a:lnSpc>
              <a:buNone/>
            </a:pPr>
            <a:r>
              <a:rPr lang="en-US" sz="980" dirty="0">
                <a:solidFill>
                  <a:srgbClr val="86A5B4"/>
                </a:solidFill>
                <a:latin typeface="Courier New" pitchFamily="34" charset="0"/>
                <a:ea typeface="Courier New" pitchFamily="34" charset="-122"/>
                <a:cs typeface="Courier New" pitchFamily="34" charset="-120"/>
              </a:rPr>
              <a:t># the address of the OpenTelemetry Collector</a:t>
            </a:r>
            <a:pPr algn="l" indent="0" marL="0">
              <a:lnSpc>
                <a:spcPts val="1510"/>
              </a:lnSpc>
              <a:buNone/>
            </a:pPr>
            <a:r>
              <a:rPr lang="en-US" sz="980" dirty="0">
                <a:solidFill>
                  <a:srgbClr val="E4EDF2"/>
                </a:solidFill>
                <a:latin typeface="Courier New" pitchFamily="34" charset="0"/>
                <a:ea typeface="Courier New" pitchFamily="34" charset="-122"/>
                <a:cs typeface="Courier New" pitchFamily="34" charset="-120"/>
              </a:rPr>
              <a:t> </a:t>
            </a:r>
            <a:endParaRPr lang="en-US" sz="980" dirty="0"/>
          </a:p>
          <a:p>
            <a:pPr algn="l" indent="0" marL="0">
              <a:lnSpc>
                <a:spcPts val="1510"/>
              </a:lnSpc>
              <a:buNone/>
            </a:pPr>
            <a:r>
              <a:rPr lang="en-US" sz="980" dirty="0">
                <a:solidFill>
                  <a:srgbClr val="E4EDF2"/>
                </a:solidFill>
                <a:latin typeface="Courier New" pitchFamily="34" charset="0"/>
                <a:ea typeface="Courier New" pitchFamily="34" charset="-122"/>
                <a:cs typeface="Courier New" pitchFamily="34" charset="-120"/>
              </a:rPr>
              <a:t>OTEL_EXPORTER_OTLP_PROTOCOL=http/protobuf                  </a:t>
            </a:r>
            <a:pPr algn="l" indent="0" marL="0">
              <a:lnSpc>
                <a:spcPts val="1510"/>
              </a:lnSpc>
              <a:buNone/>
            </a:pPr>
            <a:r>
              <a:rPr lang="en-US" sz="980" dirty="0">
                <a:solidFill>
                  <a:srgbClr val="86A5B4"/>
                </a:solidFill>
                <a:latin typeface="Courier New" pitchFamily="34" charset="0"/>
                <a:ea typeface="Courier New" pitchFamily="34" charset="-122"/>
                <a:cs typeface="Courier New" pitchFamily="34" charset="-120"/>
              </a:rPr>
              <a:t># the data format on the network</a:t>
            </a:r>
            <a:pPr algn="l" indent="0" marL="0">
              <a:lnSpc>
                <a:spcPts val="1510"/>
              </a:lnSpc>
              <a:buNone/>
            </a:pPr>
            <a:r>
              <a:rPr lang="en-US" sz="980" dirty="0">
                <a:solidFill>
                  <a:srgbClr val="E4EDF2"/>
                </a:solidFill>
                <a:latin typeface="Courier New" pitchFamily="34" charset="0"/>
                <a:ea typeface="Courier New" pitchFamily="34" charset="-122"/>
                <a:cs typeface="Courier New" pitchFamily="34" charset="-120"/>
              </a:rPr>
              <a:t> </a:t>
            </a:r>
            <a:endParaRPr lang="en-US" sz="980" dirty="0"/>
          </a:p>
          <a:p>
            <a:pPr algn="l" indent="0" marL="0">
              <a:lnSpc>
                <a:spcPts val="1510"/>
              </a:lnSpc>
              <a:buNone/>
            </a:pPr>
            <a:r>
              <a:rPr lang="en-US" sz="980" dirty="0">
                <a:solidFill>
                  <a:srgbClr val="E4EDF2"/>
                </a:solidFill>
                <a:latin typeface="Courier New" pitchFamily="34" charset="0"/>
                <a:ea typeface="Courier New" pitchFamily="34" charset="-122"/>
                <a:cs typeface="Courier New" pitchFamily="34" charset="-120"/>
              </a:rPr>
              <a:t>OTEL_TRACES_EXPORTER=otlp                                  </a:t>
            </a:r>
            <a:pPr algn="l" indent="0" marL="0">
              <a:lnSpc>
                <a:spcPts val="1510"/>
              </a:lnSpc>
              <a:buNone/>
            </a:pPr>
            <a:r>
              <a:rPr lang="en-US" sz="980" dirty="0">
                <a:solidFill>
                  <a:srgbClr val="86A5B4"/>
                </a:solidFill>
                <a:latin typeface="Courier New" pitchFamily="34" charset="0"/>
                <a:ea typeface="Courier New" pitchFamily="34" charset="-122"/>
                <a:cs typeface="Courier New" pitchFamily="34" charset="-120"/>
              </a:rPr>
              <a:t># sends the timings</a:t>
            </a:r>
            <a:pPr algn="l" indent="0" marL="0">
              <a:lnSpc>
                <a:spcPts val="1510"/>
              </a:lnSpc>
              <a:buNone/>
            </a:pPr>
            <a:r>
              <a:rPr lang="en-US" sz="980" dirty="0">
                <a:solidFill>
                  <a:srgbClr val="E4EDF2"/>
                </a:solidFill>
                <a:latin typeface="Courier New" pitchFamily="34" charset="0"/>
                <a:ea typeface="Courier New" pitchFamily="34" charset="-122"/>
                <a:cs typeface="Courier New" pitchFamily="34" charset="-120"/>
              </a:rPr>
              <a:t> </a:t>
            </a:r>
            <a:endParaRPr lang="en-US" sz="980" dirty="0"/>
          </a:p>
          <a:p>
            <a:pPr algn="l" indent="0" marL="0">
              <a:lnSpc>
                <a:spcPts val="1510"/>
              </a:lnSpc>
              <a:buNone/>
            </a:pPr>
            <a:r>
              <a:rPr lang="en-US" sz="980" dirty="0">
                <a:solidFill>
                  <a:srgbClr val="E4EDF2"/>
                </a:solidFill>
                <a:latin typeface="Courier New" pitchFamily="34" charset="0"/>
                <a:ea typeface="Courier New" pitchFamily="34" charset="-122"/>
                <a:cs typeface="Courier New" pitchFamily="34" charset="-120"/>
              </a:rPr>
              <a:t>OTEL_LOGS_EXPORTER=otlp                                    </a:t>
            </a:r>
            <a:pPr algn="l" indent="0" marL="0">
              <a:lnSpc>
                <a:spcPts val="1510"/>
              </a:lnSpc>
              <a:buNone/>
            </a:pPr>
            <a:r>
              <a:rPr lang="en-US" sz="980" dirty="0">
                <a:solidFill>
                  <a:srgbClr val="86A5B4"/>
                </a:solidFill>
                <a:latin typeface="Courier New" pitchFamily="34" charset="0"/>
                <a:ea typeface="Courier New" pitchFamily="34" charset="-122"/>
                <a:cs typeface="Courier New" pitchFamily="34" charset="-120"/>
              </a:rPr>
              <a:t># sends the events</a:t>
            </a:r>
            <a:pPr algn="l" indent="0" marL="0">
              <a:lnSpc>
                <a:spcPts val="1510"/>
              </a:lnSpc>
              <a:buNone/>
            </a:pPr>
            <a:r>
              <a:rPr lang="en-US" sz="980" dirty="0">
                <a:solidFill>
                  <a:srgbClr val="E4EDF2"/>
                </a:solidFill>
                <a:latin typeface="Courier New" pitchFamily="34" charset="0"/>
                <a:ea typeface="Courier New" pitchFamily="34" charset="-122"/>
                <a:cs typeface="Courier New" pitchFamily="34" charset="-120"/>
              </a:rPr>
              <a:t> </a:t>
            </a:r>
            <a:endParaRPr lang="en-US" sz="980" dirty="0"/>
          </a:p>
          <a:p>
            <a:pPr algn="l" indent="0" marL="0">
              <a:lnSpc>
                <a:spcPts val="1510"/>
              </a:lnSpc>
              <a:buNone/>
            </a:pPr>
            <a:r>
              <a:rPr lang="en-US" sz="980" dirty="0">
                <a:solidFill>
                  <a:srgbClr val="E4EDF2"/>
                </a:solidFill>
                <a:latin typeface="Courier New" pitchFamily="34" charset="0"/>
                <a:ea typeface="Courier New" pitchFamily="34" charset="-122"/>
                <a:cs typeface="Courier New" pitchFamily="34" charset="-120"/>
              </a:rPr>
              <a:t>OTEL_METRICS_EXPORTER=none                                 </a:t>
            </a:r>
            <a:pPr algn="l" indent="0" marL="0">
              <a:lnSpc>
                <a:spcPts val="1510"/>
              </a:lnSpc>
              <a:buNone/>
            </a:pPr>
            <a:r>
              <a:rPr lang="en-US" sz="980" dirty="0">
                <a:solidFill>
                  <a:srgbClr val="86A5B4"/>
                </a:solidFill>
                <a:latin typeface="Courier New" pitchFamily="34" charset="0"/>
                <a:ea typeface="Courier New" pitchFamily="34" charset="-122"/>
                <a:cs typeface="Courier New" pitchFamily="34" charset="-120"/>
              </a:rPr>
              <a:t># sends no metrics</a:t>
            </a:r>
            <a:endParaRPr lang="en-US" sz="980" dirty="0"/>
          </a:p>
        </p:txBody>
      </p:sp>
      <p:sp>
        <p:nvSpPr>
          <p:cNvPr id="8" name="Text 6"/>
          <p:cNvSpPr txBox="1"/>
          <p:nvPr/>
        </p:nvSpPr>
        <p:spPr>
          <a:xfrm>
            <a:off x="647700" y="4044970"/>
            <a:ext cx="10953750" cy="745927"/>
          </a:xfrm>
          <a:prstGeom prst="rect">
            <a:avLst/>
          </a:prstGeom>
          <a:noFill/>
          <a:ln/>
        </p:spPr>
        <p:txBody>
          <a:bodyPr wrap="square" lIns="0" tIns="0" rIns="0" bIns="0" rtlCol="0" anchor="t"/>
          <a:lstStyle/>
          <a:p>
            <a:pPr algn="l" indent="0" marL="0">
              <a:lnSpc>
                <a:spcPts val="2930"/>
              </a:lnSpc>
              <a:buNone/>
            </a:pPr>
            <a:r>
              <a:rPr lang="en-US" sz="1950" dirty="0">
                <a:solidFill>
                  <a:srgbClr val="5A6D7A"/>
                </a:solidFill>
                <a:latin typeface="Arial" pitchFamily="34" charset="0"/>
                <a:ea typeface="Arial" pitchFamily="34" charset="-122"/>
                <a:cs typeface="Arial" pitchFamily="34" charset="-120"/>
              </a:rPr>
              <a:t>Moodle has no setting for these variables. They do not go into </a:t>
            </a:r>
            <a:pPr algn="l" indent="0" marL="0">
              <a:lnSpc>
                <a:spcPts val="2930"/>
              </a:lnSpc>
              <a:buNone/>
            </a:pPr>
            <a:r>
              <a:rPr lang="en-US" sz="1720" dirty="0">
                <a:solidFill>
                  <a:srgbClr val="5A6D7A"/>
                </a:solidFill>
                <a:highlight>
                  <a:srgbClr val="E1F0F7"/>
                </a:highlight>
                <a:latin typeface="Courier New" pitchFamily="34" charset="0"/>
                <a:ea typeface="Courier New" pitchFamily="34" charset="-122"/>
                <a:cs typeface="Courier New" pitchFamily="34" charset="-120"/>
              </a:rPr>
              <a:t>config.php</a:t>
            </a:r>
            <a:pPr algn="l" indent="0" marL="0">
              <a:lnSpc>
                <a:spcPts val="2930"/>
              </a:lnSpc>
              <a:buNone/>
            </a:pPr>
            <a:r>
              <a:rPr lang="en-US" sz="1950" dirty="0">
                <a:solidFill>
                  <a:srgbClr val="5A6D7A"/>
                </a:solidFill>
                <a:latin typeface="Arial" pitchFamily="34" charset="0"/>
                <a:ea typeface="Arial" pitchFamily="34" charset="-122"/>
                <a:cs typeface="Arial" pitchFamily="34" charset="-120"/>
              </a:rPr>
              <a:t>, and the Moodle admin pages do not show them.</a:t>
            </a:r>
            <a:endParaRPr lang="en-US" sz="1950" dirty="0"/>
          </a:p>
        </p:txBody>
      </p:sp>
      <p:sp>
        <p:nvSpPr>
          <p:cNvPr id="9" name="Text 7"/>
          <p:cNvSpPr txBox="1"/>
          <p:nvPr/>
        </p:nvSpPr>
        <p:spPr>
          <a:xfrm>
            <a:off x="647700" y="6464379"/>
            <a:ext cx="948928" cy="148590"/>
          </a:xfrm>
          <a:prstGeom prst="rect">
            <a:avLst/>
          </a:prstGeom>
          <a:noFill/>
          <a:ln/>
        </p:spPr>
        <p:txBody>
          <a:bodyPr wrap="none" lIns="0" tIns="0" rIns="0" bIns="0" rtlCol="0" anchor="t"/>
          <a:lstStyle/>
          <a:p>
            <a:pPr algn="l" indent="0" marL="0">
              <a:lnSpc>
                <a:spcPts val="1170"/>
              </a:lnSpc>
              <a:buNone/>
            </a:pPr>
            <a:r>
              <a:rPr lang="en-US" sz="980" dirty="0">
                <a:solidFill>
                  <a:srgbClr val="8496A2"/>
                </a:solidFill>
                <a:latin typeface="Courier New" pitchFamily="34" charset="0"/>
                <a:ea typeface="Courier New" pitchFamily="34" charset="-122"/>
                <a:cs typeface="Courier New" pitchFamily="34" charset="-120"/>
              </a:rPr>
              <a:t>Walk-through</a:t>
            </a:r>
            <a:endParaRPr lang="en-US" sz="980" dirty="0"/>
          </a:p>
        </p:txBody>
      </p:sp>
      <p:sp>
        <p:nvSpPr>
          <p:cNvPr id="10" name="Text 8"/>
          <p:cNvSpPr txBox="1"/>
          <p:nvPr/>
        </p:nvSpPr>
        <p:spPr>
          <a:xfrm>
            <a:off x="11024146" y="6464379"/>
            <a:ext cx="577304" cy="148590"/>
          </a:xfrm>
          <a:prstGeom prst="rect">
            <a:avLst/>
          </a:prstGeom>
          <a:noFill/>
          <a:ln/>
        </p:spPr>
        <p:txBody>
          <a:bodyPr wrap="none" lIns="0" tIns="0" rIns="0" bIns="0" rtlCol="0" anchor="t"/>
          <a:lstStyle/>
          <a:p>
            <a:pPr algn="l" indent="0" marL="0">
              <a:lnSpc>
                <a:spcPts val="1170"/>
              </a:lnSpc>
              <a:buNone/>
            </a:pPr>
            <a:r>
              <a:rPr lang="en-US" sz="980" dirty="0">
                <a:solidFill>
                  <a:srgbClr val="8496A2"/>
                </a:solidFill>
                <a:latin typeface="Courier New" pitchFamily="34" charset="0"/>
                <a:ea typeface="Courier New" pitchFamily="34" charset="-122"/>
                <a:cs typeface="Courier New" pitchFamily="34" charset="-120"/>
              </a:rPr>
              <a:t>18 / 39</a:t>
            </a:r>
            <a:endParaRPr lang="en-US" sz="980" dirty="0"/>
          </a:p>
        </p:txBody>
      </p:sp>
      <p:pic>
        <p:nvPicPr>
          <p:cNvPr id="900" name="NetSapiensis mark" descr="NetSapiensis"/>
          <p:cNvPicPr>
            <a:picLocks noChangeAspect="1"/>
          </p:cNvPicPr>
          <p:nvPr/>
        </p:nvPicPr>
        <p:blipFill>
          <a:blip r:embed="rId3"/>
          <a:stretch>
            <a:fillRect/>
          </a:stretch>
        </p:blipFill>
        <p:spPr>
          <a:xfrm>
            <a:off x="10776204" y="6419088"/>
            <a:ext cx="178308" cy="237744"/>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7700" y="3023146"/>
            <a:ext cx="10896600" cy="880318"/>
          </a:xfrm>
          <a:prstGeom prst="roundRect">
            <a:avLst>
              <a:gd name="adj" fmla="val 22478"/>
            </a:avLst>
          </a:prstGeom>
          <a:solidFill>
            <a:srgbClr val="0F2027"/>
          </a:solidFill>
          <a:ln/>
        </p:spPr>
      </p:sp>
      <p:sp>
        <p:nvSpPr>
          <p:cNvPr id="3" name="Shape 1"/>
          <p:cNvSpPr/>
          <p:nvPr/>
        </p:nvSpPr>
        <p:spPr>
          <a:xfrm>
            <a:off x="647700" y="4575274"/>
            <a:ext cx="10896600" cy="880318"/>
          </a:xfrm>
          <a:prstGeom prst="roundRect">
            <a:avLst>
              <a:gd name="adj" fmla="val 22478"/>
            </a:avLst>
          </a:prstGeom>
          <a:solidFill>
            <a:srgbClr val="0F2027"/>
          </a:solidFill>
          <a:ln/>
        </p:spPr>
      </p:sp>
      <p:sp>
        <p:nvSpPr>
          <p:cNvPr id="4" name="Shape 2"/>
          <p:cNvSpPr/>
          <p:nvPr/>
        </p:nvSpPr>
        <p:spPr>
          <a:xfrm>
            <a:off x="647700" y="6343650"/>
            <a:ext cx="10896600" cy="0"/>
          </a:xfrm>
          <a:prstGeom prst="line">
            <a:avLst/>
          </a:prstGeom>
          <a:noFill/>
          <a:ln w="10160">
            <a:solidFill>
              <a:srgbClr val="CBD7DF"/>
            </a:solidFill>
            <a:prstDash val="solid"/>
          </a:ln>
        </p:spPr>
      </p:sp>
      <p:sp>
        <p:nvSpPr>
          <p:cNvPr id="5" name="Text 3"/>
          <p:cNvSpPr txBox="1"/>
          <p:nvPr/>
        </p:nvSpPr>
        <p:spPr>
          <a:xfrm>
            <a:off x="647700" y="511731"/>
            <a:ext cx="10953750" cy="185738"/>
          </a:xfrm>
          <a:prstGeom prst="rect">
            <a:avLst/>
          </a:prstGeom>
          <a:noFill/>
          <a:ln/>
        </p:spPr>
        <p:txBody>
          <a:bodyPr wrap="none" lIns="0" tIns="0" rIns="0" bIns="0" rtlCol="0" anchor="t"/>
          <a:lstStyle/>
          <a:p>
            <a:pPr algn="l" indent="0" marL="0">
              <a:lnSpc>
                <a:spcPts val="1460"/>
              </a:lnSpc>
              <a:buNone/>
            </a:pPr>
            <a:r>
              <a:rPr lang="en-US" sz="980" spc="160" kern="0" dirty="0">
                <a:solidFill>
                  <a:srgbClr val="0B6E99"/>
                </a:solidFill>
                <a:latin typeface="Courier New" pitchFamily="34" charset="0"/>
                <a:ea typeface="Courier New" pitchFamily="34" charset="-122"/>
                <a:cs typeface="Courier New" pitchFamily="34" charset="-120"/>
              </a:rPr>
              <a:t>STEP 5 OF 9</a:t>
            </a:r>
            <a:endParaRPr lang="en-US" sz="980" dirty="0"/>
          </a:p>
        </p:txBody>
      </p:sp>
      <p:sp>
        <p:nvSpPr>
          <p:cNvPr id="6" name="Text 4"/>
          <p:cNvSpPr txBox="1"/>
          <p:nvPr/>
        </p:nvSpPr>
        <p:spPr>
          <a:xfrm>
            <a:off x="647700" y="852488"/>
            <a:ext cx="10953750" cy="432054"/>
          </a:xfrm>
          <a:prstGeom prst="rect">
            <a:avLst/>
          </a:prstGeom>
          <a:noFill/>
          <a:ln/>
        </p:spPr>
        <p:txBody>
          <a:bodyPr wrap="none" lIns="0" tIns="0" rIns="0" bIns="0" rtlCol="0" anchor="t"/>
          <a:lstStyle/>
          <a:p>
            <a:pPr algn="l" indent="0" marL="0">
              <a:lnSpc>
                <a:spcPts val="3400"/>
              </a:lnSpc>
              <a:buNone/>
            </a:pPr>
            <a:r>
              <a:rPr lang="en-US" sz="3150" b="1" spc="-60" kern="0" dirty="0">
                <a:solidFill>
                  <a:srgbClr val="101A22"/>
                </a:solidFill>
                <a:latin typeface="Arial" pitchFamily="34" charset="0"/>
                <a:ea typeface="Arial" pitchFamily="34" charset="-122"/>
                <a:cs typeface="Arial" pitchFamily="34" charset="-120"/>
              </a:rPr>
              <a:t>Write the six environment variables into two files</a:t>
            </a:r>
            <a:endParaRPr lang="en-US" sz="3150" dirty="0"/>
          </a:p>
        </p:txBody>
      </p:sp>
      <p:sp>
        <p:nvSpPr>
          <p:cNvPr id="7" name="Text 5"/>
          <p:cNvSpPr txBox="1"/>
          <p:nvPr/>
        </p:nvSpPr>
        <p:spPr>
          <a:xfrm>
            <a:off x="647700" y="1488847"/>
            <a:ext cx="10953750" cy="742950"/>
          </a:xfrm>
          <a:prstGeom prst="rect">
            <a:avLst/>
          </a:prstGeom>
          <a:noFill/>
          <a:ln/>
        </p:spPr>
        <p:txBody>
          <a:bodyPr wrap="square" lIns="0" tIns="0" rIns="0" bIns="0" rtlCol="0" anchor="t"/>
          <a:lstStyle/>
          <a:p>
            <a:pPr algn="l" indent="0" marL="0">
              <a:lnSpc>
                <a:spcPts val="2930"/>
              </a:lnSpc>
              <a:buNone/>
            </a:pPr>
            <a:r>
              <a:rPr lang="en-US" sz="1950" dirty="0">
                <a:solidFill>
                  <a:srgbClr val="5A6D7A"/>
                </a:solidFill>
                <a:latin typeface="Arial" pitchFamily="34" charset="0"/>
                <a:ea typeface="Arial" pitchFamily="34" charset="-122"/>
                <a:cs typeface="Arial" pitchFamily="34" charset="-120"/>
              </a:rPr>
              <a:t>Moodle runs PHP in two places that matter here. PHP-FPM runs it for web requests, and cron runs it for the scheduled tasks. Each has its own environment, so the same six lines go into two files.</a:t>
            </a:r>
            <a:endParaRPr lang="en-US" sz="1950" dirty="0"/>
          </a:p>
        </p:txBody>
      </p:sp>
      <p:sp>
        <p:nvSpPr>
          <p:cNvPr id="8" name="Text 6"/>
          <p:cNvSpPr txBox="1"/>
          <p:nvPr/>
        </p:nvSpPr>
        <p:spPr>
          <a:xfrm>
            <a:off x="647700" y="2520806"/>
            <a:ext cx="10953750" cy="424160"/>
          </a:xfrm>
          <a:prstGeom prst="rect">
            <a:avLst/>
          </a:prstGeom>
          <a:noFill/>
          <a:ln/>
        </p:spPr>
        <p:txBody>
          <a:bodyPr wrap="square" lIns="0" tIns="0" rIns="0" bIns="0" rtlCol="0" anchor="t"/>
          <a:lstStyle/>
          <a:p>
            <a:pPr algn="l" indent="0" marL="0">
              <a:lnSpc>
                <a:spcPts val="1670"/>
              </a:lnSpc>
              <a:buNone/>
            </a:pPr>
            <a:r>
              <a:rPr lang="en-US" sz="1430" b="1" dirty="0">
                <a:solidFill>
                  <a:srgbClr val="101A22"/>
                </a:solidFill>
                <a:latin typeface="Arial" pitchFamily="34" charset="0"/>
                <a:ea typeface="Arial" pitchFamily="34" charset="-122"/>
                <a:cs typeface="Arial" pitchFamily="34" charset="-120"/>
              </a:rPr>
              <a:t>1 · For web requests, add the lines to the PHP-FPM pool file.</a:t>
            </a:r>
            <a:endParaRPr lang="en-US" sz="1430" dirty="0"/>
          </a:p>
          <a:p>
            <a:pPr algn="l" indent="0" marL="0">
              <a:lnSpc>
                <a:spcPts val="1670"/>
              </a:lnSpc>
              <a:buNone/>
            </a:pPr>
            <a:r>
              <a:rPr lang="en-US" sz="1050" dirty="0">
                <a:solidFill>
                  <a:srgbClr val="5A6D7A"/>
                </a:solidFill>
                <a:latin typeface="Courier New" pitchFamily="34" charset="0"/>
                <a:ea typeface="Courier New" pitchFamily="34" charset="-122"/>
                <a:cs typeface="Courier New" pitchFamily="34" charset="-120"/>
              </a:rPr>
              <a:t>Ubuntu </a:t>
            </a:r>
            <a:pPr algn="l" indent="0" marL="0">
              <a:lnSpc>
                <a:spcPts val="1670"/>
              </a:lnSpc>
              <a:buNone/>
            </a:pPr>
            <a:r>
              <a:rPr lang="en-US" sz="1050" dirty="0">
                <a:solidFill>
                  <a:srgbClr val="5A6D7A"/>
                </a:solidFill>
                <a:highlight>
                  <a:srgbClr val="E1F0F7"/>
                </a:highlight>
                <a:latin typeface="Courier New" pitchFamily="34" charset="0"/>
                <a:ea typeface="Courier New" pitchFamily="34" charset="-122"/>
                <a:cs typeface="Courier New" pitchFamily="34" charset="-120"/>
              </a:rPr>
              <a:t>/etc/php/8.3/fpm/pool.d/www.conf</a:t>
            </a:r>
            <a:pPr algn="l" indent="0" marL="0">
              <a:lnSpc>
                <a:spcPts val="1670"/>
              </a:lnSpc>
              <a:buNone/>
            </a:pPr>
            <a:r>
              <a:rPr lang="en-US" sz="1050" dirty="0">
                <a:solidFill>
                  <a:srgbClr val="5A6D7A"/>
                </a:solidFill>
                <a:latin typeface="Courier New" pitchFamily="34" charset="0"/>
                <a:ea typeface="Courier New" pitchFamily="34" charset="-122"/>
                <a:cs typeface="Courier New" pitchFamily="34" charset="-120"/>
              </a:rPr>
              <a:t> · RHEL </a:t>
            </a:r>
            <a:pPr algn="l" indent="0" marL="0">
              <a:lnSpc>
                <a:spcPts val="1670"/>
              </a:lnSpc>
              <a:buNone/>
            </a:pPr>
            <a:r>
              <a:rPr lang="en-US" sz="1050" dirty="0">
                <a:solidFill>
                  <a:srgbClr val="5A6D7A"/>
                </a:solidFill>
                <a:highlight>
                  <a:srgbClr val="E1F0F7"/>
                </a:highlight>
                <a:latin typeface="Courier New" pitchFamily="34" charset="0"/>
                <a:ea typeface="Courier New" pitchFamily="34" charset="-122"/>
                <a:cs typeface="Courier New" pitchFamily="34" charset="-120"/>
              </a:rPr>
              <a:t>/etc/php-fpm.d/www.conf</a:t>
            </a:r>
            <a:endParaRPr lang="en-US" sz="1430" dirty="0"/>
          </a:p>
        </p:txBody>
      </p:sp>
      <p:sp>
        <p:nvSpPr>
          <p:cNvPr id="9" name="Text 7"/>
          <p:cNvSpPr txBox="1"/>
          <p:nvPr/>
        </p:nvSpPr>
        <p:spPr>
          <a:xfrm>
            <a:off x="819150" y="3150781"/>
            <a:ext cx="10610850" cy="575518"/>
          </a:xfrm>
          <a:prstGeom prst="rect">
            <a:avLst/>
          </a:prstGeom>
          <a:noFill/>
          <a:ln/>
        </p:spPr>
        <p:txBody>
          <a:bodyPr wrap="square" lIns="0" tIns="0" rIns="0" bIns="0" rtlCol="0" anchor="t"/>
          <a:lstStyle/>
          <a:p>
            <a:pPr algn="l" indent="0" marL="0">
              <a:lnSpc>
                <a:spcPts val="1510"/>
              </a:lnSpc>
              <a:buNone/>
            </a:pPr>
            <a:r>
              <a:rPr lang="en-US" sz="980" dirty="0">
                <a:solidFill>
                  <a:srgbClr val="E4EDF2"/>
                </a:solidFill>
                <a:latin typeface="Courier New" pitchFamily="34" charset="0"/>
                <a:ea typeface="Courier New" pitchFamily="34" charset="-122"/>
                <a:cs typeface="Courier New" pitchFamily="34" charset="-120"/>
              </a:rPr>
              <a:t>env[OTEL_PHP_AUTOLOAD_ENABLED] = true</a:t>
            </a:r>
            <a:endParaRPr lang="en-US" sz="980" dirty="0"/>
          </a:p>
          <a:p>
            <a:pPr algn="l" indent="0" marL="0">
              <a:lnSpc>
                <a:spcPts val="1510"/>
              </a:lnSpc>
              <a:buNone/>
            </a:pPr>
            <a:r>
              <a:rPr lang="en-US" sz="980" dirty="0">
                <a:solidFill>
                  <a:srgbClr val="E4EDF2"/>
                </a:solidFill>
                <a:latin typeface="Courier New" pitchFamily="34" charset="0"/>
                <a:ea typeface="Courier New" pitchFamily="34" charset="-122"/>
                <a:cs typeface="Courier New" pitchFamily="34" charset="-120"/>
              </a:rPr>
              <a:t>env[OTEL_EXPORTER_OTLP_ENDPOINT] = http://localhost:4318</a:t>
            </a:r>
            <a:endParaRPr lang="en-US" sz="980" dirty="0"/>
          </a:p>
          <a:p>
            <a:pPr algn="l" indent="0" marL="0">
              <a:lnSpc>
                <a:spcPts val="1510"/>
              </a:lnSpc>
              <a:buNone/>
            </a:pPr>
            <a:r>
              <a:rPr lang="en-US" sz="980" dirty="0">
                <a:solidFill>
                  <a:srgbClr val="E4EDF2"/>
                </a:solidFill>
                <a:latin typeface="Courier New" pitchFamily="34" charset="0"/>
                <a:ea typeface="Courier New" pitchFamily="34" charset="-122"/>
                <a:cs typeface="Courier New" pitchFamily="34" charset="-120"/>
              </a:rPr>
              <a:t> </a:t>
            </a:r>
            <a:pPr algn="l" indent="0" marL="0">
              <a:lnSpc>
                <a:spcPts val="1510"/>
              </a:lnSpc>
              <a:buNone/>
            </a:pPr>
            <a:r>
              <a:rPr lang="en-US" sz="980" dirty="0">
                <a:solidFill>
                  <a:srgbClr val="86A5B4"/>
                </a:solidFill>
                <a:latin typeface="Courier New" pitchFamily="34" charset="0"/>
                <a:ea typeface="Courier New" pitchFamily="34" charset="-122"/>
                <a:cs typeface="Courier New" pitchFamily="34" charset="-120"/>
              </a:rPr>
              <a:t># add one env[] line for each of the six variables, then restart PHP-FPM</a:t>
            </a:r>
            <a:endParaRPr lang="en-US" sz="980" dirty="0"/>
          </a:p>
        </p:txBody>
      </p:sp>
      <p:sp>
        <p:nvSpPr>
          <p:cNvPr id="10" name="Text 8"/>
          <p:cNvSpPr txBox="1"/>
          <p:nvPr/>
        </p:nvSpPr>
        <p:spPr>
          <a:xfrm>
            <a:off x="647700" y="4072935"/>
            <a:ext cx="10953750" cy="424160"/>
          </a:xfrm>
          <a:prstGeom prst="rect">
            <a:avLst/>
          </a:prstGeom>
          <a:noFill/>
          <a:ln/>
        </p:spPr>
        <p:txBody>
          <a:bodyPr wrap="square" lIns="0" tIns="0" rIns="0" bIns="0" rtlCol="0" anchor="t"/>
          <a:lstStyle/>
          <a:p>
            <a:pPr algn="l" indent="0" marL="0">
              <a:lnSpc>
                <a:spcPts val="1670"/>
              </a:lnSpc>
              <a:buNone/>
            </a:pPr>
            <a:r>
              <a:rPr lang="en-US" sz="1430" b="1" dirty="0">
                <a:solidFill>
                  <a:srgbClr val="101A22"/>
                </a:solidFill>
                <a:latin typeface="Arial" pitchFamily="34" charset="0"/>
                <a:ea typeface="Arial" pitchFamily="34" charset="-122"/>
                <a:cs typeface="Arial" pitchFamily="34" charset="-120"/>
              </a:rPr>
              <a:t>2 · For Moodle cron, add the lines to the cron file that you already have, above the schedule line.</a:t>
            </a:r>
            <a:endParaRPr lang="en-US" sz="1430" dirty="0"/>
          </a:p>
          <a:p>
            <a:pPr algn="l" indent="0" marL="0">
              <a:lnSpc>
                <a:spcPts val="1670"/>
              </a:lnSpc>
              <a:buNone/>
            </a:pPr>
            <a:r>
              <a:rPr lang="en-US" sz="1050" dirty="0">
                <a:solidFill>
                  <a:srgbClr val="5A6D7A"/>
                </a:solidFill>
                <a:highlight>
                  <a:srgbClr val="E1F0F7"/>
                </a:highlight>
                <a:latin typeface="Courier New" pitchFamily="34" charset="0"/>
                <a:ea typeface="Courier New" pitchFamily="34" charset="-122"/>
                <a:cs typeface="Courier New" pitchFamily="34" charset="-120"/>
              </a:rPr>
              <a:t>/etc/cron.d/moodle</a:t>
            </a:r>
            <a:endParaRPr lang="en-US" sz="1430" dirty="0"/>
          </a:p>
        </p:txBody>
      </p:sp>
      <p:sp>
        <p:nvSpPr>
          <p:cNvPr id="11" name="Text 9"/>
          <p:cNvSpPr txBox="1"/>
          <p:nvPr/>
        </p:nvSpPr>
        <p:spPr>
          <a:xfrm>
            <a:off x="819150" y="4702909"/>
            <a:ext cx="10610850" cy="575518"/>
          </a:xfrm>
          <a:prstGeom prst="rect">
            <a:avLst/>
          </a:prstGeom>
          <a:noFill/>
          <a:ln/>
        </p:spPr>
        <p:txBody>
          <a:bodyPr wrap="square" lIns="0" tIns="0" rIns="0" bIns="0" rtlCol="0" anchor="t"/>
          <a:lstStyle/>
          <a:p>
            <a:pPr algn="l" indent="0" marL="0">
              <a:lnSpc>
                <a:spcPts val="1510"/>
              </a:lnSpc>
              <a:buNone/>
            </a:pPr>
            <a:r>
              <a:rPr lang="en-US" sz="980" dirty="0">
                <a:solidFill>
                  <a:srgbClr val="E4EDF2"/>
                </a:solidFill>
                <a:latin typeface="Courier New" pitchFamily="34" charset="0"/>
                <a:ea typeface="Courier New" pitchFamily="34" charset="-122"/>
                <a:cs typeface="Courier New" pitchFamily="34" charset="-120"/>
              </a:rPr>
              <a:t>OTEL_PHP_AUTOLOAD_ENABLED=true</a:t>
            </a:r>
            <a:endParaRPr lang="en-US" sz="980" dirty="0"/>
          </a:p>
          <a:p>
            <a:pPr algn="l" indent="0" marL="0">
              <a:lnSpc>
                <a:spcPts val="1510"/>
              </a:lnSpc>
              <a:buNone/>
            </a:pPr>
            <a:r>
              <a:rPr lang="en-US" sz="980" dirty="0">
                <a:solidFill>
                  <a:srgbClr val="E4EDF2"/>
                </a:solidFill>
                <a:latin typeface="Courier New" pitchFamily="34" charset="0"/>
                <a:ea typeface="Courier New" pitchFamily="34" charset="-122"/>
                <a:cs typeface="Courier New" pitchFamily="34" charset="-120"/>
              </a:rPr>
              <a:t>OTEL_EXPORTER_OTLP_ENDPOINT=http://localhost:4318</a:t>
            </a:r>
            <a:endParaRPr lang="en-US" sz="980" dirty="0"/>
          </a:p>
          <a:p>
            <a:pPr algn="l" indent="0" marL="0">
              <a:lnSpc>
                <a:spcPts val="1510"/>
              </a:lnSpc>
              <a:buNone/>
            </a:pPr>
            <a:r>
              <a:rPr lang="en-US" sz="980" dirty="0">
                <a:solidFill>
                  <a:srgbClr val="E4EDF2"/>
                </a:solidFill>
                <a:latin typeface="Courier New" pitchFamily="34" charset="0"/>
                <a:ea typeface="Courier New" pitchFamily="34" charset="-122"/>
                <a:cs typeface="Courier New" pitchFamily="34" charset="-120"/>
              </a:rPr>
              <a:t>* * * * * www-data php /var/www/moodle/admin/cli/cron.php &gt;/dev/null   </a:t>
            </a:r>
            <a:pPr algn="l" indent="0" marL="0">
              <a:lnSpc>
                <a:spcPts val="1510"/>
              </a:lnSpc>
              <a:buNone/>
            </a:pPr>
            <a:r>
              <a:rPr lang="en-US" sz="980" dirty="0">
                <a:solidFill>
                  <a:srgbClr val="86A5B4"/>
                </a:solidFill>
                <a:latin typeface="Courier New" pitchFamily="34" charset="0"/>
                <a:ea typeface="Courier New" pitchFamily="34" charset="-122"/>
                <a:cs typeface="Courier New" pitchFamily="34" charset="-120"/>
              </a:rPr>
              <a:t># RHEL: apache</a:t>
            </a:r>
            <a:endParaRPr lang="en-US" sz="980" dirty="0"/>
          </a:p>
        </p:txBody>
      </p:sp>
      <p:sp>
        <p:nvSpPr>
          <p:cNvPr id="12" name="Text 10"/>
          <p:cNvSpPr txBox="1"/>
          <p:nvPr/>
        </p:nvSpPr>
        <p:spPr>
          <a:xfrm>
            <a:off x="647700" y="6464379"/>
            <a:ext cx="948928" cy="148590"/>
          </a:xfrm>
          <a:prstGeom prst="rect">
            <a:avLst/>
          </a:prstGeom>
          <a:noFill/>
          <a:ln/>
        </p:spPr>
        <p:txBody>
          <a:bodyPr wrap="none" lIns="0" tIns="0" rIns="0" bIns="0" rtlCol="0" anchor="t"/>
          <a:lstStyle/>
          <a:p>
            <a:pPr algn="l" indent="0" marL="0">
              <a:lnSpc>
                <a:spcPts val="1170"/>
              </a:lnSpc>
              <a:buNone/>
            </a:pPr>
            <a:r>
              <a:rPr lang="en-US" sz="980" dirty="0">
                <a:solidFill>
                  <a:srgbClr val="8496A2"/>
                </a:solidFill>
                <a:latin typeface="Courier New" pitchFamily="34" charset="0"/>
                <a:ea typeface="Courier New" pitchFamily="34" charset="-122"/>
                <a:cs typeface="Courier New" pitchFamily="34" charset="-120"/>
              </a:rPr>
              <a:t>Walk-through</a:t>
            </a:r>
            <a:endParaRPr lang="en-US" sz="980" dirty="0"/>
          </a:p>
        </p:txBody>
      </p:sp>
      <p:sp>
        <p:nvSpPr>
          <p:cNvPr id="13" name="Text 11"/>
          <p:cNvSpPr txBox="1"/>
          <p:nvPr/>
        </p:nvSpPr>
        <p:spPr>
          <a:xfrm>
            <a:off x="11024146" y="6464379"/>
            <a:ext cx="577304" cy="148590"/>
          </a:xfrm>
          <a:prstGeom prst="rect">
            <a:avLst/>
          </a:prstGeom>
          <a:noFill/>
          <a:ln/>
        </p:spPr>
        <p:txBody>
          <a:bodyPr wrap="none" lIns="0" tIns="0" rIns="0" bIns="0" rtlCol="0" anchor="t"/>
          <a:lstStyle/>
          <a:p>
            <a:pPr algn="l" indent="0" marL="0">
              <a:lnSpc>
                <a:spcPts val="1170"/>
              </a:lnSpc>
              <a:buNone/>
            </a:pPr>
            <a:r>
              <a:rPr lang="en-US" sz="980" dirty="0">
                <a:solidFill>
                  <a:srgbClr val="8496A2"/>
                </a:solidFill>
                <a:latin typeface="Courier New" pitchFamily="34" charset="0"/>
                <a:ea typeface="Courier New" pitchFamily="34" charset="-122"/>
                <a:cs typeface="Courier New" pitchFamily="34" charset="-120"/>
              </a:rPr>
              <a:t>19 / 39</a:t>
            </a:r>
            <a:endParaRPr lang="en-US" sz="980" dirty="0"/>
          </a:p>
        </p:txBody>
      </p:sp>
      <p:pic>
        <p:nvPicPr>
          <p:cNvPr id="900" name="NetSapiensis mark" descr="NetSapiensis"/>
          <p:cNvPicPr>
            <a:picLocks noChangeAspect="1"/>
          </p:cNvPicPr>
          <p:nvPr/>
        </p:nvPicPr>
        <p:blipFill>
          <a:blip r:embed="rId3"/>
          <a:stretch>
            <a:fillRect/>
          </a:stretch>
        </p:blipFill>
        <p:spPr>
          <a:xfrm>
            <a:off x="10776204" y="6419088"/>
            <a:ext cx="178308" cy="237744"/>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7700" y="6343650"/>
            <a:ext cx="10896600" cy="0"/>
          </a:xfrm>
          <a:prstGeom prst="line">
            <a:avLst/>
          </a:prstGeom>
          <a:noFill/>
          <a:ln w="8890">
            <a:solidFill>
              <a:srgbClr val="CBD7DF"/>
            </a:solidFill>
            <a:prstDash val="solid"/>
          </a:ln>
        </p:spPr>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1081929" y="2022363"/>
          <a:ext cx="10028141" cy="914400"/>
        </p:xfrm>
        <a:graphic>
          <a:graphicData uri="http://schemas.openxmlformats.org/drawingml/2006/table">
            <a:tbl>
              <a:tblPr/>
              <a:tblGrid>
                <a:gridCol w="2105860"/>
                <a:gridCol w="3409508"/>
                <a:gridCol w="4512773"/>
              </a:tblGrid>
              <a:tr h="355017">
                <a:tc>
                  <a:txBody>
                    <a:bodyPr/>
                    <a:lstStyle/>
                    <a:p>
                      <a:pPr algn="l" indent="0" marL="0">
                        <a:lnSpc>
                          <a:spcPts val="1160"/>
                        </a:lnSpc>
                        <a:buNone/>
                      </a:pPr>
                      <a:r>
                        <a:rPr lang="en-US" sz="970" b="1" spc="100" kern="0" dirty="0">
                          <a:solidFill>
                            <a:srgbClr val="5A6D7A"/>
                          </a:solidFill>
                          <a:latin typeface="Arial" pitchFamily="34" charset="0"/>
                          <a:ea typeface="Arial" pitchFamily="34" charset="-122"/>
                          <a:cs typeface="Arial" pitchFamily="34" charset="-120"/>
                        </a:rPr>
                        <a:t>WHAT</a:t>
                      </a:r>
                      <a:endParaRPr lang="en-US" sz="1200" dirty="0"/>
                    </a:p>
                  </a:txBody>
                  <a:tcPr marL="122682" marR="122682" marT="105156" marB="105156" anchor="t">
                    <a:lnL w="0" cap="flat" cmpd="sng" algn="ctr">
                      <a:noFill/>
                    </a:lnL>
                    <a:lnR w="0" cap="flat" cmpd="sng" algn="ctr">
                      <a:noFill/>
                    </a:lnR>
                    <a:lnT w="0" cap="flat" cmpd="sng" algn="ctr">
                      <a:noFill/>
                    </a:lnT>
                    <a:lnB w="8890" cap="flat" cmpd="sng" algn="ctr">
                      <a:solidFill>
                        <a:srgbClr val="CBD7DF"/>
                      </a:solidFill>
                      <a:prstDash val="solid"/>
                      <a:round/>
                      <a:headEnd type="none" w="med" len="med"/>
                      <a:tailEnd type="none" w="med" len="med"/>
                    </a:lnB>
                  </a:tcPr>
                </a:tc>
                <a:tc>
                  <a:txBody>
                    <a:bodyPr/>
                    <a:lstStyle/>
                    <a:p>
                      <a:pPr algn="l" indent="0" marL="0">
                        <a:lnSpc>
                          <a:spcPts val="1160"/>
                        </a:lnSpc>
                        <a:buNone/>
                      </a:pPr>
                      <a:r>
                        <a:rPr lang="en-US" sz="970" b="1" spc="100" kern="0" dirty="0">
                          <a:solidFill>
                            <a:srgbClr val="5A6D7A"/>
                          </a:solidFill>
                          <a:latin typeface="Arial" pitchFamily="34" charset="0"/>
                          <a:ea typeface="Arial" pitchFamily="34" charset="-122"/>
                          <a:cs typeface="Arial" pitchFamily="34" charset="-120"/>
                        </a:rPr>
                        <a:t>WHERE YOU DO IT</a:t>
                      </a:r>
                      <a:endParaRPr lang="en-US" sz="1200" dirty="0"/>
                    </a:p>
                  </a:txBody>
                  <a:tcPr marL="122682" marR="122682" marT="105156" marB="105156" anchor="t">
                    <a:lnL w="0" cap="flat" cmpd="sng" algn="ctr">
                      <a:noFill/>
                    </a:lnL>
                    <a:lnR w="0" cap="flat" cmpd="sng" algn="ctr">
                      <a:noFill/>
                    </a:lnR>
                    <a:lnT w="0" cap="flat" cmpd="sng" algn="ctr">
                      <a:noFill/>
                    </a:lnT>
                    <a:lnB w="8890" cap="flat" cmpd="sng" algn="ctr">
                      <a:solidFill>
                        <a:srgbClr val="CBD7DF"/>
                      </a:solidFill>
                      <a:prstDash val="solid"/>
                      <a:round/>
                      <a:headEnd type="none" w="med" len="med"/>
                      <a:tailEnd type="none" w="med" len="med"/>
                    </a:lnB>
                  </a:tcPr>
                </a:tc>
                <a:tc>
                  <a:txBody>
                    <a:bodyPr/>
                    <a:lstStyle/>
                    <a:p>
                      <a:pPr algn="l" indent="0" marL="0">
                        <a:lnSpc>
                          <a:spcPts val="1160"/>
                        </a:lnSpc>
                        <a:buNone/>
                      </a:pPr>
                      <a:r>
                        <a:rPr lang="en-US" sz="970" b="1" spc="100" kern="0" dirty="0">
                          <a:solidFill>
                            <a:srgbClr val="5A6D7A"/>
                          </a:solidFill>
                          <a:latin typeface="Arial" pitchFamily="34" charset="0"/>
                          <a:ea typeface="Arial" pitchFamily="34" charset="-122"/>
                          <a:cs typeface="Arial" pitchFamily="34" charset="-120"/>
                        </a:rPr>
                        <a:t>WHY</a:t>
                      </a:r>
                      <a:endParaRPr lang="en-US" sz="1200" dirty="0"/>
                    </a:p>
                  </a:txBody>
                  <a:tcPr marL="122682" marR="122682" marT="105156" marB="105156" anchor="t">
                    <a:lnL w="0" cap="flat" cmpd="sng" algn="ctr">
                      <a:noFill/>
                    </a:lnL>
                    <a:lnR w="0" cap="flat" cmpd="sng" algn="ctr">
                      <a:noFill/>
                    </a:lnR>
                    <a:lnT w="0" cap="flat" cmpd="sng" algn="ctr">
                      <a:noFill/>
                    </a:lnT>
                    <a:lnB w="8890" cap="flat" cmpd="sng" algn="ctr">
                      <a:solidFill>
                        <a:srgbClr val="CBD7DF"/>
                      </a:solidFill>
                      <a:prstDash val="solid"/>
                      <a:round/>
                      <a:headEnd type="none" w="med" len="med"/>
                      <a:tailEnd type="none" w="med" len="med"/>
                    </a:lnB>
                  </a:tcPr>
                </a:tc>
              </a:tr>
              <a:tr h="1139561">
                <a:tc>
                  <a:txBody>
                    <a:bodyPr/>
                    <a:lstStyle/>
                    <a:p>
                      <a:pPr algn="l" indent="0" marL="0">
                        <a:lnSpc>
                          <a:spcPts val="1490"/>
                        </a:lnSpc>
                        <a:buNone/>
                      </a:pPr>
                      <a:r>
                        <a:rPr lang="en-US" sz="1240" b="1" dirty="0">
                          <a:solidFill>
                            <a:srgbClr val="101A22"/>
                          </a:solidFill>
                          <a:latin typeface="Arial" pitchFamily="34" charset="0"/>
                          <a:ea typeface="Arial" pitchFamily="34" charset="-122"/>
                          <a:cs typeface="Arial" pitchFamily="34" charset="-120"/>
                        </a:rPr>
                        <a:t>A user for the OpenTelemetry Collector</a:t>
                      </a:r>
                      <a:endParaRPr lang="en-US" sz="1200" dirty="0"/>
                    </a:p>
                  </a:txBody>
                  <a:tcPr marL="122682" marR="122682" marT="105156" marB="105156" anchor="t">
                    <a:lnL w="0" cap="flat" cmpd="sng" algn="ctr">
                      <a:noFill/>
                    </a:lnL>
                    <a:lnR w="0" cap="flat" cmpd="sng" algn="ctr">
                      <a:noFill/>
                    </a:lnR>
                    <a:lnT w="0" cap="flat" cmpd="sng" algn="ctr">
                      <a:noFill/>
                    </a:lnT>
                    <a:lnB w="8890" cap="flat" cmpd="sng" algn="ctr">
                      <a:solidFill>
                        <a:srgbClr val="CBD7DF"/>
                      </a:solidFill>
                      <a:prstDash val="solid"/>
                      <a:round/>
                      <a:headEnd type="none" w="med" len="med"/>
                      <a:tailEnd type="none" w="med" len="med"/>
                    </a:lnB>
                  </a:tcPr>
                </a:tc>
                <a:tc>
                  <a:txBody>
                    <a:bodyPr/>
                    <a:lstStyle/>
                    <a:p>
                      <a:pPr algn="l" indent="0" marL="0">
                        <a:lnSpc>
                          <a:spcPts val="1490"/>
                        </a:lnSpc>
                        <a:buNone/>
                      </a:pPr>
                      <a:r>
                        <a:rPr lang="en-US" sz="1240" dirty="0">
                          <a:solidFill>
                            <a:srgbClr val="101A22"/>
                          </a:solidFill>
                          <a:latin typeface="Arial" pitchFamily="34" charset="0"/>
                          <a:ea typeface="Arial" pitchFamily="34" charset="-122"/>
                          <a:cs typeface="Arial" pitchFamily="34" charset="-120"/>
                        </a:rPr>
                        <a:t>OpenSearch Dashboards, Security, Internal users and Roles</a:t>
                      </a:r>
                      <a:endParaRPr lang="en-US" sz="1200" dirty="0"/>
                    </a:p>
                  </a:txBody>
                  <a:tcPr marL="122682" marR="122682" marT="105156" marB="105156" anchor="t">
                    <a:lnL w="0" cap="flat" cmpd="sng" algn="ctr">
                      <a:noFill/>
                    </a:lnL>
                    <a:lnR w="0" cap="flat" cmpd="sng" algn="ctr">
                      <a:noFill/>
                    </a:lnR>
                    <a:lnT w="0" cap="flat" cmpd="sng" algn="ctr">
                      <a:noFill/>
                    </a:lnT>
                    <a:lnB w="8890" cap="flat" cmpd="sng" algn="ctr">
                      <a:solidFill>
                        <a:srgbClr val="CBD7DF"/>
                      </a:solidFill>
                      <a:prstDash val="solid"/>
                      <a:round/>
                      <a:headEnd type="none" w="med" len="med"/>
                      <a:tailEnd type="none" w="med" len="med"/>
                    </a:lnB>
                  </a:tcPr>
                </a:tc>
                <a:tc>
                  <a:txBody>
                    <a:bodyPr/>
                    <a:lstStyle/>
                    <a:p>
                      <a:pPr algn="l" indent="0" marL="0">
                        <a:lnSpc>
                          <a:spcPts val="1490"/>
                        </a:lnSpc>
                        <a:buNone/>
                      </a:pPr>
                      <a:r>
                        <a:rPr lang="en-US" sz="1240" dirty="0">
                          <a:solidFill>
                            <a:srgbClr val="101A22"/>
                          </a:solidFill>
                          <a:latin typeface="Arial" pitchFamily="34" charset="0"/>
                          <a:ea typeface="Arial" pitchFamily="34" charset="-122"/>
                          <a:cs typeface="Arial" pitchFamily="34" charset="-120"/>
                        </a:rPr>
                        <a:t>The OpenTelemetry Collector logs in as this user. The role needs </a:t>
                      </a:r>
                      <a:pPr algn="l" indent="0" marL="0">
                        <a:lnSpc>
                          <a:spcPts val="1490"/>
                        </a:lnSpc>
                        <a:buNone/>
                      </a:pPr>
                      <a:r>
                        <a:rPr lang="en-US" sz="1090" dirty="0">
                          <a:solidFill>
                            <a:srgbClr val="101A22"/>
                          </a:solidFill>
                          <a:highlight>
                            <a:srgbClr val="E1F0F7"/>
                          </a:highlight>
                          <a:latin typeface="Courier New" pitchFamily="34" charset="0"/>
                          <a:ea typeface="Courier New" pitchFamily="34" charset="-122"/>
                          <a:cs typeface="Courier New" pitchFamily="34" charset="-120"/>
                        </a:rPr>
                        <a:t>create_index</a:t>
                      </a:r>
                      <a:pPr algn="l" indent="0" marL="0">
                        <a:lnSpc>
                          <a:spcPts val="1490"/>
                        </a:lnSpc>
                        <a:buNone/>
                      </a:pPr>
                      <a:r>
                        <a:rPr lang="en-US" sz="1240" dirty="0">
                          <a:solidFill>
                            <a:srgbClr val="101A22"/>
                          </a:solidFill>
                          <a:latin typeface="Arial" pitchFamily="34" charset="0"/>
                          <a:ea typeface="Arial" pitchFamily="34" charset="-122"/>
                          <a:cs typeface="Arial" pitchFamily="34" charset="-120"/>
                        </a:rPr>
                        <a:t> and </a:t>
                      </a:r>
                      <a:pPr algn="l" indent="0" marL="0">
                        <a:lnSpc>
                          <a:spcPts val="1490"/>
                        </a:lnSpc>
                        <a:buNone/>
                      </a:pPr>
                      <a:r>
                        <a:rPr lang="en-US" sz="1090" dirty="0">
                          <a:solidFill>
                            <a:srgbClr val="101A22"/>
                          </a:solidFill>
                          <a:highlight>
                            <a:srgbClr val="E1F0F7"/>
                          </a:highlight>
                          <a:latin typeface="Courier New" pitchFamily="34" charset="0"/>
                          <a:ea typeface="Courier New" pitchFamily="34" charset="-122"/>
                          <a:cs typeface="Courier New" pitchFamily="34" charset="-120"/>
                        </a:rPr>
                        <a:t>write</a:t>
                      </a:r>
                      <a:pPr algn="l" indent="0" marL="0">
                        <a:lnSpc>
                          <a:spcPts val="1490"/>
                        </a:lnSpc>
                        <a:buNone/>
                      </a:pPr>
                      <a:r>
                        <a:rPr lang="en-US" sz="1240" dirty="0">
                          <a:solidFill>
                            <a:srgbClr val="101A22"/>
                          </a:solidFill>
                          <a:latin typeface="Arial" pitchFamily="34" charset="0"/>
                          <a:ea typeface="Arial" pitchFamily="34" charset="-122"/>
                          <a:cs typeface="Arial" pitchFamily="34" charset="-120"/>
                        </a:rPr>
                        <a:t> on </a:t>
                      </a:r>
                      <a:pPr algn="l" indent="0" marL="0">
                        <a:lnSpc>
                          <a:spcPts val="1490"/>
                        </a:lnSpc>
                        <a:buNone/>
                      </a:pPr>
                      <a:r>
                        <a:rPr lang="en-US" sz="1090" dirty="0">
                          <a:solidFill>
                            <a:srgbClr val="101A22"/>
                          </a:solidFill>
                          <a:highlight>
                            <a:srgbClr val="E1F0F7"/>
                          </a:highlight>
                          <a:latin typeface="Courier New" pitchFamily="34" charset="0"/>
                          <a:ea typeface="Courier New" pitchFamily="34" charset="-122"/>
                          <a:cs typeface="Courier New" pitchFamily="34" charset="-120"/>
                        </a:rPr>
                        <a:t>otel-v1-logs-*</a:t>
                      </a:r>
                      <a:pPr algn="l" indent="0" marL="0">
                        <a:lnSpc>
                          <a:spcPts val="1490"/>
                        </a:lnSpc>
                        <a:buNone/>
                      </a:pPr>
                      <a:r>
                        <a:rPr lang="en-US" sz="1240" dirty="0">
                          <a:solidFill>
                            <a:srgbClr val="101A22"/>
                          </a:solidFill>
                          <a:latin typeface="Arial" pitchFamily="34" charset="0"/>
                          <a:ea typeface="Arial" pitchFamily="34" charset="-122"/>
                          <a:cs typeface="Arial" pitchFamily="34" charset="-120"/>
                        </a:rPr>
                        <a:t> and </a:t>
                      </a:r>
                      <a:pPr algn="l" indent="0" marL="0">
                        <a:lnSpc>
                          <a:spcPts val="1490"/>
                        </a:lnSpc>
                        <a:buNone/>
                      </a:pPr>
                      <a:r>
                        <a:rPr lang="en-US" sz="1090" dirty="0">
                          <a:solidFill>
                            <a:srgbClr val="101A22"/>
                          </a:solidFill>
                          <a:highlight>
                            <a:srgbClr val="E1F0F7"/>
                          </a:highlight>
                          <a:latin typeface="Courier New" pitchFamily="34" charset="0"/>
                          <a:ea typeface="Courier New" pitchFamily="34" charset="-122"/>
                          <a:cs typeface="Courier New" pitchFamily="34" charset="-120"/>
                        </a:rPr>
                        <a:t>otel-v1-apm-span-*</a:t>
                      </a:r>
                      <a:pPr algn="l" indent="0" marL="0">
                        <a:lnSpc>
                          <a:spcPts val="1490"/>
                        </a:lnSpc>
                        <a:buNone/>
                      </a:pPr>
                      <a:r>
                        <a:rPr lang="en-US" sz="1240" dirty="0">
                          <a:solidFill>
                            <a:srgbClr val="101A22"/>
                          </a:solidFill>
                          <a:latin typeface="Arial" pitchFamily="34" charset="0"/>
                          <a:ea typeface="Arial" pitchFamily="34" charset="-122"/>
                          <a:cs typeface="Arial" pitchFamily="34" charset="-120"/>
                        </a:rPr>
                        <a:t>, and the cluster permissions </a:t>
                      </a:r>
                      <a:pPr algn="l" indent="0" marL="0">
                        <a:lnSpc>
                          <a:spcPts val="1490"/>
                        </a:lnSpc>
                        <a:buNone/>
                      </a:pPr>
                      <a:r>
                        <a:rPr lang="en-US" sz="1090" dirty="0">
                          <a:solidFill>
                            <a:srgbClr val="101A22"/>
                          </a:solidFill>
                          <a:highlight>
                            <a:srgbClr val="E1F0F7"/>
                          </a:highlight>
                          <a:latin typeface="Courier New" pitchFamily="34" charset="0"/>
                          <a:ea typeface="Courier New" pitchFamily="34" charset="-122"/>
                          <a:cs typeface="Courier New" pitchFamily="34" charset="-120"/>
                        </a:rPr>
                        <a:t>cluster_manage_index_templates</a:t>
                      </a:r>
                      <a:pPr algn="l" indent="0" marL="0">
                        <a:lnSpc>
                          <a:spcPts val="1490"/>
                        </a:lnSpc>
                        <a:buNone/>
                      </a:pPr>
                      <a:r>
                        <a:rPr lang="en-US" sz="1240" dirty="0">
                          <a:solidFill>
                            <a:srgbClr val="101A22"/>
                          </a:solidFill>
                          <a:latin typeface="Arial" pitchFamily="34" charset="0"/>
                          <a:ea typeface="Arial" pitchFamily="34" charset="-122"/>
                          <a:cs typeface="Arial" pitchFamily="34" charset="-120"/>
                        </a:rPr>
                        <a:t> and </a:t>
                      </a:r>
                      <a:pPr algn="l" indent="0" marL="0">
                        <a:lnSpc>
                          <a:spcPts val="1490"/>
                        </a:lnSpc>
                        <a:buNone/>
                      </a:pPr>
                      <a:r>
                        <a:rPr lang="en-US" sz="1090" dirty="0">
                          <a:solidFill>
                            <a:srgbClr val="101A22"/>
                          </a:solidFill>
                          <a:highlight>
                            <a:srgbClr val="E1F0F7"/>
                          </a:highlight>
                          <a:latin typeface="Courier New" pitchFamily="34" charset="0"/>
                          <a:ea typeface="Courier New" pitchFamily="34" charset="-122"/>
                          <a:cs typeface="Courier New" pitchFamily="34" charset="-120"/>
                        </a:rPr>
                        <a:t>indices:data/write/bulk</a:t>
                      </a:r>
                      <a:pPr algn="l" indent="0" marL="0">
                        <a:lnSpc>
                          <a:spcPts val="1490"/>
                        </a:lnSpc>
                        <a:buNone/>
                      </a:pPr>
                      <a:r>
                        <a:rPr lang="en-US" sz="1240" dirty="0">
                          <a:solidFill>
                            <a:srgbClr val="101A22"/>
                          </a:solidFill>
                          <a:latin typeface="Arial" pitchFamily="34" charset="0"/>
                          <a:ea typeface="Arial" pitchFamily="34" charset="-122"/>
                          <a:cs typeface="Arial" pitchFamily="34" charset="-120"/>
                        </a:rPr>
                        <a:t>.</a:t>
                      </a:r>
                      <a:endParaRPr lang="en-US" sz="1200" dirty="0"/>
                    </a:p>
                  </a:txBody>
                  <a:tcPr marL="122682" marR="122682" marT="105156" marB="105156" anchor="t">
                    <a:lnL w="0" cap="flat" cmpd="sng" algn="ctr">
                      <a:noFill/>
                    </a:lnL>
                    <a:lnR w="0" cap="flat" cmpd="sng" algn="ctr">
                      <a:noFill/>
                    </a:lnR>
                    <a:lnT w="0" cap="flat" cmpd="sng" algn="ctr">
                      <a:noFill/>
                    </a:lnT>
                    <a:lnB w="8890" cap="flat" cmpd="sng" algn="ctr">
                      <a:solidFill>
                        <a:srgbClr val="CBD7DF"/>
                      </a:solidFill>
                      <a:prstDash val="solid"/>
                      <a:round/>
                      <a:headEnd type="none" w="med" len="med"/>
                      <a:tailEnd type="none" w="med" len="med"/>
                    </a:lnB>
                  </a:tcPr>
                </a:tc>
              </a:tr>
              <a:tr h="587312">
                <a:tc>
                  <a:txBody>
                    <a:bodyPr/>
                    <a:lstStyle/>
                    <a:p>
                      <a:pPr algn="l" indent="0" marL="0">
                        <a:lnSpc>
                          <a:spcPts val="1490"/>
                        </a:lnSpc>
                        <a:buNone/>
                      </a:pPr>
                      <a:r>
                        <a:rPr lang="en-US" sz="1240" b="1" dirty="0">
                          <a:solidFill>
                            <a:srgbClr val="101A22"/>
                          </a:solidFill>
                          <a:latin typeface="Arial" pitchFamily="34" charset="0"/>
                          <a:ea typeface="Arial" pitchFamily="34" charset="-122"/>
                          <a:cs typeface="Arial" pitchFamily="34" charset="-120"/>
                        </a:rPr>
                        <a:t>An index template</a:t>
                      </a:r>
                      <a:endParaRPr lang="en-US" sz="1200" dirty="0"/>
                    </a:p>
                  </a:txBody>
                  <a:tcPr marL="122682" marR="122682" marT="105156" marB="105156" anchor="t">
                    <a:lnL w="0" cap="flat" cmpd="sng" algn="ctr">
                      <a:noFill/>
                    </a:lnL>
                    <a:lnR w="0" cap="flat" cmpd="sng" algn="ctr">
                      <a:noFill/>
                    </a:lnR>
                    <a:lnT w="0" cap="flat" cmpd="sng" algn="ctr">
                      <a:noFill/>
                    </a:lnT>
                    <a:lnB w="8890" cap="flat" cmpd="sng" algn="ctr">
                      <a:solidFill>
                        <a:srgbClr val="CBD7DF"/>
                      </a:solidFill>
                      <a:prstDash val="solid"/>
                      <a:round/>
                      <a:headEnd type="none" w="med" len="med"/>
                      <a:tailEnd type="none" w="med" len="med"/>
                    </a:lnB>
                  </a:tcPr>
                </a:tc>
                <a:tc>
                  <a:txBody>
                    <a:bodyPr/>
                    <a:lstStyle/>
                    <a:p>
                      <a:pPr algn="l" indent="0" marL="0">
                        <a:lnSpc>
                          <a:spcPts val="1490"/>
                        </a:lnSpc>
                        <a:buNone/>
                      </a:pPr>
                      <a:r>
                        <a:rPr lang="en-US" sz="1240" dirty="0">
                          <a:solidFill>
                            <a:srgbClr val="101A22"/>
                          </a:solidFill>
                          <a:latin typeface="Arial" pitchFamily="34" charset="0"/>
                          <a:ea typeface="Arial" pitchFamily="34" charset="-122"/>
                          <a:cs typeface="Arial" pitchFamily="34" charset="-120"/>
                        </a:rPr>
                        <a:t>You do nothing. The OpenTelemetry Collector creates it at start.</a:t>
                      </a:r>
                      <a:endParaRPr lang="en-US" sz="1200" dirty="0"/>
                    </a:p>
                  </a:txBody>
                  <a:tcPr marL="122682" marR="122682" marT="105156" marB="105156" anchor="t">
                    <a:lnL w="0" cap="flat" cmpd="sng" algn="ctr">
                      <a:noFill/>
                    </a:lnL>
                    <a:lnR w="0" cap="flat" cmpd="sng" algn="ctr">
                      <a:noFill/>
                    </a:lnR>
                    <a:lnT w="0" cap="flat" cmpd="sng" algn="ctr">
                      <a:noFill/>
                    </a:lnT>
                    <a:lnB w="8890" cap="flat" cmpd="sng" algn="ctr">
                      <a:solidFill>
                        <a:srgbClr val="CBD7DF"/>
                      </a:solidFill>
                      <a:prstDash val="solid"/>
                      <a:round/>
                      <a:headEnd type="none" w="med" len="med"/>
                      <a:tailEnd type="none" w="med" len="med"/>
                    </a:lnB>
                  </a:tcPr>
                </a:tc>
                <a:tc>
                  <a:txBody>
                    <a:bodyPr/>
                    <a:lstStyle/>
                    <a:p>
                      <a:pPr algn="l" indent="0" marL="0">
                        <a:lnSpc>
                          <a:spcPts val="1490"/>
                        </a:lnSpc>
                        <a:buNone/>
                      </a:pPr>
                      <a:r>
                        <a:rPr lang="en-US" sz="1240" dirty="0">
                          <a:solidFill>
                            <a:srgbClr val="101A22"/>
                          </a:solidFill>
                          <a:latin typeface="Arial" pitchFamily="34" charset="0"/>
                          <a:ea typeface="Arial" pitchFamily="34" charset="-122"/>
                          <a:cs typeface="Arial" pitchFamily="34" charset="-120"/>
                        </a:rPr>
                        <a:t>The template sets the field types of each new monthly index. It needs OpenTelemetry Collector 0.157.0 or newer.</a:t>
                      </a:r>
                      <a:endParaRPr lang="en-US" sz="1200" dirty="0"/>
                    </a:p>
                  </a:txBody>
                  <a:tcPr marL="122682" marR="122682" marT="105156" marB="105156" anchor="t">
                    <a:lnL w="0" cap="flat" cmpd="sng" algn="ctr">
                      <a:noFill/>
                    </a:lnL>
                    <a:lnR w="0" cap="flat" cmpd="sng" algn="ctr">
                      <a:noFill/>
                    </a:lnR>
                    <a:lnT w="0" cap="flat" cmpd="sng" algn="ctr">
                      <a:noFill/>
                    </a:lnT>
                    <a:lnB w="8890" cap="flat" cmpd="sng" algn="ctr">
                      <a:solidFill>
                        <a:srgbClr val="CBD7DF"/>
                      </a:solidFill>
                      <a:prstDash val="solid"/>
                      <a:round/>
                      <a:headEnd type="none" w="med" len="med"/>
                      <a:tailEnd type="none" w="med" len="med"/>
                    </a:lnB>
                  </a:tcPr>
                </a:tc>
              </a:tr>
              <a:tr h="771396">
                <a:tc>
                  <a:txBody>
                    <a:bodyPr/>
                    <a:lstStyle/>
                    <a:p>
                      <a:pPr algn="l" indent="0" marL="0">
                        <a:lnSpc>
                          <a:spcPts val="1490"/>
                        </a:lnSpc>
                        <a:buNone/>
                      </a:pPr>
                      <a:r>
                        <a:rPr lang="en-US" sz="1240" b="1" dirty="0">
                          <a:solidFill>
                            <a:srgbClr val="101A22"/>
                          </a:solidFill>
                          <a:latin typeface="Arial" pitchFamily="34" charset="0"/>
                          <a:ea typeface="Arial" pitchFamily="34" charset="-122"/>
                          <a:cs typeface="Arial" pitchFamily="34" charset="-120"/>
                        </a:rPr>
                        <a:t>An index pattern</a:t>
                      </a:r>
                      <a:endParaRPr lang="en-US" sz="1200" dirty="0"/>
                    </a:p>
                  </a:txBody>
                  <a:tcPr marL="122682" marR="122682" marT="105156" marB="105156" anchor="t">
                    <a:lnL w="0" cap="flat" cmpd="sng" algn="ctr">
                      <a:noFill/>
                    </a:lnL>
                    <a:lnR w="0" cap="flat" cmpd="sng" algn="ctr">
                      <a:noFill/>
                    </a:lnR>
                    <a:lnT w="0" cap="flat" cmpd="sng" algn="ctr">
                      <a:noFill/>
                    </a:lnT>
                    <a:lnB w="8890" cap="flat" cmpd="sng" algn="ctr">
                      <a:solidFill>
                        <a:srgbClr val="CBD7DF"/>
                      </a:solidFill>
                      <a:prstDash val="solid"/>
                      <a:round/>
                      <a:headEnd type="none" w="med" len="med"/>
                      <a:tailEnd type="none" w="med" len="med"/>
                    </a:lnB>
                  </a:tcPr>
                </a:tc>
                <a:tc>
                  <a:txBody>
                    <a:bodyPr/>
                    <a:lstStyle/>
                    <a:p>
                      <a:pPr algn="l" indent="0" marL="0">
                        <a:lnSpc>
                          <a:spcPts val="1490"/>
                        </a:lnSpc>
                        <a:buNone/>
                      </a:pPr>
                      <a:r>
                        <a:rPr lang="en-US" sz="1240" dirty="0">
                          <a:solidFill>
                            <a:srgbClr val="101A22"/>
                          </a:solidFill>
                          <a:latin typeface="Arial" pitchFamily="34" charset="0"/>
                          <a:ea typeface="Arial" pitchFamily="34" charset="-122"/>
                          <a:cs typeface="Arial" pitchFamily="34" charset="-120"/>
                        </a:rPr>
                        <a:t>Dashboards Management, Index patterns, Create. The pattern is </a:t>
                      </a:r>
                      <a:pPr algn="l" indent="0" marL="0">
                        <a:lnSpc>
                          <a:spcPts val="1490"/>
                        </a:lnSpc>
                        <a:buNone/>
                      </a:pPr>
                      <a:r>
                        <a:rPr lang="en-US" sz="1090" dirty="0">
                          <a:solidFill>
                            <a:srgbClr val="101A22"/>
                          </a:solidFill>
                          <a:highlight>
                            <a:srgbClr val="E1F0F7"/>
                          </a:highlight>
                          <a:latin typeface="Courier New" pitchFamily="34" charset="0"/>
                          <a:ea typeface="Courier New" pitchFamily="34" charset="-122"/>
                          <a:cs typeface="Courier New" pitchFamily="34" charset="-120"/>
                        </a:rPr>
                        <a:t>otel-v1-logs-*</a:t>
                      </a:r>
                      <a:pPr algn="l" indent="0" marL="0">
                        <a:lnSpc>
                          <a:spcPts val="1490"/>
                        </a:lnSpc>
                        <a:buNone/>
                      </a:pPr>
                      <a:r>
                        <a:rPr lang="en-US" sz="1240" dirty="0">
                          <a:solidFill>
                            <a:srgbClr val="101A22"/>
                          </a:solidFill>
                          <a:latin typeface="Arial" pitchFamily="34" charset="0"/>
                          <a:ea typeface="Arial" pitchFamily="34" charset="-122"/>
                          <a:cs typeface="Arial" pitchFamily="34" charset="-120"/>
                        </a:rPr>
                        <a:t> and the time field is </a:t>
                      </a:r>
                      <a:pPr algn="l" indent="0" marL="0">
                        <a:lnSpc>
                          <a:spcPts val="1490"/>
                        </a:lnSpc>
                        <a:buNone/>
                      </a:pPr>
                      <a:r>
                        <a:rPr lang="en-US" sz="1090" dirty="0">
                          <a:solidFill>
                            <a:srgbClr val="101A22"/>
                          </a:solidFill>
                          <a:highlight>
                            <a:srgbClr val="E1F0F7"/>
                          </a:highlight>
                          <a:latin typeface="Courier New" pitchFamily="34" charset="0"/>
                          <a:ea typeface="Courier New" pitchFamily="34" charset="-122"/>
                          <a:cs typeface="Courier New" pitchFamily="34" charset="-120"/>
                        </a:rPr>
                        <a:t>time</a:t>
                      </a:r>
                      <a:pPr algn="l" indent="0" marL="0">
                        <a:lnSpc>
                          <a:spcPts val="1490"/>
                        </a:lnSpc>
                        <a:buNone/>
                      </a:pPr>
                      <a:r>
                        <a:rPr lang="en-US" sz="1240" dirty="0">
                          <a:solidFill>
                            <a:srgbClr val="101A22"/>
                          </a:solidFill>
                          <a:latin typeface="Arial" pitchFamily="34" charset="0"/>
                          <a:ea typeface="Arial" pitchFamily="34" charset="-122"/>
                          <a:cs typeface="Arial" pitchFamily="34" charset="-120"/>
                        </a:rPr>
                        <a:t>.</a:t>
                      </a:r>
                      <a:endParaRPr lang="en-US" sz="1200" dirty="0"/>
                    </a:p>
                  </a:txBody>
                  <a:tcPr marL="122682" marR="122682" marT="105156" marB="105156" anchor="t">
                    <a:lnL w="0" cap="flat" cmpd="sng" algn="ctr">
                      <a:noFill/>
                    </a:lnL>
                    <a:lnR w="0" cap="flat" cmpd="sng" algn="ctr">
                      <a:noFill/>
                    </a:lnR>
                    <a:lnT w="0" cap="flat" cmpd="sng" algn="ctr">
                      <a:noFill/>
                    </a:lnT>
                    <a:lnB w="8890" cap="flat" cmpd="sng" algn="ctr">
                      <a:solidFill>
                        <a:srgbClr val="CBD7DF"/>
                      </a:solidFill>
                      <a:prstDash val="solid"/>
                      <a:round/>
                      <a:headEnd type="none" w="med" len="med"/>
                      <a:tailEnd type="none" w="med" len="med"/>
                    </a:lnB>
                  </a:tcPr>
                </a:tc>
                <a:tc>
                  <a:txBody>
                    <a:bodyPr/>
                    <a:lstStyle/>
                    <a:p>
                      <a:pPr algn="l" indent="0" marL="0">
                        <a:lnSpc>
                          <a:spcPts val="1490"/>
                        </a:lnSpc>
                        <a:buNone/>
                      </a:pPr>
                      <a:r>
                        <a:rPr lang="en-US" sz="1240" dirty="0">
                          <a:solidFill>
                            <a:srgbClr val="101A22"/>
                          </a:solidFill>
                          <a:latin typeface="Arial" pitchFamily="34" charset="0"/>
                          <a:ea typeface="Arial" pitchFamily="34" charset="-122"/>
                          <a:cs typeface="Arial" pitchFamily="34" charset="-120"/>
                        </a:rPr>
                        <a:t>Discover is the search page of OpenSearch Dashboards. It shows no data without the pattern.</a:t>
                      </a:r>
                      <a:endParaRPr lang="en-US" sz="1200" dirty="0"/>
                    </a:p>
                  </a:txBody>
                  <a:tcPr marL="122682" marR="122682" marT="105156" marB="105156" anchor="t">
                    <a:lnL w="0" cap="flat" cmpd="sng" algn="ctr">
                      <a:noFill/>
                    </a:lnL>
                    <a:lnR w="0" cap="flat" cmpd="sng" algn="ctr">
                      <a:noFill/>
                    </a:lnR>
                    <a:lnT w="0" cap="flat" cmpd="sng" algn="ctr">
                      <a:noFill/>
                    </a:lnT>
                    <a:lnB w="8890" cap="flat" cmpd="sng" algn="ctr">
                      <a:solidFill>
                        <a:srgbClr val="CBD7DF"/>
                      </a:solidFill>
                      <a:prstDash val="solid"/>
                      <a:round/>
                      <a:headEnd type="none" w="med" len="med"/>
                      <a:tailEnd type="none" w="med" len="med"/>
                    </a:lnB>
                  </a:tcPr>
                </a:tc>
              </a:tr>
              <a:tr h="929181">
                <a:tc>
                  <a:txBody>
                    <a:bodyPr/>
                    <a:lstStyle/>
                    <a:p>
                      <a:pPr algn="l" indent="0" marL="0">
                        <a:lnSpc>
                          <a:spcPts val="1490"/>
                        </a:lnSpc>
                        <a:buNone/>
                      </a:pPr>
                      <a:r>
                        <a:rPr lang="en-US" sz="1240" b="1" dirty="0">
                          <a:solidFill>
                            <a:srgbClr val="101A22"/>
                          </a:solidFill>
                          <a:latin typeface="Arial" pitchFamily="34" charset="0"/>
                          <a:ea typeface="Arial" pitchFamily="34" charset="-122"/>
                          <a:cs typeface="Arial" pitchFamily="34" charset="-120"/>
                        </a:rPr>
                        <a:t>A retention policy</a:t>
                      </a:r>
                      <a:endParaRPr lang="en-US" sz="1200" dirty="0"/>
                    </a:p>
                  </a:txBody>
                  <a:tcPr marL="122682" marR="122682" marT="105156" marB="105156" anchor="t">
                    <a:lnL w="0" cap="flat" cmpd="sng" algn="ctr">
                      <a:noFill/>
                    </a:lnL>
                    <a:lnR w="0" cap="flat" cmpd="sng" algn="ctr">
                      <a:noFill/>
                    </a:lnR>
                    <a:lnT w="0" cap="flat" cmpd="sng" algn="ctr">
                      <a:noFill/>
                    </a:lnT>
                    <a:lnB w="8890" cap="flat" cmpd="sng" algn="ctr">
                      <a:solidFill>
                        <a:srgbClr val="CBD7DF"/>
                      </a:solidFill>
                      <a:prstDash val="solid"/>
                      <a:round/>
                      <a:headEnd type="none" w="med" len="med"/>
                      <a:tailEnd type="none" w="med" len="med"/>
                    </a:lnB>
                  </a:tcPr>
                </a:tc>
                <a:tc>
                  <a:txBody>
                    <a:bodyPr/>
                    <a:lstStyle/>
                    <a:p>
                      <a:pPr algn="l" indent="0" marL="0">
                        <a:lnSpc>
                          <a:spcPts val="1490"/>
                        </a:lnSpc>
                        <a:buNone/>
                      </a:pPr>
                      <a:r>
                        <a:rPr lang="en-US" sz="1240" dirty="0">
                          <a:solidFill>
                            <a:srgbClr val="101A22"/>
                          </a:solidFill>
                          <a:latin typeface="Arial" pitchFamily="34" charset="0"/>
                          <a:ea typeface="Arial" pitchFamily="34" charset="-122"/>
                          <a:cs typeface="Arial" pitchFamily="34" charset="-120"/>
                        </a:rPr>
                        <a:t>Index Management, State management policies, Create policy, with an ISM template for </a:t>
                      </a:r>
                      <a:pPr algn="l" indent="0" marL="0">
                        <a:lnSpc>
                          <a:spcPts val="1490"/>
                        </a:lnSpc>
                        <a:buNone/>
                      </a:pPr>
                      <a:r>
                        <a:rPr lang="en-US" sz="1090" dirty="0">
                          <a:solidFill>
                            <a:srgbClr val="101A22"/>
                          </a:solidFill>
                          <a:highlight>
                            <a:srgbClr val="E1F0F7"/>
                          </a:highlight>
                          <a:latin typeface="Courier New" pitchFamily="34" charset="0"/>
                          <a:ea typeface="Courier New" pitchFamily="34" charset="-122"/>
                          <a:cs typeface="Courier New" pitchFamily="34" charset="-120"/>
                        </a:rPr>
                        <a:t>otel-v1-logs-*</a:t>
                      </a:r>
                      <a:pPr algn="l" indent="0" marL="0">
                        <a:lnSpc>
                          <a:spcPts val="1490"/>
                        </a:lnSpc>
                        <a:buNone/>
                      </a:pPr>
                      <a:r>
                        <a:rPr lang="en-US" sz="1240" dirty="0">
                          <a:solidFill>
                            <a:srgbClr val="101A22"/>
                          </a:solidFill>
                          <a:latin typeface="Arial" pitchFamily="34" charset="0"/>
                          <a:ea typeface="Arial" pitchFamily="34" charset="-122"/>
                          <a:cs typeface="Arial" pitchFamily="34" charset="-120"/>
                        </a:rPr>
                        <a:t> and </a:t>
                      </a:r>
                      <a:pPr algn="l" indent="0" marL="0">
                        <a:lnSpc>
                          <a:spcPts val="1490"/>
                        </a:lnSpc>
                        <a:buNone/>
                      </a:pPr>
                      <a:r>
                        <a:rPr lang="en-US" sz="1090" dirty="0">
                          <a:solidFill>
                            <a:srgbClr val="101A22"/>
                          </a:solidFill>
                          <a:highlight>
                            <a:srgbClr val="E1F0F7"/>
                          </a:highlight>
                          <a:latin typeface="Courier New" pitchFamily="34" charset="0"/>
                          <a:ea typeface="Courier New" pitchFamily="34" charset="-122"/>
                          <a:cs typeface="Courier New" pitchFamily="34" charset="-120"/>
                        </a:rPr>
                        <a:t>otel-v1-apm-span-*</a:t>
                      </a:r>
                      <a:endParaRPr lang="en-US" sz="1200" dirty="0"/>
                    </a:p>
                  </a:txBody>
                  <a:tcPr marL="122682" marR="122682" marT="105156" marB="105156" anchor="t">
                    <a:lnL w="0" cap="flat" cmpd="sng" algn="ctr">
                      <a:noFill/>
                    </a:lnL>
                    <a:lnR w="0" cap="flat" cmpd="sng" algn="ctr">
                      <a:noFill/>
                    </a:lnR>
                    <a:lnT w="0" cap="flat" cmpd="sng" algn="ctr">
                      <a:noFill/>
                    </a:lnT>
                    <a:lnB w="8890" cap="flat" cmpd="sng" algn="ctr">
                      <a:solidFill>
                        <a:srgbClr val="CBD7DF"/>
                      </a:solidFill>
                      <a:prstDash val="solid"/>
                      <a:round/>
                      <a:headEnd type="none" w="med" len="med"/>
                      <a:tailEnd type="none" w="med" len="med"/>
                    </a:lnB>
                  </a:tcPr>
                </a:tc>
                <a:tc>
                  <a:txBody>
                    <a:bodyPr/>
                    <a:lstStyle/>
                    <a:p>
                      <a:pPr algn="l" indent="0" marL="0">
                        <a:lnSpc>
                          <a:spcPts val="1490"/>
                        </a:lnSpc>
                        <a:buNone/>
                      </a:pPr>
                      <a:r>
                        <a:rPr lang="en-US" sz="1240" dirty="0">
                          <a:solidFill>
                            <a:srgbClr val="101A22"/>
                          </a:solidFill>
                          <a:latin typeface="Arial" pitchFamily="34" charset="0"/>
                          <a:ea typeface="Arial" pitchFamily="34" charset="-122"/>
                          <a:cs typeface="Arial" pitchFamily="34" charset="-120"/>
                        </a:rPr>
                        <a:t>ISM (Index State Management) deletes old indices on a schedule. The policy covers only the indices that come after it.</a:t>
                      </a:r>
                      <a:endParaRPr lang="en-US" sz="1200" dirty="0"/>
                    </a:p>
                  </a:txBody>
                  <a:tcPr marL="122682" marR="122682" marT="105156" marB="105156" anchor="t">
                    <a:lnL w="0" cap="flat" cmpd="sng" algn="ctr">
                      <a:noFill/>
                    </a:lnL>
                    <a:lnR w="0" cap="flat" cmpd="sng" algn="ctr">
                      <a:noFill/>
                    </a:lnR>
                    <a:lnT w="0" cap="flat" cmpd="sng" algn="ctr">
                      <a:noFill/>
                    </a:lnT>
                    <a:lnB w="8890" cap="flat" cmpd="sng" algn="ctr">
                      <a:solidFill>
                        <a:srgbClr val="CBD7DF"/>
                      </a:solidFill>
                      <a:prstDash val="solid"/>
                      <a:round/>
                      <a:headEnd type="none" w="med" len="med"/>
                      <a:tailEnd type="none" w="med" len="med"/>
                    </a:lnB>
                  </a:tcPr>
                </a:tc>
              </a:tr>
            </a:tbl>
          </a:graphicData>
        </a:graphic>
      </p:graphicFrame>
      <p:sp>
        <p:nvSpPr>
          <p:cNvPr id="4" name="Text 1"/>
          <p:cNvSpPr txBox="1"/>
          <p:nvPr/>
        </p:nvSpPr>
        <p:spPr>
          <a:xfrm>
            <a:off x="1081929" y="513464"/>
            <a:ext cx="10085291" cy="170934"/>
          </a:xfrm>
          <a:prstGeom prst="rect">
            <a:avLst/>
          </a:prstGeom>
          <a:noFill/>
          <a:ln/>
        </p:spPr>
        <p:txBody>
          <a:bodyPr wrap="none" lIns="0" tIns="0" rIns="0" bIns="0" rtlCol="0" anchor="t"/>
          <a:lstStyle/>
          <a:p>
            <a:pPr algn="l" indent="0" marL="0">
              <a:lnSpc>
                <a:spcPts val="1350"/>
              </a:lnSpc>
              <a:buNone/>
            </a:pPr>
            <a:r>
              <a:rPr lang="en-US" sz="900" spc="140" kern="0" dirty="0">
                <a:solidFill>
                  <a:srgbClr val="0B6E99"/>
                </a:solidFill>
                <a:latin typeface="Courier New" pitchFamily="34" charset="0"/>
                <a:ea typeface="Courier New" pitchFamily="34" charset="-122"/>
                <a:cs typeface="Courier New" pitchFamily="34" charset="-120"/>
              </a:rPr>
              <a:t>STEP 6 OF 9</a:t>
            </a:r>
            <a:endParaRPr lang="en-US" sz="900" dirty="0"/>
          </a:p>
        </p:txBody>
      </p:sp>
      <p:sp>
        <p:nvSpPr>
          <p:cNvPr id="5" name="Text 2"/>
          <p:cNvSpPr txBox="1"/>
          <p:nvPr/>
        </p:nvSpPr>
        <p:spPr>
          <a:xfrm>
            <a:off x="1081929" y="827056"/>
            <a:ext cx="10085291" cy="397614"/>
          </a:xfrm>
          <a:prstGeom prst="rect">
            <a:avLst/>
          </a:prstGeom>
          <a:noFill/>
          <a:ln/>
        </p:spPr>
        <p:txBody>
          <a:bodyPr wrap="none" lIns="0" tIns="0" rIns="0" bIns="0" rtlCol="0" anchor="t"/>
          <a:lstStyle/>
          <a:p>
            <a:pPr algn="l" indent="0" marL="0">
              <a:lnSpc>
                <a:spcPts val="3130"/>
              </a:lnSpc>
              <a:buNone/>
            </a:pPr>
            <a:r>
              <a:rPr lang="en-US" sz="2900" b="1" spc="-60" kern="0" dirty="0">
                <a:solidFill>
                  <a:srgbClr val="101A22"/>
                </a:solidFill>
                <a:latin typeface="Arial" pitchFamily="34" charset="0"/>
                <a:ea typeface="Arial" pitchFamily="34" charset="-122"/>
                <a:cs typeface="Arial" pitchFamily="34" charset="-120"/>
              </a:rPr>
              <a:t>Configure OpenSearch</a:t>
            </a:r>
            <a:endParaRPr lang="en-US" sz="2900" dirty="0"/>
          </a:p>
        </p:txBody>
      </p:sp>
      <p:sp>
        <p:nvSpPr>
          <p:cNvPr id="6" name="Text 3"/>
          <p:cNvSpPr txBox="1"/>
          <p:nvPr/>
        </p:nvSpPr>
        <p:spPr>
          <a:xfrm>
            <a:off x="1081929" y="1412711"/>
            <a:ext cx="10085291" cy="341869"/>
          </a:xfrm>
          <a:prstGeom prst="rect">
            <a:avLst/>
          </a:prstGeom>
          <a:noFill/>
          <a:ln/>
        </p:spPr>
        <p:txBody>
          <a:bodyPr wrap="none" lIns="0" tIns="0" rIns="0" bIns="0" rtlCol="0" anchor="t"/>
          <a:lstStyle/>
          <a:p>
            <a:pPr algn="l" indent="0" marL="0">
              <a:lnSpc>
                <a:spcPts val="2690"/>
              </a:lnSpc>
              <a:buNone/>
            </a:pPr>
            <a:r>
              <a:rPr lang="en-US" sz="1790" dirty="0">
                <a:solidFill>
                  <a:srgbClr val="5A6D7A"/>
                </a:solidFill>
                <a:latin typeface="Arial" pitchFamily="34" charset="0"/>
                <a:ea typeface="Arial" pitchFamily="34" charset="-122"/>
                <a:cs typeface="Arial" pitchFamily="34" charset="-120"/>
              </a:rPr>
              <a:t>OpenSearch needs four things before the first records arrive.</a:t>
            </a:r>
            <a:endParaRPr lang="en-US" sz="1790" dirty="0"/>
          </a:p>
        </p:txBody>
      </p:sp>
      <p:sp>
        <p:nvSpPr>
          <p:cNvPr id="7" name="Text 4"/>
          <p:cNvSpPr txBox="1"/>
          <p:nvPr/>
        </p:nvSpPr>
        <p:spPr>
          <a:xfrm>
            <a:off x="647700" y="6464627"/>
            <a:ext cx="948928" cy="142875"/>
          </a:xfrm>
          <a:prstGeom prst="rect">
            <a:avLst/>
          </a:prstGeom>
          <a:noFill/>
          <a:ln/>
        </p:spPr>
        <p:txBody>
          <a:bodyPr wrap="none" lIns="0" tIns="0" rIns="0" bIns="0" rtlCol="0" anchor="t"/>
          <a:lstStyle/>
          <a:p>
            <a:pPr algn="l" indent="0" marL="0">
              <a:lnSpc>
                <a:spcPts val="1080"/>
              </a:lnSpc>
              <a:buNone/>
            </a:pPr>
            <a:r>
              <a:rPr lang="en-US" sz="900" dirty="0">
                <a:solidFill>
                  <a:srgbClr val="8496A2"/>
                </a:solidFill>
                <a:latin typeface="Courier New" pitchFamily="34" charset="0"/>
                <a:ea typeface="Courier New" pitchFamily="34" charset="-122"/>
                <a:cs typeface="Courier New" pitchFamily="34" charset="-120"/>
              </a:rPr>
              <a:t>Walk-through</a:t>
            </a:r>
            <a:endParaRPr lang="en-US" sz="900" dirty="0"/>
          </a:p>
        </p:txBody>
      </p:sp>
      <p:sp>
        <p:nvSpPr>
          <p:cNvPr id="8" name="Text 5"/>
          <p:cNvSpPr txBox="1"/>
          <p:nvPr/>
        </p:nvSpPr>
        <p:spPr>
          <a:xfrm>
            <a:off x="11024146" y="6464627"/>
            <a:ext cx="577304" cy="142875"/>
          </a:xfrm>
          <a:prstGeom prst="rect">
            <a:avLst/>
          </a:prstGeom>
          <a:noFill/>
          <a:ln/>
        </p:spPr>
        <p:txBody>
          <a:bodyPr wrap="none" lIns="0" tIns="0" rIns="0" bIns="0" rtlCol="0" anchor="t"/>
          <a:lstStyle/>
          <a:p>
            <a:pPr algn="l" indent="0" marL="0">
              <a:lnSpc>
                <a:spcPts val="1080"/>
              </a:lnSpc>
              <a:buNone/>
            </a:pPr>
            <a:r>
              <a:rPr lang="en-US" sz="900" dirty="0">
                <a:solidFill>
                  <a:srgbClr val="8496A2"/>
                </a:solidFill>
                <a:latin typeface="Courier New" pitchFamily="34" charset="0"/>
                <a:ea typeface="Courier New" pitchFamily="34" charset="-122"/>
                <a:cs typeface="Courier New" pitchFamily="34" charset="-120"/>
              </a:rPr>
              <a:t>20 / 39</a:t>
            </a:r>
            <a:endParaRPr lang="en-US" sz="900" dirty="0"/>
          </a:p>
        </p:txBody>
      </p:sp>
      <p:pic>
        <p:nvPicPr>
          <p:cNvPr id="900" name="NetSapiensis mark" descr="NetSapiensis"/>
          <p:cNvPicPr>
            <a:picLocks noChangeAspect="1"/>
          </p:cNvPicPr>
          <p:nvPr/>
        </p:nvPicPr>
        <p:blipFill>
          <a:blip r:embed="rId3"/>
          <a:stretch>
            <a:fillRect/>
          </a:stretch>
        </p:blipFill>
        <p:spPr>
          <a:xfrm>
            <a:off x="10776204" y="6419088"/>
            <a:ext cx="178308" cy="237744"/>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223585" y="3215437"/>
            <a:ext cx="4702050" cy="1301955"/>
          </a:xfrm>
          <a:prstGeom prst="roundRect">
            <a:avLst>
              <a:gd name="adj" fmla="val 9187"/>
            </a:avLst>
          </a:prstGeom>
          <a:solidFill>
            <a:srgbClr val="0F2027"/>
          </a:solidFill>
          <a:ln/>
        </p:spPr>
      </p:sp>
      <p:sp>
        <p:nvSpPr>
          <p:cNvPr id="3" name="Shape 1"/>
          <p:cNvSpPr/>
          <p:nvPr/>
        </p:nvSpPr>
        <p:spPr>
          <a:xfrm>
            <a:off x="6266364" y="3215437"/>
            <a:ext cx="4702050" cy="1301955"/>
          </a:xfrm>
          <a:prstGeom prst="roundRect">
            <a:avLst>
              <a:gd name="adj" fmla="val 9187"/>
            </a:avLst>
          </a:prstGeom>
          <a:solidFill>
            <a:srgbClr val="0F2027"/>
          </a:solidFill>
          <a:ln/>
        </p:spPr>
      </p:sp>
      <p:sp>
        <p:nvSpPr>
          <p:cNvPr id="4" name="Shape 2"/>
          <p:cNvSpPr/>
          <p:nvPr/>
        </p:nvSpPr>
        <p:spPr>
          <a:xfrm>
            <a:off x="647700" y="6343650"/>
            <a:ext cx="10896600" cy="0"/>
          </a:xfrm>
          <a:prstGeom prst="line">
            <a:avLst/>
          </a:prstGeom>
          <a:noFill/>
          <a:ln w="8890">
            <a:solidFill>
              <a:srgbClr val="CBD7DF"/>
            </a:solidFill>
            <a:prstDash val="solid"/>
          </a:ln>
        </p:spPr>
      </p:sp>
      <p:sp>
        <p:nvSpPr>
          <p:cNvPr id="5" name="Text 3"/>
          <p:cNvSpPr txBox="1"/>
          <p:nvPr/>
        </p:nvSpPr>
        <p:spPr>
          <a:xfrm>
            <a:off x="1223585" y="514028"/>
            <a:ext cx="9801978" cy="166105"/>
          </a:xfrm>
          <a:prstGeom prst="rect">
            <a:avLst/>
          </a:prstGeom>
          <a:noFill/>
          <a:ln/>
        </p:spPr>
        <p:txBody>
          <a:bodyPr wrap="none" lIns="0" tIns="0" rIns="0" bIns="0" rtlCol="0" anchor="t"/>
          <a:lstStyle/>
          <a:p>
            <a:pPr algn="l" indent="0" marL="0">
              <a:lnSpc>
                <a:spcPts val="1310"/>
              </a:lnSpc>
              <a:buNone/>
            </a:pPr>
            <a:r>
              <a:rPr lang="en-US" sz="870" spc="140" kern="0" dirty="0">
                <a:solidFill>
                  <a:srgbClr val="0B6E99"/>
                </a:solidFill>
                <a:latin typeface="Courier New" pitchFamily="34" charset="0"/>
                <a:ea typeface="Courier New" pitchFamily="34" charset="-122"/>
                <a:cs typeface="Courier New" pitchFamily="34" charset="-120"/>
              </a:rPr>
              <a:t>STEP 7 OF 9</a:t>
            </a:r>
            <a:endParaRPr lang="en-US" sz="870" dirty="0"/>
          </a:p>
        </p:txBody>
      </p:sp>
      <p:sp>
        <p:nvSpPr>
          <p:cNvPr id="6" name="Text 4"/>
          <p:cNvSpPr txBox="1"/>
          <p:nvPr/>
        </p:nvSpPr>
        <p:spPr>
          <a:xfrm>
            <a:off x="1223585" y="818760"/>
            <a:ext cx="9801978" cy="386381"/>
          </a:xfrm>
          <a:prstGeom prst="rect">
            <a:avLst/>
          </a:prstGeom>
          <a:noFill/>
          <a:ln/>
        </p:spPr>
        <p:txBody>
          <a:bodyPr wrap="none" lIns="0" tIns="0" rIns="0" bIns="0" rtlCol="0" anchor="t"/>
          <a:lstStyle/>
          <a:p>
            <a:pPr algn="l" indent="0" marL="0">
              <a:lnSpc>
                <a:spcPts val="3040"/>
              </a:lnSpc>
              <a:buNone/>
            </a:pPr>
            <a:r>
              <a:rPr lang="en-US" sz="2820" b="1" spc="-60" kern="0" dirty="0">
                <a:solidFill>
                  <a:srgbClr val="101A22"/>
                </a:solidFill>
                <a:latin typeface="Arial" pitchFamily="34" charset="0"/>
                <a:ea typeface="Arial" pitchFamily="34" charset="-122"/>
                <a:cs typeface="Arial" pitchFamily="34" charset="-120"/>
              </a:rPr>
              <a:t>Install the OpenTelemetry Collector</a:t>
            </a:r>
            <a:endParaRPr lang="en-US" sz="2820" dirty="0"/>
          </a:p>
        </p:txBody>
      </p:sp>
      <p:sp>
        <p:nvSpPr>
          <p:cNvPr id="7" name="Text 5"/>
          <p:cNvSpPr txBox="1"/>
          <p:nvPr/>
        </p:nvSpPr>
        <p:spPr>
          <a:xfrm>
            <a:off x="1223585" y="1387869"/>
            <a:ext cx="9801978" cy="1328840"/>
          </a:xfrm>
          <a:prstGeom prst="rect">
            <a:avLst/>
          </a:prstGeom>
          <a:noFill/>
          <a:ln/>
        </p:spPr>
        <p:txBody>
          <a:bodyPr wrap="square" lIns="0" tIns="0" rIns="0" bIns="0" rtlCol="0" anchor="t"/>
          <a:lstStyle/>
          <a:p>
            <a:pPr algn="l" indent="0" marL="0">
              <a:lnSpc>
                <a:spcPts val="2610"/>
              </a:lnSpc>
              <a:buNone/>
            </a:pPr>
            <a:r>
              <a:rPr lang="en-US" sz="1740" dirty="0">
                <a:solidFill>
                  <a:srgbClr val="5A6D7A"/>
                </a:solidFill>
                <a:latin typeface="Arial" pitchFamily="34" charset="0"/>
                <a:ea typeface="Arial" pitchFamily="34" charset="-122"/>
                <a:cs typeface="Arial" pitchFamily="34" charset="-120"/>
              </a:rPr>
              <a:t>The OpenTelemetry Collector runs as a service. It receives the records from Moodle and sends them to OpenSearch. These steps install it on the Moodle server, and it can also run on its own host. It is not in the standard Ubuntu and Red Hat repositories, so you download the .deb or .rpm package from GitHub. The releases page on GitHub shows the newest version.</a:t>
            </a:r>
            <a:endParaRPr lang="en-US" sz="1740" dirty="0"/>
          </a:p>
        </p:txBody>
      </p:sp>
      <p:sp>
        <p:nvSpPr>
          <p:cNvPr id="8" name="Text 6"/>
          <p:cNvSpPr txBox="1"/>
          <p:nvPr/>
        </p:nvSpPr>
        <p:spPr>
          <a:xfrm>
            <a:off x="1223585" y="2973521"/>
            <a:ext cx="4759200" cy="163495"/>
          </a:xfrm>
          <a:prstGeom prst="rect">
            <a:avLst/>
          </a:prstGeom>
          <a:noFill/>
          <a:ln/>
        </p:spPr>
        <p:txBody>
          <a:bodyPr wrap="none" lIns="0" tIns="0" rIns="0" bIns="0" rtlCol="0" anchor="t"/>
          <a:lstStyle/>
          <a:p>
            <a:pPr algn="l" indent="0" marL="0">
              <a:lnSpc>
                <a:spcPts val="1290"/>
              </a:lnSpc>
              <a:buNone/>
            </a:pPr>
            <a:r>
              <a:rPr lang="en-US" sz="1070" b="1" dirty="0">
                <a:solidFill>
                  <a:srgbClr val="0B6E99"/>
                </a:solidFill>
                <a:latin typeface="Courier New" pitchFamily="34" charset="0"/>
                <a:ea typeface="Courier New" pitchFamily="34" charset="-122"/>
                <a:cs typeface="Courier New" pitchFamily="34" charset="-120"/>
              </a:rPr>
              <a:t>Ubuntu 24.04 LTS</a:t>
            </a:r>
            <a:endParaRPr lang="en-US" sz="1070" dirty="0"/>
          </a:p>
        </p:txBody>
      </p:sp>
      <p:sp>
        <p:nvSpPr>
          <p:cNvPr id="9" name="Text 7"/>
          <p:cNvSpPr txBox="1"/>
          <p:nvPr/>
        </p:nvSpPr>
        <p:spPr>
          <a:xfrm>
            <a:off x="1376862" y="3329543"/>
            <a:ext cx="4452648" cy="1029464"/>
          </a:xfrm>
          <a:prstGeom prst="rect">
            <a:avLst/>
          </a:prstGeom>
          <a:noFill/>
          <a:ln/>
        </p:spPr>
        <p:txBody>
          <a:bodyPr wrap="square" lIns="0" tIns="0" rIns="0" bIns="0" rtlCol="0" anchor="t"/>
          <a:lstStyle/>
          <a:p>
            <a:pPr algn="l" indent="0" marL="0">
              <a:lnSpc>
                <a:spcPts val="1350"/>
              </a:lnSpc>
              <a:buNone/>
            </a:pPr>
            <a:r>
              <a:rPr lang="en-US" sz="870" dirty="0">
                <a:solidFill>
                  <a:srgbClr val="E4EDF2"/>
                </a:solidFill>
                <a:latin typeface="Courier New" pitchFamily="34" charset="0"/>
                <a:ea typeface="Courier New" pitchFamily="34" charset="-122"/>
                <a:cs typeface="Courier New" pitchFamily="34" charset="-120"/>
              </a:rPr>
              <a:t>V=0.161.0   </a:t>
            </a:r>
            <a:pPr algn="l" indent="0" marL="0">
              <a:lnSpc>
                <a:spcPts val="1350"/>
              </a:lnSpc>
              <a:buNone/>
            </a:pPr>
            <a:r>
              <a:rPr lang="en-US" sz="870" dirty="0">
                <a:solidFill>
                  <a:srgbClr val="86A5B4"/>
                </a:solidFill>
                <a:latin typeface="Courier New" pitchFamily="34" charset="0"/>
                <a:ea typeface="Courier New" pitchFamily="34" charset="-122"/>
                <a:cs typeface="Courier New" pitchFamily="34" charset="-120"/>
              </a:rPr>
              <a:t># the version of the OpenTelemetry Collector</a:t>
            </a:r>
            <a:pPr algn="l" indent="0" marL="0">
              <a:lnSpc>
                <a:spcPts val="1350"/>
              </a:lnSpc>
              <a:buNone/>
            </a:pPr>
            <a:r>
              <a:rPr lang="en-US" sz="870" dirty="0">
                <a:solidFill>
                  <a:srgbClr val="E4EDF2"/>
                </a:solidFill>
                <a:latin typeface="Courier New" pitchFamily="34" charset="0"/>
                <a:ea typeface="Courier New" pitchFamily="34" charset="-122"/>
                <a:cs typeface="Courier New" pitchFamily="34" charset="-120"/>
              </a:rPr>
              <a:t> </a:t>
            </a:r>
            <a:endParaRPr lang="en-US" sz="870" dirty="0"/>
          </a:p>
          <a:p>
            <a:pPr algn="l" indent="0" marL="0">
              <a:lnSpc>
                <a:spcPts val="1350"/>
              </a:lnSpc>
              <a:buNone/>
            </a:pPr>
            <a:r>
              <a:rPr lang="en-US" sz="870" dirty="0">
                <a:solidFill>
                  <a:srgbClr val="E4EDF2"/>
                </a:solidFill>
                <a:latin typeface="Courier New" pitchFamily="34" charset="0"/>
                <a:ea typeface="Courier New" pitchFamily="34" charset="-122"/>
                <a:cs typeface="Courier New" pitchFamily="34" charset="-120"/>
              </a:rPr>
              <a:t>wget https://github.com/open-telemetry/\</a:t>
            </a:r>
            <a:endParaRPr lang="en-US" sz="870" dirty="0"/>
          </a:p>
          <a:p>
            <a:pPr algn="l" indent="0" marL="0">
              <a:lnSpc>
                <a:spcPts val="1350"/>
              </a:lnSpc>
              <a:buNone/>
            </a:pPr>
            <a:r>
              <a:rPr lang="en-US" sz="870" dirty="0">
                <a:solidFill>
                  <a:srgbClr val="E4EDF2"/>
                </a:solidFill>
                <a:latin typeface="Courier New" pitchFamily="34" charset="0"/>
                <a:ea typeface="Courier New" pitchFamily="34" charset="-122"/>
                <a:cs typeface="Courier New" pitchFamily="34" charset="-120"/>
              </a:rPr>
              <a:t>opentelemetry-collector-releases/releases/\</a:t>
            </a:r>
            <a:endParaRPr lang="en-US" sz="870" dirty="0"/>
          </a:p>
          <a:p>
            <a:pPr algn="l" indent="0" marL="0">
              <a:lnSpc>
                <a:spcPts val="1350"/>
              </a:lnSpc>
              <a:buNone/>
            </a:pPr>
            <a:r>
              <a:rPr lang="en-US" sz="870" dirty="0">
                <a:solidFill>
                  <a:srgbClr val="E4EDF2"/>
                </a:solidFill>
                <a:latin typeface="Courier New" pitchFamily="34" charset="0"/>
                <a:ea typeface="Courier New" pitchFamily="34" charset="-122"/>
                <a:cs typeface="Courier New" pitchFamily="34" charset="-120"/>
              </a:rPr>
              <a:t>download/v$V/otelcol-contrib_${V}_linux_amd64.deb</a:t>
            </a:r>
            <a:endParaRPr lang="en-US" sz="870" dirty="0"/>
          </a:p>
          <a:p>
            <a:pPr algn="l" indent="0" marL="0">
              <a:lnSpc>
                <a:spcPts val="1350"/>
              </a:lnSpc>
              <a:buNone/>
            </a:pPr>
            <a:r>
              <a:rPr lang="en-US" sz="870" dirty="0">
                <a:solidFill>
                  <a:srgbClr val="E4EDF2"/>
                </a:solidFill>
                <a:latin typeface="Courier New" pitchFamily="34" charset="0"/>
                <a:ea typeface="Courier New" pitchFamily="34" charset="-122"/>
                <a:cs typeface="Courier New" pitchFamily="34" charset="-120"/>
              </a:rPr>
              <a:t> </a:t>
            </a:r>
            <a:endParaRPr lang="en-US" sz="870" dirty="0"/>
          </a:p>
          <a:p>
            <a:pPr algn="l" indent="0" marL="0">
              <a:lnSpc>
                <a:spcPts val="1350"/>
              </a:lnSpc>
              <a:buNone/>
            </a:pPr>
            <a:r>
              <a:rPr lang="en-US" sz="870" dirty="0">
                <a:solidFill>
                  <a:srgbClr val="E4EDF2"/>
                </a:solidFill>
                <a:latin typeface="Courier New" pitchFamily="34" charset="0"/>
                <a:ea typeface="Courier New" pitchFamily="34" charset="-122"/>
                <a:cs typeface="Courier New" pitchFamily="34" charset="-120"/>
              </a:rPr>
              <a:t>dpkg -i otelcol-contrib_${V}_linux_amd64.deb</a:t>
            </a:r>
            <a:endParaRPr lang="en-US" sz="870" dirty="0"/>
          </a:p>
        </p:txBody>
      </p:sp>
      <p:sp>
        <p:nvSpPr>
          <p:cNvPr id="10" name="Text 8"/>
          <p:cNvSpPr txBox="1"/>
          <p:nvPr/>
        </p:nvSpPr>
        <p:spPr>
          <a:xfrm>
            <a:off x="6266364" y="2973521"/>
            <a:ext cx="4759200" cy="163495"/>
          </a:xfrm>
          <a:prstGeom prst="rect">
            <a:avLst/>
          </a:prstGeom>
          <a:noFill/>
          <a:ln/>
        </p:spPr>
        <p:txBody>
          <a:bodyPr wrap="none" lIns="0" tIns="0" rIns="0" bIns="0" rtlCol="0" anchor="t"/>
          <a:lstStyle/>
          <a:p>
            <a:pPr algn="l" indent="0" marL="0">
              <a:lnSpc>
                <a:spcPts val="1290"/>
              </a:lnSpc>
              <a:buNone/>
            </a:pPr>
            <a:r>
              <a:rPr lang="en-US" sz="1070" b="1" dirty="0">
                <a:solidFill>
                  <a:srgbClr val="0B6E99"/>
                </a:solidFill>
                <a:latin typeface="Courier New" pitchFamily="34" charset="0"/>
                <a:ea typeface="Courier New" pitchFamily="34" charset="-122"/>
                <a:cs typeface="Courier New" pitchFamily="34" charset="-120"/>
              </a:rPr>
              <a:t>RHEL 9 · Rocky 9</a:t>
            </a:r>
            <a:endParaRPr lang="en-US" sz="1070" dirty="0"/>
          </a:p>
        </p:txBody>
      </p:sp>
      <p:sp>
        <p:nvSpPr>
          <p:cNvPr id="11" name="Text 9"/>
          <p:cNvSpPr txBox="1"/>
          <p:nvPr/>
        </p:nvSpPr>
        <p:spPr>
          <a:xfrm>
            <a:off x="6419640" y="3329543"/>
            <a:ext cx="4452648" cy="1029464"/>
          </a:xfrm>
          <a:prstGeom prst="rect">
            <a:avLst/>
          </a:prstGeom>
          <a:noFill/>
          <a:ln/>
        </p:spPr>
        <p:txBody>
          <a:bodyPr wrap="square" lIns="0" tIns="0" rIns="0" bIns="0" rtlCol="0" anchor="t"/>
          <a:lstStyle/>
          <a:p>
            <a:pPr algn="l" indent="0" marL="0">
              <a:lnSpc>
                <a:spcPts val="1350"/>
              </a:lnSpc>
              <a:buNone/>
            </a:pPr>
            <a:r>
              <a:rPr lang="en-US" sz="870" dirty="0">
                <a:solidFill>
                  <a:srgbClr val="E4EDF2"/>
                </a:solidFill>
                <a:latin typeface="Courier New" pitchFamily="34" charset="0"/>
                <a:ea typeface="Courier New" pitchFamily="34" charset="-122"/>
                <a:cs typeface="Courier New" pitchFamily="34" charset="-120"/>
              </a:rPr>
              <a:t>V=0.161.0   </a:t>
            </a:r>
            <a:pPr algn="l" indent="0" marL="0">
              <a:lnSpc>
                <a:spcPts val="1350"/>
              </a:lnSpc>
              <a:buNone/>
            </a:pPr>
            <a:r>
              <a:rPr lang="en-US" sz="870" dirty="0">
                <a:solidFill>
                  <a:srgbClr val="86A5B4"/>
                </a:solidFill>
                <a:latin typeface="Courier New" pitchFamily="34" charset="0"/>
                <a:ea typeface="Courier New" pitchFamily="34" charset="-122"/>
                <a:cs typeface="Courier New" pitchFamily="34" charset="-120"/>
              </a:rPr>
              <a:t># the version of the OpenTelemetry Collector</a:t>
            </a:r>
            <a:pPr algn="l" indent="0" marL="0">
              <a:lnSpc>
                <a:spcPts val="1350"/>
              </a:lnSpc>
              <a:buNone/>
            </a:pPr>
            <a:r>
              <a:rPr lang="en-US" sz="870" dirty="0">
                <a:solidFill>
                  <a:srgbClr val="E4EDF2"/>
                </a:solidFill>
                <a:latin typeface="Courier New" pitchFamily="34" charset="0"/>
                <a:ea typeface="Courier New" pitchFamily="34" charset="-122"/>
                <a:cs typeface="Courier New" pitchFamily="34" charset="-120"/>
              </a:rPr>
              <a:t> </a:t>
            </a:r>
            <a:endParaRPr lang="en-US" sz="870" dirty="0"/>
          </a:p>
          <a:p>
            <a:pPr algn="l" indent="0" marL="0">
              <a:lnSpc>
                <a:spcPts val="1350"/>
              </a:lnSpc>
              <a:buNone/>
            </a:pPr>
            <a:r>
              <a:rPr lang="en-US" sz="870" dirty="0">
                <a:solidFill>
                  <a:srgbClr val="E4EDF2"/>
                </a:solidFill>
                <a:latin typeface="Courier New" pitchFamily="34" charset="0"/>
                <a:ea typeface="Courier New" pitchFamily="34" charset="-122"/>
                <a:cs typeface="Courier New" pitchFamily="34" charset="-120"/>
              </a:rPr>
              <a:t>wget https://github.com/open-telemetry/\</a:t>
            </a:r>
            <a:endParaRPr lang="en-US" sz="870" dirty="0"/>
          </a:p>
          <a:p>
            <a:pPr algn="l" indent="0" marL="0">
              <a:lnSpc>
                <a:spcPts val="1350"/>
              </a:lnSpc>
              <a:buNone/>
            </a:pPr>
            <a:r>
              <a:rPr lang="en-US" sz="870" dirty="0">
                <a:solidFill>
                  <a:srgbClr val="E4EDF2"/>
                </a:solidFill>
                <a:latin typeface="Courier New" pitchFamily="34" charset="0"/>
                <a:ea typeface="Courier New" pitchFamily="34" charset="-122"/>
                <a:cs typeface="Courier New" pitchFamily="34" charset="-120"/>
              </a:rPr>
              <a:t>opentelemetry-collector-releases/releases/\</a:t>
            </a:r>
            <a:endParaRPr lang="en-US" sz="870" dirty="0"/>
          </a:p>
          <a:p>
            <a:pPr algn="l" indent="0" marL="0">
              <a:lnSpc>
                <a:spcPts val="1350"/>
              </a:lnSpc>
              <a:buNone/>
            </a:pPr>
            <a:r>
              <a:rPr lang="en-US" sz="870" dirty="0">
                <a:solidFill>
                  <a:srgbClr val="E4EDF2"/>
                </a:solidFill>
                <a:latin typeface="Courier New" pitchFamily="34" charset="0"/>
                <a:ea typeface="Courier New" pitchFamily="34" charset="-122"/>
                <a:cs typeface="Courier New" pitchFamily="34" charset="-120"/>
              </a:rPr>
              <a:t>download/v$V/otelcol-contrib_${V}_linux_amd64.rpm</a:t>
            </a:r>
            <a:endParaRPr lang="en-US" sz="870" dirty="0"/>
          </a:p>
          <a:p>
            <a:pPr algn="l" indent="0" marL="0">
              <a:lnSpc>
                <a:spcPts val="1350"/>
              </a:lnSpc>
              <a:buNone/>
            </a:pPr>
            <a:r>
              <a:rPr lang="en-US" sz="870" dirty="0">
                <a:solidFill>
                  <a:srgbClr val="E4EDF2"/>
                </a:solidFill>
                <a:latin typeface="Courier New" pitchFamily="34" charset="0"/>
                <a:ea typeface="Courier New" pitchFamily="34" charset="-122"/>
                <a:cs typeface="Courier New" pitchFamily="34" charset="-120"/>
              </a:rPr>
              <a:t> </a:t>
            </a:r>
            <a:endParaRPr lang="en-US" sz="870" dirty="0"/>
          </a:p>
          <a:p>
            <a:pPr algn="l" indent="0" marL="0">
              <a:lnSpc>
                <a:spcPts val="1350"/>
              </a:lnSpc>
              <a:buNone/>
            </a:pPr>
            <a:r>
              <a:rPr lang="en-US" sz="870" dirty="0">
                <a:solidFill>
                  <a:srgbClr val="E4EDF2"/>
                </a:solidFill>
                <a:latin typeface="Courier New" pitchFamily="34" charset="0"/>
                <a:ea typeface="Courier New" pitchFamily="34" charset="-122"/>
                <a:cs typeface="Courier New" pitchFamily="34" charset="-120"/>
              </a:rPr>
              <a:t>dnf install ./otelcol-contrib_${V}_linux_amd64.rpm</a:t>
            </a:r>
            <a:endParaRPr lang="en-US" sz="870" dirty="0"/>
          </a:p>
        </p:txBody>
      </p:sp>
      <p:sp>
        <p:nvSpPr>
          <p:cNvPr id="12" name="Text 10"/>
          <p:cNvSpPr txBox="1"/>
          <p:nvPr/>
        </p:nvSpPr>
        <p:spPr>
          <a:xfrm>
            <a:off x="1223585" y="4768266"/>
            <a:ext cx="9801978" cy="1001954"/>
          </a:xfrm>
          <a:prstGeom prst="rect">
            <a:avLst/>
          </a:prstGeom>
          <a:noFill/>
          <a:ln/>
        </p:spPr>
        <p:txBody>
          <a:bodyPr wrap="square" lIns="0" tIns="0" rIns="0" bIns="0" rtlCol="0" anchor="t"/>
          <a:lstStyle/>
          <a:p>
            <a:pPr algn="l" indent="0" marL="0">
              <a:lnSpc>
                <a:spcPts val="2610"/>
              </a:lnSpc>
              <a:buNone/>
            </a:pPr>
            <a:r>
              <a:rPr lang="en-US" sz="1740" dirty="0">
                <a:solidFill>
                  <a:srgbClr val="5A6D7A"/>
                </a:solidFill>
                <a:latin typeface="Arial" pitchFamily="34" charset="0"/>
                <a:ea typeface="Arial" pitchFamily="34" charset="-122"/>
                <a:cs typeface="Arial" pitchFamily="34" charset="-120"/>
              </a:rPr>
              <a:t>The package installs a systemd service with the name </a:t>
            </a:r>
            <a:pPr algn="l" indent="0" marL="0">
              <a:lnSpc>
                <a:spcPts val="2610"/>
              </a:lnSpc>
              <a:buNone/>
            </a:pPr>
            <a:r>
              <a:rPr lang="en-US" sz="1530" dirty="0">
                <a:solidFill>
                  <a:srgbClr val="5A6D7A"/>
                </a:solidFill>
                <a:highlight>
                  <a:srgbClr val="E1F0F7"/>
                </a:highlight>
                <a:latin typeface="Courier New" pitchFamily="34" charset="0"/>
                <a:ea typeface="Courier New" pitchFamily="34" charset="-122"/>
                <a:cs typeface="Courier New" pitchFamily="34" charset="-120"/>
              </a:rPr>
              <a:t>otelcol-contrib</a:t>
            </a:r>
            <a:pPr algn="l" indent="0" marL="0">
              <a:lnSpc>
                <a:spcPts val="2610"/>
              </a:lnSpc>
              <a:buNone/>
            </a:pPr>
            <a:r>
              <a:rPr lang="en-US" sz="1740" dirty="0">
                <a:solidFill>
                  <a:srgbClr val="5A6D7A"/>
                </a:solidFill>
                <a:latin typeface="Arial" pitchFamily="34" charset="0"/>
                <a:ea typeface="Arial" pitchFamily="34" charset="-122"/>
                <a:cs typeface="Arial" pitchFamily="34" charset="-120"/>
              </a:rPr>
              <a:t> and the configuration file </a:t>
            </a:r>
            <a:pPr algn="l" indent="0" marL="0">
              <a:lnSpc>
                <a:spcPts val="2610"/>
              </a:lnSpc>
              <a:buNone/>
            </a:pPr>
            <a:r>
              <a:rPr lang="en-US" sz="1530" dirty="0">
                <a:solidFill>
                  <a:srgbClr val="5A6D7A"/>
                </a:solidFill>
                <a:highlight>
                  <a:srgbClr val="E1F0F7"/>
                </a:highlight>
                <a:latin typeface="Courier New" pitchFamily="34" charset="0"/>
                <a:ea typeface="Courier New" pitchFamily="34" charset="-122"/>
                <a:cs typeface="Courier New" pitchFamily="34" charset="-120"/>
              </a:rPr>
              <a:t>/etc/otelcol-contrib/config.yaml</a:t>
            </a:r>
            <a:pPr algn="l" indent="0" marL="0">
              <a:lnSpc>
                <a:spcPts val="2610"/>
              </a:lnSpc>
              <a:buNone/>
            </a:pPr>
            <a:r>
              <a:rPr lang="en-US" sz="1740" dirty="0">
                <a:solidFill>
                  <a:srgbClr val="5A6D7A"/>
                </a:solidFill>
                <a:latin typeface="Arial" pitchFamily="34" charset="0"/>
                <a:ea typeface="Arial" pitchFamily="34" charset="-122"/>
                <a:cs typeface="Arial" pitchFamily="34" charset="-120"/>
              </a:rPr>
              <a:t>. The package starts the service, and the service listens on port 4318 for the records from Moodle.</a:t>
            </a:r>
            <a:endParaRPr lang="en-US" sz="1740" dirty="0"/>
          </a:p>
        </p:txBody>
      </p:sp>
      <p:sp>
        <p:nvSpPr>
          <p:cNvPr id="13" name="Text 11"/>
          <p:cNvSpPr txBox="1"/>
          <p:nvPr/>
        </p:nvSpPr>
        <p:spPr>
          <a:xfrm>
            <a:off x="647700" y="6464708"/>
            <a:ext cx="948928" cy="142875"/>
          </a:xfrm>
          <a:prstGeom prst="rect">
            <a:avLst/>
          </a:prstGeom>
          <a:noFill/>
          <a:ln/>
        </p:spPr>
        <p:txBody>
          <a:bodyPr wrap="none" lIns="0" tIns="0" rIns="0" bIns="0" rtlCol="0" anchor="t"/>
          <a:lstStyle/>
          <a:p>
            <a:pPr algn="l" indent="0" marL="0">
              <a:lnSpc>
                <a:spcPts val="1050"/>
              </a:lnSpc>
              <a:buNone/>
            </a:pPr>
            <a:r>
              <a:rPr lang="en-US" sz="870" dirty="0">
                <a:solidFill>
                  <a:srgbClr val="8496A2"/>
                </a:solidFill>
                <a:latin typeface="Courier New" pitchFamily="34" charset="0"/>
                <a:ea typeface="Courier New" pitchFamily="34" charset="-122"/>
                <a:cs typeface="Courier New" pitchFamily="34" charset="-120"/>
              </a:rPr>
              <a:t>Walk-through</a:t>
            </a:r>
            <a:endParaRPr lang="en-US" sz="870" dirty="0"/>
          </a:p>
        </p:txBody>
      </p:sp>
      <p:sp>
        <p:nvSpPr>
          <p:cNvPr id="14" name="Text 12"/>
          <p:cNvSpPr txBox="1"/>
          <p:nvPr/>
        </p:nvSpPr>
        <p:spPr>
          <a:xfrm>
            <a:off x="11024146" y="6464708"/>
            <a:ext cx="577304" cy="142875"/>
          </a:xfrm>
          <a:prstGeom prst="rect">
            <a:avLst/>
          </a:prstGeom>
          <a:noFill/>
          <a:ln/>
        </p:spPr>
        <p:txBody>
          <a:bodyPr wrap="none" lIns="0" tIns="0" rIns="0" bIns="0" rtlCol="0" anchor="t"/>
          <a:lstStyle/>
          <a:p>
            <a:pPr algn="l" indent="0" marL="0">
              <a:lnSpc>
                <a:spcPts val="1050"/>
              </a:lnSpc>
              <a:buNone/>
            </a:pPr>
            <a:r>
              <a:rPr lang="en-US" sz="870" dirty="0">
                <a:solidFill>
                  <a:srgbClr val="8496A2"/>
                </a:solidFill>
                <a:latin typeface="Courier New" pitchFamily="34" charset="0"/>
                <a:ea typeface="Courier New" pitchFamily="34" charset="-122"/>
                <a:cs typeface="Courier New" pitchFamily="34" charset="-120"/>
              </a:rPr>
              <a:t>21 / 39</a:t>
            </a:r>
            <a:endParaRPr lang="en-US" sz="870" dirty="0"/>
          </a:p>
        </p:txBody>
      </p:sp>
      <p:pic>
        <p:nvPicPr>
          <p:cNvPr id="900" name="NetSapiensis mark" descr="NetSapiensis"/>
          <p:cNvPicPr>
            <a:picLocks noChangeAspect="1"/>
          </p:cNvPicPr>
          <p:nvPr/>
        </p:nvPicPr>
        <p:blipFill>
          <a:blip r:embed="rId3"/>
          <a:stretch>
            <a:fillRect/>
          </a:stretch>
        </p:blipFill>
        <p:spPr>
          <a:xfrm>
            <a:off x="10776204" y="6419088"/>
            <a:ext cx="178308" cy="237744"/>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7700" y="3332262"/>
            <a:ext cx="10896600" cy="2127647"/>
          </a:xfrm>
          <a:prstGeom prst="roundRect">
            <a:avLst>
              <a:gd name="adj" fmla="val 3848"/>
            </a:avLst>
          </a:prstGeom>
          <a:solidFill>
            <a:srgbClr val="0F2027"/>
          </a:solidFill>
          <a:ln/>
        </p:spPr>
      </p:sp>
      <p:sp>
        <p:nvSpPr>
          <p:cNvPr id="3" name="Shape 1"/>
          <p:cNvSpPr/>
          <p:nvPr/>
        </p:nvSpPr>
        <p:spPr>
          <a:xfrm>
            <a:off x="647700" y="6343650"/>
            <a:ext cx="10896600" cy="0"/>
          </a:xfrm>
          <a:prstGeom prst="line">
            <a:avLst/>
          </a:prstGeom>
          <a:noFill/>
          <a:ln w="10160">
            <a:solidFill>
              <a:srgbClr val="CBD7DF"/>
            </a:solidFill>
            <a:prstDash val="solid"/>
          </a:ln>
        </p:spPr>
      </p:sp>
      <p:sp>
        <p:nvSpPr>
          <p:cNvPr id="4" name="Text 2"/>
          <p:cNvSpPr txBox="1"/>
          <p:nvPr/>
        </p:nvSpPr>
        <p:spPr>
          <a:xfrm>
            <a:off x="647700" y="511731"/>
            <a:ext cx="10953750" cy="185738"/>
          </a:xfrm>
          <a:prstGeom prst="rect">
            <a:avLst/>
          </a:prstGeom>
          <a:noFill/>
          <a:ln/>
        </p:spPr>
        <p:txBody>
          <a:bodyPr wrap="none" lIns="0" tIns="0" rIns="0" bIns="0" rtlCol="0" anchor="t"/>
          <a:lstStyle/>
          <a:p>
            <a:pPr algn="l" indent="0" marL="0">
              <a:lnSpc>
                <a:spcPts val="1460"/>
              </a:lnSpc>
              <a:buNone/>
            </a:pPr>
            <a:r>
              <a:rPr lang="en-US" sz="980" spc="160" kern="0" dirty="0">
                <a:solidFill>
                  <a:srgbClr val="0B6E99"/>
                </a:solidFill>
                <a:latin typeface="Courier New" pitchFamily="34" charset="0"/>
                <a:ea typeface="Courier New" pitchFamily="34" charset="-122"/>
                <a:cs typeface="Courier New" pitchFamily="34" charset="-120"/>
              </a:rPr>
              <a:t>STEP 8 OF 9</a:t>
            </a:r>
            <a:endParaRPr lang="en-US" sz="980" dirty="0"/>
          </a:p>
        </p:txBody>
      </p:sp>
      <p:sp>
        <p:nvSpPr>
          <p:cNvPr id="5" name="Text 3"/>
          <p:cNvSpPr txBox="1"/>
          <p:nvPr/>
        </p:nvSpPr>
        <p:spPr>
          <a:xfrm>
            <a:off x="647700" y="852488"/>
            <a:ext cx="10953750" cy="864096"/>
          </a:xfrm>
          <a:prstGeom prst="rect">
            <a:avLst/>
          </a:prstGeom>
          <a:noFill/>
          <a:ln/>
        </p:spPr>
        <p:txBody>
          <a:bodyPr wrap="square" lIns="0" tIns="0" rIns="0" bIns="0" rtlCol="0" anchor="t"/>
          <a:lstStyle/>
          <a:p>
            <a:pPr algn="l" indent="0" marL="0">
              <a:lnSpc>
                <a:spcPts val="3400"/>
              </a:lnSpc>
              <a:buNone/>
            </a:pPr>
            <a:r>
              <a:rPr lang="en-US" sz="3150" b="1" spc="-60" kern="0" dirty="0">
                <a:solidFill>
                  <a:srgbClr val="101A22"/>
                </a:solidFill>
                <a:latin typeface="Arial" pitchFamily="34" charset="0"/>
                <a:ea typeface="Arial" pitchFamily="34" charset="-122"/>
                <a:cs typeface="Arial" pitchFamily="34" charset="-120"/>
              </a:rPr>
              <a:t>Configure the OpenTelemetry Collector to receive the records</a:t>
            </a:r>
            <a:endParaRPr lang="en-US" sz="3150" dirty="0"/>
          </a:p>
        </p:txBody>
      </p:sp>
      <p:sp>
        <p:nvSpPr>
          <p:cNvPr id="6" name="Text 4"/>
          <p:cNvSpPr txBox="1"/>
          <p:nvPr/>
        </p:nvSpPr>
        <p:spPr>
          <a:xfrm>
            <a:off x="647700" y="1920895"/>
            <a:ext cx="10953750" cy="1120378"/>
          </a:xfrm>
          <a:prstGeom prst="rect">
            <a:avLst/>
          </a:prstGeom>
          <a:noFill/>
          <a:ln/>
        </p:spPr>
        <p:txBody>
          <a:bodyPr wrap="square" lIns="0" tIns="0" rIns="0" bIns="0" rtlCol="0" anchor="t"/>
          <a:lstStyle/>
          <a:p>
            <a:pPr algn="l" indent="0" marL="0">
              <a:lnSpc>
                <a:spcPts val="2930"/>
              </a:lnSpc>
              <a:buNone/>
            </a:pPr>
            <a:r>
              <a:rPr lang="en-US" sz="1950" dirty="0">
                <a:solidFill>
                  <a:srgbClr val="5A6D7A"/>
                </a:solidFill>
                <a:latin typeface="Arial" pitchFamily="34" charset="0"/>
                <a:ea typeface="Arial" pitchFamily="34" charset="-122"/>
                <a:cs typeface="Arial" pitchFamily="34" charset="-120"/>
              </a:rPr>
              <a:t>The PHP package </a:t>
            </a:r>
            <a:pPr algn="l" indent="0" marL="0">
              <a:lnSpc>
                <a:spcPts val="2930"/>
              </a:lnSpc>
              <a:buNone/>
            </a:pPr>
            <a:r>
              <a:rPr lang="en-US" sz="1720" dirty="0">
                <a:solidFill>
                  <a:srgbClr val="5A6D7A"/>
                </a:solidFill>
                <a:highlight>
                  <a:srgbClr val="E1F0F7"/>
                </a:highlight>
                <a:latin typeface="Courier New" pitchFamily="34" charset="0"/>
                <a:ea typeface="Courier New" pitchFamily="34" charset="-122"/>
                <a:cs typeface="Courier New" pitchFamily="34" charset="-120"/>
              </a:rPr>
              <a:t>exporter-otlp</a:t>
            </a:r>
            <a:pPr algn="l" indent="0" marL="0">
              <a:lnSpc>
                <a:spcPts val="2930"/>
              </a:lnSpc>
              <a:buNone/>
            </a:pPr>
            <a:r>
              <a:rPr lang="en-US" sz="1950" dirty="0">
                <a:solidFill>
                  <a:srgbClr val="5A6D7A"/>
                </a:solidFill>
                <a:latin typeface="Arial" pitchFamily="34" charset="0"/>
                <a:ea typeface="Arial" pitchFamily="34" charset="-122"/>
                <a:cs typeface="Arial" pitchFamily="34" charset="-120"/>
              </a:rPr>
              <a:t> sends the records from Moodle to </a:t>
            </a:r>
            <a:pPr algn="l" indent="0" marL="0">
              <a:lnSpc>
                <a:spcPts val="2930"/>
              </a:lnSpc>
              <a:buNone/>
            </a:pPr>
            <a:r>
              <a:rPr lang="en-US" sz="1720" dirty="0">
                <a:solidFill>
                  <a:srgbClr val="5A6D7A"/>
                </a:solidFill>
                <a:highlight>
                  <a:srgbClr val="E1F0F7"/>
                </a:highlight>
                <a:latin typeface="Courier New" pitchFamily="34" charset="0"/>
                <a:ea typeface="Courier New" pitchFamily="34" charset="-122"/>
                <a:cs typeface="Courier New" pitchFamily="34" charset="-120"/>
              </a:rPr>
              <a:t>http://localhost:4318</a:t>
            </a:r>
            <a:pPr algn="l" indent="0" marL="0">
              <a:lnSpc>
                <a:spcPts val="2930"/>
              </a:lnSpc>
              <a:buNone/>
            </a:pPr>
            <a:r>
              <a:rPr lang="en-US" sz="1950" dirty="0">
                <a:solidFill>
                  <a:srgbClr val="5A6D7A"/>
                </a:solidFill>
                <a:latin typeface="Arial" pitchFamily="34" charset="0"/>
                <a:ea typeface="Arial" pitchFamily="34" charset="-122"/>
                <a:cs typeface="Arial" pitchFamily="34" charset="-120"/>
              </a:rPr>
              <a:t>. In the file </a:t>
            </a:r>
            <a:pPr algn="l" indent="0" marL="0">
              <a:lnSpc>
                <a:spcPts val="2930"/>
              </a:lnSpc>
              <a:buNone/>
            </a:pPr>
            <a:r>
              <a:rPr lang="en-US" sz="1720" dirty="0">
                <a:solidFill>
                  <a:srgbClr val="5A6D7A"/>
                </a:solidFill>
                <a:highlight>
                  <a:srgbClr val="E1F0F7"/>
                </a:highlight>
                <a:latin typeface="Courier New" pitchFamily="34" charset="0"/>
                <a:ea typeface="Courier New" pitchFamily="34" charset="-122"/>
                <a:cs typeface="Courier New" pitchFamily="34" charset="-120"/>
              </a:rPr>
              <a:t>/etc/otelcol-contrib/config.yaml</a:t>
            </a:r>
            <a:pPr algn="l" indent="0" marL="0">
              <a:lnSpc>
                <a:spcPts val="2930"/>
              </a:lnSpc>
              <a:buNone/>
            </a:pPr>
            <a:r>
              <a:rPr lang="en-US" sz="1950" dirty="0">
                <a:solidFill>
                  <a:srgbClr val="5A6D7A"/>
                </a:solidFill>
                <a:latin typeface="Arial" pitchFamily="34" charset="0"/>
                <a:ea typeface="Arial" pitchFamily="34" charset="-122"/>
                <a:cs typeface="Arial" pitchFamily="34" charset="-120"/>
              </a:rPr>
              <a:t>, you configure the OpenTelemetry Collector to listen on that port.</a:t>
            </a:r>
            <a:endParaRPr lang="en-US" sz="1950" dirty="0"/>
          </a:p>
        </p:txBody>
      </p:sp>
      <p:sp>
        <p:nvSpPr>
          <p:cNvPr id="7" name="Text 5"/>
          <p:cNvSpPr txBox="1"/>
          <p:nvPr/>
        </p:nvSpPr>
        <p:spPr>
          <a:xfrm>
            <a:off x="857250" y="3482495"/>
            <a:ext cx="10534650" cy="1784747"/>
          </a:xfrm>
          <a:prstGeom prst="rect">
            <a:avLst/>
          </a:prstGeom>
          <a:noFill/>
          <a:ln/>
        </p:spPr>
        <p:txBody>
          <a:bodyPr wrap="square" lIns="0" tIns="0" rIns="0" bIns="0" rtlCol="0" anchor="t"/>
          <a:lstStyle/>
          <a:p>
            <a:pPr algn="l" indent="0" marL="0">
              <a:lnSpc>
                <a:spcPts val="1760"/>
              </a:lnSpc>
              <a:buNone/>
            </a:pPr>
            <a:r>
              <a:rPr lang="en-US" sz="1240" dirty="0">
                <a:solidFill>
                  <a:srgbClr val="6FC7EE"/>
                </a:solidFill>
                <a:latin typeface="Courier New" pitchFamily="34" charset="0"/>
                <a:ea typeface="Courier New" pitchFamily="34" charset="-122"/>
                <a:cs typeface="Courier New" pitchFamily="34" charset="-120"/>
              </a:rPr>
              <a:t>receivers:</a:t>
            </a:r>
            <a:pPr algn="l" indent="0" marL="0">
              <a:lnSpc>
                <a:spcPts val="1760"/>
              </a:lnSpc>
              <a:buNone/>
            </a:pPr>
            <a:r>
              <a:rPr lang="en-US" sz="1240" dirty="0">
                <a:solidFill>
                  <a:srgbClr val="E4EDF2"/>
                </a:solidFill>
                <a:latin typeface="Courier New" pitchFamily="34" charset="0"/>
                <a:ea typeface="Courier New" pitchFamily="34" charset="-122"/>
                <a:cs typeface="Courier New" pitchFamily="34" charset="-120"/>
              </a:rPr>
              <a:t>    </a:t>
            </a:r>
            <a:pPr algn="l" indent="0" marL="0">
              <a:lnSpc>
                <a:spcPts val="1760"/>
              </a:lnSpc>
              <a:buNone/>
            </a:pPr>
            <a:r>
              <a:rPr lang="en-US" sz="1240" dirty="0">
                <a:solidFill>
                  <a:srgbClr val="86A5B4"/>
                </a:solidFill>
                <a:latin typeface="Courier New" pitchFamily="34" charset="0"/>
                <a:ea typeface="Courier New" pitchFamily="34" charset="-122"/>
                <a:cs typeface="Courier New" pitchFamily="34" charset="-120"/>
              </a:rPr>
              <a:t># listens on port 4318 for the records from the PHP package</a:t>
            </a:r>
            <a:pPr algn="l" indent="0" marL="0">
              <a:lnSpc>
                <a:spcPts val="1760"/>
              </a:lnSpc>
              <a:buNone/>
            </a:pPr>
            <a:r>
              <a:rPr lang="en-US" sz="1240" dirty="0">
                <a:solidFill>
                  <a:srgbClr val="E4EDF2"/>
                </a:solidFill>
                <a:latin typeface="Courier New" pitchFamily="34" charset="0"/>
                <a:ea typeface="Courier New" pitchFamily="34" charset="-122"/>
                <a:cs typeface="Courier New" pitchFamily="34" charset="-120"/>
              </a:rPr>
              <a:t> </a:t>
            </a:r>
            <a:endParaRPr lang="en-US" sz="1240" dirty="0"/>
          </a:p>
          <a:p>
            <a:pPr algn="l" indent="0" marL="0">
              <a:lnSpc>
                <a:spcPts val="1760"/>
              </a:lnSpc>
              <a:buNone/>
            </a:pPr>
            <a:r>
              <a:rPr lang="en-US" sz="1240" dirty="0">
                <a:solidFill>
                  <a:srgbClr val="E4EDF2"/>
                </a:solidFill>
                <a:latin typeface="Courier New" pitchFamily="34" charset="0"/>
                <a:ea typeface="Courier New" pitchFamily="34" charset="-122"/>
                <a:cs typeface="Courier New" pitchFamily="34" charset="-120"/>
              </a:rPr>
              <a:t>  </a:t>
            </a:r>
            <a:pPr algn="l" indent="0" marL="0">
              <a:lnSpc>
                <a:spcPts val="1760"/>
              </a:lnSpc>
              <a:buNone/>
            </a:pPr>
            <a:r>
              <a:rPr lang="en-US" sz="1240" dirty="0">
                <a:solidFill>
                  <a:srgbClr val="6FC7EE"/>
                </a:solidFill>
                <a:latin typeface="Courier New" pitchFamily="34" charset="0"/>
                <a:ea typeface="Courier New" pitchFamily="34" charset="-122"/>
                <a:cs typeface="Courier New" pitchFamily="34" charset="-120"/>
              </a:rPr>
              <a:t>otlp:</a:t>
            </a:r>
            <a:pPr algn="l" indent="0" marL="0">
              <a:lnSpc>
                <a:spcPts val="1760"/>
              </a:lnSpc>
              <a:buNone/>
            </a:pPr>
            <a:r>
              <a:rPr lang="en-US" sz="1240" dirty="0">
                <a:solidFill>
                  <a:srgbClr val="E4EDF2"/>
                </a:solidFill>
                <a:latin typeface="Courier New" pitchFamily="34" charset="0"/>
                <a:ea typeface="Courier New" pitchFamily="34" charset="-122"/>
                <a:cs typeface="Courier New" pitchFamily="34" charset="-120"/>
              </a:rPr>
              <a:t> </a:t>
            </a:r>
            <a:endParaRPr lang="en-US" sz="1240" dirty="0"/>
          </a:p>
          <a:p>
            <a:pPr algn="l" indent="0" marL="0">
              <a:lnSpc>
                <a:spcPts val="1760"/>
              </a:lnSpc>
              <a:buNone/>
            </a:pPr>
            <a:r>
              <a:rPr lang="en-US" sz="1240" dirty="0">
                <a:solidFill>
                  <a:srgbClr val="E4EDF2"/>
                </a:solidFill>
                <a:latin typeface="Courier New" pitchFamily="34" charset="0"/>
                <a:ea typeface="Courier New" pitchFamily="34" charset="-122"/>
                <a:cs typeface="Courier New" pitchFamily="34" charset="-120"/>
              </a:rPr>
              <a:t>    </a:t>
            </a:r>
            <a:pPr algn="l" indent="0" marL="0">
              <a:lnSpc>
                <a:spcPts val="1760"/>
              </a:lnSpc>
              <a:buNone/>
            </a:pPr>
            <a:r>
              <a:rPr lang="en-US" sz="1240" dirty="0">
                <a:solidFill>
                  <a:srgbClr val="6FC7EE"/>
                </a:solidFill>
                <a:latin typeface="Courier New" pitchFamily="34" charset="0"/>
                <a:ea typeface="Courier New" pitchFamily="34" charset="-122"/>
                <a:cs typeface="Courier New" pitchFamily="34" charset="-120"/>
              </a:rPr>
              <a:t>protocols:</a:t>
            </a:r>
            <a:pPr algn="l" indent="0" marL="0">
              <a:lnSpc>
                <a:spcPts val="1760"/>
              </a:lnSpc>
              <a:buNone/>
            </a:pPr>
            <a:r>
              <a:rPr lang="en-US" sz="1240" dirty="0">
                <a:solidFill>
                  <a:srgbClr val="E4EDF2"/>
                </a:solidFill>
                <a:latin typeface="Courier New" pitchFamily="34" charset="0"/>
                <a:ea typeface="Courier New" pitchFamily="34" charset="-122"/>
                <a:cs typeface="Courier New" pitchFamily="34" charset="-120"/>
              </a:rPr>
              <a:t> </a:t>
            </a:r>
            <a:endParaRPr lang="en-US" sz="1240" dirty="0"/>
          </a:p>
          <a:p>
            <a:pPr algn="l" indent="0" marL="0">
              <a:lnSpc>
                <a:spcPts val="1760"/>
              </a:lnSpc>
              <a:buNone/>
            </a:pPr>
            <a:r>
              <a:rPr lang="en-US" sz="1240" dirty="0">
                <a:solidFill>
                  <a:srgbClr val="E4EDF2"/>
                </a:solidFill>
                <a:latin typeface="Courier New" pitchFamily="34" charset="0"/>
                <a:ea typeface="Courier New" pitchFamily="34" charset="-122"/>
                <a:cs typeface="Courier New" pitchFamily="34" charset="-120"/>
              </a:rPr>
              <a:t>      </a:t>
            </a:r>
            <a:pPr algn="l" indent="0" marL="0">
              <a:lnSpc>
                <a:spcPts val="1760"/>
              </a:lnSpc>
              <a:buNone/>
            </a:pPr>
            <a:r>
              <a:rPr lang="en-US" sz="1240" dirty="0">
                <a:solidFill>
                  <a:srgbClr val="6FC7EE"/>
                </a:solidFill>
                <a:latin typeface="Courier New" pitchFamily="34" charset="0"/>
                <a:ea typeface="Courier New" pitchFamily="34" charset="-122"/>
                <a:cs typeface="Courier New" pitchFamily="34" charset="-120"/>
              </a:rPr>
              <a:t>http:</a:t>
            </a:r>
            <a:pPr algn="l" indent="0" marL="0">
              <a:lnSpc>
                <a:spcPts val="1760"/>
              </a:lnSpc>
              <a:buNone/>
            </a:pPr>
            <a:r>
              <a:rPr lang="en-US" sz="1240" dirty="0">
                <a:solidFill>
                  <a:srgbClr val="E4EDF2"/>
                </a:solidFill>
                <a:latin typeface="Courier New" pitchFamily="34" charset="0"/>
                <a:ea typeface="Courier New" pitchFamily="34" charset="-122"/>
                <a:cs typeface="Courier New" pitchFamily="34" charset="-120"/>
              </a:rPr>
              <a:t> </a:t>
            </a:r>
            <a:endParaRPr lang="en-US" sz="1240" dirty="0"/>
          </a:p>
          <a:p>
            <a:pPr algn="l" indent="0" marL="0">
              <a:lnSpc>
                <a:spcPts val="1760"/>
              </a:lnSpc>
              <a:buNone/>
            </a:pPr>
            <a:r>
              <a:rPr lang="en-US" sz="1240" dirty="0">
                <a:solidFill>
                  <a:srgbClr val="E4EDF2"/>
                </a:solidFill>
                <a:latin typeface="Courier New" pitchFamily="34" charset="0"/>
                <a:ea typeface="Courier New" pitchFamily="34" charset="-122"/>
                <a:cs typeface="Courier New" pitchFamily="34" charset="-120"/>
              </a:rPr>
              <a:t>        </a:t>
            </a:r>
            <a:pPr algn="l" indent="0" marL="0">
              <a:lnSpc>
                <a:spcPts val="1760"/>
              </a:lnSpc>
              <a:buNone/>
            </a:pPr>
            <a:r>
              <a:rPr lang="en-US" sz="1240" dirty="0">
                <a:solidFill>
                  <a:srgbClr val="6FC7EE"/>
                </a:solidFill>
                <a:latin typeface="Courier New" pitchFamily="34" charset="0"/>
                <a:ea typeface="Courier New" pitchFamily="34" charset="-122"/>
                <a:cs typeface="Courier New" pitchFamily="34" charset="-120"/>
              </a:rPr>
              <a:t>endpoint:</a:t>
            </a:r>
            <a:pPr algn="l" indent="0" marL="0">
              <a:lnSpc>
                <a:spcPts val="1760"/>
              </a:lnSpc>
              <a:buNone/>
            </a:pPr>
            <a:r>
              <a:rPr lang="en-US" sz="1240" dirty="0">
                <a:solidFill>
                  <a:srgbClr val="E4EDF2"/>
                </a:solidFill>
                <a:latin typeface="Courier New" pitchFamily="34" charset="0"/>
                <a:ea typeface="Courier New" pitchFamily="34" charset="-122"/>
                <a:cs typeface="Courier New" pitchFamily="34" charset="-120"/>
              </a:rPr>
              <a:t> </a:t>
            </a:r>
            <a:pPr algn="l" indent="0" marL="0">
              <a:lnSpc>
                <a:spcPts val="1760"/>
              </a:lnSpc>
              <a:buNone/>
            </a:pPr>
            <a:r>
              <a:rPr lang="en-US" sz="1240" dirty="0">
                <a:solidFill>
                  <a:srgbClr val="F0C070"/>
                </a:solidFill>
                <a:latin typeface="Courier New" pitchFamily="34" charset="0"/>
                <a:ea typeface="Courier New" pitchFamily="34" charset="-122"/>
                <a:cs typeface="Courier New" pitchFamily="34" charset="-120"/>
              </a:rPr>
              <a:t>localhost:4318</a:t>
            </a:r>
            <a:pPr algn="l" indent="0" marL="0">
              <a:lnSpc>
                <a:spcPts val="1760"/>
              </a:lnSpc>
              <a:buNone/>
            </a:pPr>
            <a:r>
              <a:rPr lang="en-US" sz="1240" dirty="0">
                <a:solidFill>
                  <a:srgbClr val="E4EDF2"/>
                </a:solidFill>
                <a:latin typeface="Courier New" pitchFamily="34" charset="0"/>
                <a:ea typeface="Courier New" pitchFamily="34" charset="-122"/>
                <a:cs typeface="Courier New" pitchFamily="34" charset="-120"/>
              </a:rPr>
              <a:t> </a:t>
            </a:r>
            <a:endParaRPr lang="en-US" sz="1240" dirty="0"/>
          </a:p>
          <a:p>
            <a:pPr algn="l" indent="0" marL="0">
              <a:lnSpc>
                <a:spcPts val="1760"/>
              </a:lnSpc>
              <a:buNone/>
            </a:pPr>
            <a:r>
              <a:rPr lang="en-US" sz="1240" dirty="0">
                <a:solidFill>
                  <a:srgbClr val="E4EDF2"/>
                </a:solidFill>
                <a:latin typeface="Courier New" pitchFamily="34" charset="0"/>
                <a:ea typeface="Courier New" pitchFamily="34" charset="-122"/>
                <a:cs typeface="Courier New" pitchFamily="34" charset="-120"/>
              </a:rPr>
              <a:t> </a:t>
            </a:r>
            <a:pPr algn="l" indent="0" marL="0">
              <a:lnSpc>
                <a:spcPts val="1760"/>
              </a:lnSpc>
              <a:buNone/>
            </a:pPr>
            <a:r>
              <a:rPr lang="en-US" sz="1240" dirty="0">
                <a:solidFill>
                  <a:srgbClr val="6FC7EE"/>
                </a:solidFill>
                <a:latin typeface="Courier New" pitchFamily="34" charset="0"/>
                <a:ea typeface="Courier New" pitchFamily="34" charset="-122"/>
                <a:cs typeface="Courier New" pitchFamily="34" charset="-120"/>
              </a:rPr>
              <a:t>processors:</a:t>
            </a:r>
            <a:pPr algn="l" indent="0" marL="0">
              <a:lnSpc>
                <a:spcPts val="1760"/>
              </a:lnSpc>
              <a:buNone/>
            </a:pPr>
            <a:r>
              <a:rPr lang="en-US" sz="1240" dirty="0">
                <a:solidFill>
                  <a:srgbClr val="E4EDF2"/>
                </a:solidFill>
                <a:latin typeface="Courier New" pitchFamily="34" charset="0"/>
                <a:ea typeface="Courier New" pitchFamily="34" charset="-122"/>
                <a:cs typeface="Courier New" pitchFamily="34" charset="-120"/>
              </a:rPr>
              <a:t>   </a:t>
            </a:r>
            <a:pPr algn="l" indent="0" marL="0">
              <a:lnSpc>
                <a:spcPts val="1760"/>
              </a:lnSpc>
              <a:buNone/>
            </a:pPr>
            <a:r>
              <a:rPr lang="en-US" sz="1240" dirty="0">
                <a:solidFill>
                  <a:srgbClr val="86A5B4"/>
                </a:solidFill>
                <a:latin typeface="Courier New" pitchFamily="34" charset="0"/>
                <a:ea typeface="Courier New" pitchFamily="34" charset="-122"/>
                <a:cs typeface="Courier New" pitchFamily="34" charset="-120"/>
              </a:rPr>
              <a:t># sends the records in groups, one group every 5 seconds</a:t>
            </a:r>
            <a:pPr algn="l" indent="0" marL="0">
              <a:lnSpc>
                <a:spcPts val="1760"/>
              </a:lnSpc>
              <a:buNone/>
            </a:pPr>
            <a:r>
              <a:rPr lang="en-US" sz="1240" dirty="0">
                <a:solidFill>
                  <a:srgbClr val="E4EDF2"/>
                </a:solidFill>
                <a:latin typeface="Courier New" pitchFamily="34" charset="0"/>
                <a:ea typeface="Courier New" pitchFamily="34" charset="-122"/>
                <a:cs typeface="Courier New" pitchFamily="34" charset="-120"/>
              </a:rPr>
              <a:t> </a:t>
            </a:r>
            <a:endParaRPr lang="en-US" sz="1240" dirty="0"/>
          </a:p>
          <a:p>
            <a:pPr algn="l" indent="0" marL="0">
              <a:lnSpc>
                <a:spcPts val="1760"/>
              </a:lnSpc>
              <a:buNone/>
            </a:pPr>
            <a:r>
              <a:rPr lang="en-US" sz="1240" dirty="0">
                <a:solidFill>
                  <a:srgbClr val="E4EDF2"/>
                </a:solidFill>
                <a:latin typeface="Courier New" pitchFamily="34" charset="0"/>
                <a:ea typeface="Courier New" pitchFamily="34" charset="-122"/>
                <a:cs typeface="Courier New" pitchFamily="34" charset="-120"/>
              </a:rPr>
              <a:t>  </a:t>
            </a:r>
            <a:pPr algn="l" indent="0" marL="0">
              <a:lnSpc>
                <a:spcPts val="1760"/>
              </a:lnSpc>
              <a:buNone/>
            </a:pPr>
            <a:r>
              <a:rPr lang="en-US" sz="1240" dirty="0">
                <a:solidFill>
                  <a:srgbClr val="6FC7EE"/>
                </a:solidFill>
                <a:latin typeface="Courier New" pitchFamily="34" charset="0"/>
                <a:ea typeface="Courier New" pitchFamily="34" charset="-122"/>
                <a:cs typeface="Courier New" pitchFamily="34" charset="-120"/>
              </a:rPr>
              <a:t>batch:</a:t>
            </a:r>
            <a:pPr algn="l" indent="0" marL="0">
              <a:lnSpc>
                <a:spcPts val="1760"/>
              </a:lnSpc>
              <a:buNone/>
            </a:pPr>
            <a:r>
              <a:rPr lang="en-US" sz="1240" dirty="0">
                <a:solidFill>
                  <a:srgbClr val="E4EDF2"/>
                </a:solidFill>
                <a:latin typeface="Courier New" pitchFamily="34" charset="0"/>
                <a:ea typeface="Courier New" pitchFamily="34" charset="-122"/>
                <a:cs typeface="Courier New" pitchFamily="34" charset="-120"/>
              </a:rPr>
              <a:t> </a:t>
            </a:r>
            <a:endParaRPr lang="en-US" sz="1240" dirty="0"/>
          </a:p>
          <a:p>
            <a:pPr algn="l" indent="0" marL="0">
              <a:lnSpc>
                <a:spcPts val="1760"/>
              </a:lnSpc>
              <a:buNone/>
            </a:pPr>
            <a:r>
              <a:rPr lang="en-US" sz="1240" dirty="0">
                <a:solidFill>
                  <a:srgbClr val="E4EDF2"/>
                </a:solidFill>
                <a:latin typeface="Courier New" pitchFamily="34" charset="0"/>
                <a:ea typeface="Courier New" pitchFamily="34" charset="-122"/>
                <a:cs typeface="Courier New" pitchFamily="34" charset="-120"/>
              </a:rPr>
              <a:t>    </a:t>
            </a:r>
            <a:pPr algn="l" indent="0" marL="0">
              <a:lnSpc>
                <a:spcPts val="1760"/>
              </a:lnSpc>
              <a:buNone/>
            </a:pPr>
            <a:r>
              <a:rPr lang="en-US" sz="1240" dirty="0">
                <a:solidFill>
                  <a:srgbClr val="6FC7EE"/>
                </a:solidFill>
                <a:latin typeface="Courier New" pitchFamily="34" charset="0"/>
                <a:ea typeface="Courier New" pitchFamily="34" charset="-122"/>
                <a:cs typeface="Courier New" pitchFamily="34" charset="-120"/>
              </a:rPr>
              <a:t>timeout:</a:t>
            </a:r>
            <a:pPr algn="l" indent="0" marL="0">
              <a:lnSpc>
                <a:spcPts val="1760"/>
              </a:lnSpc>
              <a:buNone/>
            </a:pPr>
            <a:r>
              <a:rPr lang="en-US" sz="1240" dirty="0">
                <a:solidFill>
                  <a:srgbClr val="E4EDF2"/>
                </a:solidFill>
                <a:latin typeface="Courier New" pitchFamily="34" charset="0"/>
                <a:ea typeface="Courier New" pitchFamily="34" charset="-122"/>
                <a:cs typeface="Courier New" pitchFamily="34" charset="-120"/>
              </a:rPr>
              <a:t> </a:t>
            </a:r>
            <a:pPr algn="l" indent="0" marL="0">
              <a:lnSpc>
                <a:spcPts val="1760"/>
              </a:lnSpc>
              <a:buNone/>
            </a:pPr>
            <a:r>
              <a:rPr lang="en-US" sz="1240" dirty="0">
                <a:solidFill>
                  <a:srgbClr val="F0C070"/>
                </a:solidFill>
                <a:latin typeface="Courier New" pitchFamily="34" charset="0"/>
                <a:ea typeface="Courier New" pitchFamily="34" charset="-122"/>
                <a:cs typeface="Courier New" pitchFamily="34" charset="-120"/>
              </a:rPr>
              <a:t>5s</a:t>
            </a:r>
            <a:endParaRPr lang="en-US" sz="1240" dirty="0"/>
          </a:p>
        </p:txBody>
      </p:sp>
      <p:sp>
        <p:nvSpPr>
          <p:cNvPr id="8" name="Text 6"/>
          <p:cNvSpPr txBox="1"/>
          <p:nvPr/>
        </p:nvSpPr>
        <p:spPr>
          <a:xfrm>
            <a:off x="647700" y="6464379"/>
            <a:ext cx="948928" cy="148590"/>
          </a:xfrm>
          <a:prstGeom prst="rect">
            <a:avLst/>
          </a:prstGeom>
          <a:noFill/>
          <a:ln/>
        </p:spPr>
        <p:txBody>
          <a:bodyPr wrap="none" lIns="0" tIns="0" rIns="0" bIns="0" rtlCol="0" anchor="t"/>
          <a:lstStyle/>
          <a:p>
            <a:pPr algn="l" indent="0" marL="0">
              <a:lnSpc>
                <a:spcPts val="1170"/>
              </a:lnSpc>
              <a:buNone/>
            </a:pPr>
            <a:r>
              <a:rPr lang="en-US" sz="980" dirty="0">
                <a:solidFill>
                  <a:srgbClr val="8496A2"/>
                </a:solidFill>
                <a:latin typeface="Courier New" pitchFamily="34" charset="0"/>
                <a:ea typeface="Courier New" pitchFamily="34" charset="-122"/>
                <a:cs typeface="Courier New" pitchFamily="34" charset="-120"/>
              </a:rPr>
              <a:t>Walk-through</a:t>
            </a:r>
            <a:endParaRPr lang="en-US" sz="980" dirty="0"/>
          </a:p>
        </p:txBody>
      </p:sp>
      <p:sp>
        <p:nvSpPr>
          <p:cNvPr id="9" name="Text 7"/>
          <p:cNvSpPr txBox="1"/>
          <p:nvPr/>
        </p:nvSpPr>
        <p:spPr>
          <a:xfrm>
            <a:off x="11024146" y="6464379"/>
            <a:ext cx="577304" cy="148590"/>
          </a:xfrm>
          <a:prstGeom prst="rect">
            <a:avLst/>
          </a:prstGeom>
          <a:noFill/>
          <a:ln/>
        </p:spPr>
        <p:txBody>
          <a:bodyPr wrap="none" lIns="0" tIns="0" rIns="0" bIns="0" rtlCol="0" anchor="t"/>
          <a:lstStyle/>
          <a:p>
            <a:pPr algn="l" indent="0" marL="0">
              <a:lnSpc>
                <a:spcPts val="1170"/>
              </a:lnSpc>
              <a:buNone/>
            </a:pPr>
            <a:r>
              <a:rPr lang="en-US" sz="980" dirty="0">
                <a:solidFill>
                  <a:srgbClr val="8496A2"/>
                </a:solidFill>
                <a:latin typeface="Courier New" pitchFamily="34" charset="0"/>
                <a:ea typeface="Courier New" pitchFamily="34" charset="-122"/>
                <a:cs typeface="Courier New" pitchFamily="34" charset="-120"/>
              </a:rPr>
              <a:t>22 / 39</a:t>
            </a:r>
            <a:endParaRPr lang="en-US" sz="980" dirty="0"/>
          </a:p>
        </p:txBody>
      </p:sp>
      <p:pic>
        <p:nvPicPr>
          <p:cNvPr id="900" name="NetSapiensis mark" descr="NetSapiensis"/>
          <p:cNvPicPr>
            <a:picLocks noChangeAspect="1"/>
          </p:cNvPicPr>
          <p:nvPr/>
        </p:nvPicPr>
        <p:blipFill>
          <a:blip r:embed="rId3"/>
          <a:stretch>
            <a:fillRect/>
          </a:stretch>
        </p:blipFill>
        <p:spPr>
          <a:xfrm>
            <a:off x="10776204" y="6419088"/>
            <a:ext cx="178308" cy="237744"/>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863761" y="1491920"/>
            <a:ext cx="8464479" cy="3978939"/>
          </a:xfrm>
          <a:prstGeom prst="roundRect">
            <a:avLst>
              <a:gd name="adj" fmla="val 855"/>
            </a:avLst>
          </a:prstGeom>
          <a:solidFill>
            <a:srgbClr val="0F2027"/>
          </a:solidFill>
          <a:ln/>
        </p:spPr>
      </p:sp>
      <p:sp>
        <p:nvSpPr>
          <p:cNvPr id="3" name="Shape 1"/>
          <p:cNvSpPr/>
          <p:nvPr/>
        </p:nvSpPr>
        <p:spPr>
          <a:xfrm>
            <a:off x="647700" y="6343650"/>
            <a:ext cx="10896600" cy="0"/>
          </a:xfrm>
          <a:prstGeom prst="line">
            <a:avLst/>
          </a:prstGeom>
          <a:noFill/>
          <a:ln w="7620">
            <a:solidFill>
              <a:srgbClr val="CBD7DF"/>
            </a:solidFill>
            <a:prstDash val="solid"/>
          </a:ln>
        </p:spPr>
      </p:sp>
      <p:sp>
        <p:nvSpPr>
          <p:cNvPr id="4" name="Text 2"/>
          <p:cNvSpPr txBox="1"/>
          <p:nvPr/>
        </p:nvSpPr>
        <p:spPr>
          <a:xfrm>
            <a:off x="1863761" y="516563"/>
            <a:ext cx="8521629" cy="144318"/>
          </a:xfrm>
          <a:prstGeom prst="rect">
            <a:avLst/>
          </a:prstGeom>
          <a:noFill/>
          <a:ln/>
        </p:spPr>
        <p:txBody>
          <a:bodyPr wrap="none" lIns="0" tIns="0" rIns="0" bIns="0" rtlCol="0" anchor="t"/>
          <a:lstStyle/>
          <a:p>
            <a:pPr algn="l" indent="0" marL="0">
              <a:lnSpc>
                <a:spcPts val="1140"/>
              </a:lnSpc>
              <a:buNone/>
            </a:pPr>
            <a:r>
              <a:rPr lang="en-US" sz="760" spc="120" kern="0" dirty="0">
                <a:solidFill>
                  <a:srgbClr val="0B6E99"/>
                </a:solidFill>
                <a:latin typeface="Courier New" pitchFamily="34" charset="0"/>
                <a:ea typeface="Courier New" pitchFamily="34" charset="-122"/>
                <a:cs typeface="Courier New" pitchFamily="34" charset="-120"/>
              </a:rPr>
              <a:t>STEP 8 OF 9</a:t>
            </a:r>
            <a:endParaRPr lang="en-US" sz="760" dirty="0"/>
          </a:p>
        </p:txBody>
      </p:sp>
      <p:sp>
        <p:nvSpPr>
          <p:cNvPr id="5" name="Text 3"/>
          <p:cNvSpPr txBox="1"/>
          <p:nvPr/>
        </p:nvSpPr>
        <p:spPr>
          <a:xfrm>
            <a:off x="1863761" y="781267"/>
            <a:ext cx="8521629" cy="255776"/>
          </a:xfrm>
          <a:prstGeom prst="rect">
            <a:avLst/>
          </a:prstGeom>
          <a:noFill/>
          <a:ln/>
        </p:spPr>
        <p:txBody>
          <a:bodyPr wrap="none" lIns="0" tIns="0" rIns="0" bIns="0" rtlCol="0" anchor="t"/>
          <a:lstStyle/>
          <a:p>
            <a:pPr algn="l" indent="0" marL="0">
              <a:lnSpc>
                <a:spcPts val="2010"/>
              </a:lnSpc>
              <a:buNone/>
            </a:pPr>
            <a:r>
              <a:rPr lang="en-US" sz="1860" b="1" spc="-40" kern="0" dirty="0">
                <a:solidFill>
                  <a:srgbClr val="101A22"/>
                </a:solidFill>
                <a:latin typeface="Arial" pitchFamily="34" charset="0"/>
                <a:ea typeface="Arial" pitchFamily="34" charset="-122"/>
                <a:cs typeface="Arial" pitchFamily="34" charset="-120"/>
              </a:rPr>
              <a:t>Configure the OpenTelemetry Collector to send the records to OpenSearch</a:t>
            </a:r>
            <a:endParaRPr lang="en-US" sz="1860" dirty="0"/>
          </a:p>
        </p:txBody>
      </p:sp>
      <p:sp>
        <p:nvSpPr>
          <p:cNvPr id="6" name="Text 4"/>
          <p:cNvSpPr txBox="1"/>
          <p:nvPr/>
        </p:nvSpPr>
        <p:spPr>
          <a:xfrm>
            <a:off x="1863761" y="1128066"/>
            <a:ext cx="8521629" cy="233129"/>
          </a:xfrm>
          <a:prstGeom prst="rect">
            <a:avLst/>
          </a:prstGeom>
          <a:noFill/>
          <a:ln/>
        </p:spPr>
        <p:txBody>
          <a:bodyPr wrap="none" lIns="0" tIns="0" rIns="0" bIns="0" rtlCol="0" anchor="t"/>
          <a:lstStyle/>
          <a:p>
            <a:pPr algn="l" indent="0" marL="0">
              <a:lnSpc>
                <a:spcPts val="1840"/>
              </a:lnSpc>
              <a:buNone/>
            </a:pPr>
            <a:r>
              <a:rPr lang="en-US" sz="1220" dirty="0">
                <a:solidFill>
                  <a:srgbClr val="5A6D7A"/>
                </a:solidFill>
                <a:latin typeface="Arial" pitchFamily="34" charset="0"/>
                <a:ea typeface="Arial" pitchFamily="34" charset="-122"/>
                <a:cs typeface="Arial" pitchFamily="34" charset="-120"/>
              </a:rPr>
              <a:t>The OpenTelemetry Collector needs the login, the address of OpenSearch and the names of the indices.</a:t>
            </a:r>
            <a:endParaRPr lang="en-US" sz="1220" dirty="0"/>
          </a:p>
        </p:txBody>
      </p:sp>
      <p:sp>
        <p:nvSpPr>
          <p:cNvPr id="7" name="Text 5"/>
          <p:cNvSpPr txBox="1"/>
          <p:nvPr/>
        </p:nvSpPr>
        <p:spPr>
          <a:xfrm>
            <a:off x="2011779" y="1583876"/>
            <a:ext cx="8225592" cy="3771713"/>
          </a:xfrm>
          <a:prstGeom prst="rect">
            <a:avLst/>
          </a:prstGeom>
          <a:noFill/>
          <a:ln/>
        </p:spPr>
        <p:txBody>
          <a:bodyPr wrap="square" lIns="0" tIns="0" rIns="0" bIns="0" rtlCol="0" anchor="t"/>
          <a:lstStyle/>
          <a:p>
            <a:pPr algn="l" indent="0" marL="0">
              <a:lnSpc>
                <a:spcPts val="1190"/>
              </a:lnSpc>
              <a:buNone/>
            </a:pPr>
            <a:r>
              <a:rPr lang="en-US" sz="870" dirty="0">
                <a:solidFill>
                  <a:srgbClr val="6FC7EE"/>
                </a:solidFill>
                <a:latin typeface="Courier New" pitchFamily="34" charset="0"/>
                <a:ea typeface="Courier New" pitchFamily="34" charset="-122"/>
                <a:cs typeface="Courier New" pitchFamily="34" charset="-120"/>
              </a:rPr>
              <a:t>extensions:</a:t>
            </a:r>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a:t>
            </a:r>
            <a:pPr algn="l" indent="0" marL="0">
              <a:lnSpc>
                <a:spcPts val="1190"/>
              </a:lnSpc>
              <a:buNone/>
            </a:pPr>
            <a:r>
              <a:rPr lang="en-US" sz="870" dirty="0">
                <a:solidFill>
                  <a:srgbClr val="86A5B4"/>
                </a:solidFill>
                <a:latin typeface="Courier New" pitchFamily="34" charset="0"/>
                <a:ea typeface="Courier New" pitchFamily="34" charset="-122"/>
                <a:cs typeface="Courier New" pitchFamily="34" charset="-120"/>
              </a:rPr>
              <a:t># the user name and the password for OpenSearch</a:t>
            </a:r>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a:t>
            </a:r>
            <a:endParaRPr lang="en-US" sz="870" dirty="0"/>
          </a:p>
          <a:p>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a:t>
            </a:r>
            <a:pPr algn="l" indent="0" marL="0">
              <a:lnSpc>
                <a:spcPts val="1190"/>
              </a:lnSpc>
              <a:buNone/>
            </a:pPr>
            <a:r>
              <a:rPr lang="en-US" sz="870" dirty="0">
                <a:solidFill>
                  <a:srgbClr val="6FC7EE"/>
                </a:solidFill>
                <a:latin typeface="Courier New" pitchFamily="34" charset="0"/>
                <a:ea typeface="Courier New" pitchFamily="34" charset="-122"/>
                <a:cs typeface="Courier New" pitchFamily="34" charset="-120"/>
              </a:rPr>
              <a:t>basicauth/opensearch:</a:t>
            </a:r>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a:t>
            </a:r>
            <a:endParaRPr lang="en-US" sz="870" dirty="0"/>
          </a:p>
          <a:p>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a:t>
            </a:r>
            <a:pPr algn="l" indent="0" marL="0">
              <a:lnSpc>
                <a:spcPts val="1190"/>
              </a:lnSpc>
              <a:buNone/>
            </a:pPr>
            <a:r>
              <a:rPr lang="en-US" sz="870" dirty="0">
                <a:solidFill>
                  <a:srgbClr val="6FC7EE"/>
                </a:solidFill>
                <a:latin typeface="Courier New" pitchFamily="34" charset="0"/>
                <a:ea typeface="Courier New" pitchFamily="34" charset="-122"/>
                <a:cs typeface="Courier New" pitchFamily="34" charset="-120"/>
              </a:rPr>
              <a:t>client_auth:</a:t>
            </a:r>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a:t>
            </a:r>
            <a:endParaRPr lang="en-US" sz="870" dirty="0"/>
          </a:p>
          <a:p>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a:t>
            </a:r>
            <a:pPr algn="l" indent="0" marL="0">
              <a:lnSpc>
                <a:spcPts val="1190"/>
              </a:lnSpc>
              <a:buNone/>
            </a:pPr>
            <a:r>
              <a:rPr lang="en-US" sz="870" dirty="0">
                <a:solidFill>
                  <a:srgbClr val="6FC7EE"/>
                </a:solidFill>
                <a:latin typeface="Courier New" pitchFamily="34" charset="0"/>
                <a:ea typeface="Courier New" pitchFamily="34" charset="-122"/>
                <a:cs typeface="Courier New" pitchFamily="34" charset="-120"/>
              </a:rPr>
              <a:t>username:</a:t>
            </a:r>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a:t>
            </a:r>
            <a:pPr algn="l" indent="0" marL="0">
              <a:lnSpc>
                <a:spcPts val="1190"/>
              </a:lnSpc>
              <a:buNone/>
            </a:pPr>
            <a:r>
              <a:rPr lang="en-US" sz="870" dirty="0">
                <a:solidFill>
                  <a:srgbClr val="F0C070"/>
                </a:solidFill>
                <a:latin typeface="Courier New" pitchFamily="34" charset="0"/>
                <a:ea typeface="Courier New" pitchFamily="34" charset="-122"/>
                <a:cs typeface="Courier New" pitchFamily="34" charset="-120"/>
              </a:rPr>
              <a:t>otelcol</a:t>
            </a:r>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a:t>
            </a:r>
            <a:endParaRPr lang="en-US" sz="870" dirty="0"/>
          </a:p>
          <a:p>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a:t>
            </a:r>
            <a:pPr algn="l" indent="0" marL="0">
              <a:lnSpc>
                <a:spcPts val="1190"/>
              </a:lnSpc>
              <a:buNone/>
            </a:pPr>
            <a:r>
              <a:rPr lang="en-US" sz="870" dirty="0">
                <a:solidFill>
                  <a:srgbClr val="6FC7EE"/>
                </a:solidFill>
                <a:latin typeface="Courier New" pitchFamily="34" charset="0"/>
                <a:ea typeface="Courier New" pitchFamily="34" charset="-122"/>
                <a:cs typeface="Courier New" pitchFamily="34" charset="-120"/>
              </a:rPr>
              <a:t>password:</a:t>
            </a:r>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a:t>
            </a:r>
            <a:pPr algn="l" indent="0" marL="0">
              <a:lnSpc>
                <a:spcPts val="1190"/>
              </a:lnSpc>
              <a:buNone/>
            </a:pPr>
            <a:r>
              <a:rPr lang="en-US" sz="870" dirty="0">
                <a:solidFill>
                  <a:srgbClr val="F0C070"/>
                </a:solidFill>
                <a:latin typeface="Courier New" pitchFamily="34" charset="0"/>
                <a:ea typeface="Courier New" pitchFamily="34" charset="-122"/>
                <a:cs typeface="Courier New" pitchFamily="34" charset="-120"/>
              </a:rPr>
              <a:t>DemoCollector2026!</a:t>
            </a:r>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a:t>
            </a:r>
            <a:endParaRPr lang="en-US" sz="870" dirty="0"/>
          </a:p>
          <a:p>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a:t>
            </a:r>
            <a:pPr algn="l" indent="0" marL="0">
              <a:lnSpc>
                <a:spcPts val="1190"/>
              </a:lnSpc>
              <a:buNone/>
            </a:pPr>
            <a:r>
              <a:rPr lang="en-US" sz="870" dirty="0">
                <a:solidFill>
                  <a:srgbClr val="6FC7EE"/>
                </a:solidFill>
                <a:latin typeface="Courier New" pitchFamily="34" charset="0"/>
                <a:ea typeface="Courier New" pitchFamily="34" charset="-122"/>
                <a:cs typeface="Courier New" pitchFamily="34" charset="-120"/>
              </a:rPr>
              <a:t>exporters:</a:t>
            </a:r>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a:t>
            </a:r>
            <a:pPr algn="l" indent="0" marL="0">
              <a:lnSpc>
                <a:spcPts val="1190"/>
              </a:lnSpc>
              <a:buNone/>
            </a:pPr>
            <a:r>
              <a:rPr lang="en-US" sz="870" dirty="0">
                <a:solidFill>
                  <a:srgbClr val="86A5B4"/>
                </a:solidFill>
                <a:latin typeface="Courier New" pitchFamily="34" charset="0"/>
                <a:ea typeface="Courier New" pitchFamily="34" charset="-122"/>
                <a:cs typeface="Courier New" pitchFamily="34" charset="-120"/>
              </a:rPr>
              <a:t># sends the records to OpenSearch</a:t>
            </a:r>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a:t>
            </a:r>
            <a:endParaRPr lang="en-US" sz="870" dirty="0"/>
          </a:p>
          <a:p>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a:t>
            </a:r>
            <a:pPr algn="l" indent="0" marL="0">
              <a:lnSpc>
                <a:spcPts val="1190"/>
              </a:lnSpc>
              <a:buNone/>
            </a:pPr>
            <a:r>
              <a:rPr lang="en-US" sz="870" dirty="0">
                <a:solidFill>
                  <a:srgbClr val="6FC7EE"/>
                </a:solidFill>
                <a:latin typeface="Courier New" pitchFamily="34" charset="0"/>
                <a:ea typeface="Courier New" pitchFamily="34" charset="-122"/>
                <a:cs typeface="Courier New" pitchFamily="34" charset="-120"/>
              </a:rPr>
              <a:t>opensearch/moodle:</a:t>
            </a:r>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a:t>
            </a:r>
            <a:endParaRPr lang="en-US" sz="870" dirty="0"/>
          </a:p>
          <a:p>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a:t>
            </a:r>
            <a:pPr algn="l" indent="0" marL="0">
              <a:lnSpc>
                <a:spcPts val="1190"/>
              </a:lnSpc>
              <a:buNone/>
            </a:pPr>
            <a:r>
              <a:rPr lang="en-US" sz="870" dirty="0">
                <a:solidFill>
                  <a:srgbClr val="6FC7EE"/>
                </a:solidFill>
                <a:latin typeface="Courier New" pitchFamily="34" charset="0"/>
                <a:ea typeface="Courier New" pitchFamily="34" charset="-122"/>
                <a:cs typeface="Courier New" pitchFamily="34" charset="-120"/>
              </a:rPr>
              <a:t>http:</a:t>
            </a:r>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a:t>
            </a:r>
            <a:endParaRPr lang="en-US" sz="870" dirty="0"/>
          </a:p>
          <a:p>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a:t>
            </a:r>
            <a:pPr algn="l" indent="0" marL="0">
              <a:lnSpc>
                <a:spcPts val="1190"/>
              </a:lnSpc>
              <a:buNone/>
            </a:pPr>
            <a:r>
              <a:rPr lang="en-US" sz="870" dirty="0">
                <a:solidFill>
                  <a:srgbClr val="6FC7EE"/>
                </a:solidFill>
                <a:latin typeface="Courier New" pitchFamily="34" charset="0"/>
                <a:ea typeface="Courier New" pitchFamily="34" charset="-122"/>
                <a:cs typeface="Courier New" pitchFamily="34" charset="-120"/>
              </a:rPr>
              <a:t>endpoint:</a:t>
            </a:r>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a:t>
            </a:r>
            <a:pPr algn="l" indent="0" marL="0">
              <a:lnSpc>
                <a:spcPts val="1190"/>
              </a:lnSpc>
              <a:buNone/>
            </a:pPr>
            <a:r>
              <a:rPr lang="en-US" sz="870" dirty="0">
                <a:solidFill>
                  <a:srgbClr val="F0C070"/>
                </a:solidFill>
                <a:latin typeface="Courier New" pitchFamily="34" charset="0"/>
                <a:ea typeface="Courier New" pitchFamily="34" charset="-122"/>
                <a:cs typeface="Courier New" pitchFamily="34" charset="-120"/>
              </a:rPr>
              <a:t>https://opensearch1:9200</a:t>
            </a:r>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a:t>
            </a:r>
            <a:pPr algn="l" indent="0" marL="0">
              <a:lnSpc>
                <a:spcPts val="1190"/>
              </a:lnSpc>
              <a:buNone/>
            </a:pPr>
            <a:r>
              <a:rPr lang="en-US" sz="870" dirty="0">
                <a:solidFill>
                  <a:srgbClr val="86A5B4"/>
                </a:solidFill>
                <a:latin typeface="Courier New" pitchFamily="34" charset="0"/>
                <a:ea typeface="Courier New" pitchFamily="34" charset="-122"/>
                <a:cs typeface="Courier New" pitchFamily="34" charset="-120"/>
              </a:rPr>
              <a:t># the address of your OpenSearch server</a:t>
            </a:r>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a:t>
            </a:r>
            <a:endParaRPr lang="en-US" sz="870" dirty="0"/>
          </a:p>
          <a:p>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a:t>
            </a:r>
            <a:pPr algn="l" indent="0" marL="0">
              <a:lnSpc>
                <a:spcPts val="1190"/>
              </a:lnSpc>
              <a:buNone/>
            </a:pPr>
            <a:r>
              <a:rPr lang="en-US" sz="870" dirty="0">
                <a:solidFill>
                  <a:srgbClr val="6FC7EE"/>
                </a:solidFill>
                <a:latin typeface="Courier New" pitchFamily="34" charset="0"/>
                <a:ea typeface="Courier New" pitchFamily="34" charset="-122"/>
                <a:cs typeface="Courier New" pitchFamily="34" charset="-120"/>
              </a:rPr>
              <a:t>auth:</a:t>
            </a:r>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a:t>
            </a:r>
            <a:endParaRPr lang="en-US" sz="870" dirty="0"/>
          </a:p>
          <a:p>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a:t>
            </a:r>
            <a:pPr algn="l" indent="0" marL="0">
              <a:lnSpc>
                <a:spcPts val="1190"/>
              </a:lnSpc>
              <a:buNone/>
            </a:pPr>
            <a:r>
              <a:rPr lang="en-US" sz="870" dirty="0">
                <a:solidFill>
                  <a:srgbClr val="6FC7EE"/>
                </a:solidFill>
                <a:latin typeface="Courier New" pitchFamily="34" charset="0"/>
                <a:ea typeface="Courier New" pitchFamily="34" charset="-122"/>
                <a:cs typeface="Courier New" pitchFamily="34" charset="-120"/>
              </a:rPr>
              <a:t>authenticator:</a:t>
            </a:r>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a:t>
            </a:r>
            <a:pPr algn="l" indent="0" marL="0">
              <a:lnSpc>
                <a:spcPts val="1190"/>
              </a:lnSpc>
              <a:buNone/>
            </a:pPr>
            <a:r>
              <a:rPr lang="en-US" sz="870" dirty="0">
                <a:solidFill>
                  <a:srgbClr val="F0C070"/>
                </a:solidFill>
                <a:latin typeface="Courier New" pitchFamily="34" charset="0"/>
                <a:ea typeface="Courier New" pitchFamily="34" charset="-122"/>
                <a:cs typeface="Courier New" pitchFamily="34" charset="-120"/>
              </a:rPr>
              <a:t>basicauth/opensearch</a:t>
            </a:r>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a:t>
            </a:r>
            <a:endParaRPr lang="en-US" sz="870" dirty="0"/>
          </a:p>
          <a:p>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a:t>
            </a:r>
            <a:pPr algn="l" indent="0" marL="0">
              <a:lnSpc>
                <a:spcPts val="1190"/>
              </a:lnSpc>
              <a:buNone/>
            </a:pPr>
            <a:r>
              <a:rPr lang="en-US" sz="870" dirty="0">
                <a:solidFill>
                  <a:srgbClr val="6FC7EE"/>
                </a:solidFill>
                <a:latin typeface="Courier New" pitchFamily="34" charset="0"/>
                <a:ea typeface="Courier New" pitchFamily="34" charset="-122"/>
                <a:cs typeface="Courier New" pitchFamily="34" charset="-120"/>
              </a:rPr>
              <a:t>tls:</a:t>
            </a:r>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a:t>
            </a:r>
            <a:endParaRPr lang="en-US" sz="870" dirty="0"/>
          </a:p>
          <a:p>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a:t>
            </a:r>
            <a:pPr algn="l" indent="0" marL="0">
              <a:lnSpc>
                <a:spcPts val="1190"/>
              </a:lnSpc>
              <a:buNone/>
            </a:pPr>
            <a:r>
              <a:rPr lang="en-US" sz="870" dirty="0">
                <a:solidFill>
                  <a:srgbClr val="6FC7EE"/>
                </a:solidFill>
                <a:latin typeface="Courier New" pitchFamily="34" charset="0"/>
                <a:ea typeface="Courier New" pitchFamily="34" charset="-122"/>
                <a:cs typeface="Courier New" pitchFamily="34" charset="-120"/>
              </a:rPr>
              <a:t>insecure_skip_verify:</a:t>
            </a:r>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a:t>
            </a:r>
            <a:pPr algn="l" indent="0" marL="0">
              <a:lnSpc>
                <a:spcPts val="1190"/>
              </a:lnSpc>
              <a:buNone/>
            </a:pPr>
            <a:r>
              <a:rPr lang="en-US" sz="870" dirty="0">
                <a:solidFill>
                  <a:srgbClr val="6FC7EE"/>
                </a:solidFill>
                <a:latin typeface="Courier New" pitchFamily="34" charset="0"/>
                <a:ea typeface="Courier New" pitchFamily="34" charset="-122"/>
                <a:cs typeface="Courier New" pitchFamily="34" charset="-120"/>
              </a:rPr>
              <a:t>true</a:t>
            </a:r>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a:t>
            </a:r>
            <a:pPr algn="l" indent="0" marL="0">
              <a:lnSpc>
                <a:spcPts val="1190"/>
              </a:lnSpc>
              <a:buNone/>
            </a:pPr>
            <a:r>
              <a:rPr lang="en-US" sz="870" dirty="0">
                <a:solidFill>
                  <a:srgbClr val="86A5B4"/>
                </a:solidFill>
                <a:latin typeface="Courier New" pitchFamily="34" charset="0"/>
                <a:ea typeface="Courier New" pitchFamily="34" charset="-122"/>
                <a:cs typeface="Courier New" pitchFamily="34" charset="-120"/>
              </a:rPr>
              <a:t># does not check the certificate of OpenSearch</a:t>
            </a:r>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a:t>
            </a:r>
            <a:endParaRPr lang="en-US" sz="870" dirty="0"/>
          </a:p>
          <a:p>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a:t>
            </a:r>
            <a:pPr algn="l" indent="0" marL="0">
              <a:lnSpc>
                <a:spcPts val="1190"/>
              </a:lnSpc>
              <a:buNone/>
            </a:pPr>
            <a:r>
              <a:rPr lang="en-US" sz="870" dirty="0">
                <a:solidFill>
                  <a:srgbClr val="6FC7EE"/>
                </a:solidFill>
                <a:latin typeface="Courier New" pitchFamily="34" charset="0"/>
                <a:ea typeface="Courier New" pitchFamily="34" charset="-122"/>
                <a:cs typeface="Courier New" pitchFamily="34" charset="-120"/>
              </a:rPr>
              <a:t>logs_index:</a:t>
            </a:r>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a:t>
            </a:r>
            <a:pPr algn="l" indent="0" marL="0">
              <a:lnSpc>
                <a:spcPts val="1190"/>
              </a:lnSpc>
              <a:buNone/>
            </a:pPr>
            <a:r>
              <a:rPr lang="en-US" sz="870" dirty="0">
                <a:solidFill>
                  <a:srgbClr val="F0C070"/>
                </a:solidFill>
                <a:latin typeface="Courier New" pitchFamily="34" charset="0"/>
                <a:ea typeface="Courier New" pitchFamily="34" charset="-122"/>
                <a:cs typeface="Courier New" pitchFamily="34" charset="-120"/>
              </a:rPr>
              <a:t>"otel-v1-logs-moodle"</a:t>
            </a:r>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a:t>
            </a:r>
            <a:pPr algn="l" indent="0" marL="0">
              <a:lnSpc>
                <a:spcPts val="1190"/>
              </a:lnSpc>
              <a:buNone/>
            </a:pPr>
            <a:r>
              <a:rPr lang="en-US" sz="870" dirty="0">
                <a:solidFill>
                  <a:srgbClr val="86A5B4"/>
                </a:solidFill>
                <a:latin typeface="Courier New" pitchFamily="34" charset="0"/>
                <a:ea typeface="Courier New" pitchFamily="34" charset="-122"/>
                <a:cs typeface="Courier New" pitchFamily="34" charset="-120"/>
              </a:rPr>
              <a:t># the name must start with otel-v1-logs</a:t>
            </a:r>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a:t>
            </a:r>
            <a:endParaRPr lang="en-US" sz="870" dirty="0"/>
          </a:p>
          <a:p>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a:t>
            </a:r>
            <a:pPr algn="l" indent="0" marL="0">
              <a:lnSpc>
                <a:spcPts val="1190"/>
              </a:lnSpc>
              <a:buNone/>
            </a:pPr>
            <a:r>
              <a:rPr lang="en-US" sz="870" dirty="0">
                <a:solidFill>
                  <a:srgbClr val="6FC7EE"/>
                </a:solidFill>
                <a:latin typeface="Courier New" pitchFamily="34" charset="0"/>
                <a:ea typeface="Courier New" pitchFamily="34" charset="-122"/>
                <a:cs typeface="Courier New" pitchFamily="34" charset="-120"/>
              </a:rPr>
              <a:t>logs_index_time_format:</a:t>
            </a:r>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a:t>
            </a:r>
            <a:pPr algn="l" indent="0" marL="0">
              <a:lnSpc>
                <a:spcPts val="1190"/>
              </a:lnSpc>
              <a:buNone/>
            </a:pPr>
            <a:r>
              <a:rPr lang="en-US" sz="870" dirty="0">
                <a:solidFill>
                  <a:srgbClr val="F0C070"/>
                </a:solidFill>
                <a:latin typeface="Courier New" pitchFamily="34" charset="0"/>
                <a:ea typeface="Courier New" pitchFamily="34" charset="-122"/>
                <a:cs typeface="Courier New" pitchFamily="34" charset="-120"/>
              </a:rPr>
              <a:t>"yyyy.MM"</a:t>
            </a:r>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a:t>
            </a:r>
            <a:pPr algn="l" indent="0" marL="0">
              <a:lnSpc>
                <a:spcPts val="1190"/>
              </a:lnSpc>
              <a:buNone/>
            </a:pPr>
            <a:r>
              <a:rPr lang="en-US" sz="870" dirty="0">
                <a:solidFill>
                  <a:srgbClr val="86A5B4"/>
                </a:solidFill>
                <a:latin typeface="Courier New" pitchFamily="34" charset="0"/>
                <a:ea typeface="Courier New" pitchFamily="34" charset="-122"/>
                <a:cs typeface="Courier New" pitchFamily="34" charset="-120"/>
              </a:rPr>
              <a:t># one new index each month</a:t>
            </a:r>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a:t>
            </a:r>
            <a:endParaRPr lang="en-US" sz="870" dirty="0"/>
          </a:p>
          <a:p>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a:t>
            </a:r>
            <a:pPr algn="l" indent="0" marL="0">
              <a:lnSpc>
                <a:spcPts val="1190"/>
              </a:lnSpc>
              <a:buNone/>
            </a:pPr>
            <a:r>
              <a:rPr lang="en-US" sz="870" dirty="0">
                <a:solidFill>
                  <a:srgbClr val="6FC7EE"/>
                </a:solidFill>
                <a:latin typeface="Courier New" pitchFamily="34" charset="0"/>
                <a:ea typeface="Courier New" pitchFamily="34" charset="-122"/>
                <a:cs typeface="Courier New" pitchFamily="34" charset="-120"/>
              </a:rPr>
              <a:t>traces_index:</a:t>
            </a:r>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a:t>
            </a:r>
            <a:pPr algn="l" indent="0" marL="0">
              <a:lnSpc>
                <a:spcPts val="1190"/>
              </a:lnSpc>
              <a:buNone/>
            </a:pPr>
            <a:r>
              <a:rPr lang="en-US" sz="870" dirty="0">
                <a:solidFill>
                  <a:srgbClr val="F0C070"/>
                </a:solidFill>
                <a:latin typeface="Courier New" pitchFamily="34" charset="0"/>
                <a:ea typeface="Courier New" pitchFamily="34" charset="-122"/>
                <a:cs typeface="Courier New" pitchFamily="34" charset="-120"/>
              </a:rPr>
              <a:t>"otel-v1-apm-span"</a:t>
            </a:r>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a:t>
            </a:r>
            <a:pPr algn="l" indent="0" marL="0">
              <a:lnSpc>
                <a:spcPts val="1190"/>
              </a:lnSpc>
              <a:buNone/>
            </a:pPr>
            <a:r>
              <a:rPr lang="en-US" sz="870" dirty="0">
                <a:solidFill>
                  <a:srgbClr val="86A5B4"/>
                </a:solidFill>
                <a:latin typeface="Courier New" pitchFamily="34" charset="0"/>
                <a:ea typeface="Courier New" pitchFamily="34" charset="-122"/>
                <a:cs typeface="Courier New" pitchFamily="34" charset="-120"/>
              </a:rPr>
              <a:t># the trace pages read this name, keep it</a:t>
            </a:r>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a:t>
            </a:r>
            <a:endParaRPr lang="en-US" sz="870" dirty="0"/>
          </a:p>
          <a:p>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a:t>
            </a:r>
            <a:pPr algn="l" indent="0" marL="0">
              <a:lnSpc>
                <a:spcPts val="1190"/>
              </a:lnSpc>
              <a:buNone/>
            </a:pPr>
            <a:r>
              <a:rPr lang="en-US" sz="870" dirty="0">
                <a:solidFill>
                  <a:srgbClr val="6FC7EE"/>
                </a:solidFill>
                <a:latin typeface="Courier New" pitchFamily="34" charset="0"/>
                <a:ea typeface="Courier New" pitchFamily="34" charset="-122"/>
                <a:cs typeface="Courier New" pitchFamily="34" charset="-120"/>
              </a:rPr>
              <a:t>traces_index_time_format:</a:t>
            </a:r>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a:t>
            </a:r>
            <a:pPr algn="l" indent="0" marL="0">
              <a:lnSpc>
                <a:spcPts val="1190"/>
              </a:lnSpc>
              <a:buNone/>
            </a:pPr>
            <a:r>
              <a:rPr lang="en-US" sz="870" dirty="0">
                <a:solidFill>
                  <a:srgbClr val="F0C070"/>
                </a:solidFill>
                <a:latin typeface="Courier New" pitchFamily="34" charset="0"/>
                <a:ea typeface="Courier New" pitchFamily="34" charset="-122"/>
                <a:cs typeface="Courier New" pitchFamily="34" charset="-120"/>
              </a:rPr>
              <a:t>"yyyy.MM"</a:t>
            </a:r>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a:t>
            </a:r>
            <a:endParaRPr lang="en-US" sz="870" dirty="0"/>
          </a:p>
          <a:p>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a:t>
            </a:r>
            <a:pPr algn="l" indent="0" marL="0">
              <a:lnSpc>
                <a:spcPts val="1190"/>
              </a:lnSpc>
              <a:buNone/>
            </a:pPr>
            <a:r>
              <a:rPr lang="en-US" sz="870" dirty="0">
                <a:solidFill>
                  <a:srgbClr val="6FC7EE"/>
                </a:solidFill>
                <a:latin typeface="Courier New" pitchFamily="34" charset="0"/>
                <a:ea typeface="Courier New" pitchFamily="34" charset="-122"/>
                <a:cs typeface="Courier New" pitchFamily="34" charset="-120"/>
              </a:rPr>
              <a:t>mapping:</a:t>
            </a:r>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a:t>
            </a:r>
            <a:endParaRPr lang="en-US" sz="870" dirty="0"/>
          </a:p>
          <a:p>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a:t>
            </a:r>
            <a:pPr algn="l" indent="0" marL="0">
              <a:lnSpc>
                <a:spcPts val="1190"/>
              </a:lnSpc>
              <a:buNone/>
            </a:pPr>
            <a:r>
              <a:rPr lang="en-US" sz="870" dirty="0">
                <a:solidFill>
                  <a:srgbClr val="6FC7EE"/>
                </a:solidFill>
                <a:latin typeface="Courier New" pitchFamily="34" charset="0"/>
                <a:ea typeface="Courier New" pitchFamily="34" charset="-122"/>
                <a:cs typeface="Courier New" pitchFamily="34" charset="-120"/>
              </a:rPr>
              <a:t>mode:</a:t>
            </a:r>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a:t>
            </a:r>
            <a:pPr algn="l" indent="0" marL="0">
              <a:lnSpc>
                <a:spcPts val="1190"/>
              </a:lnSpc>
              <a:buNone/>
            </a:pPr>
            <a:r>
              <a:rPr lang="en-US" sz="870" dirty="0">
                <a:solidFill>
                  <a:srgbClr val="F0C070"/>
                </a:solidFill>
                <a:latin typeface="Courier New" pitchFamily="34" charset="0"/>
                <a:ea typeface="Courier New" pitchFamily="34" charset="-122"/>
                <a:cs typeface="Courier New" pitchFamily="34" charset="-120"/>
              </a:rPr>
              <a:t>"otel-v1"</a:t>
            </a:r>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a:t>
            </a:r>
            <a:endParaRPr lang="en-US" sz="870" dirty="0"/>
          </a:p>
          <a:p>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a:t>
            </a:r>
            <a:pPr algn="l" indent="0" marL="0">
              <a:lnSpc>
                <a:spcPts val="1190"/>
              </a:lnSpc>
              <a:buNone/>
            </a:pPr>
            <a:r>
              <a:rPr lang="en-US" sz="870" dirty="0">
                <a:solidFill>
                  <a:srgbClr val="6FC7EE"/>
                </a:solidFill>
                <a:latin typeface="Courier New" pitchFamily="34" charset="0"/>
                <a:ea typeface="Courier New" pitchFamily="34" charset="-122"/>
                <a:cs typeface="Courier New" pitchFamily="34" charset="-120"/>
              </a:rPr>
              <a:t>manage_index_template:</a:t>
            </a:r>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a:t>
            </a:r>
            <a:pPr algn="l" indent="0" marL="0">
              <a:lnSpc>
                <a:spcPts val="1190"/>
              </a:lnSpc>
              <a:buNone/>
            </a:pPr>
            <a:r>
              <a:rPr lang="en-US" sz="870" dirty="0">
                <a:solidFill>
                  <a:srgbClr val="6FC7EE"/>
                </a:solidFill>
                <a:latin typeface="Courier New" pitchFamily="34" charset="0"/>
                <a:ea typeface="Courier New" pitchFamily="34" charset="-122"/>
                <a:cs typeface="Courier New" pitchFamily="34" charset="-120"/>
              </a:rPr>
              <a:t>true</a:t>
            </a:r>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a:t>
            </a:r>
            <a:pPr algn="l" indent="0" marL="0">
              <a:lnSpc>
                <a:spcPts val="1190"/>
              </a:lnSpc>
              <a:buNone/>
            </a:pPr>
            <a:r>
              <a:rPr lang="en-US" sz="870" dirty="0">
                <a:solidFill>
                  <a:srgbClr val="86A5B4"/>
                </a:solidFill>
                <a:latin typeface="Courier New" pitchFamily="34" charset="0"/>
                <a:ea typeface="Courier New" pitchFamily="34" charset="-122"/>
                <a:cs typeface="Courier New" pitchFamily="34" charset="-120"/>
              </a:rPr>
              <a:t># creates the index template at start</a:t>
            </a:r>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a:t>
            </a:r>
            <a:endParaRPr lang="en-US" sz="870" dirty="0"/>
          </a:p>
          <a:p>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a:t>
            </a:r>
            <a:pPr algn="l" indent="0" marL="0">
              <a:lnSpc>
                <a:spcPts val="1190"/>
              </a:lnSpc>
              <a:buNone/>
            </a:pPr>
            <a:r>
              <a:rPr lang="en-US" sz="870" dirty="0">
                <a:solidFill>
                  <a:srgbClr val="6FC7EE"/>
                </a:solidFill>
                <a:latin typeface="Courier New" pitchFamily="34" charset="0"/>
                <a:ea typeface="Courier New" pitchFamily="34" charset="-122"/>
                <a:cs typeface="Courier New" pitchFamily="34" charset="-120"/>
              </a:rPr>
              <a:t>service:</a:t>
            </a:r>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a:t>
            </a:r>
            <a:pPr algn="l" indent="0" marL="0">
              <a:lnSpc>
                <a:spcPts val="1190"/>
              </a:lnSpc>
              <a:buNone/>
            </a:pPr>
            <a:r>
              <a:rPr lang="en-US" sz="870" dirty="0">
                <a:solidFill>
                  <a:srgbClr val="86A5B4"/>
                </a:solidFill>
                <a:latin typeface="Courier New" pitchFamily="34" charset="0"/>
                <a:ea typeface="Courier New" pitchFamily="34" charset="-122"/>
                <a:cs typeface="Courier New" pitchFamily="34" charset="-120"/>
              </a:rPr>
              <a:t># nothing runs without this section, it switches the parts on</a:t>
            </a:r>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a:t>
            </a:r>
            <a:endParaRPr lang="en-US" sz="870" dirty="0"/>
          </a:p>
          <a:p>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a:t>
            </a:r>
            <a:pPr algn="l" indent="0" marL="0">
              <a:lnSpc>
                <a:spcPts val="1190"/>
              </a:lnSpc>
              <a:buNone/>
            </a:pPr>
            <a:r>
              <a:rPr lang="en-US" sz="870" dirty="0">
                <a:solidFill>
                  <a:srgbClr val="6FC7EE"/>
                </a:solidFill>
                <a:latin typeface="Courier New" pitchFamily="34" charset="0"/>
                <a:ea typeface="Courier New" pitchFamily="34" charset="-122"/>
                <a:cs typeface="Courier New" pitchFamily="34" charset="-120"/>
              </a:rPr>
              <a:t>extensions:</a:t>
            </a:r>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[basicauth/opensearch]</a:t>
            </a:r>
            <a:endParaRPr lang="en-US" sz="870" dirty="0"/>
          </a:p>
          <a:p>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a:t>
            </a:r>
            <a:pPr algn="l" indent="0" marL="0">
              <a:lnSpc>
                <a:spcPts val="1190"/>
              </a:lnSpc>
              <a:buNone/>
            </a:pPr>
            <a:r>
              <a:rPr lang="en-US" sz="870" dirty="0">
                <a:solidFill>
                  <a:srgbClr val="6FC7EE"/>
                </a:solidFill>
                <a:latin typeface="Courier New" pitchFamily="34" charset="0"/>
                <a:ea typeface="Courier New" pitchFamily="34" charset="-122"/>
                <a:cs typeface="Courier New" pitchFamily="34" charset="-120"/>
              </a:rPr>
              <a:t>pipelines:</a:t>
            </a:r>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a:t>
            </a:r>
            <a:endParaRPr lang="en-US" sz="870" dirty="0"/>
          </a:p>
          <a:p>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a:t>
            </a:r>
            <a:pPr algn="l" indent="0" marL="0">
              <a:lnSpc>
                <a:spcPts val="1190"/>
              </a:lnSpc>
              <a:buNone/>
            </a:pPr>
            <a:r>
              <a:rPr lang="en-US" sz="870" dirty="0">
                <a:solidFill>
                  <a:srgbClr val="6FC7EE"/>
                </a:solidFill>
                <a:latin typeface="Courier New" pitchFamily="34" charset="0"/>
                <a:ea typeface="Courier New" pitchFamily="34" charset="-122"/>
                <a:cs typeface="Courier New" pitchFamily="34" charset="-120"/>
              </a:rPr>
              <a:t>logs:</a:t>
            </a:r>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a:t>
            </a:r>
            <a:pPr algn="l" indent="0" marL="0">
              <a:lnSpc>
                <a:spcPts val="1190"/>
              </a:lnSpc>
              <a:buNone/>
            </a:pPr>
            <a:r>
              <a:rPr lang="en-US" sz="870" dirty="0">
                <a:solidFill>
                  <a:srgbClr val="6FC7EE"/>
                </a:solidFill>
                <a:latin typeface="Courier New" pitchFamily="34" charset="0"/>
                <a:ea typeface="Courier New" pitchFamily="34" charset="-122"/>
                <a:cs typeface="Courier New" pitchFamily="34" charset="-120"/>
              </a:rPr>
              <a:t>receivers:</a:t>
            </a:r>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[otlp], </a:t>
            </a:r>
            <a:pPr algn="l" indent="0" marL="0">
              <a:lnSpc>
                <a:spcPts val="1190"/>
              </a:lnSpc>
              <a:buNone/>
            </a:pPr>
            <a:r>
              <a:rPr lang="en-US" sz="870" dirty="0">
                <a:solidFill>
                  <a:srgbClr val="6FC7EE"/>
                </a:solidFill>
                <a:latin typeface="Courier New" pitchFamily="34" charset="0"/>
                <a:ea typeface="Courier New" pitchFamily="34" charset="-122"/>
                <a:cs typeface="Courier New" pitchFamily="34" charset="-120"/>
              </a:rPr>
              <a:t>processors:</a:t>
            </a:r>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[batch], </a:t>
            </a:r>
            <a:pPr algn="l" indent="0" marL="0">
              <a:lnSpc>
                <a:spcPts val="1190"/>
              </a:lnSpc>
              <a:buNone/>
            </a:pPr>
            <a:r>
              <a:rPr lang="en-US" sz="870" dirty="0">
                <a:solidFill>
                  <a:srgbClr val="6FC7EE"/>
                </a:solidFill>
                <a:latin typeface="Courier New" pitchFamily="34" charset="0"/>
                <a:ea typeface="Courier New" pitchFamily="34" charset="-122"/>
                <a:cs typeface="Courier New" pitchFamily="34" charset="-120"/>
              </a:rPr>
              <a:t>exporters:</a:t>
            </a:r>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[opensearch/moodle]}</a:t>
            </a:r>
            <a:endParaRPr lang="en-US" sz="870" dirty="0"/>
          </a:p>
          <a:p>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a:t>
            </a:r>
            <a:pPr algn="l" indent="0" marL="0">
              <a:lnSpc>
                <a:spcPts val="1190"/>
              </a:lnSpc>
              <a:buNone/>
            </a:pPr>
            <a:r>
              <a:rPr lang="en-US" sz="870" dirty="0">
                <a:solidFill>
                  <a:srgbClr val="6FC7EE"/>
                </a:solidFill>
                <a:latin typeface="Courier New" pitchFamily="34" charset="0"/>
                <a:ea typeface="Courier New" pitchFamily="34" charset="-122"/>
                <a:cs typeface="Courier New" pitchFamily="34" charset="-120"/>
              </a:rPr>
              <a:t>traces:</a:t>
            </a:r>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a:t>
            </a:r>
            <a:pPr algn="l" indent="0" marL="0">
              <a:lnSpc>
                <a:spcPts val="1190"/>
              </a:lnSpc>
              <a:buNone/>
            </a:pPr>
            <a:r>
              <a:rPr lang="en-US" sz="870" dirty="0">
                <a:solidFill>
                  <a:srgbClr val="6FC7EE"/>
                </a:solidFill>
                <a:latin typeface="Courier New" pitchFamily="34" charset="0"/>
                <a:ea typeface="Courier New" pitchFamily="34" charset="-122"/>
                <a:cs typeface="Courier New" pitchFamily="34" charset="-120"/>
              </a:rPr>
              <a:t>receivers:</a:t>
            </a:r>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[otlp], </a:t>
            </a:r>
            <a:pPr algn="l" indent="0" marL="0">
              <a:lnSpc>
                <a:spcPts val="1190"/>
              </a:lnSpc>
              <a:buNone/>
            </a:pPr>
            <a:r>
              <a:rPr lang="en-US" sz="870" dirty="0">
                <a:solidFill>
                  <a:srgbClr val="6FC7EE"/>
                </a:solidFill>
                <a:latin typeface="Courier New" pitchFamily="34" charset="0"/>
                <a:ea typeface="Courier New" pitchFamily="34" charset="-122"/>
                <a:cs typeface="Courier New" pitchFamily="34" charset="-120"/>
              </a:rPr>
              <a:t>processors:</a:t>
            </a:r>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[batch], </a:t>
            </a:r>
            <a:pPr algn="l" indent="0" marL="0">
              <a:lnSpc>
                <a:spcPts val="1190"/>
              </a:lnSpc>
              <a:buNone/>
            </a:pPr>
            <a:r>
              <a:rPr lang="en-US" sz="870" dirty="0">
                <a:solidFill>
                  <a:srgbClr val="6FC7EE"/>
                </a:solidFill>
                <a:latin typeface="Courier New" pitchFamily="34" charset="0"/>
                <a:ea typeface="Courier New" pitchFamily="34" charset="-122"/>
                <a:cs typeface="Courier New" pitchFamily="34" charset="-120"/>
              </a:rPr>
              <a:t>exporters:</a:t>
            </a:r>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[opensearch/moodle]}</a:t>
            </a:r>
            <a:endParaRPr lang="en-US" sz="870" dirty="0"/>
          </a:p>
        </p:txBody>
      </p:sp>
      <p:sp>
        <p:nvSpPr>
          <p:cNvPr id="8" name="Text 6"/>
          <p:cNvSpPr txBox="1"/>
          <p:nvPr/>
        </p:nvSpPr>
        <p:spPr>
          <a:xfrm>
            <a:off x="1863761" y="5547246"/>
            <a:ext cx="8521629" cy="234687"/>
          </a:xfrm>
          <a:prstGeom prst="rect">
            <a:avLst/>
          </a:prstGeom>
          <a:noFill/>
          <a:ln/>
        </p:spPr>
        <p:txBody>
          <a:bodyPr wrap="none" lIns="0" tIns="0" rIns="0" bIns="0" rtlCol="0" anchor="t"/>
          <a:lstStyle/>
          <a:p>
            <a:pPr algn="l" indent="0" marL="0">
              <a:lnSpc>
                <a:spcPts val="1840"/>
              </a:lnSpc>
              <a:buNone/>
            </a:pPr>
            <a:r>
              <a:rPr lang="en-US" sz="1220" dirty="0">
                <a:solidFill>
                  <a:srgbClr val="5A6D7A"/>
                </a:solidFill>
                <a:latin typeface="Arial" pitchFamily="34" charset="0"/>
                <a:ea typeface="Arial" pitchFamily="34" charset="-122"/>
                <a:cs typeface="Arial" pitchFamily="34" charset="-120"/>
              </a:rPr>
              <a:t>Restart the service with </a:t>
            </a:r>
            <a:pPr algn="l" indent="0" marL="0">
              <a:lnSpc>
                <a:spcPts val="1840"/>
              </a:lnSpc>
              <a:buNone/>
            </a:pPr>
            <a:r>
              <a:rPr lang="en-US" sz="1080" dirty="0">
                <a:solidFill>
                  <a:srgbClr val="5A6D7A"/>
                </a:solidFill>
                <a:highlight>
                  <a:srgbClr val="E1F0F7"/>
                </a:highlight>
                <a:latin typeface="Courier New" pitchFamily="34" charset="0"/>
                <a:ea typeface="Courier New" pitchFamily="34" charset="-122"/>
                <a:cs typeface="Courier New" pitchFamily="34" charset="-120"/>
              </a:rPr>
              <a:t>systemctl restart otelcol-contrib</a:t>
            </a:r>
            <a:pPr algn="l" indent="0" marL="0">
              <a:lnSpc>
                <a:spcPts val="1840"/>
              </a:lnSpc>
              <a:buNone/>
            </a:pPr>
            <a:r>
              <a:rPr lang="en-US" sz="1220" dirty="0">
                <a:solidFill>
                  <a:srgbClr val="5A6D7A"/>
                </a:solidFill>
                <a:latin typeface="Arial" pitchFamily="34" charset="0"/>
                <a:ea typeface="Arial" pitchFamily="34" charset="-122"/>
                <a:cs typeface="Arial" pitchFamily="34" charset="-120"/>
              </a:rPr>
              <a:t>. The OpenTelemetry Collector reads the file only at start.</a:t>
            </a:r>
            <a:endParaRPr lang="en-US" sz="1220" dirty="0"/>
          </a:p>
        </p:txBody>
      </p:sp>
      <p:sp>
        <p:nvSpPr>
          <p:cNvPr id="9" name="Text 7"/>
          <p:cNvSpPr txBox="1"/>
          <p:nvPr/>
        </p:nvSpPr>
        <p:spPr>
          <a:xfrm>
            <a:off x="647700" y="6465070"/>
            <a:ext cx="948928" cy="142875"/>
          </a:xfrm>
          <a:prstGeom prst="rect">
            <a:avLst/>
          </a:prstGeom>
          <a:noFill/>
          <a:ln/>
        </p:spPr>
        <p:txBody>
          <a:bodyPr wrap="none" lIns="0" tIns="0" rIns="0" bIns="0" rtlCol="0" anchor="t"/>
          <a:lstStyle/>
          <a:p>
            <a:pPr algn="l" indent="0" marL="0">
              <a:lnSpc>
                <a:spcPts val="910"/>
              </a:lnSpc>
              <a:buNone/>
            </a:pPr>
            <a:r>
              <a:rPr lang="en-US" sz="760" dirty="0">
                <a:solidFill>
                  <a:srgbClr val="8496A2"/>
                </a:solidFill>
                <a:latin typeface="Courier New" pitchFamily="34" charset="0"/>
                <a:ea typeface="Courier New" pitchFamily="34" charset="-122"/>
                <a:cs typeface="Courier New" pitchFamily="34" charset="-120"/>
              </a:rPr>
              <a:t>Walk-through</a:t>
            </a:r>
            <a:endParaRPr lang="en-US" sz="760" dirty="0"/>
          </a:p>
        </p:txBody>
      </p:sp>
      <p:sp>
        <p:nvSpPr>
          <p:cNvPr id="10" name="Text 8"/>
          <p:cNvSpPr txBox="1"/>
          <p:nvPr/>
        </p:nvSpPr>
        <p:spPr>
          <a:xfrm>
            <a:off x="11024146" y="6465070"/>
            <a:ext cx="577304" cy="142875"/>
          </a:xfrm>
          <a:prstGeom prst="rect">
            <a:avLst/>
          </a:prstGeom>
          <a:noFill/>
          <a:ln/>
        </p:spPr>
        <p:txBody>
          <a:bodyPr wrap="none" lIns="0" tIns="0" rIns="0" bIns="0" rtlCol="0" anchor="t"/>
          <a:lstStyle/>
          <a:p>
            <a:pPr algn="l" indent="0" marL="0">
              <a:lnSpc>
                <a:spcPts val="910"/>
              </a:lnSpc>
              <a:buNone/>
            </a:pPr>
            <a:r>
              <a:rPr lang="en-US" sz="760" dirty="0">
                <a:solidFill>
                  <a:srgbClr val="8496A2"/>
                </a:solidFill>
                <a:latin typeface="Courier New" pitchFamily="34" charset="0"/>
                <a:ea typeface="Courier New" pitchFamily="34" charset="-122"/>
                <a:cs typeface="Courier New" pitchFamily="34" charset="-120"/>
              </a:rPr>
              <a:t>23 / 39</a:t>
            </a:r>
            <a:endParaRPr lang="en-US" sz="760" dirty="0"/>
          </a:p>
        </p:txBody>
      </p:sp>
      <p:pic>
        <p:nvPicPr>
          <p:cNvPr id="900" name="NetSapiensis mark" descr="NetSapiensis"/>
          <p:cNvPicPr>
            <a:picLocks noChangeAspect="1"/>
          </p:cNvPicPr>
          <p:nvPr/>
        </p:nvPicPr>
        <p:blipFill>
          <a:blip r:embed="rId3"/>
          <a:stretch>
            <a:fillRect/>
          </a:stretch>
        </p:blipFill>
        <p:spPr>
          <a:xfrm>
            <a:off x="10776204" y="6419088"/>
            <a:ext cx="178308" cy="237744"/>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7700" y="1532186"/>
            <a:ext cx="10896600" cy="757238"/>
          </a:xfrm>
          <a:prstGeom prst="roundRect">
            <a:avLst>
              <a:gd name="adj" fmla="val 30379"/>
            </a:avLst>
          </a:prstGeom>
          <a:solidFill>
            <a:srgbClr val="0F2027"/>
          </a:solidFill>
          <a:ln/>
        </p:spPr>
      </p:sp>
      <p:sp>
        <p:nvSpPr>
          <p:cNvPr id="3" name="Shape 1"/>
          <p:cNvSpPr/>
          <p:nvPr/>
        </p:nvSpPr>
        <p:spPr>
          <a:xfrm>
            <a:off x="647700" y="3883075"/>
            <a:ext cx="10896600" cy="1171575"/>
          </a:xfrm>
          <a:prstGeom prst="roundRect">
            <a:avLst>
              <a:gd name="adj" fmla="val 12691"/>
            </a:avLst>
          </a:prstGeom>
          <a:solidFill>
            <a:srgbClr val="0F2027"/>
          </a:solidFill>
          <a:ln/>
        </p:spPr>
      </p:sp>
      <p:sp>
        <p:nvSpPr>
          <p:cNvPr id="4" name="Shape 2"/>
          <p:cNvSpPr/>
          <p:nvPr/>
        </p:nvSpPr>
        <p:spPr>
          <a:xfrm>
            <a:off x="647700" y="6343650"/>
            <a:ext cx="10896600" cy="0"/>
          </a:xfrm>
          <a:prstGeom prst="line">
            <a:avLst/>
          </a:prstGeom>
          <a:noFill/>
          <a:ln w="10160">
            <a:solidFill>
              <a:srgbClr val="CBD7DF"/>
            </a:solidFill>
            <a:prstDash val="solid"/>
          </a:ln>
        </p:spPr>
      </p:sp>
      <p:sp>
        <p:nvSpPr>
          <p:cNvPr id="5" name="Text 3"/>
          <p:cNvSpPr txBox="1"/>
          <p:nvPr/>
        </p:nvSpPr>
        <p:spPr>
          <a:xfrm>
            <a:off x="647700" y="511731"/>
            <a:ext cx="10953750" cy="185738"/>
          </a:xfrm>
          <a:prstGeom prst="rect">
            <a:avLst/>
          </a:prstGeom>
          <a:noFill/>
          <a:ln/>
        </p:spPr>
        <p:txBody>
          <a:bodyPr wrap="none" lIns="0" tIns="0" rIns="0" bIns="0" rtlCol="0" anchor="t"/>
          <a:lstStyle/>
          <a:p>
            <a:pPr algn="l" indent="0" marL="0">
              <a:lnSpc>
                <a:spcPts val="1460"/>
              </a:lnSpc>
              <a:buNone/>
            </a:pPr>
            <a:r>
              <a:rPr lang="en-US" sz="980" spc="160" kern="0" dirty="0">
                <a:solidFill>
                  <a:srgbClr val="0B6E99"/>
                </a:solidFill>
                <a:latin typeface="Courier New" pitchFamily="34" charset="0"/>
                <a:ea typeface="Courier New" pitchFamily="34" charset="-122"/>
                <a:cs typeface="Courier New" pitchFamily="34" charset="-120"/>
              </a:rPr>
              <a:t>STEP 9 OF 9</a:t>
            </a:r>
            <a:endParaRPr lang="en-US" sz="980" dirty="0"/>
          </a:p>
        </p:txBody>
      </p:sp>
      <p:sp>
        <p:nvSpPr>
          <p:cNvPr id="6" name="Text 4"/>
          <p:cNvSpPr txBox="1"/>
          <p:nvPr/>
        </p:nvSpPr>
        <p:spPr>
          <a:xfrm>
            <a:off x="647700" y="852488"/>
            <a:ext cx="10953750" cy="432054"/>
          </a:xfrm>
          <a:prstGeom prst="rect">
            <a:avLst/>
          </a:prstGeom>
          <a:noFill/>
          <a:ln/>
        </p:spPr>
        <p:txBody>
          <a:bodyPr wrap="none" lIns="0" tIns="0" rIns="0" bIns="0" rtlCol="0" anchor="t"/>
          <a:lstStyle/>
          <a:p>
            <a:pPr algn="l" indent="0" marL="0">
              <a:lnSpc>
                <a:spcPts val="3400"/>
              </a:lnSpc>
              <a:buNone/>
            </a:pPr>
            <a:r>
              <a:rPr lang="en-US" sz="3150" b="1" spc="-60" kern="0" dirty="0">
                <a:solidFill>
                  <a:srgbClr val="101A22"/>
                </a:solidFill>
                <a:latin typeface="Arial" pitchFamily="34" charset="0"/>
                <a:ea typeface="Arial" pitchFamily="34" charset="-122"/>
                <a:cs typeface="Arial" pitchFamily="34" charset="-120"/>
              </a:rPr>
              <a:t>Check with curl that the events have arrived in OpenSearch</a:t>
            </a:r>
            <a:endParaRPr lang="en-US" sz="3150" dirty="0"/>
          </a:p>
        </p:txBody>
      </p:sp>
      <p:sp>
        <p:nvSpPr>
          <p:cNvPr id="7" name="Text 5"/>
          <p:cNvSpPr txBox="1"/>
          <p:nvPr/>
        </p:nvSpPr>
        <p:spPr>
          <a:xfrm>
            <a:off x="857250" y="1682204"/>
            <a:ext cx="10534650" cy="414338"/>
          </a:xfrm>
          <a:prstGeom prst="rect">
            <a:avLst/>
          </a:prstGeom>
          <a:noFill/>
          <a:ln/>
        </p:spPr>
        <p:txBody>
          <a:bodyPr wrap="square" lIns="0" tIns="0" rIns="0" bIns="0" rtlCol="0" anchor="t"/>
          <a:lstStyle/>
          <a:p>
            <a:pPr algn="l" indent="0" marL="0">
              <a:lnSpc>
                <a:spcPts val="1630"/>
              </a:lnSpc>
              <a:buNone/>
            </a:pPr>
            <a:r>
              <a:rPr lang="en-US" sz="1130" dirty="0">
                <a:solidFill>
                  <a:srgbClr val="E4EDF2"/>
                </a:solidFill>
                <a:latin typeface="Courier New" pitchFamily="34" charset="0"/>
                <a:ea typeface="Courier New" pitchFamily="34" charset="-122"/>
                <a:cs typeface="Courier New" pitchFamily="34" charset="-120"/>
              </a:rPr>
              <a:t>curl -sk -u admin </a:t>
            </a:r>
            <a:pPr algn="l" indent="0" marL="0">
              <a:lnSpc>
                <a:spcPts val="1630"/>
              </a:lnSpc>
              <a:buNone/>
            </a:pPr>
            <a:r>
              <a:rPr lang="en-US" sz="1130" dirty="0">
                <a:solidFill>
                  <a:srgbClr val="F0C070"/>
                </a:solidFill>
                <a:latin typeface="Courier New" pitchFamily="34" charset="0"/>
                <a:ea typeface="Courier New" pitchFamily="34" charset="-122"/>
                <a:cs typeface="Courier New" pitchFamily="34" charset="-120"/>
              </a:rPr>
              <a:t>"https://opensearch1:9200/otel-v1-logs-*/_count"</a:t>
            </a:r>
            <a:pPr algn="l" indent="0" marL="0">
              <a:lnSpc>
                <a:spcPts val="1630"/>
              </a:lnSpc>
              <a:buNone/>
            </a:pPr>
            <a:r>
              <a:rPr lang="en-US" sz="1130" dirty="0">
                <a:solidFill>
                  <a:srgbClr val="E4EDF2"/>
                </a:solidFill>
                <a:latin typeface="Courier New" pitchFamily="34" charset="0"/>
                <a:ea typeface="Courier New" pitchFamily="34" charset="-122"/>
                <a:cs typeface="Courier New" pitchFamily="34" charset="-120"/>
              </a:rPr>
              <a:t> </a:t>
            </a:r>
            <a:endParaRPr lang="en-US" sz="1130" dirty="0"/>
          </a:p>
          <a:p>
            <a:pPr algn="l" indent="0" marL="0">
              <a:lnSpc>
                <a:spcPts val="1630"/>
              </a:lnSpc>
              <a:buNone/>
            </a:pPr>
            <a:r>
              <a:rPr lang="en-US" sz="1130" dirty="0">
                <a:solidFill>
                  <a:srgbClr val="E4EDF2"/>
                </a:solidFill>
                <a:latin typeface="Courier New" pitchFamily="34" charset="0"/>
                <a:ea typeface="Courier New" pitchFamily="34" charset="-122"/>
                <a:cs typeface="Courier New" pitchFamily="34" charset="-120"/>
              </a:rPr>
              <a:t>{"count":3145,...}</a:t>
            </a:r>
            <a:endParaRPr lang="en-US" sz="1130" dirty="0"/>
          </a:p>
        </p:txBody>
      </p:sp>
      <p:sp>
        <p:nvSpPr>
          <p:cNvPr id="8" name="Text 6"/>
          <p:cNvSpPr txBox="1"/>
          <p:nvPr/>
        </p:nvSpPr>
        <p:spPr>
          <a:xfrm>
            <a:off x="647700" y="2417534"/>
            <a:ext cx="10953750" cy="745927"/>
          </a:xfrm>
          <a:prstGeom prst="rect">
            <a:avLst/>
          </a:prstGeom>
          <a:noFill/>
          <a:ln/>
        </p:spPr>
        <p:txBody>
          <a:bodyPr wrap="square" lIns="0" tIns="0" rIns="0" bIns="0" rtlCol="0" anchor="t"/>
          <a:lstStyle/>
          <a:p>
            <a:pPr algn="l" indent="0" marL="0">
              <a:lnSpc>
                <a:spcPts val="2930"/>
              </a:lnSpc>
              <a:buNone/>
            </a:pPr>
            <a:r>
              <a:rPr lang="en-US" sz="1950" dirty="0">
                <a:solidFill>
                  <a:srgbClr val="5A6D7A"/>
                </a:solidFill>
                <a:latin typeface="Arial" pitchFamily="34" charset="0"/>
                <a:ea typeface="Arial" pitchFamily="34" charset="-122"/>
                <a:cs typeface="Arial" pitchFamily="34" charset="-120"/>
              </a:rPr>
              <a:t>The command asks for the admin password. The option </a:t>
            </a:r>
            <a:pPr algn="l" indent="0" marL="0">
              <a:lnSpc>
                <a:spcPts val="2930"/>
              </a:lnSpc>
              <a:buNone/>
            </a:pPr>
            <a:r>
              <a:rPr lang="en-US" sz="1720" dirty="0">
                <a:solidFill>
                  <a:srgbClr val="5A6D7A"/>
                </a:solidFill>
                <a:highlight>
                  <a:srgbClr val="E1F0F7"/>
                </a:highlight>
                <a:latin typeface="Courier New" pitchFamily="34" charset="0"/>
                <a:ea typeface="Courier New" pitchFamily="34" charset="-122"/>
                <a:cs typeface="Courier New" pitchFamily="34" charset="-120"/>
              </a:rPr>
              <a:t>-k</a:t>
            </a:r>
            <a:pPr algn="l" indent="0" marL="0">
              <a:lnSpc>
                <a:spcPts val="2930"/>
              </a:lnSpc>
              <a:buNone/>
            </a:pPr>
            <a:r>
              <a:rPr lang="en-US" sz="1950" dirty="0">
                <a:solidFill>
                  <a:srgbClr val="5A6D7A"/>
                </a:solidFill>
                <a:latin typeface="Arial" pitchFamily="34" charset="0"/>
                <a:ea typeface="Arial" pitchFamily="34" charset="-122"/>
                <a:cs typeface="Arial" pitchFamily="34" charset="-120"/>
              </a:rPr>
              <a:t> tells curl not to check the certificate of OpenSearch.</a:t>
            </a:r>
            <a:endParaRPr lang="en-US" sz="1950" dirty="0"/>
          </a:p>
        </p:txBody>
      </p:sp>
      <p:sp>
        <p:nvSpPr>
          <p:cNvPr id="9" name="Text 7"/>
          <p:cNvSpPr txBox="1"/>
          <p:nvPr/>
        </p:nvSpPr>
        <p:spPr>
          <a:xfrm>
            <a:off x="647700" y="3296811"/>
            <a:ext cx="10953750" cy="371475"/>
          </a:xfrm>
          <a:prstGeom prst="rect">
            <a:avLst/>
          </a:prstGeom>
          <a:noFill/>
          <a:ln/>
        </p:spPr>
        <p:txBody>
          <a:bodyPr wrap="none" lIns="0" tIns="0" rIns="0" bIns="0" rtlCol="0" anchor="t"/>
          <a:lstStyle/>
          <a:p>
            <a:pPr algn="l" indent="0" marL="0">
              <a:lnSpc>
                <a:spcPts val="2930"/>
              </a:lnSpc>
              <a:buNone/>
            </a:pPr>
            <a:r>
              <a:rPr lang="en-US" sz="1950" dirty="0">
                <a:solidFill>
                  <a:srgbClr val="5A6D7A"/>
                </a:solidFill>
                <a:latin typeface="Arial" pitchFamily="34" charset="0"/>
                <a:ea typeface="Arial" pitchFamily="34" charset="-122"/>
                <a:cs typeface="Arial" pitchFamily="34" charset="-120"/>
              </a:rPr>
              <a:t>If the count is 0, check these four places in this order, from OpenSearch back to PHP.</a:t>
            </a:r>
            <a:endParaRPr lang="en-US" sz="1950" dirty="0"/>
          </a:p>
        </p:txBody>
      </p:sp>
      <p:sp>
        <p:nvSpPr>
          <p:cNvPr id="10" name="Text 8"/>
          <p:cNvSpPr txBox="1"/>
          <p:nvPr/>
        </p:nvSpPr>
        <p:spPr>
          <a:xfrm>
            <a:off x="857250" y="4033093"/>
            <a:ext cx="10534650" cy="828675"/>
          </a:xfrm>
          <a:prstGeom prst="rect">
            <a:avLst/>
          </a:prstGeom>
          <a:noFill/>
          <a:ln/>
        </p:spPr>
        <p:txBody>
          <a:bodyPr wrap="square" lIns="0" tIns="0" rIns="0" bIns="0" rtlCol="0" anchor="t"/>
          <a:lstStyle/>
          <a:p>
            <a:pPr algn="l" indent="0" marL="0">
              <a:lnSpc>
                <a:spcPts val="1630"/>
              </a:lnSpc>
              <a:buNone/>
            </a:pPr>
            <a:r>
              <a:rPr lang="en-US" sz="1130" dirty="0">
                <a:solidFill>
                  <a:srgbClr val="E4EDF2"/>
                </a:solidFill>
                <a:latin typeface="Courier New" pitchFamily="34" charset="0"/>
                <a:ea typeface="Courier New" pitchFamily="34" charset="-122"/>
                <a:cs typeface="Courier New" pitchFamily="34" charset="-120"/>
              </a:rPr>
              <a:t>the index       </a:t>
            </a:r>
            <a:pPr algn="l" indent="0" marL="0">
              <a:lnSpc>
                <a:spcPts val="1630"/>
              </a:lnSpc>
              <a:buNone/>
            </a:pPr>
            <a:r>
              <a:rPr lang="en-US" sz="1130" dirty="0">
                <a:solidFill>
                  <a:srgbClr val="86A5B4"/>
                </a:solidFill>
                <a:latin typeface="Courier New" pitchFamily="34" charset="0"/>
                <a:ea typeface="Courier New" pitchFamily="34" charset="-122"/>
                <a:cs typeface="Courier New" pitchFamily="34" charset="-120"/>
              </a:rPr>
              <a:t>curl -sk -u admin "https://opensearch1:9200/_cat/indices/otel-*"</a:t>
            </a:r>
            <a:pPr algn="l" indent="0" marL="0">
              <a:lnSpc>
                <a:spcPts val="1630"/>
              </a:lnSpc>
              <a:buNone/>
            </a:pPr>
            <a:r>
              <a:rPr lang="en-US" sz="1130" dirty="0">
                <a:solidFill>
                  <a:srgbClr val="E4EDF2"/>
                </a:solidFill>
                <a:latin typeface="Courier New" pitchFamily="34" charset="0"/>
                <a:ea typeface="Courier New" pitchFamily="34" charset="-122"/>
                <a:cs typeface="Courier New" pitchFamily="34" charset="-120"/>
              </a:rPr>
              <a:t> </a:t>
            </a:r>
            <a:endParaRPr lang="en-US" sz="1130" dirty="0"/>
          </a:p>
          <a:p>
            <a:pPr algn="l" indent="0" marL="0">
              <a:lnSpc>
                <a:spcPts val="1630"/>
              </a:lnSpc>
              <a:buNone/>
            </a:pPr>
            <a:r>
              <a:rPr lang="en-US" sz="1130" dirty="0">
                <a:solidFill>
                  <a:srgbClr val="E4EDF2"/>
                </a:solidFill>
                <a:latin typeface="Courier New" pitchFamily="34" charset="0"/>
                <a:ea typeface="Courier New" pitchFamily="34" charset="-122"/>
                <a:cs typeface="Courier New" pitchFamily="34" charset="-120"/>
              </a:rPr>
              <a:t>the collector   </a:t>
            </a:r>
            <a:pPr algn="l" indent="0" marL="0">
              <a:lnSpc>
                <a:spcPts val="1630"/>
              </a:lnSpc>
              <a:buNone/>
            </a:pPr>
            <a:r>
              <a:rPr lang="en-US" sz="1130" dirty="0">
                <a:solidFill>
                  <a:srgbClr val="86A5B4"/>
                </a:solidFill>
                <a:latin typeface="Courier New" pitchFamily="34" charset="0"/>
                <a:ea typeface="Courier New" pitchFamily="34" charset="-122"/>
                <a:cs typeface="Courier New" pitchFamily="34" charset="-120"/>
              </a:rPr>
              <a:t>journalctl -u otelcol-contrib</a:t>
            </a:r>
            <a:pPr algn="l" indent="0" marL="0">
              <a:lnSpc>
                <a:spcPts val="1630"/>
              </a:lnSpc>
              <a:buNone/>
            </a:pPr>
            <a:r>
              <a:rPr lang="en-US" sz="1130" dirty="0">
                <a:solidFill>
                  <a:srgbClr val="E4EDF2"/>
                </a:solidFill>
                <a:latin typeface="Courier New" pitchFamily="34" charset="0"/>
                <a:ea typeface="Courier New" pitchFamily="34" charset="-122"/>
                <a:cs typeface="Courier New" pitchFamily="34" charset="-120"/>
              </a:rPr>
              <a:t> </a:t>
            </a:r>
            <a:endParaRPr lang="en-US" sz="1130" dirty="0"/>
          </a:p>
          <a:p>
            <a:pPr algn="l" indent="0" marL="0">
              <a:lnSpc>
                <a:spcPts val="1630"/>
              </a:lnSpc>
              <a:buNone/>
            </a:pPr>
            <a:r>
              <a:rPr lang="en-US" sz="1130" dirty="0">
                <a:solidFill>
                  <a:srgbClr val="E4EDF2"/>
                </a:solidFill>
                <a:latin typeface="Courier New" pitchFamily="34" charset="0"/>
                <a:ea typeface="Courier New" pitchFamily="34" charset="-122"/>
                <a:cs typeface="Courier New" pitchFamily="34" charset="-120"/>
              </a:rPr>
              <a:t>the variables   </a:t>
            </a:r>
            <a:pPr algn="l" indent="0" marL="0">
              <a:lnSpc>
                <a:spcPts val="1630"/>
              </a:lnSpc>
              <a:buNone/>
            </a:pPr>
            <a:r>
              <a:rPr lang="en-US" sz="1130" dirty="0">
                <a:solidFill>
                  <a:srgbClr val="86A5B4"/>
                </a:solidFill>
                <a:latin typeface="Courier New" pitchFamily="34" charset="0"/>
                <a:ea typeface="Courier New" pitchFamily="34" charset="-122"/>
                <a:cs typeface="Courier New" pitchFamily="34" charset="-120"/>
              </a:rPr>
              <a:t>grep OTEL_ /etc/php/8.3/fpm/pool.d/www.conf</a:t>
            </a:r>
            <a:pPr algn="l" indent="0" marL="0">
              <a:lnSpc>
                <a:spcPts val="1630"/>
              </a:lnSpc>
              <a:buNone/>
            </a:pPr>
            <a:r>
              <a:rPr lang="en-US" sz="1130" dirty="0">
                <a:solidFill>
                  <a:srgbClr val="E4EDF2"/>
                </a:solidFill>
                <a:latin typeface="Courier New" pitchFamily="34" charset="0"/>
                <a:ea typeface="Courier New" pitchFamily="34" charset="-122"/>
                <a:cs typeface="Courier New" pitchFamily="34" charset="-120"/>
              </a:rPr>
              <a:t> </a:t>
            </a:r>
            <a:endParaRPr lang="en-US" sz="1130" dirty="0"/>
          </a:p>
          <a:p>
            <a:pPr algn="l" indent="0" marL="0">
              <a:lnSpc>
                <a:spcPts val="1630"/>
              </a:lnSpc>
              <a:buNone/>
            </a:pPr>
            <a:r>
              <a:rPr lang="en-US" sz="1130" dirty="0">
                <a:solidFill>
                  <a:srgbClr val="E4EDF2"/>
                </a:solidFill>
                <a:latin typeface="Courier New" pitchFamily="34" charset="0"/>
                <a:ea typeface="Courier New" pitchFamily="34" charset="-122"/>
                <a:cs typeface="Courier New" pitchFamily="34" charset="-120"/>
              </a:rPr>
              <a:t>the extension   </a:t>
            </a:r>
            <a:pPr algn="l" indent="0" marL="0">
              <a:lnSpc>
                <a:spcPts val="1630"/>
              </a:lnSpc>
              <a:buNone/>
            </a:pPr>
            <a:r>
              <a:rPr lang="en-US" sz="1130" dirty="0">
                <a:solidFill>
                  <a:srgbClr val="86A5B4"/>
                </a:solidFill>
                <a:latin typeface="Courier New" pitchFamily="34" charset="0"/>
                <a:ea typeface="Courier New" pitchFamily="34" charset="-122"/>
                <a:cs typeface="Courier New" pitchFamily="34" charset="-120"/>
              </a:rPr>
              <a:t>php --ri opentelemetry</a:t>
            </a:r>
            <a:endParaRPr lang="en-US" sz="1130" dirty="0"/>
          </a:p>
        </p:txBody>
      </p:sp>
      <p:sp>
        <p:nvSpPr>
          <p:cNvPr id="11" name="Text 9"/>
          <p:cNvSpPr txBox="1"/>
          <p:nvPr/>
        </p:nvSpPr>
        <p:spPr>
          <a:xfrm>
            <a:off x="647700" y="6464379"/>
            <a:ext cx="948928" cy="148590"/>
          </a:xfrm>
          <a:prstGeom prst="rect">
            <a:avLst/>
          </a:prstGeom>
          <a:noFill/>
          <a:ln/>
        </p:spPr>
        <p:txBody>
          <a:bodyPr wrap="none" lIns="0" tIns="0" rIns="0" bIns="0" rtlCol="0" anchor="t"/>
          <a:lstStyle/>
          <a:p>
            <a:pPr algn="l" indent="0" marL="0">
              <a:lnSpc>
                <a:spcPts val="1170"/>
              </a:lnSpc>
              <a:buNone/>
            </a:pPr>
            <a:r>
              <a:rPr lang="en-US" sz="980" dirty="0">
                <a:solidFill>
                  <a:srgbClr val="8496A2"/>
                </a:solidFill>
                <a:latin typeface="Courier New" pitchFamily="34" charset="0"/>
                <a:ea typeface="Courier New" pitchFamily="34" charset="-122"/>
                <a:cs typeface="Courier New" pitchFamily="34" charset="-120"/>
              </a:rPr>
              <a:t>Walk-through</a:t>
            </a:r>
            <a:endParaRPr lang="en-US" sz="980" dirty="0"/>
          </a:p>
        </p:txBody>
      </p:sp>
      <p:sp>
        <p:nvSpPr>
          <p:cNvPr id="12" name="Text 10"/>
          <p:cNvSpPr txBox="1"/>
          <p:nvPr/>
        </p:nvSpPr>
        <p:spPr>
          <a:xfrm>
            <a:off x="11024146" y="6464379"/>
            <a:ext cx="577304" cy="148590"/>
          </a:xfrm>
          <a:prstGeom prst="rect">
            <a:avLst/>
          </a:prstGeom>
          <a:noFill/>
          <a:ln/>
        </p:spPr>
        <p:txBody>
          <a:bodyPr wrap="none" lIns="0" tIns="0" rIns="0" bIns="0" rtlCol="0" anchor="t"/>
          <a:lstStyle/>
          <a:p>
            <a:pPr algn="l" indent="0" marL="0">
              <a:lnSpc>
                <a:spcPts val="1170"/>
              </a:lnSpc>
              <a:buNone/>
            </a:pPr>
            <a:r>
              <a:rPr lang="en-US" sz="980" dirty="0">
                <a:solidFill>
                  <a:srgbClr val="8496A2"/>
                </a:solidFill>
                <a:latin typeface="Courier New" pitchFamily="34" charset="0"/>
                <a:ea typeface="Courier New" pitchFamily="34" charset="-122"/>
                <a:cs typeface="Courier New" pitchFamily="34" charset="-120"/>
              </a:rPr>
              <a:t>24 / 39</a:t>
            </a:r>
            <a:endParaRPr lang="en-US" sz="980" dirty="0"/>
          </a:p>
        </p:txBody>
      </p:sp>
      <p:pic>
        <p:nvPicPr>
          <p:cNvPr id="900" name="NetSapiensis mark" descr="NetSapiensis"/>
          <p:cNvPicPr>
            <a:picLocks noChangeAspect="1"/>
          </p:cNvPicPr>
          <p:nvPr/>
        </p:nvPicPr>
        <p:blipFill>
          <a:blip r:embed="rId3"/>
          <a:stretch>
            <a:fillRect/>
          </a:stretch>
        </p:blipFill>
        <p:spPr>
          <a:xfrm>
            <a:off x="10776204" y="6419088"/>
            <a:ext cx="178308" cy="237744"/>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101A22"/>
        </a:solidFill>
      </p:bgPr>
    </p:bg>
    <p:spTree>
      <p:nvGrpSpPr>
        <p:cNvPr id="1" name=""/>
        <p:cNvGrpSpPr/>
        <p:nvPr/>
      </p:nvGrpSpPr>
      <p:grpSpPr>
        <a:xfrm>
          <a:off x="0" y="0"/>
          <a:ext cx="0" cy="0"/>
          <a:chOff x="0" y="0"/>
          <a:chExt cx="0" cy="0"/>
        </a:xfrm>
      </p:grpSpPr>
      <p:sp>
        <p:nvSpPr>
          <p:cNvPr id="2" name="Shape 0"/>
          <p:cNvSpPr/>
          <p:nvPr/>
        </p:nvSpPr>
        <p:spPr>
          <a:xfrm>
            <a:off x="647700" y="6343650"/>
            <a:ext cx="10896600" cy="0"/>
          </a:xfrm>
          <a:prstGeom prst="line">
            <a:avLst/>
          </a:prstGeom>
          <a:noFill/>
          <a:ln w="10160">
            <a:solidFill>
              <a:srgbClr val="2A3B47"/>
            </a:solidFill>
            <a:prstDash val="solid"/>
          </a:ln>
        </p:spPr>
      </p:sp>
      <p:sp>
        <p:nvSpPr>
          <p:cNvPr id="3" name="Text 1"/>
          <p:cNvSpPr txBox="1"/>
          <p:nvPr/>
        </p:nvSpPr>
        <p:spPr>
          <a:xfrm>
            <a:off x="647700" y="2757785"/>
            <a:ext cx="10953750" cy="1151930"/>
          </a:xfrm>
          <a:prstGeom prst="rect">
            <a:avLst/>
          </a:prstGeom>
          <a:noFill/>
          <a:ln/>
        </p:spPr>
        <p:txBody>
          <a:bodyPr wrap="square" lIns="0" tIns="0" rIns="0" bIns="0" rtlCol="0" anchor="t"/>
          <a:lstStyle/>
          <a:p>
            <a:pPr algn="l" indent="0" marL="0">
              <a:lnSpc>
                <a:spcPts val="4540"/>
              </a:lnSpc>
              <a:buNone/>
            </a:pPr>
            <a:r>
              <a:rPr lang="en-US" sz="4200" b="1" spc="-80" kern="0" dirty="0">
                <a:solidFill>
                  <a:srgbClr val="FFFFFF"/>
                </a:solidFill>
                <a:latin typeface="Arial" pitchFamily="34" charset="0"/>
                <a:ea typeface="Arial" pitchFamily="34" charset="-122"/>
                <a:cs typeface="Arial" pitchFamily="34" charset="-120"/>
              </a:rPr>
              <a:t>You can search the events in OpenSearch and draw charts from them</a:t>
            </a:r>
            <a:endParaRPr lang="en-US" sz="4200" dirty="0"/>
          </a:p>
        </p:txBody>
      </p:sp>
      <p:sp>
        <p:nvSpPr>
          <p:cNvPr id="4" name="Text 2"/>
          <p:cNvSpPr txBox="1"/>
          <p:nvPr/>
        </p:nvSpPr>
        <p:spPr>
          <a:xfrm>
            <a:off x="647700" y="6464379"/>
            <a:ext cx="948928" cy="148590"/>
          </a:xfrm>
          <a:prstGeom prst="rect">
            <a:avLst/>
          </a:prstGeom>
          <a:noFill/>
          <a:ln/>
        </p:spPr>
        <p:txBody>
          <a:bodyPr wrap="none" lIns="0" tIns="0" rIns="0" bIns="0" rtlCol="0" anchor="t"/>
          <a:lstStyle/>
          <a:p>
            <a:pPr algn="l" indent="0" marL="0">
              <a:lnSpc>
                <a:spcPts val="1170"/>
              </a:lnSpc>
              <a:buNone/>
            </a:pPr>
            <a:r>
              <a:rPr lang="en-US" sz="980" dirty="0">
                <a:solidFill>
                  <a:srgbClr val="56707F"/>
                </a:solidFill>
                <a:latin typeface="Courier New" pitchFamily="34" charset="0"/>
                <a:ea typeface="Courier New" pitchFamily="34" charset="-122"/>
                <a:cs typeface="Courier New" pitchFamily="34" charset="-120"/>
              </a:rPr>
              <a:t>What you get</a:t>
            </a:r>
            <a:endParaRPr lang="en-US" sz="980" dirty="0"/>
          </a:p>
        </p:txBody>
      </p:sp>
      <p:sp>
        <p:nvSpPr>
          <p:cNvPr id="5" name="Text 3"/>
          <p:cNvSpPr txBox="1"/>
          <p:nvPr/>
        </p:nvSpPr>
        <p:spPr>
          <a:xfrm>
            <a:off x="11024146" y="6464379"/>
            <a:ext cx="577304" cy="148590"/>
          </a:xfrm>
          <a:prstGeom prst="rect">
            <a:avLst/>
          </a:prstGeom>
          <a:noFill/>
          <a:ln/>
        </p:spPr>
        <p:txBody>
          <a:bodyPr wrap="none" lIns="0" tIns="0" rIns="0" bIns="0" rtlCol="0" anchor="t"/>
          <a:lstStyle/>
          <a:p>
            <a:pPr algn="l" indent="0" marL="0">
              <a:lnSpc>
                <a:spcPts val="1170"/>
              </a:lnSpc>
              <a:buNone/>
            </a:pPr>
            <a:r>
              <a:rPr lang="en-US" sz="980" dirty="0">
                <a:solidFill>
                  <a:srgbClr val="56707F"/>
                </a:solidFill>
                <a:latin typeface="Courier New" pitchFamily="34" charset="0"/>
                <a:ea typeface="Courier New" pitchFamily="34" charset="-122"/>
                <a:cs typeface="Courier New" pitchFamily="34" charset="-120"/>
              </a:rPr>
              <a:t>25 / 39</a:t>
            </a:r>
            <a:endParaRPr lang="en-US" sz="980" dirty="0"/>
          </a:p>
        </p:txBody>
      </p:sp>
      <p:pic>
        <p:nvPicPr>
          <p:cNvPr id="900" name="NetSapiensis mark" descr="NetSapiensis"/>
          <p:cNvPicPr>
            <a:picLocks noChangeAspect="1"/>
          </p:cNvPicPr>
          <p:nvPr/>
        </p:nvPicPr>
        <p:blipFill>
          <a:blip r:embed="rId3"/>
          <a:stretch>
            <a:fillRect/>
          </a:stretch>
        </p:blipFill>
        <p:spPr>
          <a:xfrm>
            <a:off x="10776204" y="6419088"/>
            <a:ext cx="178308" cy="237744"/>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85800" y="2265611"/>
            <a:ext cx="85725" cy="85725"/>
          </a:xfrm>
          <a:prstGeom prst="roundRect">
            <a:avLst>
              <a:gd name="adj" fmla="val 474074"/>
            </a:avLst>
          </a:prstGeom>
          <a:solidFill>
            <a:srgbClr val="0B6E99"/>
          </a:solidFill>
          <a:ln/>
        </p:spPr>
      </p:sp>
      <p:sp>
        <p:nvSpPr>
          <p:cNvPr id="3" name="Shape 1"/>
          <p:cNvSpPr/>
          <p:nvPr/>
        </p:nvSpPr>
        <p:spPr>
          <a:xfrm>
            <a:off x="685800" y="2705546"/>
            <a:ext cx="85725" cy="85725"/>
          </a:xfrm>
          <a:prstGeom prst="roundRect">
            <a:avLst>
              <a:gd name="adj" fmla="val 474074"/>
            </a:avLst>
          </a:prstGeom>
          <a:solidFill>
            <a:srgbClr val="0B6E99"/>
          </a:solidFill>
          <a:ln/>
        </p:spPr>
      </p:sp>
      <p:sp>
        <p:nvSpPr>
          <p:cNvPr id="4" name="Shape 2"/>
          <p:cNvSpPr/>
          <p:nvPr/>
        </p:nvSpPr>
        <p:spPr>
          <a:xfrm>
            <a:off x="685800" y="3145482"/>
            <a:ext cx="85725" cy="85725"/>
          </a:xfrm>
          <a:prstGeom prst="roundRect">
            <a:avLst>
              <a:gd name="adj" fmla="val 474074"/>
            </a:avLst>
          </a:prstGeom>
          <a:solidFill>
            <a:srgbClr val="0B6E99"/>
          </a:solidFill>
          <a:ln/>
        </p:spPr>
      </p:sp>
      <p:sp>
        <p:nvSpPr>
          <p:cNvPr id="5" name="Shape 3"/>
          <p:cNvSpPr/>
          <p:nvPr/>
        </p:nvSpPr>
        <p:spPr>
          <a:xfrm>
            <a:off x="685800" y="3585418"/>
            <a:ext cx="85725" cy="85725"/>
          </a:xfrm>
          <a:prstGeom prst="roundRect">
            <a:avLst>
              <a:gd name="adj" fmla="val 474074"/>
            </a:avLst>
          </a:prstGeom>
          <a:solidFill>
            <a:srgbClr val="0B6E99"/>
          </a:solidFill>
          <a:ln/>
        </p:spPr>
      </p:sp>
      <p:sp>
        <p:nvSpPr>
          <p:cNvPr id="6" name="Shape 4"/>
          <p:cNvSpPr/>
          <p:nvPr/>
        </p:nvSpPr>
        <p:spPr>
          <a:xfrm>
            <a:off x="685800" y="4025354"/>
            <a:ext cx="85725" cy="85725"/>
          </a:xfrm>
          <a:prstGeom prst="roundRect">
            <a:avLst>
              <a:gd name="adj" fmla="val 474074"/>
            </a:avLst>
          </a:prstGeom>
          <a:solidFill>
            <a:srgbClr val="0B6E99"/>
          </a:solidFill>
          <a:ln/>
        </p:spPr>
      </p:sp>
      <p:sp>
        <p:nvSpPr>
          <p:cNvPr id="7" name="Shape 5"/>
          <p:cNvSpPr/>
          <p:nvPr/>
        </p:nvSpPr>
        <p:spPr>
          <a:xfrm>
            <a:off x="647700" y="6343650"/>
            <a:ext cx="10896600" cy="0"/>
          </a:xfrm>
          <a:prstGeom prst="line">
            <a:avLst/>
          </a:prstGeom>
          <a:noFill/>
          <a:ln w="10160">
            <a:solidFill>
              <a:srgbClr val="CBD7DF"/>
            </a:solidFill>
            <a:prstDash val="solid"/>
          </a:ln>
        </p:spPr>
      </p:sp>
      <p:sp>
        <p:nvSpPr>
          <p:cNvPr id="8" name="Text 6"/>
          <p:cNvSpPr txBox="1"/>
          <p:nvPr/>
        </p:nvSpPr>
        <p:spPr>
          <a:xfrm>
            <a:off x="647700" y="511731"/>
            <a:ext cx="10953750" cy="185738"/>
          </a:xfrm>
          <a:prstGeom prst="rect">
            <a:avLst/>
          </a:prstGeom>
          <a:noFill/>
          <a:ln/>
        </p:spPr>
        <p:txBody>
          <a:bodyPr wrap="none" lIns="0" tIns="0" rIns="0" bIns="0" rtlCol="0" anchor="t"/>
          <a:lstStyle/>
          <a:p>
            <a:pPr algn="l" indent="0" marL="0">
              <a:lnSpc>
                <a:spcPts val="1460"/>
              </a:lnSpc>
              <a:buNone/>
            </a:pPr>
            <a:r>
              <a:rPr lang="en-US" sz="980" spc="160" kern="0" dirty="0">
                <a:solidFill>
                  <a:srgbClr val="0B6E99"/>
                </a:solidFill>
                <a:latin typeface="Courier New" pitchFamily="34" charset="0"/>
                <a:ea typeface="Courier New" pitchFamily="34" charset="-122"/>
                <a:cs typeface="Courier New" pitchFamily="34" charset="-120"/>
              </a:rPr>
              <a:t>WHAT YOU GET</a:t>
            </a:r>
            <a:endParaRPr lang="en-US" sz="980" dirty="0"/>
          </a:p>
        </p:txBody>
      </p:sp>
      <p:sp>
        <p:nvSpPr>
          <p:cNvPr id="9" name="Text 7"/>
          <p:cNvSpPr txBox="1"/>
          <p:nvPr/>
        </p:nvSpPr>
        <p:spPr>
          <a:xfrm>
            <a:off x="647700" y="852488"/>
            <a:ext cx="10953750" cy="432054"/>
          </a:xfrm>
          <a:prstGeom prst="rect">
            <a:avLst/>
          </a:prstGeom>
          <a:noFill/>
          <a:ln/>
        </p:spPr>
        <p:txBody>
          <a:bodyPr wrap="none" lIns="0" tIns="0" rIns="0" bIns="0" rtlCol="0" anchor="t"/>
          <a:lstStyle/>
          <a:p>
            <a:pPr algn="l" indent="0" marL="0">
              <a:lnSpc>
                <a:spcPts val="3400"/>
              </a:lnSpc>
              <a:buNone/>
            </a:pPr>
            <a:r>
              <a:rPr lang="en-US" sz="3150" b="1" spc="-60" kern="0" dirty="0">
                <a:solidFill>
                  <a:srgbClr val="101A22"/>
                </a:solidFill>
                <a:latin typeface="Arial" pitchFamily="34" charset="0"/>
                <a:ea typeface="Arial" pitchFamily="34" charset="-122"/>
                <a:cs typeface="Arial" pitchFamily="34" charset="-120"/>
              </a:rPr>
              <a:t>OpenSearch receives every Moodle event</a:t>
            </a:r>
            <a:endParaRPr lang="en-US" sz="3150" dirty="0"/>
          </a:p>
        </p:txBody>
      </p:sp>
      <p:sp>
        <p:nvSpPr>
          <p:cNvPr id="10" name="Text 8"/>
          <p:cNvSpPr txBox="1"/>
          <p:nvPr/>
        </p:nvSpPr>
        <p:spPr>
          <a:xfrm>
            <a:off x="647700" y="1488847"/>
            <a:ext cx="10953750" cy="371475"/>
          </a:xfrm>
          <a:prstGeom prst="rect">
            <a:avLst/>
          </a:prstGeom>
          <a:noFill/>
          <a:ln/>
        </p:spPr>
        <p:txBody>
          <a:bodyPr wrap="none" lIns="0" tIns="0" rIns="0" bIns="0" rtlCol="0" anchor="t"/>
          <a:lstStyle/>
          <a:p>
            <a:pPr algn="l" indent="0" marL="0">
              <a:lnSpc>
                <a:spcPts val="2930"/>
              </a:lnSpc>
              <a:buNone/>
            </a:pPr>
            <a:r>
              <a:rPr lang="en-US" sz="1950" dirty="0">
                <a:solidFill>
                  <a:srgbClr val="5A6D7A"/>
                </a:solidFill>
                <a:latin typeface="Arial" pitchFamily="34" charset="0"/>
                <a:ea typeface="Arial" pitchFamily="34" charset="-122"/>
                <a:cs typeface="Arial" pitchFamily="34" charset="-120"/>
              </a:rPr>
              <a:t>Here are five examples of the events that Moodle records.</a:t>
            </a:r>
            <a:endParaRPr lang="en-US" sz="1950" dirty="0"/>
          </a:p>
        </p:txBody>
      </p:sp>
      <p:sp>
        <p:nvSpPr>
          <p:cNvPr id="11" name="Text 9"/>
          <p:cNvSpPr txBox="1"/>
          <p:nvPr/>
        </p:nvSpPr>
        <p:spPr>
          <a:xfrm>
            <a:off x="933450" y="2123926"/>
            <a:ext cx="10668000" cy="306705"/>
          </a:xfrm>
          <a:prstGeom prst="rect">
            <a:avLst/>
          </a:prstGeom>
          <a:noFill/>
          <a:ln/>
        </p:spPr>
        <p:txBody>
          <a:bodyPr wrap="none" lIns="0" tIns="0" rIns="0" bIns="0" rtlCol="0" anchor="t"/>
          <a:lstStyle/>
          <a:p>
            <a:pPr algn="l" indent="0" marL="0">
              <a:lnSpc>
                <a:spcPts val="2420"/>
              </a:lnSpc>
              <a:buNone/>
            </a:pPr>
            <a:r>
              <a:rPr lang="en-US" sz="1730" dirty="0">
                <a:solidFill>
                  <a:srgbClr val="101A22"/>
                </a:solidFill>
                <a:latin typeface="Arial" pitchFamily="34" charset="0"/>
                <a:ea typeface="Arial" pitchFamily="34" charset="-122"/>
                <a:cs typeface="Arial" pitchFamily="34" charset="-120"/>
              </a:rPr>
              <a:t>Moodle records </a:t>
            </a:r>
            <a:pPr algn="l" indent="0" marL="0">
              <a:lnSpc>
                <a:spcPts val="2420"/>
              </a:lnSpc>
              <a:buNone/>
            </a:pPr>
            <a:r>
              <a:rPr lang="en-US" sz="1730" b="1" dirty="0">
                <a:solidFill>
                  <a:srgbClr val="101A22"/>
                </a:solidFill>
                <a:latin typeface="Arial" pitchFamily="34" charset="0"/>
                <a:ea typeface="Arial" pitchFamily="34" charset="-122"/>
                <a:cs typeface="Arial" pitchFamily="34" charset="-120"/>
              </a:rPr>
              <a:t>every login</a:t>
            </a:r>
            <a:pPr algn="l" indent="0" marL="0">
              <a:lnSpc>
                <a:spcPts val="2420"/>
              </a:lnSpc>
              <a:buNone/>
            </a:pPr>
            <a:r>
              <a:rPr lang="en-US" sz="1730" dirty="0">
                <a:solidFill>
                  <a:srgbClr val="101A22"/>
                </a:solidFill>
                <a:latin typeface="Arial" pitchFamily="34" charset="0"/>
                <a:ea typeface="Arial" pitchFamily="34" charset="-122"/>
                <a:cs typeface="Arial" pitchFamily="34" charset="-120"/>
              </a:rPr>
              <a:t>. For a failed login, the record also has the user name that was tried.</a:t>
            </a:r>
            <a:endParaRPr lang="en-US" sz="1730" dirty="0"/>
          </a:p>
        </p:txBody>
      </p:sp>
      <p:sp>
        <p:nvSpPr>
          <p:cNvPr id="12" name="Text 10"/>
          <p:cNvSpPr txBox="1"/>
          <p:nvPr/>
        </p:nvSpPr>
        <p:spPr>
          <a:xfrm>
            <a:off x="933450" y="2563862"/>
            <a:ext cx="10668000" cy="306705"/>
          </a:xfrm>
          <a:prstGeom prst="rect">
            <a:avLst/>
          </a:prstGeom>
          <a:noFill/>
          <a:ln/>
        </p:spPr>
        <p:txBody>
          <a:bodyPr wrap="none" lIns="0" tIns="0" rIns="0" bIns="0" rtlCol="0" anchor="t"/>
          <a:lstStyle/>
          <a:p>
            <a:pPr algn="l" indent="0" marL="0">
              <a:lnSpc>
                <a:spcPts val="2420"/>
              </a:lnSpc>
              <a:buNone/>
            </a:pPr>
            <a:r>
              <a:rPr lang="en-US" sz="1730" dirty="0">
                <a:solidFill>
                  <a:srgbClr val="101A22"/>
                </a:solidFill>
                <a:latin typeface="Arial" pitchFamily="34" charset="0"/>
                <a:ea typeface="Arial" pitchFamily="34" charset="-122"/>
                <a:cs typeface="Arial" pitchFamily="34" charset="-120"/>
              </a:rPr>
              <a:t>Moodle records </a:t>
            </a:r>
            <a:pPr algn="l" indent="0" marL="0">
              <a:lnSpc>
                <a:spcPts val="2420"/>
              </a:lnSpc>
              <a:buNone/>
            </a:pPr>
            <a:r>
              <a:rPr lang="en-US" sz="1730" b="1" dirty="0">
                <a:solidFill>
                  <a:srgbClr val="101A22"/>
                </a:solidFill>
                <a:latin typeface="Arial" pitchFamily="34" charset="0"/>
                <a:ea typeface="Arial" pitchFamily="34" charset="-122"/>
                <a:cs typeface="Arial" pitchFamily="34" charset="-120"/>
              </a:rPr>
              <a:t>every view of a course or an activity</a:t>
            </a:r>
            <a:pPr algn="l" indent="0" marL="0">
              <a:lnSpc>
                <a:spcPts val="2420"/>
              </a:lnSpc>
              <a:buNone/>
            </a:pPr>
            <a:r>
              <a:rPr lang="en-US" sz="1730" dirty="0">
                <a:solidFill>
                  <a:srgbClr val="101A22"/>
                </a:solidFill>
                <a:latin typeface="Arial" pitchFamily="34" charset="0"/>
                <a:ea typeface="Arial" pitchFamily="34" charset="-122"/>
                <a:cs typeface="Arial" pitchFamily="34" charset="-120"/>
              </a:rPr>
              <a:t>. The record shows who viewed it.</a:t>
            </a:r>
            <a:endParaRPr lang="en-US" sz="1730" dirty="0"/>
          </a:p>
        </p:txBody>
      </p:sp>
      <p:sp>
        <p:nvSpPr>
          <p:cNvPr id="13" name="Text 11"/>
          <p:cNvSpPr txBox="1"/>
          <p:nvPr/>
        </p:nvSpPr>
        <p:spPr>
          <a:xfrm>
            <a:off x="933450" y="3003798"/>
            <a:ext cx="10668000" cy="306705"/>
          </a:xfrm>
          <a:prstGeom prst="rect">
            <a:avLst/>
          </a:prstGeom>
          <a:noFill/>
          <a:ln/>
        </p:spPr>
        <p:txBody>
          <a:bodyPr wrap="none" lIns="0" tIns="0" rIns="0" bIns="0" rtlCol="0" anchor="t"/>
          <a:lstStyle/>
          <a:p>
            <a:pPr algn="l" indent="0" marL="0">
              <a:lnSpc>
                <a:spcPts val="2420"/>
              </a:lnSpc>
              <a:buNone/>
            </a:pPr>
            <a:r>
              <a:rPr lang="en-US" sz="1730" dirty="0">
                <a:solidFill>
                  <a:srgbClr val="101A22"/>
                </a:solidFill>
                <a:latin typeface="Arial" pitchFamily="34" charset="0"/>
                <a:ea typeface="Arial" pitchFamily="34" charset="-122"/>
                <a:cs typeface="Arial" pitchFamily="34" charset="-120"/>
              </a:rPr>
              <a:t>Moodle records </a:t>
            </a:r>
            <a:pPr algn="l" indent="0" marL="0">
              <a:lnSpc>
                <a:spcPts val="2420"/>
              </a:lnSpc>
              <a:buNone/>
            </a:pPr>
            <a:r>
              <a:rPr lang="en-US" sz="1730" b="1" dirty="0">
                <a:solidFill>
                  <a:srgbClr val="101A22"/>
                </a:solidFill>
                <a:latin typeface="Arial" pitchFamily="34" charset="0"/>
                <a:ea typeface="Arial" pitchFamily="34" charset="-122"/>
                <a:cs typeface="Arial" pitchFamily="34" charset="-120"/>
              </a:rPr>
              <a:t>every create, update and delete</a:t>
            </a:r>
            <a:pPr algn="l" indent="0" marL="0">
              <a:lnSpc>
                <a:spcPts val="2420"/>
              </a:lnSpc>
              <a:buNone/>
            </a:pPr>
            <a:r>
              <a:rPr lang="en-US" sz="1730" dirty="0">
                <a:solidFill>
                  <a:srgbClr val="101A22"/>
                </a:solidFill>
                <a:latin typeface="Arial" pitchFamily="34" charset="0"/>
                <a:ea typeface="Arial" pitchFamily="34" charset="-122"/>
                <a:cs typeface="Arial" pitchFamily="34" charset="-120"/>
              </a:rPr>
              <a:t>, such as an enrolment, a grade or an upload.</a:t>
            </a:r>
            <a:endParaRPr lang="en-US" sz="1730" dirty="0"/>
          </a:p>
        </p:txBody>
      </p:sp>
      <p:sp>
        <p:nvSpPr>
          <p:cNvPr id="14" name="Text 12"/>
          <p:cNvSpPr txBox="1"/>
          <p:nvPr/>
        </p:nvSpPr>
        <p:spPr>
          <a:xfrm>
            <a:off x="933450" y="3443734"/>
            <a:ext cx="10668000" cy="306705"/>
          </a:xfrm>
          <a:prstGeom prst="rect">
            <a:avLst/>
          </a:prstGeom>
          <a:noFill/>
          <a:ln/>
        </p:spPr>
        <p:txBody>
          <a:bodyPr wrap="none" lIns="0" tIns="0" rIns="0" bIns="0" rtlCol="0" anchor="t"/>
          <a:lstStyle/>
          <a:p>
            <a:pPr algn="l" indent="0" marL="0">
              <a:lnSpc>
                <a:spcPts val="2420"/>
              </a:lnSpc>
              <a:buNone/>
            </a:pPr>
            <a:r>
              <a:rPr lang="en-US" sz="1730" dirty="0">
                <a:solidFill>
                  <a:srgbClr val="101A22"/>
                </a:solidFill>
                <a:latin typeface="Arial" pitchFamily="34" charset="0"/>
                <a:ea typeface="Arial" pitchFamily="34" charset="-122"/>
                <a:cs typeface="Arial" pitchFamily="34" charset="-120"/>
              </a:rPr>
              <a:t>Moodle records </a:t>
            </a:r>
            <a:pPr algn="l" indent="0" marL="0">
              <a:lnSpc>
                <a:spcPts val="2420"/>
              </a:lnSpc>
              <a:buNone/>
            </a:pPr>
            <a:r>
              <a:rPr lang="en-US" sz="1730" b="1" dirty="0">
                <a:solidFill>
                  <a:srgbClr val="101A22"/>
                </a:solidFill>
                <a:latin typeface="Arial" pitchFamily="34" charset="0"/>
                <a:ea typeface="Arial" pitchFamily="34" charset="-122"/>
                <a:cs typeface="Arial" pitchFamily="34" charset="-120"/>
              </a:rPr>
              <a:t>every role change and every permission change</a:t>
            </a:r>
            <a:pPr algn="l" indent="0" marL="0">
              <a:lnSpc>
                <a:spcPts val="2420"/>
              </a:lnSpc>
              <a:buNone/>
            </a:pPr>
            <a:r>
              <a:rPr lang="en-US" sz="1730" dirty="0">
                <a:solidFill>
                  <a:srgbClr val="101A22"/>
                </a:solidFill>
                <a:latin typeface="Arial" pitchFamily="34" charset="0"/>
                <a:ea typeface="Arial" pitchFamily="34" charset="-122"/>
                <a:cs typeface="Arial" pitchFamily="34" charset="-120"/>
              </a:rPr>
              <a:t>, and that gives you an audit trail.</a:t>
            </a:r>
            <a:endParaRPr lang="en-US" sz="1730" dirty="0"/>
          </a:p>
        </p:txBody>
      </p:sp>
      <p:sp>
        <p:nvSpPr>
          <p:cNvPr id="15" name="Text 13"/>
          <p:cNvSpPr txBox="1"/>
          <p:nvPr/>
        </p:nvSpPr>
        <p:spPr>
          <a:xfrm>
            <a:off x="933450" y="3883670"/>
            <a:ext cx="10668000" cy="306705"/>
          </a:xfrm>
          <a:prstGeom prst="rect">
            <a:avLst/>
          </a:prstGeom>
          <a:noFill/>
          <a:ln/>
        </p:spPr>
        <p:txBody>
          <a:bodyPr wrap="none" lIns="0" tIns="0" rIns="0" bIns="0" rtlCol="0" anchor="t"/>
          <a:lstStyle/>
          <a:p>
            <a:pPr algn="l" indent="0" marL="0">
              <a:lnSpc>
                <a:spcPts val="2420"/>
              </a:lnSpc>
              <a:buNone/>
            </a:pPr>
            <a:r>
              <a:rPr lang="en-US" sz="1730" dirty="0">
                <a:solidFill>
                  <a:srgbClr val="101A22"/>
                </a:solidFill>
                <a:latin typeface="Arial" pitchFamily="34" charset="0"/>
                <a:ea typeface="Arial" pitchFamily="34" charset="-122"/>
                <a:cs typeface="Arial" pitchFamily="34" charset="-120"/>
              </a:rPr>
              <a:t>Moodle records </a:t>
            </a:r>
            <a:pPr algn="l" indent="0" marL="0">
              <a:lnSpc>
                <a:spcPts val="2420"/>
              </a:lnSpc>
              <a:buNone/>
            </a:pPr>
            <a:r>
              <a:rPr lang="en-US" sz="1730" b="1" dirty="0">
                <a:solidFill>
                  <a:srgbClr val="101A22"/>
                </a:solidFill>
                <a:latin typeface="Arial" pitchFamily="34" charset="0"/>
                <a:ea typeface="Arial" pitchFamily="34" charset="-122"/>
                <a:cs typeface="Arial" pitchFamily="34" charset="-120"/>
              </a:rPr>
              <a:t>some failures</a:t>
            </a:r>
            <a:pPr algn="l" indent="0" marL="0">
              <a:lnSpc>
                <a:spcPts val="2420"/>
              </a:lnSpc>
              <a:buNone/>
            </a:pPr>
            <a:r>
              <a:rPr lang="en-US" sz="1730" dirty="0">
                <a:solidFill>
                  <a:srgbClr val="101A22"/>
                </a:solidFill>
                <a:latin typeface="Arial" pitchFamily="34" charset="0"/>
                <a:ea typeface="Arial" pitchFamily="34" charset="-122"/>
                <a:cs typeface="Arial" pitchFamily="34" charset="-120"/>
              </a:rPr>
              <a:t>, such as an email that it could not send.</a:t>
            </a:r>
            <a:endParaRPr lang="en-US" sz="1730" dirty="0"/>
          </a:p>
        </p:txBody>
      </p:sp>
      <p:sp>
        <p:nvSpPr>
          <p:cNvPr id="16" name="Text 14"/>
          <p:cNvSpPr txBox="1"/>
          <p:nvPr/>
        </p:nvSpPr>
        <p:spPr>
          <a:xfrm>
            <a:off x="647700" y="6464379"/>
            <a:ext cx="948928" cy="148590"/>
          </a:xfrm>
          <a:prstGeom prst="rect">
            <a:avLst/>
          </a:prstGeom>
          <a:noFill/>
          <a:ln/>
        </p:spPr>
        <p:txBody>
          <a:bodyPr wrap="none" lIns="0" tIns="0" rIns="0" bIns="0" rtlCol="0" anchor="t"/>
          <a:lstStyle/>
          <a:p>
            <a:pPr algn="l" indent="0" marL="0">
              <a:lnSpc>
                <a:spcPts val="1170"/>
              </a:lnSpc>
              <a:buNone/>
            </a:pPr>
            <a:r>
              <a:rPr lang="en-US" sz="980" dirty="0">
                <a:solidFill>
                  <a:srgbClr val="8496A2"/>
                </a:solidFill>
                <a:latin typeface="Courier New" pitchFamily="34" charset="0"/>
                <a:ea typeface="Courier New" pitchFamily="34" charset="-122"/>
                <a:cs typeface="Courier New" pitchFamily="34" charset="-120"/>
              </a:rPr>
              <a:t>What you get</a:t>
            </a:r>
            <a:endParaRPr lang="en-US" sz="980" dirty="0"/>
          </a:p>
        </p:txBody>
      </p:sp>
      <p:sp>
        <p:nvSpPr>
          <p:cNvPr id="17" name="Text 15"/>
          <p:cNvSpPr txBox="1"/>
          <p:nvPr/>
        </p:nvSpPr>
        <p:spPr>
          <a:xfrm>
            <a:off x="11024146" y="6464379"/>
            <a:ext cx="577304" cy="148590"/>
          </a:xfrm>
          <a:prstGeom prst="rect">
            <a:avLst/>
          </a:prstGeom>
          <a:noFill/>
          <a:ln/>
        </p:spPr>
        <p:txBody>
          <a:bodyPr wrap="none" lIns="0" tIns="0" rIns="0" bIns="0" rtlCol="0" anchor="t"/>
          <a:lstStyle/>
          <a:p>
            <a:pPr algn="l" indent="0" marL="0">
              <a:lnSpc>
                <a:spcPts val="1170"/>
              </a:lnSpc>
              <a:buNone/>
            </a:pPr>
            <a:r>
              <a:rPr lang="en-US" sz="980" dirty="0">
                <a:solidFill>
                  <a:srgbClr val="8496A2"/>
                </a:solidFill>
                <a:latin typeface="Courier New" pitchFamily="34" charset="0"/>
                <a:ea typeface="Courier New" pitchFamily="34" charset="-122"/>
                <a:cs typeface="Courier New" pitchFamily="34" charset="-120"/>
              </a:rPr>
              <a:t>26 / 39</a:t>
            </a:r>
            <a:endParaRPr lang="en-US" sz="980" dirty="0"/>
          </a:p>
        </p:txBody>
      </p:sp>
      <p:pic>
        <p:nvPicPr>
          <p:cNvPr id="900" name="NetSapiensis mark" descr="NetSapiensis"/>
          <p:cNvPicPr>
            <a:picLocks noChangeAspect="1"/>
          </p:cNvPicPr>
          <p:nvPr/>
        </p:nvPicPr>
        <p:blipFill>
          <a:blip r:embed="rId3"/>
          <a:stretch>
            <a:fillRect/>
          </a:stretch>
        </p:blipFill>
        <p:spPr>
          <a:xfrm>
            <a:off x="10776204" y="6419088"/>
            <a:ext cx="178308" cy="237744"/>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02977" y="2105200"/>
            <a:ext cx="10586047" cy="936921"/>
          </a:xfrm>
          <a:prstGeom prst="roundRect">
            <a:avLst>
              <a:gd name="adj" fmla="val 19288"/>
            </a:avLst>
          </a:prstGeom>
          <a:solidFill>
            <a:srgbClr val="0F2027"/>
          </a:solidFill>
          <a:ln/>
        </p:spPr>
      </p:sp>
      <p:sp>
        <p:nvSpPr>
          <p:cNvPr id="3" name="Shape 1"/>
          <p:cNvSpPr/>
          <p:nvPr/>
        </p:nvSpPr>
        <p:spPr>
          <a:xfrm>
            <a:off x="802977" y="3699122"/>
            <a:ext cx="10586047" cy="1943243"/>
          </a:xfrm>
          <a:prstGeom prst="roundRect">
            <a:avLst>
              <a:gd name="adj" fmla="val 4484"/>
            </a:avLst>
          </a:prstGeom>
          <a:solidFill>
            <a:srgbClr val="0F2027"/>
          </a:solidFill>
          <a:ln/>
        </p:spPr>
      </p:sp>
      <p:sp>
        <p:nvSpPr>
          <p:cNvPr id="4" name="Shape 2"/>
          <p:cNvSpPr/>
          <p:nvPr/>
        </p:nvSpPr>
        <p:spPr>
          <a:xfrm>
            <a:off x="647700" y="6343650"/>
            <a:ext cx="10896600" cy="0"/>
          </a:xfrm>
          <a:prstGeom prst="line">
            <a:avLst/>
          </a:prstGeom>
          <a:noFill/>
          <a:ln w="8890">
            <a:solidFill>
              <a:srgbClr val="CBD7DF"/>
            </a:solidFill>
            <a:prstDash val="solid"/>
          </a:ln>
        </p:spPr>
      </p:sp>
      <p:sp>
        <p:nvSpPr>
          <p:cNvPr id="5" name="Text 3"/>
          <p:cNvSpPr txBox="1"/>
          <p:nvPr/>
        </p:nvSpPr>
        <p:spPr>
          <a:xfrm>
            <a:off x="802977" y="512337"/>
            <a:ext cx="10643197" cy="180537"/>
          </a:xfrm>
          <a:prstGeom prst="rect">
            <a:avLst/>
          </a:prstGeom>
          <a:noFill/>
          <a:ln/>
        </p:spPr>
        <p:txBody>
          <a:bodyPr wrap="none" lIns="0" tIns="0" rIns="0" bIns="0" rtlCol="0" anchor="t"/>
          <a:lstStyle/>
          <a:p>
            <a:pPr algn="l" indent="0" marL="0">
              <a:lnSpc>
                <a:spcPts val="1420"/>
              </a:lnSpc>
              <a:buNone/>
            </a:pPr>
            <a:r>
              <a:rPr lang="en-US" sz="950" spc="150" kern="0" dirty="0">
                <a:solidFill>
                  <a:srgbClr val="0B6E99"/>
                </a:solidFill>
                <a:latin typeface="Courier New" pitchFamily="34" charset="0"/>
                <a:ea typeface="Courier New" pitchFamily="34" charset="-122"/>
                <a:cs typeface="Courier New" pitchFamily="34" charset="-120"/>
              </a:rPr>
              <a:t>WHAT YOU GET</a:t>
            </a:r>
            <a:endParaRPr lang="en-US" sz="950" dirty="0"/>
          </a:p>
        </p:txBody>
      </p:sp>
      <p:sp>
        <p:nvSpPr>
          <p:cNvPr id="6" name="Text 4"/>
          <p:cNvSpPr txBox="1"/>
          <p:nvPr/>
        </p:nvSpPr>
        <p:spPr>
          <a:xfrm>
            <a:off x="802977" y="843394"/>
            <a:ext cx="10643197" cy="419956"/>
          </a:xfrm>
          <a:prstGeom prst="rect">
            <a:avLst/>
          </a:prstGeom>
          <a:noFill/>
          <a:ln/>
        </p:spPr>
        <p:txBody>
          <a:bodyPr wrap="none" lIns="0" tIns="0" rIns="0" bIns="0" rtlCol="0" anchor="t"/>
          <a:lstStyle/>
          <a:p>
            <a:pPr algn="l" indent="0" marL="0">
              <a:lnSpc>
                <a:spcPts val="3310"/>
              </a:lnSpc>
              <a:buNone/>
            </a:pPr>
            <a:r>
              <a:rPr lang="en-US" sz="3060" b="1" spc="-60" kern="0" dirty="0">
                <a:solidFill>
                  <a:srgbClr val="101A22"/>
                </a:solidFill>
                <a:latin typeface="Arial" pitchFamily="34" charset="0"/>
                <a:ea typeface="Arial" pitchFamily="34" charset="-122"/>
                <a:cs typeface="Arial" pitchFamily="34" charset="-120"/>
              </a:rPr>
              <a:t>Count the failed logins per hour to find a spike</a:t>
            </a:r>
            <a:endParaRPr lang="en-US" sz="3060" dirty="0"/>
          </a:p>
        </p:txBody>
      </p:sp>
      <p:sp>
        <p:nvSpPr>
          <p:cNvPr id="7" name="Text 5"/>
          <p:cNvSpPr txBox="1"/>
          <p:nvPr/>
        </p:nvSpPr>
        <p:spPr>
          <a:xfrm>
            <a:off x="802977" y="1461595"/>
            <a:ext cx="10643197" cy="361074"/>
          </a:xfrm>
          <a:prstGeom prst="rect">
            <a:avLst/>
          </a:prstGeom>
          <a:noFill/>
          <a:ln/>
        </p:spPr>
        <p:txBody>
          <a:bodyPr wrap="none" lIns="0" tIns="0" rIns="0" bIns="0" rtlCol="0" anchor="t"/>
          <a:lstStyle/>
          <a:p>
            <a:pPr algn="l" indent="0" marL="0">
              <a:lnSpc>
                <a:spcPts val="2840"/>
              </a:lnSpc>
              <a:buNone/>
            </a:pPr>
            <a:r>
              <a:rPr lang="en-US" sz="1900" dirty="0">
                <a:solidFill>
                  <a:srgbClr val="5A6D7A"/>
                </a:solidFill>
                <a:latin typeface="Arial" pitchFamily="34" charset="0"/>
                <a:ea typeface="Arial" pitchFamily="34" charset="-122"/>
                <a:cs typeface="Arial" pitchFamily="34" charset="-120"/>
              </a:rPr>
              <a:t>This search counts the failed logins in each hour.</a:t>
            </a:r>
            <a:endParaRPr lang="en-US" sz="1900" dirty="0"/>
          </a:p>
        </p:txBody>
      </p:sp>
      <p:sp>
        <p:nvSpPr>
          <p:cNvPr id="8" name="Text 6"/>
          <p:cNvSpPr txBox="1"/>
          <p:nvPr/>
        </p:nvSpPr>
        <p:spPr>
          <a:xfrm>
            <a:off x="1006659" y="2251018"/>
            <a:ext cx="10235832" cy="603622"/>
          </a:xfrm>
          <a:prstGeom prst="rect">
            <a:avLst/>
          </a:prstGeom>
          <a:noFill/>
          <a:ln/>
        </p:spPr>
        <p:txBody>
          <a:bodyPr wrap="square" lIns="0" tIns="0" rIns="0" bIns="0" rtlCol="0" anchor="t"/>
          <a:lstStyle/>
          <a:p>
            <a:pPr algn="l" indent="0" marL="0">
              <a:lnSpc>
                <a:spcPts val="1590"/>
              </a:lnSpc>
              <a:buNone/>
            </a:pPr>
            <a:r>
              <a:rPr lang="en-US" sz="1090" dirty="0">
                <a:solidFill>
                  <a:srgbClr val="E4EDF2"/>
                </a:solidFill>
                <a:latin typeface="Courier New" pitchFamily="34" charset="0"/>
                <a:ea typeface="Courier New" pitchFamily="34" charset="-122"/>
                <a:cs typeface="Courier New" pitchFamily="34" charset="-120"/>
              </a:rPr>
              <a:t>curl -sk -u admin "https://opensearch1:9200/otel-v1-logs-*/_search" -H 'Content-Type: application/json' \</a:t>
            </a:r>
            <a:endParaRPr lang="en-US" sz="1090" dirty="0"/>
          </a:p>
          <a:p>
            <a:pPr algn="l" indent="0" marL="0">
              <a:lnSpc>
                <a:spcPts val="1590"/>
              </a:lnSpc>
              <a:buNone/>
            </a:pPr>
            <a:r>
              <a:rPr lang="en-US" sz="1090" dirty="0">
                <a:solidFill>
                  <a:srgbClr val="E4EDF2"/>
                </a:solidFill>
                <a:latin typeface="Courier New" pitchFamily="34" charset="0"/>
                <a:ea typeface="Courier New" pitchFamily="34" charset="-122"/>
                <a:cs typeface="Courier New" pitchFamily="34" charset="-120"/>
              </a:rPr>
              <a:t>  -d '{"size":0,"query":{"term":{"attributes.event.data.eventname":"\\core\\event\\user_login_failed"}},</a:t>
            </a:r>
            <a:endParaRPr lang="en-US" sz="1090" dirty="0"/>
          </a:p>
          <a:p>
            <a:pPr algn="l" indent="0" marL="0">
              <a:lnSpc>
                <a:spcPts val="1590"/>
              </a:lnSpc>
              <a:buNone/>
            </a:pPr>
            <a:r>
              <a:rPr lang="en-US" sz="1090" dirty="0">
                <a:solidFill>
                  <a:srgbClr val="E4EDF2"/>
                </a:solidFill>
                <a:latin typeface="Courier New" pitchFamily="34" charset="0"/>
                <a:ea typeface="Courier New" pitchFamily="34" charset="-122"/>
                <a:cs typeface="Courier New" pitchFamily="34" charset="-120"/>
              </a:rPr>
              <a:t>       "aggs":{"per_hour":{"date_histogram":{"field":"time","fixed_interval":"1h"}}}}'</a:t>
            </a:r>
            <a:endParaRPr lang="en-US" sz="1090" dirty="0"/>
          </a:p>
        </p:txBody>
      </p:sp>
      <p:sp>
        <p:nvSpPr>
          <p:cNvPr id="9" name="Text 7"/>
          <p:cNvSpPr txBox="1"/>
          <p:nvPr/>
        </p:nvSpPr>
        <p:spPr>
          <a:xfrm>
            <a:off x="802977" y="3166559"/>
            <a:ext cx="10643197" cy="361074"/>
          </a:xfrm>
          <a:prstGeom prst="rect">
            <a:avLst/>
          </a:prstGeom>
          <a:noFill/>
          <a:ln/>
        </p:spPr>
        <p:txBody>
          <a:bodyPr wrap="none" lIns="0" tIns="0" rIns="0" bIns="0" rtlCol="0" anchor="t"/>
          <a:lstStyle/>
          <a:p>
            <a:pPr algn="l" indent="0" marL="0">
              <a:lnSpc>
                <a:spcPts val="2840"/>
              </a:lnSpc>
              <a:buNone/>
            </a:pPr>
            <a:r>
              <a:rPr lang="en-US" sz="1900" dirty="0">
                <a:solidFill>
                  <a:srgbClr val="5A6D7A"/>
                </a:solidFill>
                <a:latin typeface="Arial" pitchFamily="34" charset="0"/>
                <a:ea typeface="Arial" pitchFamily="34" charset="-122"/>
                <a:cs typeface="Arial" pitchFamily="34" charset="-120"/>
              </a:rPr>
              <a:t>Here is part of the result from the demo site, as a table. The times are UTC.</a:t>
            </a:r>
            <a:endParaRPr lang="en-US" sz="1900" dirty="0"/>
          </a:p>
        </p:txBody>
      </p:sp>
      <p:sp>
        <p:nvSpPr>
          <p:cNvPr id="10" name="Text 8"/>
          <p:cNvSpPr txBox="1"/>
          <p:nvPr/>
        </p:nvSpPr>
        <p:spPr>
          <a:xfrm>
            <a:off x="1006659" y="3844940"/>
            <a:ext cx="10235832" cy="1609944"/>
          </a:xfrm>
          <a:prstGeom prst="rect">
            <a:avLst/>
          </a:prstGeom>
          <a:noFill/>
          <a:ln/>
        </p:spPr>
        <p:txBody>
          <a:bodyPr wrap="square" lIns="0" tIns="0" rIns="0" bIns="0" rtlCol="0" anchor="t"/>
          <a:lstStyle/>
          <a:p>
            <a:pPr algn="l" indent="0" marL="0">
              <a:lnSpc>
                <a:spcPts val="1590"/>
              </a:lnSpc>
              <a:buNone/>
            </a:pPr>
            <a:r>
              <a:rPr lang="en-US" sz="1090" dirty="0">
                <a:solidFill>
                  <a:srgbClr val="E4EDF2"/>
                </a:solidFill>
                <a:latin typeface="Courier New" pitchFamily="34" charset="0"/>
                <a:ea typeface="Courier New" pitchFamily="34" charset="-122"/>
                <a:cs typeface="Courier New" pitchFamily="34" charset="-120"/>
              </a:rPr>
              <a:t>2026-09-02 20:00    0</a:t>
            </a:r>
            <a:endParaRPr lang="en-US" sz="1090" dirty="0"/>
          </a:p>
          <a:p>
            <a:pPr algn="l" indent="0" marL="0">
              <a:lnSpc>
                <a:spcPts val="1590"/>
              </a:lnSpc>
              <a:buNone/>
            </a:pPr>
            <a:r>
              <a:rPr lang="en-US" sz="1090" dirty="0">
                <a:solidFill>
                  <a:srgbClr val="E4EDF2"/>
                </a:solidFill>
                <a:latin typeface="Courier New" pitchFamily="34" charset="0"/>
                <a:ea typeface="Courier New" pitchFamily="34" charset="-122"/>
                <a:cs typeface="Courier New" pitchFamily="34" charset="-120"/>
              </a:rPr>
              <a:t>2026-09-02 21:00    2</a:t>
            </a:r>
            <a:endParaRPr lang="en-US" sz="1090" dirty="0"/>
          </a:p>
          <a:p>
            <a:pPr algn="l" indent="0" marL="0">
              <a:lnSpc>
                <a:spcPts val="1590"/>
              </a:lnSpc>
              <a:buNone/>
            </a:pPr>
            <a:r>
              <a:rPr lang="en-US" sz="1090" dirty="0">
                <a:solidFill>
                  <a:srgbClr val="E4EDF2"/>
                </a:solidFill>
                <a:latin typeface="Courier New" pitchFamily="34" charset="0"/>
                <a:ea typeface="Courier New" pitchFamily="34" charset="-122"/>
                <a:cs typeface="Courier New" pitchFamily="34" charset="-120"/>
              </a:rPr>
              <a:t>2026-09-02 22:00    0</a:t>
            </a:r>
            <a:endParaRPr lang="en-US" sz="1090" dirty="0"/>
          </a:p>
          <a:p>
            <a:pPr algn="l" indent="0" marL="0">
              <a:lnSpc>
                <a:spcPts val="1590"/>
              </a:lnSpc>
              <a:buNone/>
            </a:pPr>
            <a:r>
              <a:rPr lang="en-US" sz="1090" dirty="0">
                <a:solidFill>
                  <a:srgbClr val="E4EDF2"/>
                </a:solidFill>
                <a:latin typeface="Courier New" pitchFamily="34" charset="0"/>
                <a:ea typeface="Courier New" pitchFamily="34" charset="-122"/>
                <a:cs typeface="Courier New" pitchFamily="34" charset="-120"/>
              </a:rPr>
              <a:t>2026-09-02 23:00    0</a:t>
            </a:r>
            <a:endParaRPr lang="en-US" sz="1090" dirty="0"/>
          </a:p>
          <a:p>
            <a:pPr algn="l" indent="0" marL="0">
              <a:lnSpc>
                <a:spcPts val="1590"/>
              </a:lnSpc>
              <a:buNone/>
            </a:pPr>
            <a:r>
              <a:rPr lang="en-US" sz="1090" dirty="0">
                <a:solidFill>
                  <a:srgbClr val="E4EDF2"/>
                </a:solidFill>
                <a:latin typeface="Courier New" pitchFamily="34" charset="0"/>
                <a:ea typeface="Courier New" pitchFamily="34" charset="-122"/>
                <a:cs typeface="Courier New" pitchFamily="34" charset="-120"/>
              </a:rPr>
              <a:t>2026-09-03 00:00    0</a:t>
            </a:r>
            <a:endParaRPr lang="en-US" sz="1090" dirty="0"/>
          </a:p>
          <a:p>
            <a:pPr algn="l" indent="0" marL="0">
              <a:lnSpc>
                <a:spcPts val="1590"/>
              </a:lnSpc>
              <a:buNone/>
            </a:pPr>
            <a:r>
              <a:rPr lang="en-US" sz="1090" dirty="0">
                <a:solidFill>
                  <a:srgbClr val="E4EDF2"/>
                </a:solidFill>
                <a:latin typeface="Courier New" pitchFamily="34" charset="0"/>
                <a:ea typeface="Courier New" pitchFamily="34" charset="-122"/>
                <a:cs typeface="Courier New" pitchFamily="34" charset="-120"/>
              </a:rPr>
              <a:t>2026-09-03 01:00    0</a:t>
            </a:r>
            <a:endParaRPr lang="en-US" sz="1090" dirty="0"/>
          </a:p>
          <a:p>
            <a:pPr algn="l" indent="0" marL="0">
              <a:lnSpc>
                <a:spcPts val="1590"/>
              </a:lnSpc>
              <a:buNone/>
            </a:pPr>
            <a:r>
              <a:rPr lang="en-US" sz="1090" dirty="0">
                <a:solidFill>
                  <a:srgbClr val="E4EDF2"/>
                </a:solidFill>
                <a:latin typeface="Courier New" pitchFamily="34" charset="0"/>
                <a:ea typeface="Courier New" pitchFamily="34" charset="-122"/>
                <a:cs typeface="Courier New" pitchFamily="34" charset="-120"/>
              </a:rPr>
              <a:t>2026-09-03 02:00   45</a:t>
            </a:r>
            <a:endParaRPr lang="en-US" sz="1090" dirty="0"/>
          </a:p>
          <a:p>
            <a:pPr algn="l" indent="0" marL="0">
              <a:lnSpc>
                <a:spcPts val="1590"/>
              </a:lnSpc>
              <a:buNone/>
            </a:pPr>
            <a:r>
              <a:rPr lang="en-US" sz="1090" dirty="0">
                <a:solidFill>
                  <a:srgbClr val="E4EDF2"/>
                </a:solidFill>
                <a:latin typeface="Courier New" pitchFamily="34" charset="0"/>
                <a:ea typeface="Courier New" pitchFamily="34" charset="-122"/>
                <a:cs typeface="Courier New" pitchFamily="34" charset="-120"/>
              </a:rPr>
              <a:t>2026-09-03 03:00    0</a:t>
            </a:r>
            <a:endParaRPr lang="en-US" sz="1090" dirty="0"/>
          </a:p>
        </p:txBody>
      </p:sp>
      <p:sp>
        <p:nvSpPr>
          <p:cNvPr id="11" name="Text 9"/>
          <p:cNvSpPr txBox="1"/>
          <p:nvPr/>
        </p:nvSpPr>
        <p:spPr>
          <a:xfrm>
            <a:off x="647700" y="6464466"/>
            <a:ext cx="948928" cy="144429"/>
          </a:xfrm>
          <a:prstGeom prst="rect">
            <a:avLst/>
          </a:prstGeom>
          <a:noFill/>
          <a:ln/>
        </p:spPr>
        <p:txBody>
          <a:bodyPr wrap="none" lIns="0" tIns="0" rIns="0" bIns="0" rtlCol="0" anchor="t"/>
          <a:lstStyle/>
          <a:p>
            <a:pPr algn="l" indent="0" marL="0">
              <a:lnSpc>
                <a:spcPts val="1140"/>
              </a:lnSpc>
              <a:buNone/>
            </a:pPr>
            <a:r>
              <a:rPr lang="en-US" sz="950" dirty="0">
                <a:solidFill>
                  <a:srgbClr val="8496A2"/>
                </a:solidFill>
                <a:latin typeface="Courier New" pitchFamily="34" charset="0"/>
                <a:ea typeface="Courier New" pitchFamily="34" charset="-122"/>
                <a:cs typeface="Courier New" pitchFamily="34" charset="-120"/>
              </a:rPr>
              <a:t>What you get</a:t>
            </a:r>
            <a:endParaRPr lang="en-US" sz="950" dirty="0"/>
          </a:p>
        </p:txBody>
      </p:sp>
      <p:sp>
        <p:nvSpPr>
          <p:cNvPr id="12" name="Text 10"/>
          <p:cNvSpPr txBox="1"/>
          <p:nvPr/>
        </p:nvSpPr>
        <p:spPr>
          <a:xfrm>
            <a:off x="11024146" y="6464466"/>
            <a:ext cx="577304" cy="144429"/>
          </a:xfrm>
          <a:prstGeom prst="rect">
            <a:avLst/>
          </a:prstGeom>
          <a:noFill/>
          <a:ln/>
        </p:spPr>
        <p:txBody>
          <a:bodyPr wrap="none" lIns="0" tIns="0" rIns="0" bIns="0" rtlCol="0" anchor="t"/>
          <a:lstStyle/>
          <a:p>
            <a:pPr algn="l" indent="0" marL="0">
              <a:lnSpc>
                <a:spcPts val="1140"/>
              </a:lnSpc>
              <a:buNone/>
            </a:pPr>
            <a:r>
              <a:rPr lang="en-US" sz="950" dirty="0">
                <a:solidFill>
                  <a:srgbClr val="8496A2"/>
                </a:solidFill>
                <a:latin typeface="Courier New" pitchFamily="34" charset="0"/>
                <a:ea typeface="Courier New" pitchFamily="34" charset="-122"/>
                <a:cs typeface="Courier New" pitchFamily="34" charset="-120"/>
              </a:rPr>
              <a:t>27 / 39</a:t>
            </a:r>
            <a:endParaRPr lang="en-US" sz="950" dirty="0"/>
          </a:p>
        </p:txBody>
      </p:sp>
      <p:pic>
        <p:nvPicPr>
          <p:cNvPr id="900" name="NetSapiensis mark" descr="NetSapiensis"/>
          <p:cNvPicPr>
            <a:picLocks noChangeAspect="1"/>
          </p:cNvPicPr>
          <p:nvPr/>
        </p:nvPicPr>
        <p:blipFill>
          <a:blip r:embed="rId3"/>
          <a:stretch>
            <a:fillRect/>
          </a:stretch>
        </p:blipFill>
        <p:spPr>
          <a:xfrm>
            <a:off x="10776204" y="6419088"/>
            <a:ext cx="178308" cy="237744"/>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7700" y="6343650"/>
            <a:ext cx="10896600" cy="0"/>
          </a:xfrm>
          <a:prstGeom prst="line">
            <a:avLst/>
          </a:prstGeom>
          <a:noFill/>
          <a:ln w="8890">
            <a:solidFill>
              <a:srgbClr val="CBD7DF"/>
            </a:solidFill>
            <a:prstDash val="solid"/>
          </a:ln>
        </p:spPr>
      </p:sp>
      <p:pic>
        <p:nvPicPr>
          <p:cNvPr id="3" name="Image 0" descr="OpenSearch Dashboards showing the dashboard Moodle events for the last 30 minutes: events per minute, logins per minute with a success line and a failure line that jumps to 10 in one minute, totals of 111 events and 2 users seen, a table of usernames with failed logins (admin 15, student 1, teacher 1), event types, and the first rows of the latest events list.">    </p:cNvPr>
          <p:cNvPicPr>
            <a:picLocks noChangeAspect="1"/>
          </p:cNvPicPr>
          <p:nvPr/>
        </p:nvPicPr>
        <p:blipFill>
          <a:blip r:embed="rId1"/>
          <a:stretch>
            <a:fillRect/>
          </a:stretch>
        </p:blipFill>
        <p:spPr>
          <a:xfrm>
            <a:off x="1297137" y="2184975"/>
            <a:ext cx="9614505" cy="3624316"/>
          </a:xfrm>
          <a:prstGeom prst="rect">
            <a:avLst/>
          </a:prstGeom>
        </p:spPr>
      </p:pic>
      <p:sp>
        <p:nvSpPr>
          <p:cNvPr id="4" name="Text 1"/>
          <p:cNvSpPr txBox="1"/>
          <p:nvPr/>
        </p:nvSpPr>
        <p:spPr>
          <a:xfrm>
            <a:off x="1297137" y="514309"/>
            <a:ext cx="9654876" cy="163635"/>
          </a:xfrm>
          <a:prstGeom prst="rect">
            <a:avLst/>
          </a:prstGeom>
          <a:noFill/>
          <a:ln/>
        </p:spPr>
        <p:txBody>
          <a:bodyPr wrap="none" lIns="0" tIns="0" rIns="0" bIns="0" rtlCol="0" anchor="t"/>
          <a:lstStyle/>
          <a:p>
            <a:pPr algn="l" indent="0" marL="0">
              <a:lnSpc>
                <a:spcPts val="1290"/>
              </a:lnSpc>
              <a:buNone/>
            </a:pPr>
            <a:r>
              <a:rPr lang="en-US" sz="860" spc="140" kern="0" dirty="0">
                <a:solidFill>
                  <a:srgbClr val="0B6E99"/>
                </a:solidFill>
                <a:latin typeface="Courier New" pitchFamily="34" charset="0"/>
                <a:ea typeface="Courier New" pitchFamily="34" charset="-122"/>
                <a:cs typeface="Courier New" pitchFamily="34" charset="-120"/>
              </a:rPr>
              <a:t>WHAT YOU GET</a:t>
            </a:r>
            <a:endParaRPr lang="en-US" sz="860" dirty="0"/>
          </a:p>
        </p:txBody>
      </p:sp>
      <p:sp>
        <p:nvSpPr>
          <p:cNvPr id="5" name="Text 2"/>
          <p:cNvSpPr txBox="1"/>
          <p:nvPr/>
        </p:nvSpPr>
        <p:spPr>
          <a:xfrm>
            <a:off x="1297137" y="814452"/>
            <a:ext cx="9654876" cy="380640"/>
          </a:xfrm>
          <a:prstGeom prst="rect">
            <a:avLst/>
          </a:prstGeom>
          <a:noFill/>
          <a:ln/>
        </p:spPr>
        <p:txBody>
          <a:bodyPr wrap="none" lIns="0" tIns="0" rIns="0" bIns="0" rtlCol="0" anchor="t"/>
          <a:lstStyle/>
          <a:p>
            <a:pPr algn="l" indent="0" marL="0">
              <a:lnSpc>
                <a:spcPts val="3000"/>
              </a:lnSpc>
              <a:buNone/>
            </a:pPr>
            <a:r>
              <a:rPr lang="en-US" sz="2780" b="1" spc="-60" kern="0" dirty="0">
                <a:solidFill>
                  <a:srgbClr val="101A22"/>
                </a:solidFill>
                <a:latin typeface="Arial" pitchFamily="34" charset="0"/>
                <a:ea typeface="Arial" pitchFamily="34" charset="-122"/>
                <a:cs typeface="Arial" pitchFamily="34" charset="-120"/>
              </a:rPr>
              <a:t>OpenSearch Dashboards draws charts from the events</a:t>
            </a:r>
            <a:endParaRPr lang="en-US" sz="2780" dirty="0"/>
          </a:p>
        </p:txBody>
      </p:sp>
      <p:sp>
        <p:nvSpPr>
          <p:cNvPr id="6" name="Text 3"/>
          <p:cNvSpPr txBox="1"/>
          <p:nvPr/>
        </p:nvSpPr>
        <p:spPr>
          <a:xfrm>
            <a:off x="1297137" y="1374949"/>
            <a:ext cx="9654876" cy="654390"/>
          </a:xfrm>
          <a:prstGeom prst="rect">
            <a:avLst/>
          </a:prstGeom>
          <a:noFill/>
          <a:ln/>
        </p:spPr>
        <p:txBody>
          <a:bodyPr wrap="square" lIns="0" tIns="0" rIns="0" bIns="0" rtlCol="0" anchor="t"/>
          <a:lstStyle/>
          <a:p>
            <a:pPr algn="l" indent="0" marL="0">
              <a:lnSpc>
                <a:spcPts val="2580"/>
              </a:lnSpc>
              <a:buNone/>
            </a:pPr>
            <a:r>
              <a:rPr lang="en-US" sz="1720" dirty="0">
                <a:solidFill>
                  <a:srgbClr val="5A6D7A"/>
                </a:solidFill>
                <a:latin typeface="Arial" pitchFamily="34" charset="0"/>
                <a:ea typeface="Arial" pitchFamily="34" charset="-122"/>
                <a:cs typeface="Arial" pitchFamily="34" charset="-120"/>
              </a:rPr>
              <a:t>You build each chart once, and it updates when new events arrive. The picture shows the demo dashboard after 30 minutes of use, with logins, course views and a burst of failed logins.</a:t>
            </a:r>
            <a:endParaRPr lang="en-US" sz="1720" dirty="0"/>
          </a:p>
        </p:txBody>
      </p:sp>
      <p:sp>
        <p:nvSpPr>
          <p:cNvPr id="7" name="Text 4"/>
          <p:cNvSpPr txBox="1"/>
          <p:nvPr/>
        </p:nvSpPr>
        <p:spPr>
          <a:xfrm>
            <a:off x="647700" y="6464748"/>
            <a:ext cx="948928" cy="142875"/>
          </a:xfrm>
          <a:prstGeom prst="rect">
            <a:avLst/>
          </a:prstGeom>
          <a:noFill/>
          <a:ln/>
        </p:spPr>
        <p:txBody>
          <a:bodyPr wrap="none" lIns="0" tIns="0" rIns="0" bIns="0" rtlCol="0" anchor="t"/>
          <a:lstStyle/>
          <a:p>
            <a:pPr algn="l" indent="0" marL="0">
              <a:lnSpc>
                <a:spcPts val="1030"/>
              </a:lnSpc>
              <a:buNone/>
            </a:pPr>
            <a:r>
              <a:rPr lang="en-US" sz="860" dirty="0">
                <a:solidFill>
                  <a:srgbClr val="8496A2"/>
                </a:solidFill>
                <a:latin typeface="Courier New" pitchFamily="34" charset="0"/>
                <a:ea typeface="Courier New" pitchFamily="34" charset="-122"/>
                <a:cs typeface="Courier New" pitchFamily="34" charset="-120"/>
              </a:rPr>
              <a:t>What you get</a:t>
            </a:r>
            <a:endParaRPr lang="en-US" sz="860" dirty="0"/>
          </a:p>
        </p:txBody>
      </p:sp>
      <p:sp>
        <p:nvSpPr>
          <p:cNvPr id="8" name="Text 5"/>
          <p:cNvSpPr txBox="1"/>
          <p:nvPr/>
        </p:nvSpPr>
        <p:spPr>
          <a:xfrm>
            <a:off x="11024146" y="6464748"/>
            <a:ext cx="577304" cy="142875"/>
          </a:xfrm>
          <a:prstGeom prst="rect">
            <a:avLst/>
          </a:prstGeom>
          <a:noFill/>
          <a:ln/>
        </p:spPr>
        <p:txBody>
          <a:bodyPr wrap="none" lIns="0" tIns="0" rIns="0" bIns="0" rtlCol="0" anchor="t"/>
          <a:lstStyle/>
          <a:p>
            <a:pPr algn="l" indent="0" marL="0">
              <a:lnSpc>
                <a:spcPts val="1030"/>
              </a:lnSpc>
              <a:buNone/>
            </a:pPr>
            <a:r>
              <a:rPr lang="en-US" sz="860" dirty="0">
                <a:solidFill>
                  <a:srgbClr val="8496A2"/>
                </a:solidFill>
                <a:latin typeface="Courier New" pitchFamily="34" charset="0"/>
                <a:ea typeface="Courier New" pitchFamily="34" charset="-122"/>
                <a:cs typeface="Courier New" pitchFamily="34" charset="-120"/>
              </a:rPr>
              <a:t>28 / 39</a:t>
            </a:r>
            <a:endParaRPr lang="en-US" sz="860" dirty="0"/>
          </a:p>
        </p:txBody>
      </p:sp>
      <p:pic>
        <p:nvPicPr>
          <p:cNvPr id="900" name="NetSapiensis mark" descr="NetSapiensis"/>
          <p:cNvPicPr>
            <a:picLocks noChangeAspect="1"/>
          </p:cNvPicPr>
          <p:nvPr/>
        </p:nvPicPr>
        <p:blipFill>
          <a:blip r:embed="rId4"/>
          <a:stretch>
            <a:fillRect/>
          </a:stretch>
        </p:blipFill>
        <p:spPr>
          <a:xfrm>
            <a:off x="10776204" y="6419088"/>
            <a:ext cx="178308" cy="237744"/>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101A22"/>
        </a:solidFill>
      </p:bgPr>
    </p:bg>
    <p:spTree>
      <p:nvGrpSpPr>
        <p:cNvPr id="1" name=""/>
        <p:cNvGrpSpPr/>
        <p:nvPr/>
      </p:nvGrpSpPr>
      <p:grpSpPr>
        <a:xfrm>
          <a:off x="0" y="0"/>
          <a:ext cx="0" cy="0"/>
          <a:chOff x="0" y="0"/>
          <a:chExt cx="0" cy="0"/>
        </a:xfrm>
      </p:grpSpPr>
      <p:sp>
        <p:nvSpPr>
          <p:cNvPr id="2" name="Shape 0"/>
          <p:cNvSpPr/>
          <p:nvPr/>
        </p:nvSpPr>
        <p:spPr>
          <a:xfrm>
            <a:off x="647700" y="6343650"/>
            <a:ext cx="10896600" cy="0"/>
          </a:xfrm>
          <a:prstGeom prst="line">
            <a:avLst/>
          </a:prstGeom>
          <a:noFill/>
          <a:ln w="10160">
            <a:solidFill>
              <a:srgbClr val="2A3B47"/>
            </a:solidFill>
            <a:prstDash val="solid"/>
          </a:ln>
        </p:spPr>
      </p:sp>
      <p:sp>
        <p:nvSpPr>
          <p:cNvPr id="3" name="Text 1"/>
          <p:cNvSpPr txBox="1"/>
          <p:nvPr/>
        </p:nvSpPr>
        <p:spPr>
          <a:xfrm>
            <a:off x="647700" y="2757785"/>
            <a:ext cx="10953750" cy="1151930"/>
          </a:xfrm>
          <a:prstGeom prst="rect">
            <a:avLst/>
          </a:prstGeom>
          <a:noFill/>
          <a:ln/>
        </p:spPr>
        <p:txBody>
          <a:bodyPr wrap="square" lIns="0" tIns="0" rIns="0" bIns="0" rtlCol="0" anchor="t"/>
          <a:lstStyle/>
          <a:p>
            <a:pPr algn="l" indent="0" marL="0">
              <a:lnSpc>
                <a:spcPts val="4540"/>
              </a:lnSpc>
              <a:buNone/>
            </a:pPr>
            <a:r>
              <a:rPr lang="en-US" sz="4200" b="1" spc="-80" kern="0" dirty="0">
                <a:solidFill>
                  <a:srgbClr val="FFFFFF"/>
                </a:solidFill>
                <a:latin typeface="Arial" pitchFamily="34" charset="0"/>
                <a:ea typeface="Arial" pitchFamily="34" charset="-122"/>
                <a:cs typeface="Arial" pitchFamily="34" charset="-120"/>
              </a:rPr>
              <a:t>Plan for personal data in the events and for too many indices</a:t>
            </a:r>
            <a:endParaRPr lang="en-US" sz="4200" dirty="0"/>
          </a:p>
        </p:txBody>
      </p:sp>
      <p:sp>
        <p:nvSpPr>
          <p:cNvPr id="4" name="Text 2"/>
          <p:cNvSpPr txBox="1"/>
          <p:nvPr/>
        </p:nvSpPr>
        <p:spPr>
          <a:xfrm>
            <a:off x="647700" y="6464379"/>
            <a:ext cx="651718" cy="148590"/>
          </a:xfrm>
          <a:prstGeom prst="rect">
            <a:avLst/>
          </a:prstGeom>
          <a:noFill/>
          <a:ln/>
        </p:spPr>
        <p:txBody>
          <a:bodyPr wrap="none" lIns="0" tIns="0" rIns="0" bIns="0" rtlCol="0" anchor="t"/>
          <a:lstStyle/>
          <a:p>
            <a:pPr algn="l" indent="0" marL="0">
              <a:lnSpc>
                <a:spcPts val="1170"/>
              </a:lnSpc>
              <a:buNone/>
            </a:pPr>
            <a:r>
              <a:rPr lang="en-US" sz="980" dirty="0">
                <a:solidFill>
                  <a:srgbClr val="56707F"/>
                </a:solidFill>
                <a:latin typeface="Courier New" pitchFamily="34" charset="0"/>
                <a:ea typeface="Courier New" pitchFamily="34" charset="-122"/>
                <a:cs typeface="Courier New" pitchFamily="34" charset="-120"/>
              </a:rPr>
              <a:t>Cautions</a:t>
            </a:r>
            <a:endParaRPr lang="en-US" sz="980" dirty="0"/>
          </a:p>
        </p:txBody>
      </p:sp>
      <p:sp>
        <p:nvSpPr>
          <p:cNvPr id="5" name="Text 3"/>
          <p:cNvSpPr txBox="1"/>
          <p:nvPr/>
        </p:nvSpPr>
        <p:spPr>
          <a:xfrm>
            <a:off x="11024146" y="6464379"/>
            <a:ext cx="577304" cy="148590"/>
          </a:xfrm>
          <a:prstGeom prst="rect">
            <a:avLst/>
          </a:prstGeom>
          <a:noFill/>
          <a:ln/>
        </p:spPr>
        <p:txBody>
          <a:bodyPr wrap="none" lIns="0" tIns="0" rIns="0" bIns="0" rtlCol="0" anchor="t"/>
          <a:lstStyle/>
          <a:p>
            <a:pPr algn="l" indent="0" marL="0">
              <a:lnSpc>
                <a:spcPts val="1170"/>
              </a:lnSpc>
              <a:buNone/>
            </a:pPr>
            <a:r>
              <a:rPr lang="en-US" sz="980" dirty="0">
                <a:solidFill>
                  <a:srgbClr val="56707F"/>
                </a:solidFill>
                <a:latin typeface="Courier New" pitchFamily="34" charset="0"/>
                <a:ea typeface="Courier New" pitchFamily="34" charset="-122"/>
                <a:cs typeface="Courier New" pitchFamily="34" charset="-120"/>
              </a:rPr>
              <a:t>29 / 39</a:t>
            </a:r>
            <a:endParaRPr lang="en-US" sz="980" dirty="0"/>
          </a:p>
        </p:txBody>
      </p:sp>
      <p:pic>
        <p:nvPicPr>
          <p:cNvPr id="900" name="NetSapiensis mark" descr="NetSapiensis"/>
          <p:cNvPicPr>
            <a:picLocks noChangeAspect="1"/>
          </p:cNvPicPr>
          <p:nvPr/>
        </p:nvPicPr>
        <p:blipFill>
          <a:blip r:embed="rId3"/>
          <a:stretch>
            <a:fillRect/>
          </a:stretch>
        </p:blipFill>
        <p:spPr>
          <a:xfrm>
            <a:off x="10776204" y="6419088"/>
            <a:ext cx="178308" cy="237744"/>
          </a:xfrm>
          <a:prstGeom prst="rect">
            <a:avLst/>
          </a:prstGeom>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32420" y="1616332"/>
            <a:ext cx="83410" cy="83410"/>
          </a:xfrm>
          <a:prstGeom prst="roundRect">
            <a:avLst>
              <a:gd name="adj" fmla="val 487232"/>
            </a:avLst>
          </a:prstGeom>
          <a:solidFill>
            <a:srgbClr val="0B6E99"/>
          </a:solidFill>
          <a:ln/>
        </p:spPr>
      </p:sp>
      <p:sp>
        <p:nvSpPr>
          <p:cNvPr id="3" name="Shape 1"/>
          <p:cNvSpPr/>
          <p:nvPr/>
        </p:nvSpPr>
        <p:spPr>
          <a:xfrm>
            <a:off x="832420" y="2342623"/>
            <a:ext cx="83410" cy="83410"/>
          </a:xfrm>
          <a:prstGeom prst="roundRect">
            <a:avLst>
              <a:gd name="adj" fmla="val 487232"/>
            </a:avLst>
          </a:prstGeom>
          <a:solidFill>
            <a:srgbClr val="0B6E99"/>
          </a:solidFill>
          <a:ln/>
        </p:spPr>
      </p:sp>
      <p:sp>
        <p:nvSpPr>
          <p:cNvPr id="4" name="Shape 2"/>
          <p:cNvSpPr/>
          <p:nvPr/>
        </p:nvSpPr>
        <p:spPr>
          <a:xfrm>
            <a:off x="832420" y="3387029"/>
            <a:ext cx="83410" cy="83410"/>
          </a:xfrm>
          <a:prstGeom prst="roundRect">
            <a:avLst>
              <a:gd name="adj" fmla="val 487232"/>
            </a:avLst>
          </a:prstGeom>
          <a:solidFill>
            <a:srgbClr val="0B6E99"/>
          </a:solidFill>
          <a:ln/>
        </p:spPr>
      </p:sp>
      <p:sp>
        <p:nvSpPr>
          <p:cNvPr id="5" name="Shape 3"/>
          <p:cNvSpPr/>
          <p:nvPr/>
        </p:nvSpPr>
        <p:spPr>
          <a:xfrm>
            <a:off x="832420" y="4113320"/>
            <a:ext cx="83410" cy="83410"/>
          </a:xfrm>
          <a:prstGeom prst="roundRect">
            <a:avLst>
              <a:gd name="adj" fmla="val 487232"/>
            </a:avLst>
          </a:prstGeom>
          <a:solidFill>
            <a:srgbClr val="0B6E99"/>
          </a:solidFill>
          <a:ln/>
        </p:spPr>
      </p:sp>
      <p:sp>
        <p:nvSpPr>
          <p:cNvPr id="6" name="Shape 4"/>
          <p:cNvSpPr/>
          <p:nvPr/>
        </p:nvSpPr>
        <p:spPr>
          <a:xfrm>
            <a:off x="795349" y="4729700"/>
            <a:ext cx="10601302" cy="669821"/>
          </a:xfrm>
          <a:prstGeom prst="roundRect">
            <a:avLst>
              <a:gd name="adj" fmla="val 37777"/>
            </a:avLst>
          </a:prstGeom>
          <a:solidFill>
            <a:srgbClr val="0F2027"/>
          </a:solidFill>
          <a:ln/>
        </p:spPr>
      </p:sp>
      <p:sp>
        <p:nvSpPr>
          <p:cNvPr id="7" name="Shape 5"/>
          <p:cNvSpPr/>
          <p:nvPr/>
        </p:nvSpPr>
        <p:spPr>
          <a:xfrm>
            <a:off x="832420" y="5621938"/>
            <a:ext cx="83410" cy="83410"/>
          </a:xfrm>
          <a:prstGeom prst="roundRect">
            <a:avLst>
              <a:gd name="adj" fmla="val 487232"/>
            </a:avLst>
          </a:prstGeom>
          <a:solidFill>
            <a:srgbClr val="0B6E99"/>
          </a:solidFill>
          <a:ln/>
        </p:spPr>
      </p:sp>
      <p:sp>
        <p:nvSpPr>
          <p:cNvPr id="8" name="Shape 6"/>
          <p:cNvSpPr/>
          <p:nvPr/>
        </p:nvSpPr>
        <p:spPr>
          <a:xfrm>
            <a:off x="647700" y="6343650"/>
            <a:ext cx="10896600" cy="0"/>
          </a:xfrm>
          <a:prstGeom prst="line">
            <a:avLst/>
          </a:prstGeom>
          <a:noFill/>
          <a:ln w="8890">
            <a:solidFill>
              <a:srgbClr val="CBD7DF"/>
            </a:solidFill>
            <a:prstDash val="solid"/>
          </a:ln>
        </p:spPr>
      </p:sp>
      <p:sp>
        <p:nvSpPr>
          <p:cNvPr id="9" name="Text 7"/>
          <p:cNvSpPr txBox="1"/>
          <p:nvPr/>
        </p:nvSpPr>
        <p:spPr>
          <a:xfrm>
            <a:off x="795349" y="512316"/>
            <a:ext cx="10658452" cy="180723"/>
          </a:xfrm>
          <a:prstGeom prst="rect">
            <a:avLst/>
          </a:prstGeom>
          <a:noFill/>
          <a:ln/>
        </p:spPr>
        <p:txBody>
          <a:bodyPr wrap="none" lIns="0" tIns="0" rIns="0" bIns="0" rtlCol="0" anchor="t"/>
          <a:lstStyle/>
          <a:p>
            <a:pPr algn="l" indent="0" marL="0">
              <a:lnSpc>
                <a:spcPts val="1420"/>
              </a:lnSpc>
              <a:buNone/>
            </a:pPr>
            <a:r>
              <a:rPr lang="en-US" sz="950" spc="150" kern="0" dirty="0">
                <a:solidFill>
                  <a:srgbClr val="0B6E99"/>
                </a:solidFill>
                <a:latin typeface="Courier New" pitchFamily="34" charset="0"/>
                <a:ea typeface="Courier New" pitchFamily="34" charset="-122"/>
                <a:cs typeface="Courier New" pitchFamily="34" charset="-120"/>
              </a:rPr>
              <a:t>CAUTION 1</a:t>
            </a:r>
            <a:endParaRPr lang="en-US" sz="950" dirty="0"/>
          </a:p>
        </p:txBody>
      </p:sp>
      <p:sp>
        <p:nvSpPr>
          <p:cNvPr id="10" name="Text 8"/>
          <p:cNvSpPr txBox="1"/>
          <p:nvPr/>
        </p:nvSpPr>
        <p:spPr>
          <a:xfrm>
            <a:off x="795349" y="843840"/>
            <a:ext cx="10658452" cy="420389"/>
          </a:xfrm>
          <a:prstGeom prst="rect">
            <a:avLst/>
          </a:prstGeom>
          <a:noFill/>
          <a:ln/>
        </p:spPr>
        <p:txBody>
          <a:bodyPr wrap="none" lIns="0" tIns="0" rIns="0" bIns="0" rtlCol="0" anchor="t"/>
          <a:lstStyle/>
          <a:p>
            <a:pPr algn="l" indent="0" marL="0">
              <a:lnSpc>
                <a:spcPts val="3310"/>
              </a:lnSpc>
              <a:buNone/>
            </a:pPr>
            <a:r>
              <a:rPr lang="en-US" sz="3060" b="1" spc="-60" kern="0" dirty="0">
                <a:solidFill>
                  <a:srgbClr val="101A22"/>
                </a:solidFill>
                <a:latin typeface="Arial" pitchFamily="34" charset="0"/>
                <a:ea typeface="Arial" pitchFamily="34" charset="-122"/>
                <a:cs typeface="Arial" pitchFamily="34" charset="-120"/>
              </a:rPr>
              <a:t>Events can carry personal data</a:t>
            </a:r>
            <a:endParaRPr lang="en-US" sz="3060" dirty="0"/>
          </a:p>
        </p:txBody>
      </p:sp>
      <p:sp>
        <p:nvSpPr>
          <p:cNvPr id="11" name="Text 9"/>
          <p:cNvSpPr txBox="1"/>
          <p:nvPr/>
        </p:nvSpPr>
        <p:spPr>
          <a:xfrm>
            <a:off x="1073384" y="1478473"/>
            <a:ext cx="10380417" cy="596555"/>
          </a:xfrm>
          <a:prstGeom prst="rect">
            <a:avLst/>
          </a:prstGeom>
          <a:noFill/>
          <a:ln/>
        </p:spPr>
        <p:txBody>
          <a:bodyPr wrap="square" lIns="0" tIns="0" rIns="0" bIns="0" rtlCol="0" anchor="t"/>
          <a:lstStyle/>
          <a:p>
            <a:pPr algn="l" indent="0" marL="0">
              <a:lnSpc>
                <a:spcPts val="2350"/>
              </a:lnSpc>
              <a:buNone/>
            </a:pPr>
            <a:r>
              <a:rPr lang="en-US" sz="1680" dirty="0">
                <a:solidFill>
                  <a:srgbClr val="101A22"/>
                </a:solidFill>
                <a:latin typeface="Arial" pitchFamily="34" charset="0"/>
                <a:ea typeface="Arial" pitchFamily="34" charset="-122"/>
                <a:cs typeface="Arial" pitchFamily="34" charset="-120"/>
              </a:rPr>
              <a:t>By default an event identifies a user only </a:t>
            </a:r>
            <a:pPr algn="l" indent="0" marL="0">
              <a:lnSpc>
                <a:spcPts val="2350"/>
              </a:lnSpc>
              <a:buNone/>
            </a:pPr>
            <a:r>
              <a:rPr lang="en-US" sz="1680" b="1" dirty="0">
                <a:solidFill>
                  <a:srgbClr val="101A22"/>
                </a:solidFill>
                <a:latin typeface="Arial" pitchFamily="34" charset="0"/>
                <a:ea typeface="Arial" pitchFamily="34" charset="-122"/>
                <a:cs typeface="Arial" pitchFamily="34" charset="-120"/>
              </a:rPr>
              <a:t>by id</a:t>
            </a:r>
            <a:pPr algn="l" indent="0" marL="0">
              <a:lnSpc>
                <a:spcPts val="2350"/>
              </a:lnSpc>
              <a:buNone/>
            </a:pPr>
            <a:r>
              <a:rPr lang="en-US" sz="1680" dirty="0">
                <a:solidFill>
                  <a:srgbClr val="101A22"/>
                </a:solidFill>
                <a:latin typeface="Arial" pitchFamily="34" charset="0"/>
                <a:ea typeface="Arial" pitchFamily="34" charset="-122"/>
                <a:cs typeface="Arial" pitchFamily="34" charset="-120"/>
              </a:rPr>
              <a:t>, for example "the user with id '2'". A failed login also records the </a:t>
            </a:r>
            <a:pPr algn="l" indent="0" marL="0">
              <a:lnSpc>
                <a:spcPts val="2350"/>
              </a:lnSpc>
              <a:buNone/>
            </a:pPr>
            <a:r>
              <a:rPr lang="en-US" sz="1680" b="1" dirty="0">
                <a:solidFill>
                  <a:srgbClr val="101A22"/>
                </a:solidFill>
                <a:latin typeface="Arial" pitchFamily="34" charset="0"/>
                <a:ea typeface="Arial" pitchFamily="34" charset="-122"/>
                <a:cs typeface="Arial" pitchFamily="34" charset="-120"/>
              </a:rPr>
              <a:t>user name that was typed</a:t>
            </a:r>
            <a:pPr algn="l" indent="0" marL="0">
              <a:lnSpc>
                <a:spcPts val="2350"/>
              </a:lnSpc>
              <a:buNone/>
            </a:pPr>
            <a:r>
              <a:rPr lang="en-US" sz="1680" dirty="0">
                <a:solidFill>
                  <a:srgbClr val="101A22"/>
                </a:solidFill>
                <a:latin typeface="Arial" pitchFamily="34" charset="0"/>
                <a:ea typeface="Arial" pitchFamily="34" charset="-122"/>
                <a:cs typeface="Arial" pitchFamily="34" charset="-120"/>
              </a:rPr>
              <a:t>.</a:t>
            </a:r>
            <a:endParaRPr lang="en-US" sz="1680" dirty="0"/>
          </a:p>
        </p:txBody>
      </p:sp>
      <p:sp>
        <p:nvSpPr>
          <p:cNvPr id="12" name="Text 10"/>
          <p:cNvSpPr txBox="1"/>
          <p:nvPr/>
        </p:nvSpPr>
        <p:spPr>
          <a:xfrm>
            <a:off x="1073384" y="2204765"/>
            <a:ext cx="10380417" cy="914669"/>
          </a:xfrm>
          <a:prstGeom prst="rect">
            <a:avLst/>
          </a:prstGeom>
          <a:noFill/>
          <a:ln/>
        </p:spPr>
        <p:txBody>
          <a:bodyPr wrap="square" lIns="0" tIns="0" rIns="0" bIns="0" rtlCol="0" anchor="t"/>
          <a:lstStyle/>
          <a:p>
            <a:pPr algn="l" indent="0" marL="0">
              <a:lnSpc>
                <a:spcPts val="2350"/>
              </a:lnSpc>
              <a:buNone/>
            </a:pPr>
            <a:r>
              <a:rPr lang="en-US" sz="1680" dirty="0">
                <a:solidFill>
                  <a:srgbClr val="101A22"/>
                </a:solidFill>
                <a:latin typeface="Arial" pitchFamily="34" charset="0"/>
                <a:ea typeface="Arial" pitchFamily="34" charset="-122"/>
                <a:cs typeface="Arial" pitchFamily="34" charset="-120"/>
              </a:rPr>
              <a:t>Every email that Moodle fails to send is stored as an </a:t>
            </a:r>
            <a:pPr algn="l" indent="0" marL="0">
              <a:lnSpc>
                <a:spcPts val="2350"/>
              </a:lnSpc>
              <a:buNone/>
            </a:pPr>
            <a:r>
              <a:rPr lang="en-US" sz="1480" dirty="0">
                <a:solidFill>
                  <a:srgbClr val="101A22"/>
                </a:solidFill>
                <a:highlight>
                  <a:srgbClr val="E1F0F7"/>
                </a:highlight>
                <a:latin typeface="Courier New" pitchFamily="34" charset="0"/>
                <a:ea typeface="Courier New" pitchFamily="34" charset="-122"/>
                <a:cs typeface="Courier New" pitchFamily="34" charset="-120"/>
              </a:rPr>
              <a:t>email_failed</a:t>
            </a:r>
            <a:pPr algn="l" indent="0" marL="0">
              <a:lnSpc>
                <a:spcPts val="2350"/>
              </a:lnSpc>
              <a:buNone/>
            </a:pPr>
            <a:r>
              <a:rPr lang="en-US" sz="1680" dirty="0">
                <a:solidFill>
                  <a:srgbClr val="101A22"/>
                </a:solidFill>
                <a:latin typeface="Arial" pitchFamily="34" charset="0"/>
                <a:ea typeface="Arial" pitchFamily="34" charset="-122"/>
                <a:cs typeface="Arial" pitchFamily="34" charset="-120"/>
              </a:rPr>
              <a:t> event, with the </a:t>
            </a:r>
            <a:pPr algn="l" indent="0" marL="0">
              <a:lnSpc>
                <a:spcPts val="2350"/>
              </a:lnSpc>
              <a:buNone/>
            </a:pPr>
            <a:r>
              <a:rPr lang="en-US" sz="1680" b="1" dirty="0">
                <a:solidFill>
                  <a:srgbClr val="101A22"/>
                </a:solidFill>
                <a:latin typeface="Arial" pitchFamily="34" charset="0"/>
                <a:ea typeface="Arial" pitchFamily="34" charset="-122"/>
                <a:cs typeface="Arial" pitchFamily="34" charset="-120"/>
              </a:rPr>
              <a:t>full text of the email</a:t>
            </a:r>
            <a:pPr algn="l" indent="0" marL="0">
              <a:lnSpc>
                <a:spcPts val="2350"/>
              </a:lnSpc>
              <a:buNone/>
            </a:pPr>
            <a:r>
              <a:rPr lang="en-US" sz="1680" dirty="0">
                <a:solidFill>
                  <a:srgbClr val="101A22"/>
                </a:solidFill>
                <a:latin typeface="Arial" pitchFamily="34" charset="0"/>
                <a:ea typeface="Arial" pitchFamily="34" charset="-122"/>
                <a:cs typeface="Arial" pitchFamily="34" charset="-120"/>
              </a:rPr>
              <a:t>. Moodle's own new-device sign-in notice is such an email, and it contains the user's name, email address, IP address and browser.</a:t>
            </a:r>
            <a:endParaRPr lang="en-US" sz="1680" dirty="0"/>
          </a:p>
        </p:txBody>
      </p:sp>
      <p:sp>
        <p:nvSpPr>
          <p:cNvPr id="13" name="Text 11"/>
          <p:cNvSpPr txBox="1"/>
          <p:nvPr/>
        </p:nvSpPr>
        <p:spPr>
          <a:xfrm>
            <a:off x="1073384" y="3249170"/>
            <a:ext cx="10380417" cy="596555"/>
          </a:xfrm>
          <a:prstGeom prst="rect">
            <a:avLst/>
          </a:prstGeom>
          <a:noFill/>
          <a:ln/>
        </p:spPr>
        <p:txBody>
          <a:bodyPr wrap="square" lIns="0" tIns="0" rIns="0" bIns="0" rtlCol="0" anchor="t"/>
          <a:lstStyle/>
          <a:p>
            <a:pPr algn="l" indent="0" marL="0">
              <a:lnSpc>
                <a:spcPts val="2350"/>
              </a:lnSpc>
              <a:buNone/>
            </a:pPr>
            <a:r>
              <a:rPr lang="en-US" sz="1680" dirty="0">
                <a:solidFill>
                  <a:srgbClr val="101A22"/>
                </a:solidFill>
                <a:latin typeface="Arial" pitchFamily="34" charset="0"/>
                <a:ea typeface="Arial" pitchFamily="34" charset="-122"/>
                <a:cs typeface="Arial" pitchFamily="34" charset="-120"/>
              </a:rPr>
              <a:t>The index holds personal data as soon as one record identifies a person. The General Data Protection Regulation (GDPR) then applies to the index, not only to Moodle.</a:t>
            </a:r>
            <a:endParaRPr lang="en-US" sz="1680" dirty="0"/>
          </a:p>
        </p:txBody>
      </p:sp>
      <p:sp>
        <p:nvSpPr>
          <p:cNvPr id="14" name="Text 12"/>
          <p:cNvSpPr txBox="1"/>
          <p:nvPr/>
        </p:nvSpPr>
        <p:spPr>
          <a:xfrm>
            <a:off x="1073384" y="3975461"/>
            <a:ext cx="10380417" cy="616392"/>
          </a:xfrm>
          <a:prstGeom prst="rect">
            <a:avLst/>
          </a:prstGeom>
          <a:noFill/>
          <a:ln/>
        </p:spPr>
        <p:txBody>
          <a:bodyPr wrap="square" lIns="0" tIns="0" rIns="0" bIns="0" rtlCol="0" anchor="t"/>
          <a:lstStyle/>
          <a:p>
            <a:pPr algn="l" indent="0" marL="0">
              <a:lnSpc>
                <a:spcPts val="2350"/>
              </a:lnSpc>
              <a:buNone/>
            </a:pPr>
            <a:r>
              <a:rPr lang="en-US" sz="1680" dirty="0">
                <a:solidFill>
                  <a:srgbClr val="101A22"/>
                </a:solidFill>
                <a:latin typeface="Arial" pitchFamily="34" charset="0"/>
                <a:ea typeface="Arial" pitchFamily="34" charset="-122"/>
                <a:cs typeface="Arial" pitchFamily="34" charset="-120"/>
              </a:rPr>
              <a:t>Remove or hash such attributes in the </a:t>
            </a:r>
            <a:pPr algn="l" indent="0" marL="0">
              <a:lnSpc>
                <a:spcPts val="2350"/>
              </a:lnSpc>
              <a:buNone/>
            </a:pPr>
            <a:r>
              <a:rPr lang="en-US" sz="1680" b="1" dirty="0">
                <a:solidFill>
                  <a:srgbClr val="101A22"/>
                </a:solidFill>
                <a:latin typeface="Arial" pitchFamily="34" charset="0"/>
                <a:ea typeface="Arial" pitchFamily="34" charset="-122"/>
                <a:cs typeface="Arial" pitchFamily="34" charset="-120"/>
              </a:rPr>
              <a:t>OpenTelemetry Collector</a:t>
            </a:r>
            <a:pPr algn="l" indent="0" marL="0">
              <a:lnSpc>
                <a:spcPts val="2350"/>
              </a:lnSpc>
              <a:buNone/>
            </a:pPr>
            <a:r>
              <a:rPr lang="en-US" sz="1680" dirty="0">
                <a:solidFill>
                  <a:srgbClr val="101A22"/>
                </a:solidFill>
                <a:latin typeface="Arial" pitchFamily="34" charset="0"/>
                <a:ea typeface="Arial" pitchFamily="34" charset="-122"/>
                <a:cs typeface="Arial" pitchFamily="34" charset="-120"/>
              </a:rPr>
              <a:t>, before they reach OpenSearch. For example, this statement in a </a:t>
            </a:r>
            <a:pPr algn="l" indent="0" marL="0">
              <a:lnSpc>
                <a:spcPts val="2350"/>
              </a:lnSpc>
              <a:buNone/>
            </a:pPr>
            <a:r>
              <a:rPr lang="en-US" sz="1480" dirty="0">
                <a:solidFill>
                  <a:srgbClr val="101A22"/>
                </a:solidFill>
                <a:highlight>
                  <a:srgbClr val="E1F0F7"/>
                </a:highlight>
                <a:latin typeface="Courier New" pitchFamily="34" charset="0"/>
                <a:ea typeface="Courier New" pitchFamily="34" charset="-122"/>
                <a:cs typeface="Courier New" pitchFamily="34" charset="-120"/>
              </a:rPr>
              <a:t>transform</a:t>
            </a:r>
            <a:pPr algn="l" indent="0" marL="0">
              <a:lnSpc>
                <a:spcPts val="2350"/>
              </a:lnSpc>
              <a:buNone/>
            </a:pPr>
            <a:r>
              <a:rPr lang="en-US" sz="1680" dirty="0">
                <a:solidFill>
                  <a:srgbClr val="101A22"/>
                </a:solidFill>
                <a:latin typeface="Arial" pitchFamily="34" charset="0"/>
                <a:ea typeface="Arial" pitchFamily="34" charset="-122"/>
                <a:cs typeface="Arial" pitchFamily="34" charset="-120"/>
              </a:rPr>
              <a:t> processor deletes the email text:</a:t>
            </a:r>
            <a:endParaRPr lang="en-US" sz="1680" dirty="0"/>
          </a:p>
        </p:txBody>
      </p:sp>
      <p:sp>
        <p:nvSpPr>
          <p:cNvPr id="15" name="Text 13"/>
          <p:cNvSpPr txBox="1"/>
          <p:nvPr/>
        </p:nvSpPr>
        <p:spPr>
          <a:xfrm>
            <a:off x="962170" y="4853889"/>
            <a:ext cx="10324810" cy="373251"/>
          </a:xfrm>
          <a:prstGeom prst="rect">
            <a:avLst/>
          </a:prstGeom>
          <a:noFill/>
          <a:ln/>
        </p:spPr>
        <p:txBody>
          <a:bodyPr wrap="square" lIns="0" tIns="0" rIns="0" bIns="0" rtlCol="0" anchor="t"/>
          <a:lstStyle/>
          <a:p>
            <a:pPr algn="l" indent="0" marL="0">
              <a:lnSpc>
                <a:spcPts val="1470"/>
              </a:lnSpc>
              <a:buNone/>
            </a:pPr>
            <a:r>
              <a:rPr lang="en-US" sz="950" dirty="0">
                <a:solidFill>
                  <a:srgbClr val="E4EDF2"/>
                </a:solidFill>
                <a:latin typeface="Courier New" pitchFamily="34" charset="0"/>
                <a:ea typeface="Courier New" pitchFamily="34" charset="-122"/>
                <a:cs typeface="Courier New" pitchFamily="34" charset="-120"/>
              </a:rPr>
              <a:t>delete_key(log.attributes, "event.data.other")</a:t>
            </a:r>
            <a:endParaRPr lang="en-US" sz="950" dirty="0"/>
          </a:p>
          <a:p>
            <a:pPr algn="l" indent="0" marL="0">
              <a:lnSpc>
                <a:spcPts val="1470"/>
              </a:lnSpc>
              <a:buNone/>
            </a:pPr>
            <a:r>
              <a:rPr lang="en-US" sz="950" dirty="0">
                <a:solidFill>
                  <a:srgbClr val="E4EDF2"/>
                </a:solidFill>
                <a:latin typeface="Courier New" pitchFamily="34" charset="0"/>
                <a:ea typeface="Courier New" pitchFamily="34" charset="-122"/>
                <a:cs typeface="Courier New" pitchFamily="34" charset="-120"/>
              </a:rPr>
              <a:t>  where log.attributes["event.data.eventname"] == "\\core\\event\\email_failed"</a:t>
            </a:r>
            <a:endParaRPr lang="en-US" sz="950" dirty="0"/>
          </a:p>
        </p:txBody>
      </p:sp>
      <p:sp>
        <p:nvSpPr>
          <p:cNvPr id="16" name="Text 14"/>
          <p:cNvSpPr txBox="1"/>
          <p:nvPr/>
        </p:nvSpPr>
        <p:spPr>
          <a:xfrm>
            <a:off x="1073384" y="5484079"/>
            <a:ext cx="10380417" cy="298424"/>
          </a:xfrm>
          <a:prstGeom prst="rect">
            <a:avLst/>
          </a:prstGeom>
          <a:noFill/>
          <a:ln/>
        </p:spPr>
        <p:txBody>
          <a:bodyPr wrap="none" lIns="0" tIns="0" rIns="0" bIns="0" rtlCol="0" anchor="t"/>
          <a:lstStyle/>
          <a:p>
            <a:pPr algn="l" indent="0" marL="0">
              <a:lnSpc>
                <a:spcPts val="2350"/>
              </a:lnSpc>
              <a:buNone/>
            </a:pPr>
            <a:r>
              <a:rPr lang="en-US" sz="1680" dirty="0">
                <a:solidFill>
                  <a:srgbClr val="101A22"/>
                </a:solidFill>
                <a:latin typeface="Arial" pitchFamily="34" charset="0"/>
                <a:ea typeface="Arial" pitchFamily="34" charset="-122"/>
                <a:cs typeface="Arial" pitchFamily="34" charset="-120"/>
              </a:rPr>
              <a:t>Decide the retention period </a:t>
            </a:r>
            <a:pPr algn="l" indent="0" marL="0">
              <a:lnSpc>
                <a:spcPts val="2350"/>
              </a:lnSpc>
              <a:buNone/>
            </a:pPr>
            <a:r>
              <a:rPr lang="en-US" sz="1680" b="1" dirty="0">
                <a:solidFill>
                  <a:srgbClr val="101A22"/>
                </a:solidFill>
                <a:latin typeface="Arial" pitchFamily="34" charset="0"/>
                <a:ea typeface="Arial" pitchFamily="34" charset="-122"/>
                <a:cs typeface="Arial" pitchFamily="34" charset="-120"/>
              </a:rPr>
              <a:t>before</a:t>
            </a:r>
            <a:pPr algn="l" indent="0" marL="0">
              <a:lnSpc>
                <a:spcPts val="2350"/>
              </a:lnSpc>
              <a:buNone/>
            </a:pPr>
            <a:r>
              <a:rPr lang="en-US" sz="1680" dirty="0">
                <a:solidFill>
                  <a:srgbClr val="101A22"/>
                </a:solidFill>
                <a:latin typeface="Arial" pitchFamily="34" charset="0"/>
                <a:ea typeface="Arial" pitchFamily="34" charset="-122"/>
                <a:cs typeface="Arial" pitchFamily="34" charset="-120"/>
              </a:rPr>
              <a:t> you switch the sending on.</a:t>
            </a:r>
            <a:endParaRPr lang="en-US" sz="1680" dirty="0"/>
          </a:p>
        </p:txBody>
      </p:sp>
      <p:sp>
        <p:nvSpPr>
          <p:cNvPr id="17" name="Text 15"/>
          <p:cNvSpPr txBox="1"/>
          <p:nvPr/>
        </p:nvSpPr>
        <p:spPr>
          <a:xfrm>
            <a:off x="647700" y="6464463"/>
            <a:ext cx="651718" cy="144578"/>
          </a:xfrm>
          <a:prstGeom prst="rect">
            <a:avLst/>
          </a:prstGeom>
          <a:noFill/>
          <a:ln/>
        </p:spPr>
        <p:txBody>
          <a:bodyPr wrap="none" lIns="0" tIns="0" rIns="0" bIns="0" rtlCol="0" anchor="t"/>
          <a:lstStyle/>
          <a:p>
            <a:pPr algn="l" indent="0" marL="0">
              <a:lnSpc>
                <a:spcPts val="1140"/>
              </a:lnSpc>
              <a:buNone/>
            </a:pPr>
            <a:r>
              <a:rPr lang="en-US" sz="950" dirty="0">
                <a:solidFill>
                  <a:srgbClr val="8496A2"/>
                </a:solidFill>
                <a:latin typeface="Courier New" pitchFamily="34" charset="0"/>
                <a:ea typeface="Courier New" pitchFamily="34" charset="-122"/>
                <a:cs typeface="Courier New" pitchFamily="34" charset="-120"/>
              </a:rPr>
              <a:t>Cautions</a:t>
            </a:r>
            <a:endParaRPr lang="en-US" sz="950" dirty="0"/>
          </a:p>
        </p:txBody>
      </p:sp>
      <p:sp>
        <p:nvSpPr>
          <p:cNvPr id="18" name="Text 16"/>
          <p:cNvSpPr txBox="1"/>
          <p:nvPr/>
        </p:nvSpPr>
        <p:spPr>
          <a:xfrm>
            <a:off x="11024146" y="6464463"/>
            <a:ext cx="577304" cy="144578"/>
          </a:xfrm>
          <a:prstGeom prst="rect">
            <a:avLst/>
          </a:prstGeom>
          <a:noFill/>
          <a:ln/>
        </p:spPr>
        <p:txBody>
          <a:bodyPr wrap="none" lIns="0" tIns="0" rIns="0" bIns="0" rtlCol="0" anchor="t"/>
          <a:lstStyle/>
          <a:p>
            <a:pPr algn="l" indent="0" marL="0">
              <a:lnSpc>
                <a:spcPts val="1140"/>
              </a:lnSpc>
              <a:buNone/>
            </a:pPr>
            <a:r>
              <a:rPr lang="en-US" sz="950" dirty="0">
                <a:solidFill>
                  <a:srgbClr val="8496A2"/>
                </a:solidFill>
                <a:latin typeface="Courier New" pitchFamily="34" charset="0"/>
                <a:ea typeface="Courier New" pitchFamily="34" charset="-122"/>
                <a:cs typeface="Courier New" pitchFamily="34" charset="-120"/>
              </a:rPr>
              <a:t>30 / 39</a:t>
            </a:r>
            <a:endParaRPr lang="en-US" sz="950" dirty="0"/>
          </a:p>
        </p:txBody>
      </p:sp>
      <p:pic>
        <p:nvPicPr>
          <p:cNvPr id="900" name="NetSapiensis mark" descr="NetSapiensis"/>
          <p:cNvPicPr>
            <a:picLocks noChangeAspect="1"/>
          </p:cNvPicPr>
          <p:nvPr/>
        </p:nvPicPr>
        <p:blipFill>
          <a:blip r:embed="rId3"/>
          <a:stretch>
            <a:fillRect/>
          </a:stretch>
        </p:blipFill>
        <p:spPr>
          <a:xfrm>
            <a:off x="10776204" y="6419088"/>
            <a:ext cx="178308" cy="237744"/>
          </a:xfrm>
          <a:prstGeom prst="rect">
            <a:avLst/>
          </a:prstGeom>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729732" y="2473937"/>
            <a:ext cx="8732536" cy="1248050"/>
          </a:xfrm>
          <a:prstGeom prst="roundRect">
            <a:avLst>
              <a:gd name="adj" fmla="val 10749"/>
            </a:avLst>
          </a:prstGeom>
          <a:solidFill>
            <a:srgbClr val="FBF0E2"/>
          </a:solidFill>
          <a:ln w="15240">
            <a:solidFill>
              <a:srgbClr val="E0BE93"/>
            </a:solidFill>
            <a:prstDash val="solid"/>
          </a:ln>
        </p:spPr>
      </p:sp>
      <p:sp>
        <p:nvSpPr>
          <p:cNvPr id="3" name="Shape 1"/>
          <p:cNvSpPr/>
          <p:nvPr/>
        </p:nvSpPr>
        <p:spPr>
          <a:xfrm>
            <a:off x="1760250" y="3950941"/>
            <a:ext cx="68666" cy="68666"/>
          </a:xfrm>
          <a:prstGeom prst="roundRect">
            <a:avLst>
              <a:gd name="adj" fmla="val 591850"/>
            </a:avLst>
          </a:prstGeom>
          <a:solidFill>
            <a:srgbClr val="8496A2"/>
          </a:solidFill>
          <a:ln/>
        </p:spPr>
      </p:sp>
      <p:sp>
        <p:nvSpPr>
          <p:cNvPr id="4" name="Shape 2"/>
          <p:cNvSpPr/>
          <p:nvPr/>
        </p:nvSpPr>
        <p:spPr>
          <a:xfrm>
            <a:off x="1760250" y="4549204"/>
            <a:ext cx="68666" cy="68666"/>
          </a:xfrm>
          <a:prstGeom prst="roundRect">
            <a:avLst>
              <a:gd name="adj" fmla="val 591850"/>
            </a:avLst>
          </a:prstGeom>
          <a:solidFill>
            <a:srgbClr val="8496A2"/>
          </a:solidFill>
          <a:ln/>
        </p:spPr>
      </p:sp>
      <p:sp>
        <p:nvSpPr>
          <p:cNvPr id="5" name="Shape 3"/>
          <p:cNvSpPr/>
          <p:nvPr/>
        </p:nvSpPr>
        <p:spPr>
          <a:xfrm>
            <a:off x="1760250" y="5409505"/>
            <a:ext cx="68666" cy="68666"/>
          </a:xfrm>
          <a:prstGeom prst="roundRect">
            <a:avLst>
              <a:gd name="adj" fmla="val 591850"/>
            </a:avLst>
          </a:prstGeom>
          <a:solidFill>
            <a:srgbClr val="8496A2"/>
          </a:solidFill>
          <a:ln/>
        </p:spPr>
      </p:sp>
      <p:sp>
        <p:nvSpPr>
          <p:cNvPr id="6" name="Shape 4"/>
          <p:cNvSpPr/>
          <p:nvPr/>
        </p:nvSpPr>
        <p:spPr>
          <a:xfrm>
            <a:off x="647700" y="6343650"/>
            <a:ext cx="10896600" cy="0"/>
          </a:xfrm>
          <a:prstGeom prst="line">
            <a:avLst/>
          </a:prstGeom>
          <a:noFill/>
          <a:ln w="7620">
            <a:solidFill>
              <a:srgbClr val="CBD7DF"/>
            </a:solidFill>
            <a:prstDash val="solid"/>
          </a:ln>
        </p:spPr>
      </p:sp>
      <p:sp>
        <p:nvSpPr>
          <p:cNvPr id="7" name="Text 5"/>
          <p:cNvSpPr txBox="1"/>
          <p:nvPr/>
        </p:nvSpPr>
        <p:spPr>
          <a:xfrm>
            <a:off x="1729732" y="516043"/>
            <a:ext cx="8789686" cy="148850"/>
          </a:xfrm>
          <a:prstGeom prst="rect">
            <a:avLst/>
          </a:prstGeom>
          <a:noFill/>
          <a:ln/>
        </p:spPr>
        <p:txBody>
          <a:bodyPr wrap="none" lIns="0" tIns="0" rIns="0" bIns="0" rtlCol="0" anchor="t"/>
          <a:lstStyle/>
          <a:p>
            <a:pPr algn="l" indent="0" marL="0">
              <a:lnSpc>
                <a:spcPts val="1170"/>
              </a:lnSpc>
              <a:buNone/>
            </a:pPr>
            <a:r>
              <a:rPr lang="en-US" sz="780" spc="120" kern="0" dirty="0">
                <a:solidFill>
                  <a:srgbClr val="0B6E99"/>
                </a:solidFill>
                <a:latin typeface="Courier New" pitchFamily="34" charset="0"/>
                <a:ea typeface="Courier New" pitchFamily="34" charset="-122"/>
                <a:cs typeface="Courier New" pitchFamily="34" charset="-120"/>
              </a:rPr>
              <a:t>CAUTION 2</a:t>
            </a:r>
            <a:endParaRPr lang="en-US" sz="780" dirty="0"/>
          </a:p>
        </p:txBody>
      </p:sp>
      <p:sp>
        <p:nvSpPr>
          <p:cNvPr id="8" name="Text 6"/>
          <p:cNvSpPr txBox="1"/>
          <p:nvPr/>
        </p:nvSpPr>
        <p:spPr>
          <a:xfrm>
            <a:off x="1729732" y="789117"/>
            <a:ext cx="8789686" cy="692487"/>
          </a:xfrm>
          <a:prstGeom prst="rect">
            <a:avLst/>
          </a:prstGeom>
          <a:noFill/>
          <a:ln/>
        </p:spPr>
        <p:txBody>
          <a:bodyPr wrap="square" lIns="0" tIns="0" rIns="0" bIns="0" rtlCol="0" anchor="t"/>
          <a:lstStyle/>
          <a:p>
            <a:pPr algn="l" indent="0" marL="0">
              <a:lnSpc>
                <a:spcPts val="2730"/>
              </a:lnSpc>
              <a:buNone/>
            </a:pPr>
            <a:r>
              <a:rPr lang="en-US" sz="2520" b="1" spc="-50" kern="0" dirty="0">
                <a:solidFill>
                  <a:srgbClr val="101A22"/>
                </a:solidFill>
                <a:latin typeface="Arial" pitchFamily="34" charset="0"/>
                <a:ea typeface="Arial" pitchFamily="34" charset="-122"/>
                <a:cs typeface="Arial" pitchFamily="34" charset="-120"/>
              </a:rPr>
              <a:t>OpenSearch stores every index in shards, and a server has a limit on shards</a:t>
            </a:r>
            <a:endParaRPr lang="en-US" sz="2520" dirty="0"/>
          </a:p>
        </p:txBody>
      </p:sp>
      <p:sp>
        <p:nvSpPr>
          <p:cNvPr id="9" name="Text 7"/>
          <p:cNvSpPr txBox="1"/>
          <p:nvPr/>
        </p:nvSpPr>
        <p:spPr>
          <a:xfrm>
            <a:off x="1729732" y="1645356"/>
            <a:ext cx="8789686" cy="595400"/>
          </a:xfrm>
          <a:prstGeom prst="rect">
            <a:avLst/>
          </a:prstGeom>
          <a:noFill/>
          <a:ln/>
        </p:spPr>
        <p:txBody>
          <a:bodyPr wrap="square" lIns="0" tIns="0" rIns="0" bIns="0" rtlCol="0" anchor="t"/>
          <a:lstStyle/>
          <a:p>
            <a:pPr algn="l" indent="0" marL="0">
              <a:lnSpc>
                <a:spcPts val="2340"/>
              </a:lnSpc>
              <a:buNone/>
            </a:pPr>
            <a:r>
              <a:rPr lang="en-US" sz="1560" dirty="0">
                <a:solidFill>
                  <a:srgbClr val="5A6D7A"/>
                </a:solidFill>
                <a:latin typeface="Arial" pitchFamily="34" charset="0"/>
                <a:ea typeface="Arial" pitchFamily="34" charset="-122"/>
                <a:cs typeface="Arial" pitchFamily="34" charset="-120"/>
              </a:rPr>
              <a:t>An index in OpenSearch is stored on disk as one or more pieces called shards. By default one data server accepts at most 1000 shards, and every new index brings the server closer to that limit.</a:t>
            </a:r>
            <a:endParaRPr lang="en-US" sz="1560" dirty="0"/>
          </a:p>
        </p:txBody>
      </p:sp>
      <p:sp>
        <p:nvSpPr>
          <p:cNvPr id="10" name="Text 8"/>
          <p:cNvSpPr txBox="1"/>
          <p:nvPr/>
        </p:nvSpPr>
        <p:spPr>
          <a:xfrm>
            <a:off x="1928199" y="2653704"/>
            <a:ext cx="8392753" cy="164798"/>
          </a:xfrm>
          <a:prstGeom prst="rect">
            <a:avLst/>
          </a:prstGeom>
          <a:noFill/>
          <a:ln/>
        </p:spPr>
        <p:txBody>
          <a:bodyPr wrap="none" lIns="0" tIns="0" rIns="0" bIns="0" rtlCol="0" anchor="t"/>
          <a:lstStyle/>
          <a:p>
            <a:pPr algn="l" indent="0" marL="0">
              <a:lnSpc>
                <a:spcPts val="1300"/>
              </a:lnSpc>
              <a:buNone/>
            </a:pPr>
            <a:r>
              <a:rPr lang="en-US" sz="1080" b="1" dirty="0">
                <a:solidFill>
                  <a:srgbClr val="A8500F"/>
                </a:solidFill>
                <a:latin typeface="Courier New" pitchFamily="34" charset="0"/>
                <a:ea typeface="Courier New" pitchFamily="34" charset="-122"/>
                <a:cs typeface="Courier New" pitchFamily="34" charset="-120"/>
              </a:rPr>
              <a:t>What happens without a retention policy</a:t>
            </a:r>
            <a:endParaRPr lang="en-US" sz="1080" dirty="0"/>
          </a:p>
        </p:txBody>
      </p:sp>
      <p:sp>
        <p:nvSpPr>
          <p:cNvPr id="11" name="Text 9"/>
          <p:cNvSpPr txBox="1"/>
          <p:nvPr/>
        </p:nvSpPr>
        <p:spPr>
          <a:xfrm>
            <a:off x="1928199" y="2860769"/>
            <a:ext cx="8392753" cy="652650"/>
          </a:xfrm>
          <a:prstGeom prst="rect">
            <a:avLst/>
          </a:prstGeom>
          <a:noFill/>
          <a:ln/>
        </p:spPr>
        <p:txBody>
          <a:bodyPr wrap="square" lIns="0" tIns="0" rIns="0" bIns="0" rtlCol="0" anchor="t"/>
          <a:lstStyle/>
          <a:p>
            <a:pPr algn="l" indent="0" marL="0">
              <a:lnSpc>
                <a:spcPts val="1710"/>
              </a:lnSpc>
              <a:buNone/>
            </a:pPr>
            <a:r>
              <a:rPr lang="en-US" sz="1140" dirty="0">
                <a:solidFill>
                  <a:srgbClr val="101A22"/>
                </a:solidFill>
                <a:latin typeface="Arial" pitchFamily="34" charset="0"/>
                <a:ea typeface="Arial" pitchFamily="34" charset="-122"/>
                <a:cs typeface="Arial" pitchFamily="34" charset="-120"/>
              </a:rPr>
              <a:t>By default each index has two shards, one primary and one copy. For example, five daily indices add ten shards per day, and they reach 1000 shards in 100 days. From then on OpenSearch cannot create the new day's indices, and it rejects every incoming record. Nothing alerts you by default.</a:t>
            </a:r>
            <a:endParaRPr lang="en-US" sz="1140" dirty="0"/>
          </a:p>
        </p:txBody>
      </p:sp>
      <p:sp>
        <p:nvSpPr>
          <p:cNvPr id="12" name="Text 10"/>
          <p:cNvSpPr txBox="1"/>
          <p:nvPr/>
        </p:nvSpPr>
        <p:spPr>
          <a:xfrm>
            <a:off x="1958618" y="3837452"/>
            <a:ext cx="8560800" cy="491396"/>
          </a:xfrm>
          <a:prstGeom prst="rect">
            <a:avLst/>
          </a:prstGeom>
          <a:noFill/>
          <a:ln/>
        </p:spPr>
        <p:txBody>
          <a:bodyPr wrap="square" lIns="0" tIns="0" rIns="0" bIns="0" rtlCol="0" anchor="t"/>
          <a:lstStyle/>
          <a:p>
            <a:pPr algn="l" indent="0" marL="0">
              <a:lnSpc>
                <a:spcPts val="1930"/>
              </a:lnSpc>
              <a:buNone/>
            </a:pPr>
            <a:r>
              <a:rPr lang="en-US" sz="1380" dirty="0">
                <a:solidFill>
                  <a:srgbClr val="101A22"/>
                </a:solidFill>
                <a:latin typeface="Arial" pitchFamily="34" charset="0"/>
                <a:ea typeface="Arial" pitchFamily="34" charset="-122"/>
                <a:cs typeface="Arial" pitchFamily="34" charset="-120"/>
              </a:rPr>
              <a:t>Very large shards are also a problem. The OpenSearch documentation recommends 10 to 50 GB per shard. Above that, searches slow down.</a:t>
            </a:r>
            <a:endParaRPr lang="en-US" sz="1380" dirty="0"/>
          </a:p>
        </p:txBody>
      </p:sp>
      <p:sp>
        <p:nvSpPr>
          <p:cNvPr id="13" name="Text 11"/>
          <p:cNvSpPr txBox="1"/>
          <p:nvPr/>
        </p:nvSpPr>
        <p:spPr>
          <a:xfrm>
            <a:off x="1958618" y="4435715"/>
            <a:ext cx="8560800" cy="753435"/>
          </a:xfrm>
          <a:prstGeom prst="rect">
            <a:avLst/>
          </a:prstGeom>
          <a:noFill/>
          <a:ln/>
        </p:spPr>
        <p:txBody>
          <a:bodyPr wrap="square" lIns="0" tIns="0" rIns="0" bIns="0" rtlCol="0" anchor="t"/>
          <a:lstStyle/>
          <a:p>
            <a:pPr algn="l" indent="0" marL="0">
              <a:lnSpc>
                <a:spcPts val="1930"/>
              </a:lnSpc>
              <a:buNone/>
            </a:pPr>
            <a:r>
              <a:rPr lang="en-US" sz="1380" dirty="0">
                <a:solidFill>
                  <a:srgbClr val="101A22"/>
                </a:solidFill>
                <a:latin typeface="Arial" pitchFamily="34" charset="0"/>
                <a:ea typeface="Arial" pitchFamily="34" charset="-122"/>
                <a:cs typeface="Arial" pitchFamily="34" charset="-120"/>
              </a:rPr>
              <a:t>Choose the index period so that one index stays in that range. One index per month, </a:t>
            </a:r>
            <a:pPr algn="l" indent="0" marL="0">
              <a:lnSpc>
                <a:spcPts val="1930"/>
              </a:lnSpc>
              <a:buNone/>
            </a:pPr>
            <a:r>
              <a:rPr lang="en-US" sz="1220" dirty="0">
                <a:solidFill>
                  <a:srgbClr val="101A22"/>
                </a:solidFill>
                <a:highlight>
                  <a:srgbClr val="E1F0F7"/>
                </a:highlight>
                <a:latin typeface="Courier New" pitchFamily="34" charset="0"/>
                <a:ea typeface="Courier New" pitchFamily="34" charset="-122"/>
                <a:cs typeface="Courier New" pitchFamily="34" charset="-120"/>
              </a:rPr>
              <a:t>logs_index_time_format: "yyyy.MM"</a:t>
            </a:r>
            <a:pPr algn="l" indent="0" marL="0">
              <a:lnSpc>
                <a:spcPts val="1930"/>
              </a:lnSpc>
              <a:buNone/>
            </a:pPr>
            <a:r>
              <a:rPr lang="en-US" sz="1380" dirty="0">
                <a:solidFill>
                  <a:srgbClr val="101A22"/>
                </a:solidFill>
                <a:latin typeface="Arial" pitchFamily="34" charset="0"/>
                <a:ea typeface="Arial" pitchFamily="34" charset="-122"/>
                <a:cs typeface="Arial" pitchFamily="34" charset="-120"/>
              </a:rPr>
              <a:t> in the OpenTelemetry Collector's configuration file, fits a site that writes up to a few million events a day.</a:t>
            </a:r>
            <a:endParaRPr lang="en-US" sz="1380" dirty="0"/>
          </a:p>
        </p:txBody>
      </p:sp>
      <p:sp>
        <p:nvSpPr>
          <p:cNvPr id="14" name="Text 12"/>
          <p:cNvSpPr txBox="1"/>
          <p:nvPr/>
        </p:nvSpPr>
        <p:spPr>
          <a:xfrm>
            <a:off x="1958618" y="5296016"/>
            <a:ext cx="8560800" cy="491396"/>
          </a:xfrm>
          <a:prstGeom prst="rect">
            <a:avLst/>
          </a:prstGeom>
          <a:noFill/>
          <a:ln/>
        </p:spPr>
        <p:txBody>
          <a:bodyPr wrap="square" lIns="0" tIns="0" rIns="0" bIns="0" rtlCol="0" anchor="t"/>
          <a:lstStyle/>
          <a:p>
            <a:pPr algn="l" indent="0" marL="0">
              <a:lnSpc>
                <a:spcPts val="1930"/>
              </a:lnSpc>
              <a:buNone/>
            </a:pPr>
            <a:r>
              <a:rPr lang="en-US" sz="1380" dirty="0">
                <a:solidFill>
                  <a:srgbClr val="101A22"/>
                </a:solidFill>
                <a:latin typeface="Arial" pitchFamily="34" charset="0"/>
                <a:ea typeface="Arial" pitchFamily="34" charset="-122"/>
                <a:cs typeface="Arial" pitchFamily="34" charset="-120"/>
              </a:rPr>
              <a:t>Create the retention policy in OpenSearch on the first day, so old indices are deleted and their shards are freed.</a:t>
            </a:r>
            <a:endParaRPr lang="en-US" sz="1380" dirty="0"/>
          </a:p>
        </p:txBody>
      </p:sp>
      <p:sp>
        <p:nvSpPr>
          <p:cNvPr id="15" name="Text 13"/>
          <p:cNvSpPr txBox="1"/>
          <p:nvPr/>
        </p:nvSpPr>
        <p:spPr>
          <a:xfrm>
            <a:off x="647700" y="6464995"/>
            <a:ext cx="651718" cy="142875"/>
          </a:xfrm>
          <a:prstGeom prst="rect">
            <a:avLst/>
          </a:prstGeom>
          <a:noFill/>
          <a:ln/>
        </p:spPr>
        <p:txBody>
          <a:bodyPr wrap="none" lIns="0" tIns="0" rIns="0" bIns="0" rtlCol="0" anchor="t"/>
          <a:lstStyle/>
          <a:p>
            <a:pPr algn="l" indent="0" marL="0">
              <a:lnSpc>
                <a:spcPts val="940"/>
              </a:lnSpc>
              <a:buNone/>
            </a:pPr>
            <a:r>
              <a:rPr lang="en-US" sz="780" dirty="0">
                <a:solidFill>
                  <a:srgbClr val="8496A2"/>
                </a:solidFill>
                <a:latin typeface="Courier New" pitchFamily="34" charset="0"/>
                <a:ea typeface="Courier New" pitchFamily="34" charset="-122"/>
                <a:cs typeface="Courier New" pitchFamily="34" charset="-120"/>
              </a:rPr>
              <a:t>Cautions</a:t>
            </a:r>
            <a:endParaRPr lang="en-US" sz="780" dirty="0"/>
          </a:p>
        </p:txBody>
      </p:sp>
      <p:sp>
        <p:nvSpPr>
          <p:cNvPr id="16" name="Text 14"/>
          <p:cNvSpPr txBox="1"/>
          <p:nvPr/>
        </p:nvSpPr>
        <p:spPr>
          <a:xfrm>
            <a:off x="11024146" y="6464995"/>
            <a:ext cx="577304" cy="142875"/>
          </a:xfrm>
          <a:prstGeom prst="rect">
            <a:avLst/>
          </a:prstGeom>
          <a:noFill/>
          <a:ln/>
        </p:spPr>
        <p:txBody>
          <a:bodyPr wrap="none" lIns="0" tIns="0" rIns="0" bIns="0" rtlCol="0" anchor="t"/>
          <a:lstStyle/>
          <a:p>
            <a:pPr algn="l" indent="0" marL="0">
              <a:lnSpc>
                <a:spcPts val="940"/>
              </a:lnSpc>
              <a:buNone/>
            </a:pPr>
            <a:r>
              <a:rPr lang="en-US" sz="780" dirty="0">
                <a:solidFill>
                  <a:srgbClr val="8496A2"/>
                </a:solidFill>
                <a:latin typeface="Courier New" pitchFamily="34" charset="0"/>
                <a:ea typeface="Courier New" pitchFamily="34" charset="-122"/>
                <a:cs typeface="Courier New" pitchFamily="34" charset="-120"/>
              </a:rPr>
              <a:t>31 / 39</a:t>
            </a:r>
            <a:endParaRPr lang="en-US" sz="780" dirty="0"/>
          </a:p>
        </p:txBody>
      </p:sp>
      <p:pic>
        <p:nvPicPr>
          <p:cNvPr id="900" name="NetSapiensis mark" descr="NetSapiensis"/>
          <p:cNvPicPr>
            <a:picLocks noChangeAspect="1"/>
          </p:cNvPicPr>
          <p:nvPr/>
        </p:nvPicPr>
        <p:blipFill>
          <a:blip r:embed="rId3"/>
          <a:stretch>
            <a:fillRect/>
          </a:stretch>
        </p:blipFill>
        <p:spPr>
          <a:xfrm>
            <a:off x="10776204" y="6419088"/>
            <a:ext cx="178308" cy="237744"/>
          </a:xfrm>
          <a:prstGeom prst="rect">
            <a:avLst/>
          </a:prstGeom>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101A22"/>
        </a:solidFill>
      </p:bgPr>
    </p:bg>
    <p:spTree>
      <p:nvGrpSpPr>
        <p:cNvPr id="1" name=""/>
        <p:cNvGrpSpPr/>
        <p:nvPr/>
      </p:nvGrpSpPr>
      <p:grpSpPr>
        <a:xfrm>
          <a:off x="0" y="0"/>
          <a:ext cx="0" cy="0"/>
          <a:chOff x="0" y="0"/>
          <a:chExt cx="0" cy="0"/>
        </a:xfrm>
      </p:grpSpPr>
      <p:sp>
        <p:nvSpPr>
          <p:cNvPr id="2" name="Shape 0"/>
          <p:cNvSpPr/>
          <p:nvPr/>
        </p:nvSpPr>
        <p:spPr>
          <a:xfrm>
            <a:off x="647700" y="6343650"/>
            <a:ext cx="10896600" cy="0"/>
          </a:xfrm>
          <a:prstGeom prst="line">
            <a:avLst/>
          </a:prstGeom>
          <a:noFill/>
          <a:ln w="10160">
            <a:solidFill>
              <a:srgbClr val="2A3B47"/>
            </a:solidFill>
            <a:prstDash val="solid"/>
          </a:ln>
        </p:spPr>
      </p:sp>
      <p:sp>
        <p:nvSpPr>
          <p:cNvPr id="3" name="Text 1"/>
          <p:cNvSpPr txBox="1"/>
          <p:nvPr/>
        </p:nvSpPr>
        <p:spPr>
          <a:xfrm>
            <a:off x="647700" y="2469803"/>
            <a:ext cx="10953750" cy="1727895"/>
          </a:xfrm>
          <a:prstGeom prst="rect">
            <a:avLst/>
          </a:prstGeom>
          <a:noFill/>
          <a:ln/>
        </p:spPr>
        <p:txBody>
          <a:bodyPr wrap="square" lIns="0" tIns="0" rIns="0" bIns="0" rtlCol="0" anchor="t"/>
          <a:lstStyle/>
          <a:p>
            <a:pPr algn="l" indent="0" marL="0">
              <a:lnSpc>
                <a:spcPts val="4540"/>
              </a:lnSpc>
              <a:buNone/>
            </a:pPr>
            <a:r>
              <a:rPr lang="en-US" sz="4200" b="1" spc="-80" kern="0" dirty="0">
                <a:solidFill>
                  <a:srgbClr val="FFFFFF"/>
                </a:solidFill>
                <a:latin typeface="Arial" pitchFamily="34" charset="0"/>
                <a:ea typeface="Arial" pitchFamily="34" charset="-122"/>
                <a:cs typeface="Arial" pitchFamily="34" charset="-120"/>
              </a:rPr>
              <a:t>Moodle also sends timing data to OpenSearch through the same OpenTelemetry Collector</a:t>
            </a:r>
            <a:endParaRPr lang="en-US" sz="4200" dirty="0"/>
          </a:p>
        </p:txBody>
      </p:sp>
      <p:sp>
        <p:nvSpPr>
          <p:cNvPr id="4" name="Text 2"/>
          <p:cNvSpPr txBox="1"/>
          <p:nvPr/>
        </p:nvSpPr>
        <p:spPr>
          <a:xfrm>
            <a:off x="647700" y="6464379"/>
            <a:ext cx="874663" cy="148590"/>
          </a:xfrm>
          <a:prstGeom prst="rect">
            <a:avLst/>
          </a:prstGeom>
          <a:noFill/>
          <a:ln/>
        </p:spPr>
        <p:txBody>
          <a:bodyPr wrap="none" lIns="0" tIns="0" rIns="0" bIns="0" rtlCol="0" anchor="t"/>
          <a:lstStyle/>
          <a:p>
            <a:pPr algn="l" indent="0" marL="0">
              <a:lnSpc>
                <a:spcPts val="1170"/>
              </a:lnSpc>
              <a:buNone/>
            </a:pPr>
            <a:r>
              <a:rPr lang="en-US" sz="980" dirty="0">
                <a:solidFill>
                  <a:srgbClr val="56707F"/>
                </a:solidFill>
                <a:latin typeface="Courier New" pitchFamily="34" charset="0"/>
                <a:ea typeface="Courier New" pitchFamily="34" charset="-122"/>
                <a:cs typeface="Courier New" pitchFamily="34" charset="-120"/>
              </a:rPr>
              <a:t>Timing data</a:t>
            </a:r>
            <a:endParaRPr lang="en-US" sz="980" dirty="0"/>
          </a:p>
        </p:txBody>
      </p:sp>
      <p:sp>
        <p:nvSpPr>
          <p:cNvPr id="5" name="Text 3"/>
          <p:cNvSpPr txBox="1"/>
          <p:nvPr/>
        </p:nvSpPr>
        <p:spPr>
          <a:xfrm>
            <a:off x="11024146" y="6464379"/>
            <a:ext cx="577304" cy="148590"/>
          </a:xfrm>
          <a:prstGeom prst="rect">
            <a:avLst/>
          </a:prstGeom>
          <a:noFill/>
          <a:ln/>
        </p:spPr>
        <p:txBody>
          <a:bodyPr wrap="none" lIns="0" tIns="0" rIns="0" bIns="0" rtlCol="0" anchor="t"/>
          <a:lstStyle/>
          <a:p>
            <a:pPr algn="l" indent="0" marL="0">
              <a:lnSpc>
                <a:spcPts val="1170"/>
              </a:lnSpc>
              <a:buNone/>
            </a:pPr>
            <a:r>
              <a:rPr lang="en-US" sz="980" dirty="0">
                <a:solidFill>
                  <a:srgbClr val="56707F"/>
                </a:solidFill>
                <a:latin typeface="Courier New" pitchFamily="34" charset="0"/>
                <a:ea typeface="Courier New" pitchFamily="34" charset="-122"/>
                <a:cs typeface="Courier New" pitchFamily="34" charset="-120"/>
              </a:rPr>
              <a:t>32 / 39</a:t>
            </a:r>
            <a:endParaRPr lang="en-US" sz="980" dirty="0"/>
          </a:p>
        </p:txBody>
      </p:sp>
      <p:pic>
        <p:nvPicPr>
          <p:cNvPr id="900" name="NetSapiensis mark" descr="NetSapiensis"/>
          <p:cNvPicPr>
            <a:picLocks noChangeAspect="1"/>
          </p:cNvPicPr>
          <p:nvPr/>
        </p:nvPicPr>
        <p:blipFill>
          <a:blip r:embed="rId3"/>
          <a:stretch>
            <a:fillRect/>
          </a:stretch>
        </p:blipFill>
        <p:spPr>
          <a:xfrm>
            <a:off x="10776204" y="6419088"/>
            <a:ext cx="178308" cy="237744"/>
          </a:xfrm>
          <a:prstGeom prst="rect">
            <a:avLst/>
          </a:prstGeom>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239385" y="4702808"/>
            <a:ext cx="9713230" cy="613710"/>
          </a:xfrm>
          <a:prstGeom prst="roundRect">
            <a:avLst>
              <a:gd name="adj" fmla="val 41208"/>
            </a:avLst>
          </a:prstGeom>
          <a:solidFill>
            <a:srgbClr val="0F2027"/>
          </a:solidFill>
          <a:ln/>
        </p:spPr>
      </p:sp>
      <p:sp>
        <p:nvSpPr>
          <p:cNvPr id="3" name="Shape 1"/>
          <p:cNvSpPr/>
          <p:nvPr/>
        </p:nvSpPr>
        <p:spPr>
          <a:xfrm>
            <a:off x="647700" y="6343650"/>
            <a:ext cx="10896600" cy="0"/>
          </a:xfrm>
          <a:prstGeom prst="line">
            <a:avLst/>
          </a:prstGeom>
          <a:noFill/>
          <a:ln w="8890">
            <a:solidFill>
              <a:srgbClr val="CBD7DF"/>
            </a:solidFill>
            <a:prstDash val="solid"/>
          </a:ln>
        </p:spPr>
      </p:sp>
      <p:pic>
        <p:nvPicPr>
          <p:cNvPr id="4" name="Image 0" descr="One trace with three spans. A timeline of one real login request from the demo site: the request span lasts 92.8 milliseconds, the login event span inside it lasts 2.5 milliseconds and starts 79 milliseconds after the request, and the step inside that span lasts 2.4 milliseconds.">    </p:cNvPr>
          <p:cNvPicPr>
            <a:picLocks noChangeAspect="1"/>
          </p:cNvPicPr>
          <p:nvPr/>
        </p:nvPicPr>
        <p:blipFill>
          <a:blip r:embed="rId1"/>
          <a:stretch>
            <a:fillRect/>
          </a:stretch>
        </p:blipFill>
        <p:spPr>
          <a:xfrm>
            <a:off x="1239385" y="2971657"/>
            <a:ext cx="9713230" cy="1646245"/>
          </a:xfrm>
          <a:prstGeom prst="rect">
            <a:avLst/>
          </a:prstGeom>
        </p:spPr>
      </p:pic>
      <p:sp>
        <p:nvSpPr>
          <p:cNvPr id="5" name="Text 2"/>
          <p:cNvSpPr txBox="1"/>
          <p:nvPr/>
        </p:nvSpPr>
        <p:spPr>
          <a:xfrm>
            <a:off x="1239385" y="514093"/>
            <a:ext cx="9770380" cy="165566"/>
          </a:xfrm>
          <a:prstGeom prst="rect">
            <a:avLst/>
          </a:prstGeom>
          <a:noFill/>
          <a:ln/>
        </p:spPr>
        <p:txBody>
          <a:bodyPr wrap="none" lIns="0" tIns="0" rIns="0" bIns="0" rtlCol="0" anchor="t"/>
          <a:lstStyle/>
          <a:p>
            <a:pPr algn="l" indent="0" marL="0">
              <a:lnSpc>
                <a:spcPts val="1300"/>
              </a:lnSpc>
              <a:buNone/>
            </a:pPr>
            <a:r>
              <a:rPr lang="en-US" sz="870" spc="140" kern="0" dirty="0">
                <a:solidFill>
                  <a:srgbClr val="0B6E99"/>
                </a:solidFill>
                <a:latin typeface="Courier New" pitchFamily="34" charset="0"/>
                <a:ea typeface="Courier New" pitchFamily="34" charset="-122"/>
                <a:cs typeface="Courier New" pitchFamily="34" charset="-120"/>
              </a:rPr>
              <a:t>TIMING DATA</a:t>
            </a:r>
            <a:endParaRPr lang="en-US" sz="870" dirty="0"/>
          </a:p>
        </p:txBody>
      </p:sp>
      <p:sp>
        <p:nvSpPr>
          <p:cNvPr id="6" name="Text 3"/>
          <p:cNvSpPr txBox="1"/>
          <p:nvPr/>
        </p:nvSpPr>
        <p:spPr>
          <a:xfrm>
            <a:off x="1239385" y="817835"/>
            <a:ext cx="9770380" cy="385128"/>
          </a:xfrm>
          <a:prstGeom prst="rect">
            <a:avLst/>
          </a:prstGeom>
          <a:noFill/>
          <a:ln/>
        </p:spPr>
        <p:txBody>
          <a:bodyPr wrap="none" lIns="0" tIns="0" rIns="0" bIns="0" rtlCol="0" anchor="t"/>
          <a:lstStyle/>
          <a:p>
            <a:pPr algn="l" indent="0" marL="0">
              <a:lnSpc>
                <a:spcPts val="3030"/>
              </a:lnSpc>
              <a:buNone/>
            </a:pPr>
            <a:r>
              <a:rPr lang="en-US" sz="2810" b="1" spc="-60" kern="0" dirty="0">
                <a:solidFill>
                  <a:srgbClr val="101A22"/>
                </a:solidFill>
                <a:latin typeface="Arial" pitchFamily="34" charset="0"/>
                <a:ea typeface="Arial" pitchFamily="34" charset="-122"/>
                <a:cs typeface="Arial" pitchFamily="34" charset="-120"/>
              </a:rPr>
              <a:t>Every request also records how long each of its steps took</a:t>
            </a:r>
            <a:endParaRPr lang="en-US" sz="2810" dirty="0"/>
          </a:p>
        </p:txBody>
      </p:sp>
      <p:sp>
        <p:nvSpPr>
          <p:cNvPr id="7" name="Text 4"/>
          <p:cNvSpPr txBox="1"/>
          <p:nvPr/>
        </p:nvSpPr>
        <p:spPr>
          <a:xfrm>
            <a:off x="1239385" y="1385103"/>
            <a:ext cx="9770380" cy="1327184"/>
          </a:xfrm>
          <a:prstGeom prst="rect">
            <a:avLst/>
          </a:prstGeom>
          <a:noFill/>
          <a:ln/>
        </p:spPr>
        <p:txBody>
          <a:bodyPr wrap="square" lIns="0" tIns="0" rIns="0" bIns="0" rtlCol="0" anchor="t"/>
          <a:lstStyle/>
          <a:p>
            <a:pPr algn="l" indent="0" marL="0">
              <a:lnSpc>
                <a:spcPts val="2610"/>
              </a:lnSpc>
              <a:buNone/>
            </a:pPr>
            <a:r>
              <a:rPr lang="en-US" sz="1740" dirty="0">
                <a:solidFill>
                  <a:srgbClr val="5A6D7A"/>
                </a:solidFill>
                <a:latin typeface="Arial" pitchFamily="34" charset="0"/>
                <a:ea typeface="Arial" pitchFamily="34" charset="-122"/>
                <a:cs typeface="Arial" pitchFamily="34" charset="-120"/>
              </a:rPr>
              <a:t>Every event record has two fields called </a:t>
            </a:r>
            <a:pPr algn="l" indent="0" marL="0">
              <a:lnSpc>
                <a:spcPts val="2610"/>
              </a:lnSpc>
              <a:buNone/>
            </a:pPr>
            <a:r>
              <a:rPr lang="en-US" sz="1530" dirty="0">
                <a:solidFill>
                  <a:srgbClr val="5A6D7A"/>
                </a:solidFill>
                <a:highlight>
                  <a:srgbClr val="E1F0F7"/>
                </a:highlight>
                <a:latin typeface="Courier New" pitchFamily="34" charset="0"/>
                <a:ea typeface="Courier New" pitchFamily="34" charset="-122"/>
                <a:cs typeface="Courier New" pitchFamily="34" charset="-120"/>
              </a:rPr>
              <a:t>traceId</a:t>
            </a:r>
            <a:pPr algn="l" indent="0" marL="0">
              <a:lnSpc>
                <a:spcPts val="2610"/>
              </a:lnSpc>
              <a:buNone/>
            </a:pPr>
            <a:r>
              <a:rPr lang="en-US" sz="1740" dirty="0">
                <a:solidFill>
                  <a:srgbClr val="5A6D7A"/>
                </a:solidFill>
                <a:latin typeface="Arial" pitchFamily="34" charset="0"/>
                <a:ea typeface="Arial" pitchFamily="34" charset="-122"/>
                <a:cs typeface="Arial" pitchFamily="34" charset="-120"/>
              </a:rPr>
              <a:t> and </a:t>
            </a:r>
            <a:pPr algn="l" indent="0" marL="0">
              <a:lnSpc>
                <a:spcPts val="2610"/>
              </a:lnSpc>
              <a:buNone/>
            </a:pPr>
            <a:r>
              <a:rPr lang="en-US" sz="1530" dirty="0">
                <a:solidFill>
                  <a:srgbClr val="5A6D7A"/>
                </a:solidFill>
                <a:highlight>
                  <a:srgbClr val="E1F0F7"/>
                </a:highlight>
                <a:latin typeface="Courier New" pitchFamily="34" charset="0"/>
                <a:ea typeface="Courier New" pitchFamily="34" charset="-122"/>
                <a:cs typeface="Courier New" pitchFamily="34" charset="-120"/>
              </a:rPr>
              <a:t>spanId</a:t>
            </a:r>
            <a:pPr algn="l" indent="0" marL="0">
              <a:lnSpc>
                <a:spcPts val="2610"/>
              </a:lnSpc>
              <a:buNone/>
            </a:pPr>
            <a:r>
              <a:rPr lang="en-US" sz="1740" dirty="0">
                <a:solidFill>
                  <a:srgbClr val="5A6D7A"/>
                </a:solidFill>
                <a:latin typeface="Arial" pitchFamily="34" charset="0"/>
                <a:ea typeface="Arial" pitchFamily="34" charset="-122"/>
                <a:cs typeface="Arial" pitchFamily="34" charset="-120"/>
              </a:rPr>
              <a:t>. They are there because the request that wrote the event also recorded how long each of its steps took. OpenTelemetry calls the timing of one request a </a:t>
            </a:r>
            <a:pPr algn="l" indent="0" marL="0">
              <a:lnSpc>
                <a:spcPts val="2610"/>
              </a:lnSpc>
              <a:buNone/>
            </a:pPr>
            <a:r>
              <a:rPr lang="en-US" sz="1740" b="1" dirty="0">
                <a:solidFill>
                  <a:srgbClr val="5A6D7A"/>
                </a:solidFill>
                <a:latin typeface="Arial" pitchFamily="34" charset="0"/>
                <a:ea typeface="Arial" pitchFamily="34" charset="-122"/>
                <a:cs typeface="Arial" pitchFamily="34" charset="-120"/>
              </a:rPr>
              <a:t>trace</a:t>
            </a:r>
            <a:pPr algn="l" indent="0" marL="0">
              <a:lnSpc>
                <a:spcPts val="2610"/>
              </a:lnSpc>
              <a:buNone/>
            </a:pPr>
            <a:r>
              <a:rPr lang="en-US" sz="1740" dirty="0">
                <a:solidFill>
                  <a:srgbClr val="5A6D7A"/>
                </a:solidFill>
                <a:latin typeface="Arial" pitchFamily="34" charset="0"/>
                <a:ea typeface="Arial" pitchFamily="34" charset="-122"/>
                <a:cs typeface="Arial" pitchFamily="34" charset="-120"/>
              </a:rPr>
              <a:t>. A trace is made of </a:t>
            </a:r>
            <a:pPr algn="l" indent="0" marL="0">
              <a:lnSpc>
                <a:spcPts val="2610"/>
              </a:lnSpc>
              <a:buNone/>
            </a:pPr>
            <a:r>
              <a:rPr lang="en-US" sz="1740" b="1" dirty="0">
                <a:solidFill>
                  <a:srgbClr val="5A6D7A"/>
                </a:solidFill>
                <a:latin typeface="Arial" pitchFamily="34" charset="0"/>
                <a:ea typeface="Arial" pitchFamily="34" charset="-122"/>
                <a:cs typeface="Arial" pitchFamily="34" charset="-120"/>
              </a:rPr>
              <a:t>spans</a:t>
            </a:r>
            <a:pPr algn="l" indent="0" marL="0">
              <a:lnSpc>
                <a:spcPts val="2610"/>
              </a:lnSpc>
              <a:buNone/>
            </a:pPr>
            <a:r>
              <a:rPr lang="en-US" sz="1740" dirty="0">
                <a:solidFill>
                  <a:srgbClr val="5A6D7A"/>
                </a:solidFill>
                <a:latin typeface="Arial" pitchFamily="34" charset="0"/>
                <a:ea typeface="Arial" pitchFamily="34" charset="-122"/>
                <a:cs typeface="Arial" pitchFamily="34" charset="-120"/>
              </a:rPr>
              <a:t>. A span is one step of the request, with a start time and a duration.</a:t>
            </a:r>
            <a:endParaRPr lang="en-US" sz="1740" dirty="0"/>
          </a:p>
        </p:txBody>
      </p:sp>
      <p:sp>
        <p:nvSpPr>
          <p:cNvPr id="8" name="Text 5"/>
          <p:cNvSpPr txBox="1"/>
          <p:nvPr/>
        </p:nvSpPr>
        <p:spPr>
          <a:xfrm>
            <a:off x="1392147" y="4816530"/>
            <a:ext cx="9464856" cy="342133"/>
          </a:xfrm>
          <a:prstGeom prst="rect">
            <a:avLst/>
          </a:prstGeom>
          <a:noFill/>
          <a:ln/>
        </p:spPr>
        <p:txBody>
          <a:bodyPr wrap="square" lIns="0" tIns="0" rIns="0" bIns="0" rtlCol="0" anchor="t"/>
          <a:lstStyle/>
          <a:p>
            <a:pPr algn="l" indent="0" marL="0">
              <a:lnSpc>
                <a:spcPts val="1350"/>
              </a:lnSpc>
              <a:buNone/>
            </a:pPr>
            <a:r>
              <a:rPr lang="en-US" sz="870" dirty="0">
                <a:solidFill>
                  <a:srgbClr val="86A5B4"/>
                </a:solidFill>
                <a:latin typeface="Courier New" pitchFamily="34" charset="0"/>
                <a:ea typeface="Courier New" pitchFamily="34" charset="-122"/>
                <a:cs typeface="Courier New" pitchFamily="34" charset="-120"/>
              </a:rPr>
              <a:t># part of the note on span 1, as stored in OpenSearch</a:t>
            </a:r>
            <a:pPr algn="l" indent="0" marL="0">
              <a:lnSpc>
                <a:spcPts val="1350"/>
              </a:lnSpc>
              <a:buNone/>
            </a:pPr>
            <a:r>
              <a:rPr lang="en-US" sz="870" dirty="0">
                <a:solidFill>
                  <a:srgbClr val="E4EDF2"/>
                </a:solidFill>
                <a:latin typeface="Courier New" pitchFamily="34" charset="0"/>
                <a:ea typeface="Courier New" pitchFamily="34" charset="-122"/>
                <a:cs typeface="Courier New" pitchFamily="34" charset="-120"/>
              </a:rPr>
              <a:t> </a:t>
            </a:r>
            <a:endParaRPr lang="en-US" sz="870" dirty="0"/>
          </a:p>
          <a:p>
            <a:pPr algn="l" indent="0" marL="0">
              <a:lnSpc>
                <a:spcPts val="1350"/>
              </a:lnSpc>
              <a:buNone/>
            </a:pPr>
            <a:r>
              <a:rPr lang="en-US" sz="870" dirty="0">
                <a:solidFill>
                  <a:srgbClr val="E4EDF2"/>
                </a:solidFill>
                <a:latin typeface="Courier New" pitchFamily="34" charset="0"/>
                <a:ea typeface="Courier New" pitchFamily="34" charset="-122"/>
                <a:cs typeface="Courier New" pitchFamily="34" charset="-120"/>
              </a:rPr>
              <a:t> </a:t>
            </a:r>
            <a:pPr algn="l" indent="0" marL="0">
              <a:lnSpc>
                <a:spcPts val="1350"/>
              </a:lnSpc>
              <a:buNone/>
            </a:pPr>
            <a:r>
              <a:rPr lang="en-US" sz="870" dirty="0">
                <a:solidFill>
                  <a:srgbClr val="6FC7EE"/>
                </a:solidFill>
                <a:latin typeface="Courier New" pitchFamily="34" charset="0"/>
                <a:ea typeface="Courier New" pitchFamily="34" charset="-122"/>
                <a:cs typeface="Courier New" pitchFamily="34" charset="-120"/>
              </a:rPr>
              <a:t>moodle.shutdown_handler</a:t>
            </a:r>
            <a:pPr algn="l" indent="0" marL="0">
              <a:lnSpc>
                <a:spcPts val="1350"/>
              </a:lnSpc>
              <a:buNone/>
            </a:pPr>
            <a:r>
              <a:rPr lang="en-US" sz="870" dirty="0">
                <a:solidFill>
                  <a:srgbClr val="E4EDF2"/>
                </a:solidFill>
                <a:latin typeface="Courier New" pitchFamily="34" charset="0"/>
                <a:ea typeface="Courier New" pitchFamily="34" charset="-122"/>
                <a:cs typeface="Courier New" pitchFamily="34" charset="-120"/>
              </a:rPr>
              <a:t>   dbtime </a:t>
            </a:r>
            <a:pPr algn="l" indent="0" marL="0">
              <a:lnSpc>
                <a:spcPts val="1350"/>
              </a:lnSpc>
              <a:buNone/>
            </a:pPr>
            <a:r>
              <a:rPr lang="en-US" sz="870" dirty="0">
                <a:solidFill>
                  <a:srgbClr val="F0C070"/>
                </a:solidFill>
                <a:latin typeface="Courier New" pitchFamily="34" charset="0"/>
                <a:ea typeface="Courier New" pitchFamily="34" charset="-122"/>
                <a:cs typeface="Courier New" pitchFamily="34" charset="-120"/>
              </a:rPr>
              <a:t>0.03228</a:t>
            </a:r>
            <a:pPr algn="l" indent="0" marL="0">
              <a:lnSpc>
                <a:spcPts val="1350"/>
              </a:lnSpc>
              <a:buNone/>
            </a:pPr>
            <a:r>
              <a:rPr lang="en-US" sz="870" dirty="0">
                <a:solidFill>
                  <a:srgbClr val="E4EDF2"/>
                </a:solidFill>
                <a:latin typeface="Courier New" pitchFamily="34" charset="0"/>
                <a:ea typeface="Courier New" pitchFamily="34" charset="-122"/>
                <a:cs typeface="Courier New" pitchFamily="34" charset="-120"/>
              </a:rPr>
              <a:t>   dbqueries </a:t>
            </a:r>
            <a:pPr algn="l" indent="0" marL="0">
              <a:lnSpc>
                <a:spcPts val="1350"/>
              </a:lnSpc>
              <a:buNone/>
            </a:pPr>
            <a:r>
              <a:rPr lang="en-US" sz="870" dirty="0">
                <a:solidFill>
                  <a:srgbClr val="F0C070"/>
                </a:solidFill>
                <a:latin typeface="Courier New" pitchFamily="34" charset="0"/>
                <a:ea typeface="Courier New" pitchFamily="34" charset="-122"/>
                <a:cs typeface="Courier New" pitchFamily="34" charset="-120"/>
              </a:rPr>
              <a:t>13/9</a:t>
            </a:r>
            <a:endParaRPr lang="en-US" sz="870" dirty="0"/>
          </a:p>
        </p:txBody>
      </p:sp>
      <p:sp>
        <p:nvSpPr>
          <p:cNvPr id="9" name="Text 6"/>
          <p:cNvSpPr txBox="1"/>
          <p:nvPr/>
        </p:nvSpPr>
        <p:spPr>
          <a:xfrm>
            <a:off x="1239385" y="5398453"/>
            <a:ext cx="9770380" cy="407548"/>
          </a:xfrm>
          <a:prstGeom prst="rect">
            <a:avLst/>
          </a:prstGeom>
          <a:noFill/>
          <a:ln/>
        </p:spPr>
        <p:txBody>
          <a:bodyPr wrap="square" lIns="0" tIns="0" rIns="0" bIns="0" rtlCol="0" anchor="t"/>
          <a:lstStyle/>
          <a:p>
            <a:pPr algn="l" indent="0" marL="0">
              <a:lnSpc>
                <a:spcPts val="1120"/>
              </a:lnSpc>
              <a:buNone/>
            </a:pPr>
            <a:r>
              <a:rPr lang="en-US" sz="940" dirty="0">
                <a:solidFill>
                  <a:srgbClr val="5A6D7A"/>
                </a:solidFill>
                <a:latin typeface="Courier New" pitchFamily="34" charset="0"/>
                <a:ea typeface="Courier New" pitchFamily="34" charset="-122"/>
                <a:cs typeface="Courier New" pitchFamily="34" charset="-120"/>
              </a:rPr>
              <a:t>One trace with three spans, from a real login request on the demo site. The first span is the whole request. The other two spans are steps inside it. Moodle adds the note in the box to the first span. </a:t>
            </a:r>
            <a:pPr algn="l" indent="0" marL="0">
              <a:lnSpc>
                <a:spcPts val="1120"/>
              </a:lnSpc>
              <a:buNone/>
            </a:pPr>
            <a:r>
              <a:rPr lang="en-US" sz="820" dirty="0">
                <a:solidFill>
                  <a:srgbClr val="5A6D7A"/>
                </a:solidFill>
                <a:highlight>
                  <a:srgbClr val="E1F0F7"/>
                </a:highlight>
                <a:latin typeface="Courier New" pitchFamily="34" charset="0"/>
                <a:ea typeface="Courier New" pitchFamily="34" charset="-122"/>
                <a:cs typeface="Courier New" pitchFamily="34" charset="-120"/>
              </a:rPr>
              <a:t>dbtime</a:t>
            </a:r>
            <a:pPr algn="l" indent="0" marL="0">
              <a:lnSpc>
                <a:spcPts val="1120"/>
              </a:lnSpc>
              <a:buNone/>
            </a:pPr>
            <a:r>
              <a:rPr lang="en-US" sz="940" dirty="0">
                <a:solidFill>
                  <a:srgbClr val="5A6D7A"/>
                </a:solidFill>
                <a:latin typeface="Courier New" pitchFamily="34" charset="0"/>
                <a:ea typeface="Courier New" pitchFamily="34" charset="-122"/>
                <a:cs typeface="Courier New" pitchFamily="34" charset="-120"/>
              </a:rPr>
              <a:t> is the database time in seconds, here 32 ms. </a:t>
            </a:r>
            <a:pPr algn="l" indent="0" marL="0">
              <a:lnSpc>
                <a:spcPts val="1120"/>
              </a:lnSpc>
              <a:buNone/>
            </a:pPr>
            <a:r>
              <a:rPr lang="en-US" sz="820" dirty="0">
                <a:solidFill>
                  <a:srgbClr val="5A6D7A"/>
                </a:solidFill>
                <a:highlight>
                  <a:srgbClr val="E1F0F7"/>
                </a:highlight>
                <a:latin typeface="Courier New" pitchFamily="34" charset="0"/>
                <a:ea typeface="Courier New" pitchFamily="34" charset="-122"/>
                <a:cs typeface="Courier New" pitchFamily="34" charset="-120"/>
              </a:rPr>
              <a:t>dbqueries</a:t>
            </a:r>
            <a:pPr algn="l" indent="0" marL="0">
              <a:lnSpc>
                <a:spcPts val="1120"/>
              </a:lnSpc>
              <a:buNone/>
            </a:pPr>
            <a:r>
              <a:rPr lang="en-US" sz="940" dirty="0">
                <a:solidFill>
                  <a:srgbClr val="5A6D7A"/>
                </a:solidFill>
                <a:latin typeface="Courier New" pitchFamily="34" charset="0"/>
                <a:ea typeface="Courier New" pitchFamily="34" charset="-122"/>
                <a:cs typeface="Courier New" pitchFamily="34" charset="-120"/>
              </a:rPr>
              <a:t> is reads/writes, here 13 reads and 9 writes.</a:t>
            </a:r>
            <a:endParaRPr lang="en-US" sz="940" dirty="0"/>
          </a:p>
        </p:txBody>
      </p:sp>
      <p:sp>
        <p:nvSpPr>
          <p:cNvPr id="10" name="Text 7"/>
          <p:cNvSpPr txBox="1"/>
          <p:nvPr/>
        </p:nvSpPr>
        <p:spPr>
          <a:xfrm>
            <a:off x="647700" y="6464717"/>
            <a:ext cx="874663" cy="142875"/>
          </a:xfrm>
          <a:prstGeom prst="rect">
            <a:avLst/>
          </a:prstGeom>
          <a:noFill/>
          <a:ln/>
        </p:spPr>
        <p:txBody>
          <a:bodyPr wrap="none" lIns="0" tIns="0" rIns="0" bIns="0" rtlCol="0" anchor="t"/>
          <a:lstStyle/>
          <a:p>
            <a:pPr algn="l" indent="0" marL="0">
              <a:lnSpc>
                <a:spcPts val="1040"/>
              </a:lnSpc>
              <a:buNone/>
            </a:pPr>
            <a:r>
              <a:rPr lang="en-US" sz="870" dirty="0">
                <a:solidFill>
                  <a:srgbClr val="8496A2"/>
                </a:solidFill>
                <a:latin typeface="Courier New" pitchFamily="34" charset="0"/>
                <a:ea typeface="Courier New" pitchFamily="34" charset="-122"/>
                <a:cs typeface="Courier New" pitchFamily="34" charset="-120"/>
              </a:rPr>
              <a:t>Timing data</a:t>
            </a:r>
            <a:endParaRPr lang="en-US" sz="870" dirty="0"/>
          </a:p>
        </p:txBody>
      </p:sp>
      <p:sp>
        <p:nvSpPr>
          <p:cNvPr id="11" name="Text 8"/>
          <p:cNvSpPr txBox="1"/>
          <p:nvPr/>
        </p:nvSpPr>
        <p:spPr>
          <a:xfrm>
            <a:off x="11024146" y="6464717"/>
            <a:ext cx="577304" cy="142875"/>
          </a:xfrm>
          <a:prstGeom prst="rect">
            <a:avLst/>
          </a:prstGeom>
          <a:noFill/>
          <a:ln/>
        </p:spPr>
        <p:txBody>
          <a:bodyPr wrap="none" lIns="0" tIns="0" rIns="0" bIns="0" rtlCol="0" anchor="t"/>
          <a:lstStyle/>
          <a:p>
            <a:pPr algn="l" indent="0" marL="0">
              <a:lnSpc>
                <a:spcPts val="1040"/>
              </a:lnSpc>
              <a:buNone/>
            </a:pPr>
            <a:r>
              <a:rPr lang="en-US" sz="870" dirty="0">
                <a:solidFill>
                  <a:srgbClr val="8496A2"/>
                </a:solidFill>
                <a:latin typeface="Courier New" pitchFamily="34" charset="0"/>
                <a:ea typeface="Courier New" pitchFamily="34" charset="-122"/>
                <a:cs typeface="Courier New" pitchFamily="34" charset="-120"/>
              </a:rPr>
              <a:t>33 / 39</a:t>
            </a:r>
            <a:endParaRPr lang="en-US" sz="870" dirty="0"/>
          </a:p>
        </p:txBody>
      </p:sp>
      <p:pic>
        <p:nvPicPr>
          <p:cNvPr id="900" name="NetSapiensis mark" descr="NetSapiensis"/>
          <p:cNvPicPr>
            <a:picLocks noChangeAspect="1"/>
          </p:cNvPicPr>
          <p:nvPr/>
        </p:nvPicPr>
        <p:blipFill>
          <a:blip r:embed="rId4"/>
          <a:stretch>
            <a:fillRect/>
          </a:stretch>
        </p:blipFill>
        <p:spPr>
          <a:xfrm>
            <a:off x="10776204" y="6419088"/>
            <a:ext cx="178308" cy="237744"/>
          </a:xfrm>
          <a:prstGeom prst="rect">
            <a:avLst/>
          </a:prstGeom>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85800" y="2124521"/>
            <a:ext cx="85725" cy="85725"/>
          </a:xfrm>
          <a:prstGeom prst="roundRect">
            <a:avLst>
              <a:gd name="adj" fmla="val 474074"/>
            </a:avLst>
          </a:prstGeom>
          <a:solidFill>
            <a:srgbClr val="0B6E99"/>
          </a:solidFill>
          <a:ln/>
        </p:spPr>
      </p:sp>
      <p:sp>
        <p:nvSpPr>
          <p:cNvPr id="3" name="Shape 1"/>
          <p:cNvSpPr/>
          <p:nvPr/>
        </p:nvSpPr>
        <p:spPr>
          <a:xfrm>
            <a:off x="685800" y="2564457"/>
            <a:ext cx="85725" cy="85725"/>
          </a:xfrm>
          <a:prstGeom prst="roundRect">
            <a:avLst>
              <a:gd name="adj" fmla="val 474074"/>
            </a:avLst>
          </a:prstGeom>
          <a:solidFill>
            <a:srgbClr val="0B6E99"/>
          </a:solidFill>
          <a:ln/>
        </p:spPr>
      </p:sp>
      <p:sp>
        <p:nvSpPr>
          <p:cNvPr id="4" name="Shape 2"/>
          <p:cNvSpPr/>
          <p:nvPr/>
        </p:nvSpPr>
        <p:spPr>
          <a:xfrm>
            <a:off x="685800" y="3004393"/>
            <a:ext cx="85725" cy="85725"/>
          </a:xfrm>
          <a:prstGeom prst="roundRect">
            <a:avLst>
              <a:gd name="adj" fmla="val 474074"/>
            </a:avLst>
          </a:prstGeom>
          <a:solidFill>
            <a:srgbClr val="0B6E99"/>
          </a:solidFill>
          <a:ln/>
        </p:spPr>
      </p:sp>
      <p:sp>
        <p:nvSpPr>
          <p:cNvPr id="5" name="Shape 3"/>
          <p:cNvSpPr/>
          <p:nvPr/>
        </p:nvSpPr>
        <p:spPr>
          <a:xfrm>
            <a:off x="647700" y="6343650"/>
            <a:ext cx="10896600" cy="0"/>
          </a:xfrm>
          <a:prstGeom prst="line">
            <a:avLst/>
          </a:prstGeom>
          <a:noFill/>
          <a:ln w="10160">
            <a:solidFill>
              <a:srgbClr val="CBD7DF"/>
            </a:solidFill>
            <a:prstDash val="solid"/>
          </a:ln>
        </p:spPr>
      </p:sp>
      <p:sp>
        <p:nvSpPr>
          <p:cNvPr id="6" name="Text 4"/>
          <p:cNvSpPr txBox="1"/>
          <p:nvPr/>
        </p:nvSpPr>
        <p:spPr>
          <a:xfrm>
            <a:off x="647700" y="511731"/>
            <a:ext cx="10953750" cy="185738"/>
          </a:xfrm>
          <a:prstGeom prst="rect">
            <a:avLst/>
          </a:prstGeom>
          <a:noFill/>
          <a:ln/>
        </p:spPr>
        <p:txBody>
          <a:bodyPr wrap="none" lIns="0" tIns="0" rIns="0" bIns="0" rtlCol="0" anchor="t"/>
          <a:lstStyle/>
          <a:p>
            <a:pPr algn="l" indent="0" marL="0">
              <a:lnSpc>
                <a:spcPts val="1460"/>
              </a:lnSpc>
              <a:buNone/>
            </a:pPr>
            <a:r>
              <a:rPr lang="en-US" sz="980" spc="160" kern="0" dirty="0">
                <a:solidFill>
                  <a:srgbClr val="0B6E99"/>
                </a:solidFill>
                <a:latin typeface="Courier New" pitchFamily="34" charset="0"/>
                <a:ea typeface="Courier New" pitchFamily="34" charset="-122"/>
                <a:cs typeface="Courier New" pitchFamily="34" charset="-120"/>
              </a:rPr>
              <a:t>TIMING DATA</a:t>
            </a:r>
            <a:endParaRPr lang="en-US" sz="980" dirty="0"/>
          </a:p>
        </p:txBody>
      </p:sp>
      <p:sp>
        <p:nvSpPr>
          <p:cNvPr id="7" name="Text 5"/>
          <p:cNvSpPr txBox="1"/>
          <p:nvPr/>
        </p:nvSpPr>
        <p:spPr>
          <a:xfrm>
            <a:off x="647700" y="852488"/>
            <a:ext cx="10953750" cy="432054"/>
          </a:xfrm>
          <a:prstGeom prst="rect">
            <a:avLst/>
          </a:prstGeom>
          <a:noFill/>
          <a:ln/>
        </p:spPr>
        <p:txBody>
          <a:bodyPr wrap="none" lIns="0" tIns="0" rIns="0" bIns="0" rtlCol="0" anchor="t"/>
          <a:lstStyle/>
          <a:p>
            <a:pPr algn="l" indent="0" marL="0">
              <a:lnSpc>
                <a:spcPts val="3400"/>
              </a:lnSpc>
              <a:buNone/>
            </a:pPr>
            <a:r>
              <a:rPr lang="en-US" sz="3150" b="1" spc="-60" kern="0" dirty="0">
                <a:solidFill>
                  <a:srgbClr val="101A22"/>
                </a:solidFill>
                <a:latin typeface="Arial" pitchFamily="34" charset="0"/>
                <a:ea typeface="Arial" pitchFamily="34" charset="-122"/>
                <a:cs typeface="Arial" pitchFamily="34" charset="-120"/>
              </a:rPr>
              <a:t>The timing data shows where Moodle spends its time</a:t>
            </a:r>
            <a:endParaRPr lang="en-US" sz="3150" dirty="0"/>
          </a:p>
        </p:txBody>
      </p:sp>
      <p:sp>
        <p:nvSpPr>
          <p:cNvPr id="8" name="Text 6"/>
          <p:cNvSpPr txBox="1"/>
          <p:nvPr/>
        </p:nvSpPr>
        <p:spPr>
          <a:xfrm>
            <a:off x="647700" y="1504801"/>
            <a:ext cx="10953750" cy="306705"/>
          </a:xfrm>
          <a:prstGeom prst="rect">
            <a:avLst/>
          </a:prstGeom>
          <a:noFill/>
          <a:ln/>
        </p:spPr>
        <p:txBody>
          <a:bodyPr wrap="none" lIns="0" tIns="0" rIns="0" bIns="0" rtlCol="0" anchor="t"/>
          <a:lstStyle/>
          <a:p>
            <a:pPr algn="l" indent="0" marL="0">
              <a:lnSpc>
                <a:spcPts val="2420"/>
              </a:lnSpc>
              <a:buNone/>
            </a:pPr>
            <a:r>
              <a:rPr lang="en-US" sz="1730" dirty="0">
                <a:solidFill>
                  <a:srgbClr val="101A22"/>
                </a:solidFill>
                <a:latin typeface="Arial" pitchFamily="34" charset="0"/>
                <a:ea typeface="Arial" pitchFamily="34" charset="-122"/>
                <a:cs typeface="Arial" pitchFamily="34" charset="-120"/>
              </a:rPr>
              <a:t>It answers these questions.</a:t>
            </a:r>
            <a:endParaRPr lang="en-US" sz="1730" dirty="0"/>
          </a:p>
        </p:txBody>
      </p:sp>
      <p:sp>
        <p:nvSpPr>
          <p:cNvPr id="9" name="Text 7"/>
          <p:cNvSpPr txBox="1"/>
          <p:nvPr/>
        </p:nvSpPr>
        <p:spPr>
          <a:xfrm>
            <a:off x="933450" y="1982837"/>
            <a:ext cx="10668000" cy="306705"/>
          </a:xfrm>
          <a:prstGeom prst="rect">
            <a:avLst/>
          </a:prstGeom>
          <a:noFill/>
          <a:ln/>
        </p:spPr>
        <p:txBody>
          <a:bodyPr wrap="none" lIns="0" tIns="0" rIns="0" bIns="0" rtlCol="0" anchor="t"/>
          <a:lstStyle/>
          <a:p>
            <a:pPr algn="l" indent="0" marL="0">
              <a:lnSpc>
                <a:spcPts val="2420"/>
              </a:lnSpc>
              <a:buNone/>
            </a:pPr>
            <a:r>
              <a:rPr lang="en-US" sz="1730" dirty="0">
                <a:solidFill>
                  <a:srgbClr val="101A22"/>
                </a:solidFill>
                <a:latin typeface="Arial" pitchFamily="34" charset="0"/>
                <a:ea typeface="Arial" pitchFamily="34" charset="-122"/>
                <a:cs typeface="Arial" pitchFamily="34" charset="-120"/>
              </a:rPr>
              <a:t>Which pages are slow, and how slow?</a:t>
            </a:r>
            <a:endParaRPr lang="en-US" sz="1730" dirty="0"/>
          </a:p>
        </p:txBody>
      </p:sp>
      <p:sp>
        <p:nvSpPr>
          <p:cNvPr id="10" name="Text 8"/>
          <p:cNvSpPr txBox="1"/>
          <p:nvPr/>
        </p:nvSpPr>
        <p:spPr>
          <a:xfrm>
            <a:off x="933450" y="2422773"/>
            <a:ext cx="10668000" cy="306705"/>
          </a:xfrm>
          <a:prstGeom prst="rect">
            <a:avLst/>
          </a:prstGeom>
          <a:noFill/>
          <a:ln/>
        </p:spPr>
        <p:txBody>
          <a:bodyPr wrap="none" lIns="0" tIns="0" rIns="0" bIns="0" rtlCol="0" anchor="t"/>
          <a:lstStyle/>
          <a:p>
            <a:pPr algn="l" indent="0" marL="0">
              <a:lnSpc>
                <a:spcPts val="2420"/>
              </a:lnSpc>
              <a:buNone/>
            </a:pPr>
            <a:r>
              <a:rPr lang="en-US" sz="1730" dirty="0">
                <a:solidFill>
                  <a:srgbClr val="101A22"/>
                </a:solidFill>
                <a:latin typeface="Arial" pitchFamily="34" charset="0"/>
                <a:ea typeface="Arial" pitchFamily="34" charset="-122"/>
                <a:cs typeface="Arial" pitchFamily="34" charset="-120"/>
              </a:rPr>
              <a:t>Which scheduled task ran for 40 minutes last night?</a:t>
            </a:r>
            <a:endParaRPr lang="en-US" sz="1730" dirty="0"/>
          </a:p>
        </p:txBody>
      </p:sp>
      <p:sp>
        <p:nvSpPr>
          <p:cNvPr id="11" name="Text 9"/>
          <p:cNvSpPr txBox="1"/>
          <p:nvPr/>
        </p:nvSpPr>
        <p:spPr>
          <a:xfrm>
            <a:off x="933450" y="2862709"/>
            <a:ext cx="10668000" cy="306705"/>
          </a:xfrm>
          <a:prstGeom prst="rect">
            <a:avLst/>
          </a:prstGeom>
          <a:noFill/>
          <a:ln/>
        </p:spPr>
        <p:txBody>
          <a:bodyPr wrap="none" lIns="0" tIns="0" rIns="0" bIns="0" rtlCol="0" anchor="t"/>
          <a:lstStyle/>
          <a:p>
            <a:pPr algn="l" indent="0" marL="0">
              <a:lnSpc>
                <a:spcPts val="2420"/>
              </a:lnSpc>
              <a:buNone/>
            </a:pPr>
            <a:r>
              <a:rPr lang="en-US" sz="1730" dirty="0">
                <a:solidFill>
                  <a:srgbClr val="101A22"/>
                </a:solidFill>
                <a:latin typeface="Arial" pitchFamily="34" charset="0"/>
                <a:ea typeface="Arial" pitchFamily="34" charset="-122"/>
                <a:cs typeface="Arial" pitchFamily="34" charset="-120"/>
              </a:rPr>
              <a:t>How long did each Moodle event take inside a request?</a:t>
            </a:r>
            <a:endParaRPr lang="en-US" sz="1730" dirty="0"/>
          </a:p>
        </p:txBody>
      </p:sp>
      <p:sp>
        <p:nvSpPr>
          <p:cNvPr id="12" name="Text 10"/>
          <p:cNvSpPr txBox="1"/>
          <p:nvPr/>
        </p:nvSpPr>
        <p:spPr>
          <a:xfrm>
            <a:off x="647700" y="3416945"/>
            <a:ext cx="10953750" cy="613172"/>
          </a:xfrm>
          <a:prstGeom prst="rect">
            <a:avLst/>
          </a:prstGeom>
          <a:noFill/>
          <a:ln/>
        </p:spPr>
        <p:txBody>
          <a:bodyPr wrap="square" lIns="0" tIns="0" rIns="0" bIns="0" rtlCol="0" anchor="t"/>
          <a:lstStyle/>
          <a:p>
            <a:pPr algn="l" indent="0" marL="0">
              <a:lnSpc>
                <a:spcPts val="2420"/>
              </a:lnSpc>
              <a:buNone/>
            </a:pPr>
            <a:r>
              <a:rPr lang="en-US" sz="1730" dirty="0">
                <a:solidFill>
                  <a:srgbClr val="101A22"/>
                </a:solidFill>
                <a:latin typeface="Arial" pitchFamily="34" charset="0"/>
                <a:ea typeface="Arial" pitchFamily="34" charset="-122"/>
                <a:cs typeface="Arial" pitchFamily="34" charset="-120"/>
              </a:rPr>
              <a:t>A span has attributes, the same as an event. So you search spans the way you search events, and you can sort them by duration.</a:t>
            </a:r>
            <a:endParaRPr lang="en-US" sz="1730" dirty="0"/>
          </a:p>
        </p:txBody>
      </p:sp>
      <p:sp>
        <p:nvSpPr>
          <p:cNvPr id="13" name="Text 11"/>
          <p:cNvSpPr txBox="1"/>
          <p:nvPr/>
        </p:nvSpPr>
        <p:spPr>
          <a:xfrm>
            <a:off x="647700" y="4182517"/>
            <a:ext cx="10953750" cy="306705"/>
          </a:xfrm>
          <a:prstGeom prst="rect">
            <a:avLst/>
          </a:prstGeom>
          <a:noFill/>
          <a:ln/>
        </p:spPr>
        <p:txBody>
          <a:bodyPr wrap="none" lIns="0" tIns="0" rIns="0" bIns="0" rtlCol="0" anchor="t"/>
          <a:lstStyle/>
          <a:p>
            <a:pPr algn="l" indent="0" marL="0">
              <a:lnSpc>
                <a:spcPts val="2420"/>
              </a:lnSpc>
              <a:buNone/>
            </a:pPr>
            <a:r>
              <a:rPr lang="en-US" sz="1730" dirty="0">
                <a:solidFill>
                  <a:srgbClr val="101A22"/>
                </a:solidFill>
                <a:latin typeface="Arial" pitchFamily="34" charset="0"/>
                <a:ea typeface="Arial" pitchFamily="34" charset="-122"/>
                <a:cs typeface="Arial" pitchFamily="34" charset="-120"/>
              </a:rPr>
              <a:t>In OpenSearch Dashboards this data is usually viewed under </a:t>
            </a:r>
            <a:pPr algn="l" indent="0" marL="0">
              <a:lnSpc>
                <a:spcPts val="2420"/>
              </a:lnSpc>
              <a:buNone/>
            </a:pPr>
            <a:r>
              <a:rPr lang="en-US" sz="1730" b="1" dirty="0">
                <a:solidFill>
                  <a:srgbClr val="101A22"/>
                </a:solidFill>
                <a:latin typeface="Arial" pitchFamily="34" charset="0"/>
                <a:ea typeface="Arial" pitchFamily="34" charset="-122"/>
                <a:cs typeface="Arial" pitchFamily="34" charset="-120"/>
              </a:rPr>
              <a:t>Observability</a:t>
            </a:r>
            <a:pPr algn="l" indent="0" marL="0">
              <a:lnSpc>
                <a:spcPts val="2420"/>
              </a:lnSpc>
              <a:buNone/>
            </a:pPr>
            <a:r>
              <a:rPr lang="en-US" sz="1730" dirty="0">
                <a:solidFill>
                  <a:srgbClr val="101A22"/>
                </a:solidFill>
                <a:latin typeface="Arial" pitchFamily="34" charset="0"/>
                <a:ea typeface="Arial" pitchFamily="34" charset="-122"/>
                <a:cs typeface="Arial" pitchFamily="34" charset="-120"/>
              </a:rPr>
              <a:t>.</a:t>
            </a:r>
            <a:endParaRPr lang="en-US" sz="1730" dirty="0"/>
          </a:p>
        </p:txBody>
      </p:sp>
      <p:sp>
        <p:nvSpPr>
          <p:cNvPr id="14" name="Text 12"/>
          <p:cNvSpPr txBox="1"/>
          <p:nvPr/>
        </p:nvSpPr>
        <p:spPr>
          <a:xfrm>
            <a:off x="647700" y="6464379"/>
            <a:ext cx="874663" cy="148590"/>
          </a:xfrm>
          <a:prstGeom prst="rect">
            <a:avLst/>
          </a:prstGeom>
          <a:noFill/>
          <a:ln/>
        </p:spPr>
        <p:txBody>
          <a:bodyPr wrap="none" lIns="0" tIns="0" rIns="0" bIns="0" rtlCol="0" anchor="t"/>
          <a:lstStyle/>
          <a:p>
            <a:pPr algn="l" indent="0" marL="0">
              <a:lnSpc>
                <a:spcPts val="1170"/>
              </a:lnSpc>
              <a:buNone/>
            </a:pPr>
            <a:r>
              <a:rPr lang="en-US" sz="980" dirty="0">
                <a:solidFill>
                  <a:srgbClr val="8496A2"/>
                </a:solidFill>
                <a:latin typeface="Courier New" pitchFamily="34" charset="0"/>
                <a:ea typeface="Courier New" pitchFamily="34" charset="-122"/>
                <a:cs typeface="Courier New" pitchFamily="34" charset="-120"/>
              </a:rPr>
              <a:t>Timing data</a:t>
            </a:r>
            <a:endParaRPr lang="en-US" sz="980" dirty="0"/>
          </a:p>
        </p:txBody>
      </p:sp>
      <p:sp>
        <p:nvSpPr>
          <p:cNvPr id="15" name="Text 13"/>
          <p:cNvSpPr txBox="1"/>
          <p:nvPr/>
        </p:nvSpPr>
        <p:spPr>
          <a:xfrm>
            <a:off x="11024146" y="6464379"/>
            <a:ext cx="577304" cy="148590"/>
          </a:xfrm>
          <a:prstGeom prst="rect">
            <a:avLst/>
          </a:prstGeom>
          <a:noFill/>
          <a:ln/>
        </p:spPr>
        <p:txBody>
          <a:bodyPr wrap="none" lIns="0" tIns="0" rIns="0" bIns="0" rtlCol="0" anchor="t"/>
          <a:lstStyle/>
          <a:p>
            <a:pPr algn="l" indent="0" marL="0">
              <a:lnSpc>
                <a:spcPts val="1170"/>
              </a:lnSpc>
              <a:buNone/>
            </a:pPr>
            <a:r>
              <a:rPr lang="en-US" sz="980" dirty="0">
                <a:solidFill>
                  <a:srgbClr val="8496A2"/>
                </a:solidFill>
                <a:latin typeface="Courier New" pitchFamily="34" charset="0"/>
                <a:ea typeface="Courier New" pitchFamily="34" charset="-122"/>
                <a:cs typeface="Courier New" pitchFamily="34" charset="-120"/>
              </a:rPr>
              <a:t>34 / 39</a:t>
            </a:r>
            <a:endParaRPr lang="en-US" sz="980" dirty="0"/>
          </a:p>
        </p:txBody>
      </p:sp>
      <p:pic>
        <p:nvPicPr>
          <p:cNvPr id="900" name="NetSapiensis mark" descr="NetSapiensis"/>
          <p:cNvPicPr>
            <a:picLocks noChangeAspect="1"/>
          </p:cNvPicPr>
          <p:nvPr/>
        </p:nvPicPr>
        <p:blipFill>
          <a:blip r:embed="rId3"/>
          <a:stretch>
            <a:fillRect/>
          </a:stretch>
        </p:blipFill>
        <p:spPr>
          <a:xfrm>
            <a:off x="10776204" y="6419088"/>
            <a:ext cx="178308" cy="237744"/>
          </a:xfrm>
          <a:prstGeom prst="rect">
            <a:avLst/>
          </a:prstGeom>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101A22"/>
        </a:solidFill>
      </p:bgPr>
    </p:bg>
    <p:spTree>
      <p:nvGrpSpPr>
        <p:cNvPr id="1" name=""/>
        <p:cNvGrpSpPr/>
        <p:nvPr/>
      </p:nvGrpSpPr>
      <p:grpSpPr>
        <a:xfrm>
          <a:off x="0" y="0"/>
          <a:ext cx="0" cy="0"/>
          <a:chOff x="0" y="0"/>
          <a:chExt cx="0" cy="0"/>
        </a:xfrm>
      </p:grpSpPr>
      <p:sp>
        <p:nvSpPr>
          <p:cNvPr id="2" name="Shape 0"/>
          <p:cNvSpPr/>
          <p:nvPr/>
        </p:nvSpPr>
        <p:spPr>
          <a:xfrm>
            <a:off x="647700" y="6343650"/>
            <a:ext cx="10896600" cy="0"/>
          </a:xfrm>
          <a:prstGeom prst="line">
            <a:avLst/>
          </a:prstGeom>
          <a:noFill/>
          <a:ln w="10160">
            <a:solidFill>
              <a:srgbClr val="2A3B47"/>
            </a:solidFill>
            <a:prstDash val="solid"/>
          </a:ln>
        </p:spPr>
      </p:sp>
      <p:sp>
        <p:nvSpPr>
          <p:cNvPr id="3" name="Text 1"/>
          <p:cNvSpPr txBox="1"/>
          <p:nvPr/>
        </p:nvSpPr>
        <p:spPr>
          <a:xfrm>
            <a:off x="647700" y="2864554"/>
            <a:ext cx="10953750" cy="185738"/>
          </a:xfrm>
          <a:prstGeom prst="rect">
            <a:avLst/>
          </a:prstGeom>
          <a:noFill/>
          <a:ln/>
        </p:spPr>
        <p:txBody>
          <a:bodyPr wrap="none" lIns="0" tIns="0" rIns="0" bIns="0" rtlCol="0" anchor="t"/>
          <a:lstStyle/>
          <a:p>
            <a:pPr algn="l" indent="0" marL="0">
              <a:lnSpc>
                <a:spcPts val="1460"/>
              </a:lnSpc>
              <a:buNone/>
            </a:pPr>
            <a:r>
              <a:rPr lang="en-US" sz="980" spc="160" kern="0" dirty="0">
                <a:solidFill>
                  <a:srgbClr val="6FC7EE"/>
                </a:solidFill>
                <a:latin typeface="Courier New" pitchFamily="34" charset="0"/>
                <a:ea typeface="Courier New" pitchFamily="34" charset="-122"/>
                <a:cs typeface="Courier New" pitchFamily="34" charset="-120"/>
              </a:rPr>
              <a:t>LIVE</a:t>
            </a:r>
            <a:endParaRPr lang="en-US" sz="980" dirty="0"/>
          </a:p>
        </p:txBody>
      </p:sp>
      <p:sp>
        <p:nvSpPr>
          <p:cNvPr id="4" name="Text 2"/>
          <p:cNvSpPr txBox="1"/>
          <p:nvPr/>
        </p:nvSpPr>
        <p:spPr>
          <a:xfrm>
            <a:off x="647700" y="3205311"/>
            <a:ext cx="10953750" cy="576072"/>
          </a:xfrm>
          <a:prstGeom prst="rect">
            <a:avLst/>
          </a:prstGeom>
          <a:noFill/>
          <a:ln/>
        </p:spPr>
        <p:txBody>
          <a:bodyPr wrap="none" lIns="0" tIns="0" rIns="0" bIns="0" rtlCol="0" anchor="t"/>
          <a:lstStyle/>
          <a:p>
            <a:pPr algn="l" indent="0" marL="0">
              <a:lnSpc>
                <a:spcPts val="4540"/>
              </a:lnSpc>
              <a:buNone/>
            </a:pPr>
            <a:r>
              <a:rPr lang="en-US" sz="4200" b="1" spc="-80" kern="0" dirty="0">
                <a:solidFill>
                  <a:srgbClr val="FFFFFF"/>
                </a:solidFill>
                <a:latin typeface="Arial" pitchFamily="34" charset="0"/>
                <a:ea typeface="Arial" pitchFamily="34" charset="-122"/>
                <a:cs typeface="Arial" pitchFamily="34" charset="-120"/>
              </a:rPr>
              <a:t>Now we look at a live system</a:t>
            </a:r>
            <a:endParaRPr lang="en-US" sz="4200" dirty="0"/>
          </a:p>
        </p:txBody>
      </p:sp>
      <p:sp>
        <p:nvSpPr>
          <p:cNvPr id="5" name="Text 3"/>
          <p:cNvSpPr txBox="1"/>
          <p:nvPr/>
        </p:nvSpPr>
        <p:spPr>
          <a:xfrm>
            <a:off x="647700" y="6464379"/>
            <a:ext cx="354509" cy="148590"/>
          </a:xfrm>
          <a:prstGeom prst="rect">
            <a:avLst/>
          </a:prstGeom>
          <a:noFill/>
          <a:ln/>
        </p:spPr>
        <p:txBody>
          <a:bodyPr wrap="none" lIns="0" tIns="0" rIns="0" bIns="0" rtlCol="0" anchor="t"/>
          <a:lstStyle/>
          <a:p>
            <a:pPr algn="l" indent="0" marL="0">
              <a:lnSpc>
                <a:spcPts val="1170"/>
              </a:lnSpc>
              <a:buNone/>
            </a:pPr>
            <a:r>
              <a:rPr lang="en-US" sz="980" dirty="0">
                <a:solidFill>
                  <a:srgbClr val="56707F"/>
                </a:solidFill>
                <a:latin typeface="Courier New" pitchFamily="34" charset="0"/>
                <a:ea typeface="Courier New" pitchFamily="34" charset="-122"/>
                <a:cs typeface="Courier New" pitchFamily="34" charset="-120"/>
              </a:rPr>
              <a:t>Demo</a:t>
            </a:r>
            <a:endParaRPr lang="en-US" sz="980" dirty="0"/>
          </a:p>
        </p:txBody>
      </p:sp>
      <p:sp>
        <p:nvSpPr>
          <p:cNvPr id="6" name="Text 4"/>
          <p:cNvSpPr txBox="1"/>
          <p:nvPr/>
        </p:nvSpPr>
        <p:spPr>
          <a:xfrm>
            <a:off x="11024146" y="6464379"/>
            <a:ext cx="577304" cy="148590"/>
          </a:xfrm>
          <a:prstGeom prst="rect">
            <a:avLst/>
          </a:prstGeom>
          <a:noFill/>
          <a:ln/>
        </p:spPr>
        <p:txBody>
          <a:bodyPr wrap="none" lIns="0" tIns="0" rIns="0" bIns="0" rtlCol="0" anchor="t"/>
          <a:lstStyle/>
          <a:p>
            <a:pPr algn="l" indent="0" marL="0">
              <a:lnSpc>
                <a:spcPts val="1170"/>
              </a:lnSpc>
              <a:buNone/>
            </a:pPr>
            <a:r>
              <a:rPr lang="en-US" sz="980" dirty="0">
                <a:solidFill>
                  <a:srgbClr val="56707F"/>
                </a:solidFill>
                <a:latin typeface="Courier New" pitchFamily="34" charset="0"/>
                <a:ea typeface="Courier New" pitchFamily="34" charset="-122"/>
                <a:cs typeface="Courier New" pitchFamily="34" charset="-120"/>
              </a:rPr>
              <a:t>35 / 39</a:t>
            </a:r>
            <a:endParaRPr lang="en-US" sz="980" dirty="0"/>
          </a:p>
        </p:txBody>
      </p:sp>
      <p:pic>
        <p:nvPicPr>
          <p:cNvPr id="900" name="NetSapiensis mark" descr="NetSapiensis"/>
          <p:cNvPicPr>
            <a:picLocks noChangeAspect="1"/>
          </p:cNvPicPr>
          <p:nvPr/>
        </p:nvPicPr>
        <p:blipFill>
          <a:blip r:embed="rId3"/>
          <a:stretch>
            <a:fillRect/>
          </a:stretch>
        </p:blipFill>
        <p:spPr>
          <a:xfrm>
            <a:off x="10776204" y="6419088"/>
            <a:ext cx="178308" cy="237744"/>
          </a:xfrm>
          <a:prstGeom prst="rect">
            <a:avLst/>
          </a:prstGeom>
        </p:spPr>
      </p:pic>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158751" y="2440704"/>
            <a:ext cx="9874500" cy="686209"/>
          </a:xfrm>
          <a:prstGeom prst="roundRect">
            <a:avLst>
              <a:gd name="adj" fmla="val 33516"/>
            </a:avLst>
          </a:prstGeom>
          <a:solidFill>
            <a:srgbClr val="0F2027"/>
          </a:solidFill>
          <a:ln/>
        </p:spPr>
      </p:sp>
      <p:sp>
        <p:nvSpPr>
          <p:cNvPr id="3" name="Shape 1"/>
          <p:cNvSpPr/>
          <p:nvPr/>
        </p:nvSpPr>
        <p:spPr>
          <a:xfrm>
            <a:off x="1193269" y="5068990"/>
            <a:ext cx="77667" cy="77667"/>
          </a:xfrm>
          <a:prstGeom prst="roundRect">
            <a:avLst>
              <a:gd name="adj" fmla="val 523260"/>
            </a:avLst>
          </a:prstGeom>
          <a:solidFill>
            <a:srgbClr val="0B6E99"/>
          </a:solidFill>
          <a:ln/>
        </p:spPr>
      </p:sp>
      <p:sp>
        <p:nvSpPr>
          <p:cNvPr id="4" name="Shape 2"/>
          <p:cNvSpPr/>
          <p:nvPr/>
        </p:nvSpPr>
        <p:spPr>
          <a:xfrm>
            <a:off x="1193269" y="5371094"/>
            <a:ext cx="77667" cy="77667"/>
          </a:xfrm>
          <a:prstGeom prst="roundRect">
            <a:avLst>
              <a:gd name="adj" fmla="val 523260"/>
            </a:avLst>
          </a:prstGeom>
          <a:solidFill>
            <a:srgbClr val="0B6E99"/>
          </a:solidFill>
          <a:ln/>
        </p:spPr>
      </p:sp>
      <p:sp>
        <p:nvSpPr>
          <p:cNvPr id="5" name="Shape 3"/>
          <p:cNvSpPr/>
          <p:nvPr/>
        </p:nvSpPr>
        <p:spPr>
          <a:xfrm>
            <a:off x="1193269" y="5679672"/>
            <a:ext cx="77667" cy="77667"/>
          </a:xfrm>
          <a:prstGeom prst="roundRect">
            <a:avLst>
              <a:gd name="adj" fmla="val 523260"/>
            </a:avLst>
          </a:prstGeom>
          <a:solidFill>
            <a:srgbClr val="0B6E99"/>
          </a:solidFill>
          <a:ln/>
        </p:spPr>
      </p:sp>
      <p:sp>
        <p:nvSpPr>
          <p:cNvPr id="6" name="Shape 4"/>
          <p:cNvSpPr/>
          <p:nvPr/>
        </p:nvSpPr>
        <p:spPr>
          <a:xfrm>
            <a:off x="647700" y="6343650"/>
            <a:ext cx="10896600" cy="0"/>
          </a:xfrm>
          <a:prstGeom prst="line">
            <a:avLst/>
          </a:prstGeom>
          <a:noFill/>
          <a:ln w="8890">
            <a:solidFill>
              <a:srgbClr val="CBD7DF"/>
            </a:solidFill>
            <a:prstDash val="solid"/>
          </a:ln>
        </p:spPr>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1158751" y="3282280"/>
          <a:ext cx="9874500" cy="914400"/>
        </p:xfrm>
        <a:graphic>
          <a:graphicData uri="http://schemas.openxmlformats.org/drawingml/2006/table">
            <a:tbl>
              <a:tblPr/>
              <a:tblGrid>
                <a:gridCol w="2567348"/>
                <a:gridCol w="2962242"/>
                <a:gridCol w="4344909"/>
              </a:tblGrid>
              <a:tr h="349578">
                <a:tc>
                  <a:txBody>
                    <a:bodyPr/>
                    <a:lstStyle/>
                    <a:p>
                      <a:pPr algn="l" indent="0" marL="0">
                        <a:lnSpc>
                          <a:spcPts val="1140"/>
                        </a:lnSpc>
                        <a:buNone/>
                      </a:pPr>
                      <a:r>
                        <a:rPr lang="en-US" sz="950" b="1" spc="100" kern="0" dirty="0">
                          <a:solidFill>
                            <a:srgbClr val="5A6D7A"/>
                          </a:solidFill>
                          <a:latin typeface="Arial" pitchFamily="34" charset="0"/>
                          <a:ea typeface="Arial" pitchFamily="34" charset="-122"/>
                          <a:cs typeface="Arial" pitchFamily="34" charset="-120"/>
                        </a:rPr>
                        <a:t>WHAT</a:t>
                      </a:r>
                      <a:endParaRPr lang="en-US" sz="1200" dirty="0"/>
                    </a:p>
                  </a:txBody>
                  <a:tcPr marL="120815" marR="120815" marT="103556" marB="103556" anchor="t">
                    <a:lnL w="0" cap="flat" cmpd="sng" algn="ctr">
                      <a:noFill/>
                    </a:lnL>
                    <a:lnR w="0" cap="flat" cmpd="sng" algn="ctr">
                      <a:noFill/>
                    </a:lnR>
                    <a:lnT w="0" cap="flat" cmpd="sng" algn="ctr">
                      <a:noFill/>
                    </a:lnT>
                    <a:lnB w="8890" cap="flat" cmpd="sng" algn="ctr">
                      <a:solidFill>
                        <a:srgbClr val="CBD7DF"/>
                      </a:solidFill>
                      <a:prstDash val="solid"/>
                      <a:round/>
                      <a:headEnd type="none" w="med" len="med"/>
                      <a:tailEnd type="none" w="med" len="med"/>
                    </a:lnB>
                  </a:tcPr>
                </a:tc>
                <a:tc>
                  <a:txBody>
                    <a:bodyPr/>
                    <a:lstStyle/>
                    <a:p>
                      <a:pPr algn="l" indent="0" marL="0">
                        <a:lnSpc>
                          <a:spcPts val="1140"/>
                        </a:lnSpc>
                        <a:buNone/>
                      </a:pPr>
                      <a:r>
                        <a:rPr lang="en-US" sz="950" b="1" spc="100" kern="0" dirty="0">
                          <a:solidFill>
                            <a:srgbClr val="5A6D7A"/>
                          </a:solidFill>
                          <a:latin typeface="Arial" pitchFamily="34" charset="0"/>
                          <a:ea typeface="Arial" pitchFamily="34" charset="-122"/>
                          <a:cs typeface="Arial" pitchFamily="34" charset="-120"/>
                        </a:rPr>
                        <a:t>WHERE</a:t>
                      </a:r>
                      <a:endParaRPr lang="en-US" sz="1200" dirty="0"/>
                    </a:p>
                  </a:txBody>
                  <a:tcPr marL="120815" marR="120815" marT="103556" marB="103556" anchor="t">
                    <a:lnL w="0" cap="flat" cmpd="sng" algn="ctr">
                      <a:noFill/>
                    </a:lnL>
                    <a:lnR w="0" cap="flat" cmpd="sng" algn="ctr">
                      <a:noFill/>
                    </a:lnR>
                    <a:lnT w="0" cap="flat" cmpd="sng" algn="ctr">
                      <a:noFill/>
                    </a:lnT>
                    <a:lnB w="8890" cap="flat" cmpd="sng" algn="ctr">
                      <a:solidFill>
                        <a:srgbClr val="CBD7DF"/>
                      </a:solidFill>
                      <a:prstDash val="solid"/>
                      <a:round/>
                      <a:headEnd type="none" w="med" len="med"/>
                      <a:tailEnd type="none" w="med" len="med"/>
                    </a:lnB>
                  </a:tcPr>
                </a:tc>
                <a:tc>
                  <a:txBody>
                    <a:bodyPr/>
                    <a:lstStyle/>
                    <a:p>
                      <a:pPr algn="l" indent="0" marL="0">
                        <a:lnSpc>
                          <a:spcPts val="1140"/>
                        </a:lnSpc>
                        <a:buNone/>
                      </a:pPr>
                      <a:r>
                        <a:rPr lang="en-US" sz="950" b="1" spc="100" kern="0" dirty="0">
                          <a:solidFill>
                            <a:srgbClr val="5A6D7A"/>
                          </a:solidFill>
                          <a:latin typeface="Arial" pitchFamily="34" charset="0"/>
                          <a:ea typeface="Arial" pitchFamily="34" charset="-122"/>
                          <a:cs typeface="Arial" pitchFamily="34" charset="-120"/>
                        </a:rPr>
                        <a:t>LOGIN</a:t>
                      </a:r>
                      <a:endParaRPr lang="en-US" sz="1200" dirty="0"/>
                    </a:p>
                  </a:txBody>
                  <a:tcPr marL="120815" marR="120815" marT="103556" marB="103556" anchor="t">
                    <a:lnL w="0" cap="flat" cmpd="sng" algn="ctr">
                      <a:noFill/>
                    </a:lnL>
                    <a:lnR w="0" cap="flat" cmpd="sng" algn="ctr">
                      <a:noFill/>
                    </a:lnR>
                    <a:lnT w="0" cap="flat" cmpd="sng" algn="ctr">
                      <a:noFill/>
                    </a:lnT>
                    <a:lnB w="8890" cap="flat" cmpd="sng" algn="ctr">
                      <a:solidFill>
                        <a:srgbClr val="CBD7DF"/>
                      </a:solidFill>
                      <a:prstDash val="solid"/>
                      <a:round/>
                      <a:headEnd type="none" w="med" len="med"/>
                      <a:tailEnd type="none" w="med" len="med"/>
                    </a:lnB>
                  </a:tcPr>
                </a:tc>
              </a:tr>
              <a:tr h="397051">
                <a:tc>
                  <a:txBody>
                    <a:bodyPr/>
                    <a:lstStyle/>
                    <a:p>
                      <a:pPr algn="l" indent="0" marL="0">
                        <a:lnSpc>
                          <a:spcPts val="1390"/>
                        </a:lnSpc>
                        <a:buNone/>
                      </a:pPr>
                      <a:r>
                        <a:rPr lang="en-US" sz="1160" dirty="0">
                          <a:solidFill>
                            <a:srgbClr val="0B6E99"/>
                          </a:solidFill>
                          <a:latin typeface="Courier New" pitchFamily="34" charset="0"/>
                          <a:ea typeface="Courier New" pitchFamily="34" charset="-122"/>
                          <a:cs typeface="Courier New" pitchFamily="34" charset="-120"/>
                        </a:rPr>
                        <a:t>Moodle</a:t>
                      </a:r>
                      <a:endParaRPr lang="en-US" sz="1200" dirty="0"/>
                    </a:p>
                  </a:txBody>
                  <a:tcPr marL="120815" marR="120815" marT="103556" marB="103556" anchor="t">
                    <a:lnL w="0" cap="flat" cmpd="sng" algn="ctr">
                      <a:noFill/>
                    </a:lnL>
                    <a:lnR w="0" cap="flat" cmpd="sng" algn="ctr">
                      <a:noFill/>
                    </a:lnR>
                    <a:lnT w="0" cap="flat" cmpd="sng" algn="ctr">
                      <a:noFill/>
                    </a:lnT>
                    <a:lnB w="8890" cap="flat" cmpd="sng" algn="ctr">
                      <a:solidFill>
                        <a:srgbClr val="CBD7DF"/>
                      </a:solidFill>
                      <a:prstDash val="solid"/>
                      <a:round/>
                      <a:headEnd type="none" w="med" len="med"/>
                      <a:tailEnd type="none" w="med" len="med"/>
                    </a:lnB>
                  </a:tcPr>
                </a:tc>
                <a:tc>
                  <a:txBody>
                    <a:bodyPr/>
                    <a:lstStyle/>
                    <a:p>
                      <a:pPr algn="l" indent="0" marL="0">
                        <a:lnSpc>
                          <a:spcPts val="1390"/>
                        </a:lnSpc>
                        <a:buNone/>
                      </a:pPr>
                      <a:r>
                        <a:rPr lang="en-US" sz="1160" dirty="0">
                          <a:solidFill>
                            <a:srgbClr val="101A22"/>
                          </a:solidFill>
                          <a:latin typeface="Courier New" pitchFamily="34" charset="0"/>
                          <a:ea typeface="Courier New" pitchFamily="34" charset="-122"/>
                          <a:cs typeface="Courier New" pitchFamily="34" charset="-120"/>
                        </a:rPr>
                        <a:t>https://localhost</a:t>
                      </a:r>
                      <a:endParaRPr lang="en-US" sz="1200" dirty="0"/>
                    </a:p>
                  </a:txBody>
                  <a:tcPr marL="120815" marR="120815" marT="103556" marB="103556" anchor="t">
                    <a:lnL w="0" cap="flat" cmpd="sng" algn="ctr">
                      <a:noFill/>
                    </a:lnL>
                    <a:lnR w="0" cap="flat" cmpd="sng" algn="ctr">
                      <a:noFill/>
                    </a:lnR>
                    <a:lnT w="0" cap="flat" cmpd="sng" algn="ctr">
                      <a:noFill/>
                    </a:lnT>
                    <a:lnB w="8890" cap="flat" cmpd="sng" algn="ctr">
                      <a:solidFill>
                        <a:srgbClr val="CBD7DF"/>
                      </a:solidFill>
                      <a:prstDash val="solid"/>
                      <a:round/>
                      <a:headEnd type="none" w="med" len="med"/>
                      <a:tailEnd type="none" w="med" len="med"/>
                    </a:lnB>
                  </a:tcPr>
                </a:tc>
                <a:tc>
                  <a:txBody>
                    <a:bodyPr/>
                    <a:lstStyle/>
                    <a:p>
                      <a:pPr algn="l" indent="0" marL="0">
                        <a:lnSpc>
                          <a:spcPts val="1470"/>
                        </a:lnSpc>
                        <a:buNone/>
                      </a:pPr>
                      <a:r>
                        <a:rPr lang="en-US" sz="1220" dirty="0">
                          <a:solidFill>
                            <a:srgbClr val="101A22"/>
                          </a:solidFill>
                          <a:latin typeface="Arial" pitchFamily="34" charset="0"/>
                          <a:ea typeface="Arial" pitchFamily="34" charset="-122"/>
                          <a:cs typeface="Arial" pitchFamily="34" charset="-120"/>
                        </a:rPr>
                        <a:t>admin / DemoAdmin2026!</a:t>
                      </a:r>
                      <a:endParaRPr lang="en-US" sz="1200" dirty="0"/>
                    </a:p>
                  </a:txBody>
                  <a:tcPr marL="120815" marR="120815" marT="103556" marB="103556" anchor="t">
                    <a:lnL w="0" cap="flat" cmpd="sng" algn="ctr">
                      <a:noFill/>
                    </a:lnL>
                    <a:lnR w="0" cap="flat" cmpd="sng" algn="ctr">
                      <a:noFill/>
                    </a:lnR>
                    <a:lnT w="0" cap="flat" cmpd="sng" algn="ctr">
                      <a:noFill/>
                    </a:lnT>
                    <a:lnB w="8890" cap="flat" cmpd="sng" algn="ctr">
                      <a:solidFill>
                        <a:srgbClr val="CBD7DF"/>
                      </a:solidFill>
                      <a:prstDash val="solid"/>
                      <a:round/>
                      <a:headEnd type="none" w="med" len="med"/>
                      <a:tailEnd type="none" w="med" len="med"/>
                    </a:lnB>
                  </a:tcPr>
                </a:tc>
              </a:tr>
              <a:tr h="397052">
                <a:tc>
                  <a:txBody>
                    <a:bodyPr/>
                    <a:lstStyle/>
                    <a:p>
                      <a:pPr algn="l" indent="0" marL="0">
                        <a:lnSpc>
                          <a:spcPts val="1390"/>
                        </a:lnSpc>
                        <a:buNone/>
                      </a:pPr>
                      <a:r>
                        <a:rPr lang="en-US" sz="1160" dirty="0">
                          <a:solidFill>
                            <a:srgbClr val="0B6E99"/>
                          </a:solidFill>
                          <a:latin typeface="Courier New" pitchFamily="34" charset="0"/>
                          <a:ea typeface="Courier New" pitchFamily="34" charset="-122"/>
                          <a:cs typeface="Courier New" pitchFamily="34" charset="-120"/>
                        </a:rPr>
                        <a:t>OpenSearch Dashboards</a:t>
                      </a:r>
                      <a:endParaRPr lang="en-US" sz="1200" dirty="0"/>
                    </a:p>
                  </a:txBody>
                  <a:tcPr marL="120815" marR="120815" marT="103556" marB="103556" anchor="t">
                    <a:lnL w="0" cap="flat" cmpd="sng" algn="ctr">
                      <a:noFill/>
                    </a:lnL>
                    <a:lnR w="0" cap="flat" cmpd="sng" algn="ctr">
                      <a:noFill/>
                    </a:lnR>
                    <a:lnT w="0" cap="flat" cmpd="sng" algn="ctr">
                      <a:noFill/>
                    </a:lnT>
                    <a:lnB w="8890" cap="flat" cmpd="sng" algn="ctr">
                      <a:solidFill>
                        <a:srgbClr val="CBD7DF"/>
                      </a:solidFill>
                      <a:prstDash val="solid"/>
                      <a:round/>
                      <a:headEnd type="none" w="med" len="med"/>
                      <a:tailEnd type="none" w="med" len="med"/>
                    </a:lnB>
                  </a:tcPr>
                </a:tc>
                <a:tc>
                  <a:txBody>
                    <a:bodyPr/>
                    <a:lstStyle/>
                    <a:p>
                      <a:pPr algn="l" indent="0" marL="0">
                        <a:lnSpc>
                          <a:spcPts val="1390"/>
                        </a:lnSpc>
                        <a:buNone/>
                      </a:pPr>
                      <a:r>
                        <a:rPr lang="en-US" sz="1160" dirty="0">
                          <a:solidFill>
                            <a:srgbClr val="101A22"/>
                          </a:solidFill>
                          <a:latin typeface="Courier New" pitchFamily="34" charset="0"/>
                          <a:ea typeface="Courier New" pitchFamily="34" charset="-122"/>
                          <a:cs typeface="Courier New" pitchFamily="34" charset="-120"/>
                        </a:rPr>
                        <a:t>https://localhost:5601</a:t>
                      </a:r>
                      <a:endParaRPr lang="en-US" sz="1200" dirty="0"/>
                    </a:p>
                  </a:txBody>
                  <a:tcPr marL="120815" marR="120815" marT="103556" marB="103556" anchor="t">
                    <a:lnL w="0" cap="flat" cmpd="sng" algn="ctr">
                      <a:noFill/>
                    </a:lnL>
                    <a:lnR w="0" cap="flat" cmpd="sng" algn="ctr">
                      <a:noFill/>
                    </a:lnR>
                    <a:lnT w="0" cap="flat" cmpd="sng" algn="ctr">
                      <a:noFill/>
                    </a:lnT>
                    <a:lnB w="8890" cap="flat" cmpd="sng" algn="ctr">
                      <a:solidFill>
                        <a:srgbClr val="CBD7DF"/>
                      </a:solidFill>
                      <a:prstDash val="solid"/>
                      <a:round/>
                      <a:headEnd type="none" w="med" len="med"/>
                      <a:tailEnd type="none" w="med" len="med"/>
                    </a:lnB>
                  </a:tcPr>
                </a:tc>
                <a:tc>
                  <a:txBody>
                    <a:bodyPr/>
                    <a:lstStyle/>
                    <a:p>
                      <a:pPr algn="l" indent="0" marL="0">
                        <a:lnSpc>
                          <a:spcPts val="1470"/>
                        </a:lnSpc>
                        <a:buNone/>
                      </a:pPr>
                      <a:r>
                        <a:rPr lang="en-US" sz="1220" dirty="0">
                          <a:solidFill>
                            <a:srgbClr val="101A22"/>
                          </a:solidFill>
                          <a:latin typeface="Arial" pitchFamily="34" charset="0"/>
                          <a:ea typeface="Arial" pitchFamily="34" charset="-122"/>
                          <a:cs typeface="Arial" pitchFamily="34" charset="-120"/>
                        </a:rPr>
                        <a:t>admin / DemoSearch2026!</a:t>
                      </a:r>
                      <a:endParaRPr lang="en-US" sz="1200" dirty="0"/>
                    </a:p>
                  </a:txBody>
                  <a:tcPr marL="120815" marR="120815" marT="103556" marB="103556" anchor="t">
                    <a:lnL w="0" cap="flat" cmpd="sng" algn="ctr">
                      <a:noFill/>
                    </a:lnL>
                    <a:lnR w="0" cap="flat" cmpd="sng" algn="ctr">
                      <a:noFill/>
                    </a:lnR>
                    <a:lnT w="0" cap="flat" cmpd="sng" algn="ctr">
                      <a:noFill/>
                    </a:lnT>
                    <a:lnB w="8890" cap="flat" cmpd="sng" algn="ctr">
                      <a:solidFill>
                        <a:srgbClr val="CBD7DF"/>
                      </a:solidFill>
                      <a:prstDash val="solid"/>
                      <a:round/>
                      <a:headEnd type="none" w="med" len="med"/>
                      <a:tailEnd type="none" w="med" len="med"/>
                    </a:lnB>
                  </a:tcPr>
                </a:tc>
              </a:tr>
              <a:tr h="397052">
                <a:tc>
                  <a:txBody>
                    <a:bodyPr/>
                    <a:lstStyle/>
                    <a:p>
                      <a:pPr algn="l" indent="0" marL="0">
                        <a:lnSpc>
                          <a:spcPts val="1390"/>
                        </a:lnSpc>
                        <a:buNone/>
                      </a:pPr>
                      <a:r>
                        <a:rPr lang="en-US" sz="1160" dirty="0">
                          <a:solidFill>
                            <a:srgbClr val="0B6E99"/>
                          </a:solidFill>
                          <a:latin typeface="Courier New" pitchFamily="34" charset="0"/>
                          <a:ea typeface="Courier New" pitchFamily="34" charset="-122"/>
                          <a:cs typeface="Courier New" pitchFamily="34" charset="-120"/>
                        </a:rPr>
                        <a:t>OpenSearch</a:t>
                      </a:r>
                      <a:endParaRPr lang="en-US" sz="1200" dirty="0"/>
                    </a:p>
                  </a:txBody>
                  <a:tcPr marL="120815" marR="120815" marT="103556" marB="103556" anchor="t">
                    <a:lnL w="0" cap="flat" cmpd="sng" algn="ctr">
                      <a:noFill/>
                    </a:lnL>
                    <a:lnR w="0" cap="flat" cmpd="sng" algn="ctr">
                      <a:noFill/>
                    </a:lnR>
                    <a:lnT w="0" cap="flat" cmpd="sng" algn="ctr">
                      <a:noFill/>
                    </a:lnT>
                    <a:lnB w="8890" cap="flat" cmpd="sng" algn="ctr">
                      <a:solidFill>
                        <a:srgbClr val="CBD7DF"/>
                      </a:solidFill>
                      <a:prstDash val="solid"/>
                      <a:round/>
                      <a:headEnd type="none" w="med" len="med"/>
                      <a:tailEnd type="none" w="med" len="med"/>
                    </a:lnB>
                  </a:tcPr>
                </a:tc>
                <a:tc>
                  <a:txBody>
                    <a:bodyPr/>
                    <a:lstStyle/>
                    <a:p>
                      <a:pPr algn="l" indent="0" marL="0">
                        <a:lnSpc>
                          <a:spcPts val="1390"/>
                        </a:lnSpc>
                        <a:buNone/>
                      </a:pPr>
                      <a:r>
                        <a:rPr lang="en-US" sz="1160" dirty="0">
                          <a:solidFill>
                            <a:srgbClr val="101A22"/>
                          </a:solidFill>
                          <a:latin typeface="Courier New" pitchFamily="34" charset="0"/>
                          <a:ea typeface="Courier New" pitchFamily="34" charset="-122"/>
                          <a:cs typeface="Courier New" pitchFamily="34" charset="-120"/>
                        </a:rPr>
                        <a:t>https://localhost:9200</a:t>
                      </a:r>
                      <a:endParaRPr lang="en-US" sz="1200" dirty="0"/>
                    </a:p>
                  </a:txBody>
                  <a:tcPr marL="120815" marR="120815" marT="103556" marB="103556" anchor="t">
                    <a:lnL w="0" cap="flat" cmpd="sng" algn="ctr">
                      <a:noFill/>
                    </a:lnL>
                    <a:lnR w="0" cap="flat" cmpd="sng" algn="ctr">
                      <a:noFill/>
                    </a:lnR>
                    <a:lnT w="0" cap="flat" cmpd="sng" algn="ctr">
                      <a:noFill/>
                    </a:lnT>
                    <a:lnB w="8890" cap="flat" cmpd="sng" algn="ctr">
                      <a:solidFill>
                        <a:srgbClr val="CBD7DF"/>
                      </a:solidFill>
                      <a:prstDash val="solid"/>
                      <a:round/>
                      <a:headEnd type="none" w="med" len="med"/>
                      <a:tailEnd type="none" w="med" len="med"/>
                    </a:lnB>
                  </a:tcPr>
                </a:tc>
                <a:tc>
                  <a:txBody>
                    <a:bodyPr/>
                    <a:lstStyle/>
                    <a:p>
                      <a:pPr algn="l" indent="0" marL="0">
                        <a:lnSpc>
                          <a:spcPts val="1470"/>
                        </a:lnSpc>
                        <a:buNone/>
                      </a:pPr>
                      <a:r>
                        <a:rPr lang="en-US" sz="1220" dirty="0">
                          <a:solidFill>
                            <a:srgbClr val="101A22"/>
                          </a:solidFill>
                          <a:latin typeface="Arial" pitchFamily="34" charset="0"/>
                          <a:ea typeface="Arial" pitchFamily="34" charset="-122"/>
                          <a:cs typeface="Arial" pitchFamily="34" charset="-120"/>
                        </a:rPr>
                        <a:t>admin / DemoSearch2026!</a:t>
                      </a:r>
                      <a:endParaRPr lang="en-US" sz="1200" dirty="0"/>
                    </a:p>
                  </a:txBody>
                  <a:tcPr marL="120815" marR="120815" marT="103556" marB="103556" anchor="t">
                    <a:lnL w="0" cap="flat" cmpd="sng" algn="ctr">
                      <a:noFill/>
                    </a:lnL>
                    <a:lnR w="0" cap="flat" cmpd="sng" algn="ctr">
                      <a:noFill/>
                    </a:lnR>
                    <a:lnT w="0" cap="flat" cmpd="sng" algn="ctr">
                      <a:noFill/>
                    </a:lnT>
                    <a:lnB w="8890" cap="flat" cmpd="sng" algn="ctr">
                      <a:solidFill>
                        <a:srgbClr val="CBD7DF"/>
                      </a:solidFill>
                      <a:prstDash val="solid"/>
                      <a:round/>
                      <a:headEnd type="none" w="med" len="med"/>
                      <a:tailEnd type="none" w="med" len="med"/>
                    </a:lnB>
                  </a:tcPr>
                </a:tc>
              </a:tr>
            </a:tbl>
          </a:graphicData>
        </a:graphic>
      </p:graphicFrame>
      <p:sp>
        <p:nvSpPr>
          <p:cNvPr id="8" name="Text 5"/>
          <p:cNvSpPr txBox="1"/>
          <p:nvPr/>
        </p:nvSpPr>
        <p:spPr>
          <a:xfrm>
            <a:off x="1158751" y="513768"/>
            <a:ext cx="9931650" cy="168315"/>
          </a:xfrm>
          <a:prstGeom prst="rect">
            <a:avLst/>
          </a:prstGeom>
          <a:noFill/>
          <a:ln/>
        </p:spPr>
        <p:txBody>
          <a:bodyPr wrap="none" lIns="0" tIns="0" rIns="0" bIns="0" rtlCol="0" anchor="t"/>
          <a:lstStyle/>
          <a:p>
            <a:pPr algn="l" indent="0" marL="0">
              <a:lnSpc>
                <a:spcPts val="1330"/>
              </a:lnSpc>
              <a:buNone/>
            </a:pPr>
            <a:r>
              <a:rPr lang="en-US" sz="880" spc="140" kern="0" dirty="0">
                <a:solidFill>
                  <a:srgbClr val="0B6E99"/>
                </a:solidFill>
                <a:latin typeface="Courier New" pitchFamily="34" charset="0"/>
                <a:ea typeface="Courier New" pitchFamily="34" charset="-122"/>
                <a:cs typeface="Courier New" pitchFamily="34" charset="-120"/>
              </a:rPr>
              <a:t>THE DEMO ENVIRONMENT</a:t>
            </a:r>
            <a:endParaRPr lang="en-US" sz="880" dirty="0"/>
          </a:p>
        </p:txBody>
      </p:sp>
      <p:sp>
        <p:nvSpPr>
          <p:cNvPr id="9" name="Text 6"/>
          <p:cNvSpPr txBox="1"/>
          <p:nvPr/>
        </p:nvSpPr>
        <p:spPr>
          <a:xfrm>
            <a:off x="1158751" y="822557"/>
            <a:ext cx="9931650" cy="783044"/>
          </a:xfrm>
          <a:prstGeom prst="rect">
            <a:avLst/>
          </a:prstGeom>
          <a:noFill/>
          <a:ln/>
        </p:spPr>
        <p:txBody>
          <a:bodyPr wrap="square" lIns="0" tIns="0" rIns="0" bIns="0" rtlCol="0" anchor="t"/>
          <a:lstStyle/>
          <a:p>
            <a:pPr algn="l" indent="0" marL="0">
              <a:lnSpc>
                <a:spcPts val="3080"/>
              </a:lnSpc>
              <a:buNone/>
            </a:pPr>
            <a:r>
              <a:rPr lang="en-US" sz="2850" b="1" spc="-60" kern="0" dirty="0">
                <a:solidFill>
                  <a:srgbClr val="101A22"/>
                </a:solidFill>
                <a:latin typeface="Arial" pitchFamily="34" charset="0"/>
                <a:ea typeface="Arial" pitchFamily="34" charset="-122"/>
                <a:cs typeface="Arial" pitchFamily="34" charset="-120"/>
              </a:rPr>
              <a:t>Start the demo environment on your computer with Docker Compose</a:t>
            </a:r>
            <a:endParaRPr lang="en-US" sz="2850" dirty="0"/>
          </a:p>
        </p:txBody>
      </p:sp>
      <p:sp>
        <p:nvSpPr>
          <p:cNvPr id="10" name="Text 7"/>
          <p:cNvSpPr txBox="1"/>
          <p:nvPr/>
        </p:nvSpPr>
        <p:spPr>
          <a:xfrm>
            <a:off x="1158751" y="1812762"/>
            <a:ext cx="9931650" cy="472578"/>
          </a:xfrm>
          <a:prstGeom prst="rect">
            <a:avLst/>
          </a:prstGeom>
          <a:noFill/>
          <a:ln/>
        </p:spPr>
        <p:txBody>
          <a:bodyPr wrap="square" lIns="0" tIns="0" rIns="0" bIns="0" rtlCol="0" anchor="t"/>
          <a:lstStyle/>
          <a:p>
            <a:pPr algn="l" indent="0" marL="0">
              <a:lnSpc>
                <a:spcPts val="1830"/>
              </a:lnSpc>
              <a:buNone/>
            </a:pPr>
            <a:r>
              <a:rPr lang="en-US" sz="1360" dirty="0">
                <a:solidFill>
                  <a:srgbClr val="101A22"/>
                </a:solidFill>
                <a:latin typeface="Arial" pitchFamily="34" charset="0"/>
                <a:ea typeface="Arial" pitchFamily="34" charset="-122"/>
                <a:cs typeface="Arial" pitchFamily="34" charset="-120"/>
              </a:rPr>
              <a:t>The folder </a:t>
            </a:r>
            <a:pPr algn="l" indent="0" marL="0">
              <a:lnSpc>
                <a:spcPts val="1830"/>
              </a:lnSpc>
              <a:buNone/>
            </a:pPr>
            <a:r>
              <a:rPr lang="en-US" sz="1200" dirty="0">
                <a:solidFill>
                  <a:srgbClr val="101A22"/>
                </a:solidFill>
                <a:highlight>
                  <a:srgbClr val="E1F0F7"/>
                </a:highlight>
                <a:latin typeface="Courier New" pitchFamily="34" charset="0"/>
                <a:ea typeface="Courier New" pitchFamily="34" charset="-122"/>
                <a:cs typeface="Courier New" pitchFamily="34" charset="-120"/>
              </a:rPr>
              <a:t>Moodle-Otel-Opensearch/</a:t>
            </a:r>
            <a:pPr algn="l" indent="0" marL="0">
              <a:lnSpc>
                <a:spcPts val="1830"/>
              </a:lnSpc>
              <a:buNone/>
            </a:pPr>
            <a:r>
              <a:rPr lang="en-US" sz="1360" dirty="0">
                <a:solidFill>
                  <a:srgbClr val="101A22"/>
                </a:solidFill>
                <a:latin typeface="Arial" pitchFamily="34" charset="0"/>
                <a:ea typeface="Arial" pitchFamily="34" charset="-122"/>
                <a:cs typeface="Arial" pitchFamily="34" charset="-120"/>
              </a:rPr>
              <a:t> at https://github.com/netsapiensis/MoodleMootNordic2026 has the demo files. Your computer needs Docker Compose v2 and about 3 GB of free memory. One command starts every container.</a:t>
            </a:r>
            <a:endParaRPr lang="en-US" sz="1360" dirty="0"/>
          </a:p>
        </p:txBody>
      </p:sp>
      <p:sp>
        <p:nvSpPr>
          <p:cNvPr id="11" name="Text 8"/>
          <p:cNvSpPr txBox="1"/>
          <p:nvPr/>
        </p:nvSpPr>
        <p:spPr>
          <a:xfrm>
            <a:off x="1348603" y="2576621"/>
            <a:ext cx="9551945" cy="375541"/>
          </a:xfrm>
          <a:prstGeom prst="rect">
            <a:avLst/>
          </a:prstGeom>
          <a:noFill/>
          <a:ln/>
        </p:spPr>
        <p:txBody>
          <a:bodyPr wrap="square" lIns="0" tIns="0" rIns="0" bIns="0" rtlCol="0" anchor="t"/>
          <a:lstStyle/>
          <a:p>
            <a:pPr algn="l" indent="0" marL="0">
              <a:lnSpc>
                <a:spcPts val="1480"/>
              </a:lnSpc>
              <a:buNone/>
            </a:pPr>
            <a:r>
              <a:rPr lang="en-US" sz="1020" dirty="0">
                <a:solidFill>
                  <a:srgbClr val="E4EDF2"/>
                </a:solidFill>
                <a:latin typeface="Courier New" pitchFamily="34" charset="0"/>
                <a:ea typeface="Courier New" pitchFamily="34" charset="-122"/>
                <a:cs typeface="Courier New" pitchFamily="34" charset="-120"/>
              </a:rPr>
              <a:t>cd Moodle-Otel-Opensearch/compose</a:t>
            </a:r>
            <a:endParaRPr lang="en-US" sz="1020" dirty="0"/>
          </a:p>
          <a:p>
            <a:pPr algn="l" indent="0" marL="0">
              <a:lnSpc>
                <a:spcPts val="1480"/>
              </a:lnSpc>
              <a:buNone/>
            </a:pPr>
            <a:r>
              <a:rPr lang="en-US" sz="1020" dirty="0">
                <a:solidFill>
                  <a:srgbClr val="E4EDF2"/>
                </a:solidFill>
                <a:latin typeface="Courier New" pitchFamily="34" charset="0"/>
                <a:ea typeface="Courier New" pitchFamily="34" charset="-122"/>
                <a:cs typeface="Courier New" pitchFamily="34" charset="-120"/>
              </a:rPr>
              <a:t>docker compose up --build        </a:t>
            </a:r>
            <a:pPr algn="l" indent="0" marL="0">
              <a:lnSpc>
                <a:spcPts val="1480"/>
              </a:lnSpc>
              <a:buNone/>
            </a:pPr>
            <a:r>
              <a:rPr lang="en-US" sz="1020" dirty="0">
                <a:solidFill>
                  <a:srgbClr val="86A5B4"/>
                </a:solidFill>
                <a:latin typeface="Courier New" pitchFamily="34" charset="0"/>
                <a:ea typeface="Courier New" pitchFamily="34" charset="-122"/>
                <a:cs typeface="Courier New" pitchFamily="34" charset="-120"/>
              </a:rPr>
              <a:t># the first run builds the Moodle image: 5–10 minutes</a:t>
            </a:r>
            <a:endParaRPr lang="en-US" sz="1020" dirty="0"/>
          </a:p>
        </p:txBody>
      </p:sp>
      <p:sp>
        <p:nvSpPr>
          <p:cNvPr id="12" name="Text 9"/>
          <p:cNvSpPr txBox="1"/>
          <p:nvPr/>
        </p:nvSpPr>
        <p:spPr>
          <a:xfrm>
            <a:off x="1417640" y="4948175"/>
            <a:ext cx="9672760" cy="233051"/>
          </a:xfrm>
          <a:prstGeom prst="rect">
            <a:avLst/>
          </a:prstGeom>
          <a:noFill/>
          <a:ln/>
        </p:spPr>
        <p:txBody>
          <a:bodyPr wrap="none" lIns="0" tIns="0" rIns="0" bIns="0" rtlCol="0" anchor="t"/>
          <a:lstStyle/>
          <a:p>
            <a:pPr algn="l" indent="0" marL="0">
              <a:lnSpc>
                <a:spcPts val="1830"/>
              </a:lnSpc>
              <a:buNone/>
            </a:pPr>
            <a:r>
              <a:rPr lang="en-US" sz="1360" dirty="0">
                <a:solidFill>
                  <a:srgbClr val="101A22"/>
                </a:solidFill>
                <a:latin typeface="Arial" pitchFamily="34" charset="0"/>
                <a:ea typeface="Arial" pitchFamily="34" charset="-122"/>
                <a:cs typeface="Arial" pitchFamily="34" charset="-120"/>
              </a:rPr>
              <a:t>The stack uses one self-signed certificate, so the browser warns once for each of the three addresses.</a:t>
            </a:r>
            <a:endParaRPr lang="en-US" sz="1360" dirty="0"/>
          </a:p>
        </p:txBody>
      </p:sp>
      <p:sp>
        <p:nvSpPr>
          <p:cNvPr id="13" name="Text 10"/>
          <p:cNvSpPr txBox="1"/>
          <p:nvPr/>
        </p:nvSpPr>
        <p:spPr>
          <a:xfrm>
            <a:off x="1417640" y="5250278"/>
            <a:ext cx="9672760" cy="239526"/>
          </a:xfrm>
          <a:prstGeom prst="rect">
            <a:avLst/>
          </a:prstGeom>
          <a:noFill/>
          <a:ln/>
        </p:spPr>
        <p:txBody>
          <a:bodyPr wrap="none" lIns="0" tIns="0" rIns="0" bIns="0" rtlCol="0" anchor="t"/>
          <a:lstStyle/>
          <a:p>
            <a:pPr algn="l" indent="0" marL="0">
              <a:lnSpc>
                <a:spcPts val="1830"/>
              </a:lnSpc>
              <a:buNone/>
            </a:pPr>
            <a:r>
              <a:rPr lang="en-US" sz="1360" dirty="0">
                <a:solidFill>
                  <a:srgbClr val="101A22"/>
                </a:solidFill>
                <a:latin typeface="Arial" pitchFamily="34" charset="0"/>
                <a:ea typeface="Arial" pitchFamily="34" charset="-122"/>
                <a:cs typeface="Arial" pitchFamily="34" charset="-120"/>
              </a:rPr>
              <a:t>The passwords are written as plain text in the files of the </a:t>
            </a:r>
            <a:pPr algn="l" indent="0" marL="0">
              <a:lnSpc>
                <a:spcPts val="1830"/>
              </a:lnSpc>
              <a:buNone/>
            </a:pPr>
            <a:r>
              <a:rPr lang="en-US" sz="1200" dirty="0">
                <a:solidFill>
                  <a:srgbClr val="101A22"/>
                </a:solidFill>
                <a:highlight>
                  <a:srgbClr val="E1F0F7"/>
                </a:highlight>
                <a:latin typeface="Courier New" pitchFamily="34" charset="0"/>
                <a:ea typeface="Courier New" pitchFamily="34" charset="-122"/>
                <a:cs typeface="Courier New" pitchFamily="34" charset="-120"/>
              </a:rPr>
              <a:t>compose/</a:t>
            </a:r>
            <a:pPr algn="l" indent="0" marL="0">
              <a:lnSpc>
                <a:spcPts val="1830"/>
              </a:lnSpc>
              <a:buNone/>
            </a:pPr>
            <a:r>
              <a:rPr lang="en-US" sz="1360" dirty="0">
                <a:solidFill>
                  <a:srgbClr val="101A22"/>
                </a:solidFill>
                <a:latin typeface="Arial" pitchFamily="34" charset="0"/>
                <a:ea typeface="Arial" pitchFamily="34" charset="-122"/>
                <a:cs typeface="Arial" pitchFamily="34" charset="-120"/>
              </a:rPr>
              <a:t> folder, and the ports are open on your computer only.</a:t>
            </a:r>
            <a:endParaRPr lang="en-US" sz="1360" dirty="0"/>
          </a:p>
        </p:txBody>
      </p:sp>
      <p:sp>
        <p:nvSpPr>
          <p:cNvPr id="14" name="Text 11"/>
          <p:cNvSpPr txBox="1"/>
          <p:nvPr/>
        </p:nvSpPr>
        <p:spPr>
          <a:xfrm>
            <a:off x="1417640" y="5558857"/>
            <a:ext cx="9672760" cy="233052"/>
          </a:xfrm>
          <a:prstGeom prst="rect">
            <a:avLst/>
          </a:prstGeom>
          <a:noFill/>
          <a:ln/>
        </p:spPr>
        <p:txBody>
          <a:bodyPr wrap="none" lIns="0" tIns="0" rIns="0" bIns="0" rtlCol="0" anchor="t"/>
          <a:lstStyle/>
          <a:p>
            <a:pPr algn="l" indent="0" marL="0">
              <a:lnSpc>
                <a:spcPts val="1830"/>
              </a:lnSpc>
              <a:buNone/>
            </a:pPr>
            <a:r>
              <a:rPr lang="en-US" sz="1360" dirty="0">
                <a:solidFill>
                  <a:srgbClr val="101A22"/>
                </a:solidFill>
                <a:latin typeface="Arial" pitchFamily="34" charset="0"/>
                <a:ea typeface="Arial" pitchFamily="34" charset="-122"/>
                <a:cs typeface="Arial" pitchFamily="34" charset="-120"/>
              </a:rPr>
              <a:t>The stack is for a demo. Change the passwords and the certificate before other machines can reach it.</a:t>
            </a:r>
            <a:endParaRPr lang="en-US" sz="1360" dirty="0"/>
          </a:p>
        </p:txBody>
      </p:sp>
      <p:sp>
        <p:nvSpPr>
          <p:cNvPr id="15" name="Text 12"/>
          <p:cNvSpPr txBox="1"/>
          <p:nvPr/>
        </p:nvSpPr>
        <p:spPr>
          <a:xfrm>
            <a:off x="647700" y="6464670"/>
            <a:ext cx="354509" cy="142875"/>
          </a:xfrm>
          <a:prstGeom prst="rect">
            <a:avLst/>
          </a:prstGeom>
          <a:noFill/>
          <a:ln/>
        </p:spPr>
        <p:txBody>
          <a:bodyPr wrap="none" lIns="0" tIns="0" rIns="0" bIns="0" rtlCol="0" anchor="t"/>
          <a:lstStyle/>
          <a:p>
            <a:pPr algn="l" indent="0" marL="0">
              <a:lnSpc>
                <a:spcPts val="1060"/>
              </a:lnSpc>
              <a:buNone/>
            </a:pPr>
            <a:r>
              <a:rPr lang="en-US" sz="880" dirty="0">
                <a:solidFill>
                  <a:srgbClr val="8496A2"/>
                </a:solidFill>
                <a:latin typeface="Courier New" pitchFamily="34" charset="0"/>
                <a:ea typeface="Courier New" pitchFamily="34" charset="-122"/>
                <a:cs typeface="Courier New" pitchFamily="34" charset="-120"/>
              </a:rPr>
              <a:t>Demo</a:t>
            </a:r>
            <a:endParaRPr lang="en-US" sz="880" dirty="0"/>
          </a:p>
        </p:txBody>
      </p:sp>
      <p:sp>
        <p:nvSpPr>
          <p:cNvPr id="16" name="Text 13"/>
          <p:cNvSpPr txBox="1"/>
          <p:nvPr/>
        </p:nvSpPr>
        <p:spPr>
          <a:xfrm>
            <a:off x="11024146" y="6464670"/>
            <a:ext cx="577304" cy="142875"/>
          </a:xfrm>
          <a:prstGeom prst="rect">
            <a:avLst/>
          </a:prstGeom>
          <a:noFill/>
          <a:ln/>
        </p:spPr>
        <p:txBody>
          <a:bodyPr wrap="none" lIns="0" tIns="0" rIns="0" bIns="0" rtlCol="0" anchor="t"/>
          <a:lstStyle/>
          <a:p>
            <a:pPr algn="l" indent="0" marL="0">
              <a:lnSpc>
                <a:spcPts val="1060"/>
              </a:lnSpc>
              <a:buNone/>
            </a:pPr>
            <a:r>
              <a:rPr lang="en-US" sz="880" dirty="0">
                <a:solidFill>
                  <a:srgbClr val="8496A2"/>
                </a:solidFill>
                <a:latin typeface="Courier New" pitchFamily="34" charset="0"/>
                <a:ea typeface="Courier New" pitchFamily="34" charset="-122"/>
                <a:cs typeface="Courier New" pitchFamily="34" charset="-120"/>
              </a:rPr>
              <a:t>36 / 39</a:t>
            </a:r>
            <a:endParaRPr lang="en-US" sz="880" dirty="0"/>
          </a:p>
        </p:txBody>
      </p:sp>
      <p:pic>
        <p:nvPicPr>
          <p:cNvPr id="900" name="NetSapiensis mark" descr="NetSapiensis"/>
          <p:cNvPicPr>
            <a:picLocks noChangeAspect="1"/>
          </p:cNvPicPr>
          <p:nvPr/>
        </p:nvPicPr>
        <p:blipFill>
          <a:blip r:embed="rId3"/>
          <a:stretch>
            <a:fillRect/>
          </a:stretch>
        </p:blipFill>
        <p:spPr>
          <a:xfrm>
            <a:off x="10776204" y="6419088"/>
            <a:ext cx="178308" cy="237744"/>
          </a:xfrm>
          <a:prstGeom prst="rect">
            <a:avLst/>
          </a:prstGeom>
        </p:spPr>
      </p:pic>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7700" y="6343650"/>
            <a:ext cx="10896600" cy="0"/>
          </a:xfrm>
          <a:prstGeom prst="line">
            <a:avLst/>
          </a:prstGeom>
          <a:noFill/>
          <a:ln w="6350">
            <a:solidFill>
              <a:srgbClr val="CBD7DF"/>
            </a:solidFill>
            <a:prstDash val="solid"/>
          </a:ln>
        </p:spPr>
      </p:sp>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2114383" y="1263312"/>
          <a:ext cx="7963235" cy="914400"/>
        </p:xfrm>
        <a:graphic>
          <a:graphicData uri="http://schemas.openxmlformats.org/drawingml/2006/table">
            <a:tbl>
              <a:tblPr/>
              <a:tblGrid>
                <a:gridCol w="1686271"/>
                <a:gridCol w="2964460"/>
                <a:gridCol w="2675476"/>
                <a:gridCol w="637028"/>
              </a:tblGrid>
              <a:tr h="281915">
                <a:tc>
                  <a:txBody>
                    <a:bodyPr/>
                    <a:lstStyle/>
                    <a:p>
                      <a:pPr algn="l" indent="0" marL="0">
                        <a:lnSpc>
                          <a:spcPts val="920"/>
                        </a:lnSpc>
                        <a:buNone/>
                      </a:pPr>
                      <a:r>
                        <a:rPr lang="en-US" sz="770" b="1" spc="80" kern="0" dirty="0">
                          <a:solidFill>
                            <a:srgbClr val="5A6D7A"/>
                          </a:solidFill>
                          <a:latin typeface="Arial" pitchFamily="34" charset="0"/>
                          <a:ea typeface="Arial" pitchFamily="34" charset="-122"/>
                          <a:cs typeface="Arial" pitchFamily="34" charset="-120"/>
                        </a:rPr>
                        <a:t>CONTAINER</a:t>
                      </a:r>
                      <a:endParaRPr lang="en-US" sz="1200" dirty="0"/>
                    </a:p>
                  </a:txBody>
                  <a:tcPr marL="97479" marR="97479" marT="83553" marB="83553" anchor="t">
                    <a:lnL w="0" cap="flat" cmpd="sng" algn="ctr">
                      <a:noFill/>
                    </a:lnL>
                    <a:lnR w="0" cap="flat" cmpd="sng" algn="ctr">
                      <a:noFill/>
                    </a:lnR>
                    <a:lnT w="0" cap="flat" cmpd="sng" algn="ctr">
                      <a:noFill/>
                    </a:lnT>
                    <a:lnB w="6350" cap="flat" cmpd="sng" algn="ctr">
                      <a:solidFill>
                        <a:srgbClr val="CBD7DF"/>
                      </a:solidFill>
                      <a:prstDash val="solid"/>
                      <a:round/>
                      <a:headEnd type="none" w="med" len="med"/>
                      <a:tailEnd type="none" w="med" len="med"/>
                    </a:lnB>
                  </a:tcPr>
                </a:tc>
                <a:tc>
                  <a:txBody>
                    <a:bodyPr/>
                    <a:lstStyle/>
                    <a:p>
                      <a:pPr algn="l" indent="0" marL="0">
                        <a:lnSpc>
                          <a:spcPts val="920"/>
                        </a:lnSpc>
                        <a:buNone/>
                      </a:pPr>
                      <a:r>
                        <a:rPr lang="en-US" sz="770" b="1" spc="80" kern="0" dirty="0">
                          <a:solidFill>
                            <a:srgbClr val="5A6D7A"/>
                          </a:solidFill>
                          <a:latin typeface="Arial" pitchFamily="34" charset="0"/>
                          <a:ea typeface="Arial" pitchFamily="34" charset="-122"/>
                          <a:cs typeface="Arial" pitchFamily="34" charset="-120"/>
                        </a:rPr>
                        <a:t>IMAGE</a:t>
                      </a:r>
                      <a:endParaRPr lang="en-US" sz="1200" dirty="0"/>
                    </a:p>
                  </a:txBody>
                  <a:tcPr marL="97479" marR="97479" marT="83553" marB="83553" anchor="t">
                    <a:lnL w="0" cap="flat" cmpd="sng" algn="ctr">
                      <a:noFill/>
                    </a:lnL>
                    <a:lnR w="0" cap="flat" cmpd="sng" algn="ctr">
                      <a:noFill/>
                    </a:lnR>
                    <a:lnT w="0" cap="flat" cmpd="sng" algn="ctr">
                      <a:noFill/>
                    </a:lnT>
                    <a:lnB w="6350" cap="flat" cmpd="sng" algn="ctr">
                      <a:solidFill>
                        <a:srgbClr val="CBD7DF"/>
                      </a:solidFill>
                      <a:prstDash val="solid"/>
                      <a:round/>
                      <a:headEnd type="none" w="med" len="med"/>
                      <a:tailEnd type="none" w="med" len="med"/>
                    </a:lnB>
                  </a:tcPr>
                </a:tc>
                <a:tc>
                  <a:txBody>
                    <a:bodyPr/>
                    <a:lstStyle/>
                    <a:p>
                      <a:pPr algn="l" indent="0" marL="0">
                        <a:lnSpc>
                          <a:spcPts val="920"/>
                        </a:lnSpc>
                        <a:buNone/>
                      </a:pPr>
                      <a:r>
                        <a:rPr lang="en-US" sz="770" b="1" spc="80" kern="0" dirty="0">
                          <a:solidFill>
                            <a:srgbClr val="5A6D7A"/>
                          </a:solidFill>
                          <a:latin typeface="Arial" pitchFamily="34" charset="0"/>
                          <a:ea typeface="Arial" pitchFamily="34" charset="-122"/>
                          <a:cs typeface="Arial" pitchFamily="34" charset="-120"/>
                        </a:rPr>
                        <a:t>WHAT IT DOES</a:t>
                      </a:r>
                      <a:endParaRPr lang="en-US" sz="1200" dirty="0"/>
                    </a:p>
                  </a:txBody>
                  <a:tcPr marL="97479" marR="97479" marT="83553" marB="83553" anchor="t">
                    <a:lnL w="0" cap="flat" cmpd="sng" algn="ctr">
                      <a:noFill/>
                    </a:lnL>
                    <a:lnR w="0" cap="flat" cmpd="sng" algn="ctr">
                      <a:noFill/>
                    </a:lnR>
                    <a:lnT w="0" cap="flat" cmpd="sng" algn="ctr">
                      <a:noFill/>
                    </a:lnT>
                    <a:lnB w="6350" cap="flat" cmpd="sng" algn="ctr">
                      <a:solidFill>
                        <a:srgbClr val="CBD7DF"/>
                      </a:solidFill>
                      <a:prstDash val="solid"/>
                      <a:round/>
                      <a:headEnd type="none" w="med" len="med"/>
                      <a:tailEnd type="none" w="med" len="med"/>
                    </a:lnB>
                  </a:tcPr>
                </a:tc>
                <a:tc>
                  <a:txBody>
                    <a:bodyPr/>
                    <a:lstStyle/>
                    <a:p>
                      <a:pPr algn="l" indent="0" marL="0">
                        <a:lnSpc>
                          <a:spcPts val="920"/>
                        </a:lnSpc>
                        <a:buNone/>
                      </a:pPr>
                      <a:r>
                        <a:rPr lang="en-US" sz="770" b="1" spc="80" kern="0" dirty="0">
                          <a:solidFill>
                            <a:srgbClr val="5A6D7A"/>
                          </a:solidFill>
                          <a:latin typeface="Arial" pitchFamily="34" charset="0"/>
                          <a:ea typeface="Arial" pitchFamily="34" charset="-122"/>
                          <a:cs typeface="Arial" pitchFamily="34" charset="-120"/>
                        </a:rPr>
                        <a:t>RUNS</a:t>
                      </a:r>
                      <a:endParaRPr lang="en-US" sz="1200" dirty="0"/>
                    </a:p>
                  </a:txBody>
                  <a:tcPr marL="97479" marR="97479" marT="83553" marB="83553" anchor="t">
                    <a:lnL w="0" cap="flat" cmpd="sng" algn="ctr">
                      <a:noFill/>
                    </a:lnL>
                    <a:lnR w="0" cap="flat" cmpd="sng" algn="ctr">
                      <a:noFill/>
                    </a:lnR>
                    <a:lnT w="0" cap="flat" cmpd="sng" algn="ctr">
                      <a:noFill/>
                    </a:lnT>
                    <a:lnB w="6350" cap="flat" cmpd="sng" algn="ctr">
                      <a:solidFill>
                        <a:srgbClr val="CBD7DF"/>
                      </a:solidFill>
                      <a:prstDash val="solid"/>
                      <a:round/>
                      <a:headEnd type="none" w="med" len="med"/>
                      <a:tailEnd type="none" w="med" len="med"/>
                    </a:lnB>
                  </a:tcPr>
                </a:tc>
              </a:tr>
              <a:tr h="424613">
                <a:tc>
                  <a:txBody>
                    <a:bodyPr/>
                    <a:lstStyle/>
                    <a:p>
                      <a:pPr algn="l" indent="0" marL="0">
                        <a:lnSpc>
                          <a:spcPts val="1120"/>
                        </a:lnSpc>
                        <a:buNone/>
                      </a:pPr>
                      <a:r>
                        <a:rPr lang="en-US" sz="930" dirty="0">
                          <a:solidFill>
                            <a:srgbClr val="101A22"/>
                          </a:solidFill>
                          <a:latin typeface="Courier New" pitchFamily="34" charset="0"/>
                          <a:ea typeface="Courier New" pitchFamily="34" charset="-122"/>
                          <a:cs typeface="Courier New" pitchFamily="34" charset="-120"/>
                        </a:rPr>
                        <a:t>certs</a:t>
                      </a:r>
                      <a:endParaRPr lang="en-US" sz="1200" dirty="0"/>
                    </a:p>
                  </a:txBody>
                  <a:tcPr marL="97479" marR="97479" marT="83553" marB="83553" anchor="t">
                    <a:lnL w="0" cap="flat" cmpd="sng" algn="ctr">
                      <a:noFill/>
                    </a:lnL>
                    <a:lnR w="0" cap="flat" cmpd="sng" algn="ctr">
                      <a:noFill/>
                    </a:lnR>
                    <a:lnT w="0" cap="flat" cmpd="sng" algn="ctr">
                      <a:noFill/>
                    </a:lnT>
                    <a:lnB w="6350" cap="flat" cmpd="sng" algn="ctr">
                      <a:solidFill>
                        <a:srgbClr val="CBD7DF"/>
                      </a:solidFill>
                      <a:prstDash val="solid"/>
                      <a:round/>
                      <a:headEnd type="none" w="med" len="med"/>
                      <a:tailEnd type="none" w="med" len="med"/>
                    </a:lnB>
                  </a:tcPr>
                </a:tc>
                <a:tc>
                  <a:txBody>
                    <a:bodyPr/>
                    <a:lstStyle/>
                    <a:p>
                      <a:pPr algn="l" indent="0" marL="0">
                        <a:lnSpc>
                          <a:spcPts val="1120"/>
                        </a:lnSpc>
                        <a:buNone/>
                      </a:pPr>
                      <a:r>
                        <a:rPr lang="en-US" sz="930" dirty="0">
                          <a:solidFill>
                            <a:srgbClr val="101A22"/>
                          </a:solidFill>
                          <a:latin typeface="Courier New" pitchFamily="34" charset="0"/>
                          <a:ea typeface="Courier New" pitchFamily="34" charset="-122"/>
                          <a:cs typeface="Courier New" pitchFamily="34" charset="-120"/>
                        </a:rPr>
                        <a:t>alpine/openssl</a:t>
                      </a:r>
                      <a:endParaRPr lang="en-US" sz="1200" dirty="0"/>
                    </a:p>
                  </a:txBody>
                  <a:tcPr marL="97479" marR="97479" marT="83553" marB="83553" anchor="t">
                    <a:lnL w="0" cap="flat" cmpd="sng" algn="ctr">
                      <a:noFill/>
                    </a:lnL>
                    <a:lnR w="0" cap="flat" cmpd="sng" algn="ctr">
                      <a:noFill/>
                    </a:lnR>
                    <a:lnT w="0" cap="flat" cmpd="sng" algn="ctr">
                      <a:noFill/>
                    </a:lnT>
                    <a:lnB w="6350" cap="flat" cmpd="sng" algn="ctr">
                      <a:solidFill>
                        <a:srgbClr val="CBD7DF"/>
                      </a:solidFill>
                      <a:prstDash val="solid"/>
                      <a:round/>
                      <a:headEnd type="none" w="med" len="med"/>
                      <a:tailEnd type="none" w="med" len="med"/>
                    </a:lnB>
                  </a:tcPr>
                </a:tc>
                <a:tc>
                  <a:txBody>
                    <a:bodyPr/>
                    <a:lstStyle/>
                    <a:p>
                      <a:pPr algn="l" indent="0" marL="0">
                        <a:lnSpc>
                          <a:spcPts val="1050"/>
                        </a:lnSpc>
                        <a:buNone/>
                      </a:pPr>
                      <a:r>
                        <a:rPr lang="en-US" sz="880" dirty="0">
                          <a:solidFill>
                            <a:srgbClr val="101A22"/>
                          </a:solidFill>
                          <a:latin typeface="Arial" pitchFamily="34" charset="0"/>
                          <a:ea typeface="Arial" pitchFamily="34" charset="-122"/>
                          <a:cs typeface="Arial" pitchFamily="34" charset="-120"/>
                        </a:rPr>
                        <a:t>Writes the self-signed certificate to </a:t>
                      </a:r>
                      <a:pPr algn="l" indent="0" marL="0">
                        <a:lnSpc>
                          <a:spcPts val="1050"/>
                        </a:lnSpc>
                        <a:buNone/>
                      </a:pPr>
                      <a:r>
                        <a:rPr lang="en-US" sz="770" dirty="0">
                          <a:solidFill>
                            <a:srgbClr val="101A22"/>
                          </a:solidFill>
                          <a:highlight>
                            <a:srgbClr val="E1F0F7"/>
                          </a:highlight>
                          <a:latin typeface="Courier New" pitchFamily="34" charset="0"/>
                          <a:ea typeface="Courier New" pitchFamily="34" charset="-122"/>
                          <a:cs typeface="Courier New" pitchFamily="34" charset="-120"/>
                        </a:rPr>
                        <a:t>compose/certs/</a:t>
                      </a:r>
                      <a:pPr algn="l" indent="0" marL="0">
                        <a:lnSpc>
                          <a:spcPts val="1050"/>
                        </a:lnSpc>
                        <a:buNone/>
                      </a:pPr>
                      <a:r>
                        <a:rPr lang="en-US" sz="880" dirty="0">
                          <a:solidFill>
                            <a:srgbClr val="101A22"/>
                          </a:solidFill>
                          <a:latin typeface="Arial" pitchFamily="34" charset="0"/>
                          <a:ea typeface="Arial" pitchFamily="34" charset="-122"/>
                          <a:cs typeface="Arial" pitchFamily="34" charset="-120"/>
                        </a:rPr>
                        <a:t> on the first start.</a:t>
                      </a:r>
                      <a:endParaRPr lang="en-US" sz="1200" dirty="0"/>
                    </a:p>
                  </a:txBody>
                  <a:tcPr marL="97479" marR="97479" marT="83553" marB="83553" anchor="t">
                    <a:lnL w="0" cap="flat" cmpd="sng" algn="ctr">
                      <a:noFill/>
                    </a:lnL>
                    <a:lnR w="0" cap="flat" cmpd="sng" algn="ctr">
                      <a:noFill/>
                    </a:lnR>
                    <a:lnT w="0" cap="flat" cmpd="sng" algn="ctr">
                      <a:noFill/>
                    </a:lnT>
                    <a:lnB w="6350" cap="flat" cmpd="sng" algn="ctr">
                      <a:solidFill>
                        <a:srgbClr val="CBD7DF"/>
                      </a:solidFill>
                      <a:prstDash val="solid"/>
                      <a:round/>
                      <a:headEnd type="none" w="med" len="med"/>
                      <a:tailEnd type="none" w="med" len="med"/>
                    </a:lnB>
                  </a:tcPr>
                </a:tc>
                <a:tc>
                  <a:txBody>
                    <a:bodyPr/>
                    <a:lstStyle/>
                    <a:p>
                      <a:pPr algn="l" indent="0" marL="0">
                        <a:lnSpc>
                          <a:spcPts val="1050"/>
                        </a:lnSpc>
                        <a:buNone/>
                      </a:pPr>
                      <a:r>
                        <a:rPr lang="en-US" sz="880" dirty="0">
                          <a:solidFill>
                            <a:srgbClr val="101A22"/>
                          </a:solidFill>
                          <a:latin typeface="Arial" pitchFamily="34" charset="0"/>
                          <a:ea typeface="Arial" pitchFamily="34" charset="-122"/>
                          <a:cs typeface="Arial" pitchFamily="34" charset="-120"/>
                        </a:rPr>
                        <a:t>once</a:t>
                      </a:r>
                      <a:endParaRPr lang="en-US" sz="1200" dirty="0"/>
                    </a:p>
                  </a:txBody>
                  <a:tcPr marL="97479" marR="97479" marT="83553" marB="83553" anchor="t">
                    <a:lnL w="0" cap="flat" cmpd="sng" algn="ctr">
                      <a:noFill/>
                    </a:lnL>
                    <a:lnR w="0" cap="flat" cmpd="sng" algn="ctr">
                      <a:noFill/>
                    </a:lnR>
                    <a:lnT w="0" cap="flat" cmpd="sng" algn="ctr">
                      <a:noFill/>
                    </a:lnT>
                    <a:lnB w="6350" cap="flat" cmpd="sng" algn="ctr">
                      <a:solidFill>
                        <a:srgbClr val="CBD7DF"/>
                      </a:solidFill>
                      <a:prstDash val="solid"/>
                      <a:round/>
                      <a:headEnd type="none" w="med" len="med"/>
                      <a:tailEnd type="none" w="med" len="med"/>
                    </a:lnB>
                  </a:tcPr>
                </a:tc>
              </a:tr>
              <a:tr h="306278">
                <a:tc>
                  <a:txBody>
                    <a:bodyPr/>
                    <a:lstStyle/>
                    <a:p>
                      <a:pPr algn="l" indent="0" marL="0">
                        <a:lnSpc>
                          <a:spcPts val="1120"/>
                        </a:lnSpc>
                        <a:buNone/>
                      </a:pPr>
                      <a:r>
                        <a:rPr lang="en-US" sz="930" dirty="0">
                          <a:solidFill>
                            <a:srgbClr val="101A22"/>
                          </a:solidFill>
                          <a:latin typeface="Courier New" pitchFamily="34" charset="0"/>
                          <a:ea typeface="Courier New" pitchFamily="34" charset="-122"/>
                          <a:cs typeface="Courier New" pitchFamily="34" charset="-120"/>
                        </a:rPr>
                        <a:t>mariadb</a:t>
                      </a:r>
                      <a:endParaRPr lang="en-US" sz="1200" dirty="0"/>
                    </a:p>
                  </a:txBody>
                  <a:tcPr marL="97479" marR="97479" marT="83553" marB="83553" anchor="t">
                    <a:lnL w="0" cap="flat" cmpd="sng" algn="ctr">
                      <a:noFill/>
                    </a:lnL>
                    <a:lnR w="0" cap="flat" cmpd="sng" algn="ctr">
                      <a:noFill/>
                    </a:lnR>
                    <a:lnT w="0" cap="flat" cmpd="sng" algn="ctr">
                      <a:noFill/>
                    </a:lnT>
                    <a:lnB w="6350" cap="flat" cmpd="sng" algn="ctr">
                      <a:solidFill>
                        <a:srgbClr val="CBD7DF"/>
                      </a:solidFill>
                      <a:prstDash val="solid"/>
                      <a:round/>
                      <a:headEnd type="none" w="med" len="med"/>
                      <a:tailEnd type="none" w="med" len="med"/>
                    </a:lnB>
                  </a:tcPr>
                </a:tc>
                <a:tc>
                  <a:txBody>
                    <a:bodyPr/>
                    <a:lstStyle/>
                    <a:p>
                      <a:pPr algn="l" indent="0" marL="0">
                        <a:lnSpc>
                          <a:spcPts val="1120"/>
                        </a:lnSpc>
                        <a:buNone/>
                      </a:pPr>
                      <a:r>
                        <a:rPr lang="en-US" sz="930" dirty="0">
                          <a:solidFill>
                            <a:srgbClr val="101A22"/>
                          </a:solidFill>
                          <a:latin typeface="Courier New" pitchFamily="34" charset="0"/>
                          <a:ea typeface="Courier New" pitchFamily="34" charset="-122"/>
                          <a:cs typeface="Courier New" pitchFamily="34" charset="-120"/>
                        </a:rPr>
                        <a:t>mariadb:11.4</a:t>
                      </a:r>
                      <a:endParaRPr lang="en-US" sz="1200" dirty="0"/>
                    </a:p>
                  </a:txBody>
                  <a:tcPr marL="97479" marR="97479" marT="83553" marB="83553" anchor="t">
                    <a:lnL w="0" cap="flat" cmpd="sng" algn="ctr">
                      <a:noFill/>
                    </a:lnL>
                    <a:lnR w="0" cap="flat" cmpd="sng" algn="ctr">
                      <a:noFill/>
                    </a:lnR>
                    <a:lnT w="0" cap="flat" cmpd="sng" algn="ctr">
                      <a:noFill/>
                    </a:lnT>
                    <a:lnB w="6350" cap="flat" cmpd="sng" algn="ctr">
                      <a:solidFill>
                        <a:srgbClr val="CBD7DF"/>
                      </a:solidFill>
                      <a:prstDash val="solid"/>
                      <a:round/>
                      <a:headEnd type="none" w="med" len="med"/>
                      <a:tailEnd type="none" w="med" len="med"/>
                    </a:lnB>
                  </a:tcPr>
                </a:tc>
                <a:tc>
                  <a:txBody>
                    <a:bodyPr/>
                    <a:lstStyle/>
                    <a:p>
                      <a:pPr algn="l" indent="0" marL="0">
                        <a:lnSpc>
                          <a:spcPts val="1050"/>
                        </a:lnSpc>
                        <a:buNone/>
                      </a:pPr>
                      <a:r>
                        <a:rPr lang="en-US" sz="880" dirty="0">
                          <a:solidFill>
                            <a:srgbClr val="101A22"/>
                          </a:solidFill>
                          <a:latin typeface="Arial" pitchFamily="34" charset="0"/>
                          <a:ea typeface="Arial" pitchFamily="34" charset="-122"/>
                          <a:cs typeface="Arial" pitchFamily="34" charset="-120"/>
                        </a:rPr>
                        <a:t>Holds the Moodle database.</a:t>
                      </a:r>
                      <a:endParaRPr lang="en-US" sz="1200" dirty="0"/>
                    </a:p>
                  </a:txBody>
                  <a:tcPr marL="97479" marR="97479" marT="83553" marB="83553" anchor="t">
                    <a:lnL w="0" cap="flat" cmpd="sng" algn="ctr">
                      <a:noFill/>
                    </a:lnL>
                    <a:lnR w="0" cap="flat" cmpd="sng" algn="ctr">
                      <a:noFill/>
                    </a:lnR>
                    <a:lnT w="0" cap="flat" cmpd="sng" algn="ctr">
                      <a:noFill/>
                    </a:lnT>
                    <a:lnB w="6350" cap="flat" cmpd="sng" algn="ctr">
                      <a:solidFill>
                        <a:srgbClr val="CBD7DF"/>
                      </a:solidFill>
                      <a:prstDash val="solid"/>
                      <a:round/>
                      <a:headEnd type="none" w="med" len="med"/>
                      <a:tailEnd type="none" w="med" len="med"/>
                    </a:lnB>
                  </a:tcPr>
                </a:tc>
                <a:tc>
                  <a:txBody>
                    <a:bodyPr/>
                    <a:lstStyle/>
                    <a:p>
                      <a:pPr algn="l" indent="0" marL="0">
                        <a:lnSpc>
                          <a:spcPts val="1050"/>
                        </a:lnSpc>
                        <a:buNone/>
                      </a:pPr>
                      <a:r>
                        <a:rPr lang="en-US" sz="880" dirty="0">
                          <a:solidFill>
                            <a:srgbClr val="101A22"/>
                          </a:solidFill>
                          <a:latin typeface="Arial" pitchFamily="34" charset="0"/>
                          <a:ea typeface="Arial" pitchFamily="34" charset="-122"/>
                          <a:cs typeface="Arial" pitchFamily="34" charset="-120"/>
                        </a:rPr>
                        <a:t>always</a:t>
                      </a:r>
                      <a:endParaRPr lang="en-US" sz="1200" dirty="0"/>
                    </a:p>
                  </a:txBody>
                  <a:tcPr marL="97479" marR="97479" marT="83553" marB="83553" anchor="t">
                    <a:lnL w="0" cap="flat" cmpd="sng" algn="ctr">
                      <a:noFill/>
                    </a:lnL>
                    <a:lnR w="0" cap="flat" cmpd="sng" algn="ctr">
                      <a:noFill/>
                    </a:lnR>
                    <a:lnT w="0" cap="flat" cmpd="sng" algn="ctr">
                      <a:noFill/>
                    </a:lnT>
                    <a:lnB w="6350" cap="flat" cmpd="sng" algn="ctr">
                      <a:solidFill>
                        <a:srgbClr val="CBD7DF"/>
                      </a:solidFill>
                      <a:prstDash val="solid"/>
                      <a:round/>
                      <a:headEnd type="none" w="med" len="med"/>
                      <a:tailEnd type="none" w="med" len="med"/>
                    </a:lnB>
                  </a:tcPr>
                </a:tc>
              </a:tr>
              <a:tr h="424613">
                <a:tc>
                  <a:txBody>
                    <a:bodyPr/>
                    <a:lstStyle/>
                    <a:p>
                      <a:pPr algn="l" indent="0" marL="0">
                        <a:lnSpc>
                          <a:spcPts val="1120"/>
                        </a:lnSpc>
                        <a:buNone/>
                      </a:pPr>
                      <a:r>
                        <a:rPr lang="en-US" sz="930" dirty="0">
                          <a:solidFill>
                            <a:srgbClr val="101A22"/>
                          </a:solidFill>
                          <a:latin typeface="Courier New" pitchFamily="34" charset="0"/>
                          <a:ea typeface="Courier New" pitchFamily="34" charset="-122"/>
                          <a:cs typeface="Courier New" pitchFamily="34" charset="-120"/>
                        </a:rPr>
                        <a:t>opensearch</a:t>
                      </a:r>
                      <a:endParaRPr lang="en-US" sz="1200" dirty="0"/>
                    </a:p>
                  </a:txBody>
                  <a:tcPr marL="97479" marR="97479" marT="83553" marB="83553" anchor="t">
                    <a:lnL w="0" cap="flat" cmpd="sng" algn="ctr">
                      <a:noFill/>
                    </a:lnL>
                    <a:lnR w="0" cap="flat" cmpd="sng" algn="ctr">
                      <a:noFill/>
                    </a:lnR>
                    <a:lnT w="0" cap="flat" cmpd="sng" algn="ctr">
                      <a:noFill/>
                    </a:lnT>
                    <a:lnB w="6350" cap="flat" cmpd="sng" algn="ctr">
                      <a:solidFill>
                        <a:srgbClr val="CBD7DF"/>
                      </a:solidFill>
                      <a:prstDash val="solid"/>
                      <a:round/>
                      <a:headEnd type="none" w="med" len="med"/>
                      <a:tailEnd type="none" w="med" len="med"/>
                    </a:lnB>
                  </a:tcPr>
                </a:tc>
                <a:tc>
                  <a:txBody>
                    <a:bodyPr/>
                    <a:lstStyle/>
                    <a:p>
                      <a:pPr algn="l" indent="0" marL="0">
                        <a:lnSpc>
                          <a:spcPts val="1120"/>
                        </a:lnSpc>
                        <a:buNone/>
                      </a:pPr>
                      <a:r>
                        <a:rPr lang="en-US" sz="930" dirty="0">
                          <a:solidFill>
                            <a:srgbClr val="101A22"/>
                          </a:solidFill>
                          <a:latin typeface="Courier New" pitchFamily="34" charset="0"/>
                          <a:ea typeface="Courier New" pitchFamily="34" charset="-122"/>
                          <a:cs typeface="Courier New" pitchFamily="34" charset="-120"/>
                        </a:rPr>
                        <a:t>opensearch:3.8.0</a:t>
                      </a:r>
                      <a:endParaRPr lang="en-US" sz="1200" dirty="0"/>
                    </a:p>
                  </a:txBody>
                  <a:tcPr marL="97479" marR="97479" marT="83553" marB="83553" anchor="t">
                    <a:lnL w="0" cap="flat" cmpd="sng" algn="ctr">
                      <a:noFill/>
                    </a:lnL>
                    <a:lnR w="0" cap="flat" cmpd="sng" algn="ctr">
                      <a:noFill/>
                    </a:lnR>
                    <a:lnT w="0" cap="flat" cmpd="sng" algn="ctr">
                      <a:noFill/>
                    </a:lnT>
                    <a:lnB w="6350" cap="flat" cmpd="sng" algn="ctr">
                      <a:solidFill>
                        <a:srgbClr val="CBD7DF"/>
                      </a:solidFill>
                      <a:prstDash val="solid"/>
                      <a:round/>
                      <a:headEnd type="none" w="med" len="med"/>
                      <a:tailEnd type="none" w="med" len="med"/>
                    </a:lnB>
                  </a:tcPr>
                </a:tc>
                <a:tc>
                  <a:txBody>
                    <a:bodyPr/>
                    <a:lstStyle/>
                    <a:p>
                      <a:pPr algn="l" indent="0" marL="0">
                        <a:lnSpc>
                          <a:spcPts val="1050"/>
                        </a:lnSpc>
                        <a:buNone/>
                      </a:pPr>
                      <a:r>
                        <a:rPr lang="en-US" sz="880" dirty="0">
                          <a:solidFill>
                            <a:srgbClr val="101A22"/>
                          </a:solidFill>
                          <a:latin typeface="Arial" pitchFamily="34" charset="0"/>
                          <a:ea typeface="Arial" pitchFamily="34" charset="-122"/>
                          <a:cs typeface="Arial" pitchFamily="34" charset="-120"/>
                        </a:rPr>
                        <a:t>Stores and searches the events and the timing data. https on port 9200.</a:t>
                      </a:r>
                      <a:endParaRPr lang="en-US" sz="1200" dirty="0"/>
                    </a:p>
                  </a:txBody>
                  <a:tcPr marL="97479" marR="97479" marT="83553" marB="83553" anchor="t">
                    <a:lnL w="0" cap="flat" cmpd="sng" algn="ctr">
                      <a:noFill/>
                    </a:lnL>
                    <a:lnR w="0" cap="flat" cmpd="sng" algn="ctr">
                      <a:noFill/>
                    </a:lnR>
                    <a:lnT w="0" cap="flat" cmpd="sng" algn="ctr">
                      <a:noFill/>
                    </a:lnT>
                    <a:lnB w="6350" cap="flat" cmpd="sng" algn="ctr">
                      <a:solidFill>
                        <a:srgbClr val="CBD7DF"/>
                      </a:solidFill>
                      <a:prstDash val="solid"/>
                      <a:round/>
                      <a:headEnd type="none" w="med" len="med"/>
                      <a:tailEnd type="none" w="med" len="med"/>
                    </a:lnB>
                  </a:tcPr>
                </a:tc>
                <a:tc>
                  <a:txBody>
                    <a:bodyPr/>
                    <a:lstStyle/>
                    <a:p>
                      <a:pPr algn="l" indent="0" marL="0">
                        <a:lnSpc>
                          <a:spcPts val="1050"/>
                        </a:lnSpc>
                        <a:buNone/>
                      </a:pPr>
                      <a:r>
                        <a:rPr lang="en-US" sz="880" dirty="0">
                          <a:solidFill>
                            <a:srgbClr val="101A22"/>
                          </a:solidFill>
                          <a:latin typeface="Arial" pitchFamily="34" charset="0"/>
                          <a:ea typeface="Arial" pitchFamily="34" charset="-122"/>
                          <a:cs typeface="Arial" pitchFamily="34" charset="-120"/>
                        </a:rPr>
                        <a:t>always</a:t>
                      </a:r>
                      <a:endParaRPr lang="en-US" sz="1200" dirty="0"/>
                    </a:p>
                  </a:txBody>
                  <a:tcPr marL="97479" marR="97479" marT="83553" marB="83553" anchor="t">
                    <a:lnL w="0" cap="flat" cmpd="sng" algn="ctr">
                      <a:noFill/>
                    </a:lnL>
                    <a:lnR w="0" cap="flat" cmpd="sng" algn="ctr">
                      <a:noFill/>
                    </a:lnR>
                    <a:lnT w="0" cap="flat" cmpd="sng" algn="ctr">
                      <a:noFill/>
                    </a:lnT>
                    <a:lnB w="6350" cap="flat" cmpd="sng" algn="ctr">
                      <a:solidFill>
                        <a:srgbClr val="CBD7DF"/>
                      </a:solidFill>
                      <a:prstDash val="solid"/>
                      <a:round/>
                      <a:headEnd type="none" w="med" len="med"/>
                      <a:tailEnd type="none" w="med" len="med"/>
                    </a:lnB>
                  </a:tcPr>
                </a:tc>
              </a:tr>
              <a:tr h="424613">
                <a:tc>
                  <a:txBody>
                    <a:bodyPr/>
                    <a:lstStyle/>
                    <a:p>
                      <a:pPr algn="l" indent="0" marL="0">
                        <a:lnSpc>
                          <a:spcPts val="1120"/>
                        </a:lnSpc>
                        <a:buNone/>
                      </a:pPr>
                      <a:r>
                        <a:rPr lang="en-US" sz="930" dirty="0">
                          <a:solidFill>
                            <a:srgbClr val="101A22"/>
                          </a:solidFill>
                          <a:latin typeface="Courier New" pitchFamily="34" charset="0"/>
                          <a:ea typeface="Courier New" pitchFamily="34" charset="-122"/>
                          <a:cs typeface="Courier New" pitchFamily="34" charset="-120"/>
                        </a:rPr>
                        <a:t>opensearch-init</a:t>
                      </a:r>
                      <a:endParaRPr lang="en-US" sz="1200" dirty="0"/>
                    </a:p>
                  </a:txBody>
                  <a:tcPr marL="97479" marR="97479" marT="83553" marB="83553" anchor="t">
                    <a:lnL w="0" cap="flat" cmpd="sng" algn="ctr">
                      <a:noFill/>
                    </a:lnL>
                    <a:lnR w="0" cap="flat" cmpd="sng" algn="ctr">
                      <a:noFill/>
                    </a:lnR>
                    <a:lnT w="0" cap="flat" cmpd="sng" algn="ctr">
                      <a:noFill/>
                    </a:lnT>
                    <a:lnB w="6350" cap="flat" cmpd="sng" algn="ctr">
                      <a:solidFill>
                        <a:srgbClr val="CBD7DF"/>
                      </a:solidFill>
                      <a:prstDash val="solid"/>
                      <a:round/>
                      <a:headEnd type="none" w="med" len="med"/>
                      <a:tailEnd type="none" w="med" len="med"/>
                    </a:lnB>
                  </a:tcPr>
                </a:tc>
                <a:tc>
                  <a:txBody>
                    <a:bodyPr/>
                    <a:lstStyle/>
                    <a:p>
                      <a:pPr algn="l" indent="0" marL="0">
                        <a:lnSpc>
                          <a:spcPts val="1120"/>
                        </a:lnSpc>
                        <a:buNone/>
                      </a:pPr>
                      <a:r>
                        <a:rPr lang="en-US" sz="930" dirty="0">
                          <a:solidFill>
                            <a:srgbClr val="101A22"/>
                          </a:solidFill>
                          <a:latin typeface="Courier New" pitchFamily="34" charset="0"/>
                          <a:ea typeface="Courier New" pitchFamily="34" charset="-122"/>
                          <a:cs typeface="Courier New" pitchFamily="34" charset="-120"/>
                        </a:rPr>
                        <a:t>opensearch:3.8.0</a:t>
                      </a:r>
                      <a:endParaRPr lang="en-US" sz="1200" dirty="0"/>
                    </a:p>
                  </a:txBody>
                  <a:tcPr marL="97479" marR="97479" marT="83553" marB="83553" anchor="t">
                    <a:lnL w="0" cap="flat" cmpd="sng" algn="ctr">
                      <a:noFill/>
                    </a:lnL>
                    <a:lnR w="0" cap="flat" cmpd="sng" algn="ctr">
                      <a:noFill/>
                    </a:lnR>
                    <a:lnT w="0" cap="flat" cmpd="sng" algn="ctr">
                      <a:noFill/>
                    </a:lnT>
                    <a:lnB w="6350" cap="flat" cmpd="sng" algn="ctr">
                      <a:solidFill>
                        <a:srgbClr val="CBD7DF"/>
                      </a:solidFill>
                      <a:prstDash val="solid"/>
                      <a:round/>
                      <a:headEnd type="none" w="med" len="med"/>
                      <a:tailEnd type="none" w="med" len="med"/>
                    </a:lnB>
                  </a:tcPr>
                </a:tc>
                <a:tc>
                  <a:txBody>
                    <a:bodyPr/>
                    <a:lstStyle/>
                    <a:p>
                      <a:pPr algn="l" indent="0" marL="0">
                        <a:lnSpc>
                          <a:spcPts val="1050"/>
                        </a:lnSpc>
                        <a:buNone/>
                      </a:pPr>
                      <a:r>
                        <a:rPr lang="en-US" sz="880" dirty="0">
                          <a:solidFill>
                            <a:srgbClr val="101A22"/>
                          </a:solidFill>
                          <a:latin typeface="Arial" pitchFamily="34" charset="0"/>
                          <a:ea typeface="Arial" pitchFamily="34" charset="-122"/>
                          <a:cs typeface="Arial" pitchFamily="34" charset="-120"/>
                        </a:rPr>
                        <a:t>Creates the user and role the OpenTelemetry Collector logs in with.</a:t>
                      </a:r>
                      <a:endParaRPr lang="en-US" sz="1200" dirty="0"/>
                    </a:p>
                  </a:txBody>
                  <a:tcPr marL="97479" marR="97479" marT="83553" marB="83553" anchor="t">
                    <a:lnL w="0" cap="flat" cmpd="sng" algn="ctr">
                      <a:noFill/>
                    </a:lnL>
                    <a:lnR w="0" cap="flat" cmpd="sng" algn="ctr">
                      <a:noFill/>
                    </a:lnR>
                    <a:lnT w="0" cap="flat" cmpd="sng" algn="ctr">
                      <a:noFill/>
                    </a:lnT>
                    <a:lnB w="6350" cap="flat" cmpd="sng" algn="ctr">
                      <a:solidFill>
                        <a:srgbClr val="CBD7DF"/>
                      </a:solidFill>
                      <a:prstDash val="solid"/>
                      <a:round/>
                      <a:headEnd type="none" w="med" len="med"/>
                      <a:tailEnd type="none" w="med" len="med"/>
                    </a:lnB>
                  </a:tcPr>
                </a:tc>
                <a:tc>
                  <a:txBody>
                    <a:bodyPr/>
                    <a:lstStyle/>
                    <a:p>
                      <a:pPr algn="l" indent="0" marL="0">
                        <a:lnSpc>
                          <a:spcPts val="1050"/>
                        </a:lnSpc>
                        <a:buNone/>
                      </a:pPr>
                      <a:r>
                        <a:rPr lang="en-US" sz="880" dirty="0">
                          <a:solidFill>
                            <a:srgbClr val="101A22"/>
                          </a:solidFill>
                          <a:latin typeface="Arial" pitchFamily="34" charset="0"/>
                          <a:ea typeface="Arial" pitchFamily="34" charset="-122"/>
                          <a:cs typeface="Arial" pitchFamily="34" charset="-120"/>
                        </a:rPr>
                        <a:t>once</a:t>
                      </a:r>
                      <a:endParaRPr lang="en-US" sz="1200" dirty="0"/>
                    </a:p>
                  </a:txBody>
                  <a:tcPr marL="97479" marR="97479" marT="83553" marB="83553" anchor="t">
                    <a:lnL w="0" cap="flat" cmpd="sng" algn="ctr">
                      <a:noFill/>
                    </a:lnL>
                    <a:lnR w="0" cap="flat" cmpd="sng" algn="ctr">
                      <a:noFill/>
                    </a:lnR>
                    <a:lnT w="0" cap="flat" cmpd="sng" algn="ctr">
                      <a:noFill/>
                    </a:lnT>
                    <a:lnB w="6350" cap="flat" cmpd="sng" algn="ctr">
                      <a:solidFill>
                        <a:srgbClr val="CBD7DF"/>
                      </a:solidFill>
                      <a:prstDash val="solid"/>
                      <a:round/>
                      <a:headEnd type="none" w="med" len="med"/>
                      <a:tailEnd type="none" w="med" len="med"/>
                    </a:lnB>
                  </a:tcPr>
                </a:tc>
              </a:tr>
              <a:tr h="424613">
                <a:tc>
                  <a:txBody>
                    <a:bodyPr/>
                    <a:lstStyle/>
                    <a:p>
                      <a:pPr algn="l" indent="0" marL="0">
                        <a:lnSpc>
                          <a:spcPts val="1120"/>
                        </a:lnSpc>
                        <a:buNone/>
                      </a:pPr>
                      <a:r>
                        <a:rPr lang="en-US" sz="930" dirty="0">
                          <a:solidFill>
                            <a:srgbClr val="101A22"/>
                          </a:solidFill>
                          <a:latin typeface="Courier New" pitchFamily="34" charset="0"/>
                          <a:ea typeface="Courier New" pitchFamily="34" charset="-122"/>
                          <a:cs typeface="Courier New" pitchFamily="34" charset="-120"/>
                        </a:rPr>
                        <a:t>opensearch-dashboards</a:t>
                      </a:r>
                      <a:endParaRPr lang="en-US" sz="1200" dirty="0"/>
                    </a:p>
                  </a:txBody>
                  <a:tcPr marL="97479" marR="97479" marT="83553" marB="83553" anchor="t">
                    <a:lnL w="0" cap="flat" cmpd="sng" algn="ctr">
                      <a:noFill/>
                    </a:lnL>
                    <a:lnR w="0" cap="flat" cmpd="sng" algn="ctr">
                      <a:noFill/>
                    </a:lnR>
                    <a:lnT w="0" cap="flat" cmpd="sng" algn="ctr">
                      <a:noFill/>
                    </a:lnT>
                    <a:lnB w="6350" cap="flat" cmpd="sng" algn="ctr">
                      <a:solidFill>
                        <a:srgbClr val="CBD7DF"/>
                      </a:solidFill>
                      <a:prstDash val="solid"/>
                      <a:round/>
                      <a:headEnd type="none" w="med" len="med"/>
                      <a:tailEnd type="none" w="med" len="med"/>
                    </a:lnB>
                  </a:tcPr>
                </a:tc>
                <a:tc>
                  <a:txBody>
                    <a:bodyPr/>
                    <a:lstStyle/>
                    <a:p>
                      <a:pPr algn="l" indent="0" marL="0">
                        <a:lnSpc>
                          <a:spcPts val="1120"/>
                        </a:lnSpc>
                        <a:buNone/>
                      </a:pPr>
                      <a:r>
                        <a:rPr lang="en-US" sz="930" dirty="0">
                          <a:solidFill>
                            <a:srgbClr val="101A22"/>
                          </a:solidFill>
                          <a:latin typeface="Courier New" pitchFamily="34" charset="0"/>
                          <a:ea typeface="Courier New" pitchFamily="34" charset="-122"/>
                          <a:cs typeface="Courier New" pitchFamily="34" charset="-120"/>
                        </a:rPr>
                        <a:t>opensearch-dashboards:3.8.0</a:t>
                      </a:r>
                      <a:endParaRPr lang="en-US" sz="1200" dirty="0"/>
                    </a:p>
                  </a:txBody>
                  <a:tcPr marL="97479" marR="97479" marT="83553" marB="83553" anchor="t">
                    <a:lnL w="0" cap="flat" cmpd="sng" algn="ctr">
                      <a:noFill/>
                    </a:lnL>
                    <a:lnR w="0" cap="flat" cmpd="sng" algn="ctr">
                      <a:noFill/>
                    </a:lnR>
                    <a:lnT w="0" cap="flat" cmpd="sng" algn="ctr">
                      <a:noFill/>
                    </a:lnT>
                    <a:lnB w="6350" cap="flat" cmpd="sng" algn="ctr">
                      <a:solidFill>
                        <a:srgbClr val="CBD7DF"/>
                      </a:solidFill>
                      <a:prstDash val="solid"/>
                      <a:round/>
                      <a:headEnd type="none" w="med" len="med"/>
                      <a:tailEnd type="none" w="med" len="med"/>
                    </a:lnB>
                  </a:tcPr>
                </a:tc>
                <a:tc>
                  <a:txBody>
                    <a:bodyPr/>
                    <a:lstStyle/>
                    <a:p>
                      <a:pPr algn="l" indent="0" marL="0">
                        <a:lnSpc>
                          <a:spcPts val="1050"/>
                        </a:lnSpc>
                        <a:buNone/>
                      </a:pPr>
                      <a:r>
                        <a:rPr lang="en-US" sz="880" dirty="0">
                          <a:solidFill>
                            <a:srgbClr val="101A22"/>
                          </a:solidFill>
                          <a:latin typeface="Arial" pitchFamily="34" charset="0"/>
                          <a:ea typeface="Arial" pitchFamily="34" charset="-122"/>
                          <a:cs typeface="Arial" pitchFamily="34" charset="-120"/>
                        </a:rPr>
                        <a:t>Shows the screens Discover and Trace analytics. https on port 5601.</a:t>
                      </a:r>
                      <a:endParaRPr lang="en-US" sz="1200" dirty="0"/>
                    </a:p>
                  </a:txBody>
                  <a:tcPr marL="97479" marR="97479" marT="83553" marB="83553" anchor="t">
                    <a:lnL w="0" cap="flat" cmpd="sng" algn="ctr">
                      <a:noFill/>
                    </a:lnL>
                    <a:lnR w="0" cap="flat" cmpd="sng" algn="ctr">
                      <a:noFill/>
                    </a:lnR>
                    <a:lnT w="0" cap="flat" cmpd="sng" algn="ctr">
                      <a:noFill/>
                    </a:lnT>
                    <a:lnB w="6350" cap="flat" cmpd="sng" algn="ctr">
                      <a:solidFill>
                        <a:srgbClr val="CBD7DF"/>
                      </a:solidFill>
                      <a:prstDash val="solid"/>
                      <a:round/>
                      <a:headEnd type="none" w="med" len="med"/>
                      <a:tailEnd type="none" w="med" len="med"/>
                    </a:lnB>
                  </a:tcPr>
                </a:tc>
                <a:tc>
                  <a:txBody>
                    <a:bodyPr/>
                    <a:lstStyle/>
                    <a:p>
                      <a:pPr algn="l" indent="0" marL="0">
                        <a:lnSpc>
                          <a:spcPts val="1050"/>
                        </a:lnSpc>
                        <a:buNone/>
                      </a:pPr>
                      <a:r>
                        <a:rPr lang="en-US" sz="880" dirty="0">
                          <a:solidFill>
                            <a:srgbClr val="101A22"/>
                          </a:solidFill>
                          <a:latin typeface="Arial" pitchFamily="34" charset="0"/>
                          <a:ea typeface="Arial" pitchFamily="34" charset="-122"/>
                          <a:cs typeface="Arial" pitchFamily="34" charset="-120"/>
                        </a:rPr>
                        <a:t>always</a:t>
                      </a:r>
                      <a:endParaRPr lang="en-US" sz="1200" dirty="0"/>
                    </a:p>
                  </a:txBody>
                  <a:tcPr marL="97479" marR="97479" marT="83553" marB="83553" anchor="t">
                    <a:lnL w="0" cap="flat" cmpd="sng" algn="ctr">
                      <a:noFill/>
                    </a:lnL>
                    <a:lnR w="0" cap="flat" cmpd="sng" algn="ctr">
                      <a:noFill/>
                    </a:lnR>
                    <a:lnT w="0" cap="flat" cmpd="sng" algn="ctr">
                      <a:noFill/>
                    </a:lnT>
                    <a:lnB w="6350" cap="flat" cmpd="sng" algn="ctr">
                      <a:solidFill>
                        <a:srgbClr val="CBD7DF"/>
                      </a:solidFill>
                      <a:prstDash val="solid"/>
                      <a:round/>
                      <a:headEnd type="none" w="med" len="med"/>
                      <a:tailEnd type="none" w="med" len="med"/>
                    </a:lnB>
                  </a:tcPr>
                </a:tc>
              </a:tr>
              <a:tr h="424613">
                <a:tc>
                  <a:txBody>
                    <a:bodyPr/>
                    <a:lstStyle/>
                    <a:p>
                      <a:pPr algn="l" indent="0" marL="0">
                        <a:lnSpc>
                          <a:spcPts val="1120"/>
                        </a:lnSpc>
                        <a:buNone/>
                      </a:pPr>
                      <a:r>
                        <a:rPr lang="en-US" sz="930" dirty="0">
                          <a:solidFill>
                            <a:srgbClr val="101A22"/>
                          </a:solidFill>
                          <a:latin typeface="Courier New" pitchFamily="34" charset="0"/>
                          <a:ea typeface="Courier New" pitchFamily="34" charset="-122"/>
                          <a:cs typeface="Courier New" pitchFamily="34" charset="-120"/>
                        </a:rPr>
                        <a:t>dashboards-init</a:t>
                      </a:r>
                      <a:endParaRPr lang="en-US" sz="1200" dirty="0"/>
                    </a:p>
                  </a:txBody>
                  <a:tcPr marL="97479" marR="97479" marT="83553" marB="83553" anchor="t">
                    <a:lnL w="0" cap="flat" cmpd="sng" algn="ctr">
                      <a:noFill/>
                    </a:lnL>
                    <a:lnR w="0" cap="flat" cmpd="sng" algn="ctr">
                      <a:noFill/>
                    </a:lnR>
                    <a:lnT w="0" cap="flat" cmpd="sng" algn="ctr">
                      <a:noFill/>
                    </a:lnT>
                    <a:lnB w="6350" cap="flat" cmpd="sng" algn="ctr">
                      <a:solidFill>
                        <a:srgbClr val="CBD7DF"/>
                      </a:solidFill>
                      <a:prstDash val="solid"/>
                      <a:round/>
                      <a:headEnd type="none" w="med" len="med"/>
                      <a:tailEnd type="none" w="med" len="med"/>
                    </a:lnB>
                  </a:tcPr>
                </a:tc>
                <a:tc>
                  <a:txBody>
                    <a:bodyPr/>
                    <a:lstStyle/>
                    <a:p>
                      <a:pPr algn="l" indent="0" marL="0">
                        <a:lnSpc>
                          <a:spcPts val="1120"/>
                        </a:lnSpc>
                        <a:buNone/>
                      </a:pPr>
                      <a:r>
                        <a:rPr lang="en-US" sz="930" dirty="0">
                          <a:solidFill>
                            <a:srgbClr val="101A22"/>
                          </a:solidFill>
                          <a:latin typeface="Courier New" pitchFamily="34" charset="0"/>
                          <a:ea typeface="Courier New" pitchFamily="34" charset="-122"/>
                          <a:cs typeface="Courier New" pitchFamily="34" charset="-120"/>
                        </a:rPr>
                        <a:t>opensearch:3.8.0</a:t>
                      </a:r>
                      <a:endParaRPr lang="en-US" sz="1200" dirty="0"/>
                    </a:p>
                  </a:txBody>
                  <a:tcPr marL="97479" marR="97479" marT="83553" marB="83553" anchor="t">
                    <a:lnL w="0" cap="flat" cmpd="sng" algn="ctr">
                      <a:noFill/>
                    </a:lnL>
                    <a:lnR w="0" cap="flat" cmpd="sng" algn="ctr">
                      <a:noFill/>
                    </a:lnR>
                    <a:lnT w="0" cap="flat" cmpd="sng" algn="ctr">
                      <a:noFill/>
                    </a:lnT>
                    <a:lnB w="6350" cap="flat" cmpd="sng" algn="ctr">
                      <a:solidFill>
                        <a:srgbClr val="CBD7DF"/>
                      </a:solidFill>
                      <a:prstDash val="solid"/>
                      <a:round/>
                      <a:headEnd type="none" w="med" len="med"/>
                      <a:tailEnd type="none" w="med" len="med"/>
                    </a:lnB>
                  </a:tcPr>
                </a:tc>
                <a:tc>
                  <a:txBody>
                    <a:bodyPr/>
                    <a:lstStyle/>
                    <a:p>
                      <a:pPr algn="l" indent="0" marL="0">
                        <a:lnSpc>
                          <a:spcPts val="1050"/>
                        </a:lnSpc>
                        <a:buNone/>
                      </a:pPr>
                      <a:r>
                        <a:rPr lang="en-US" sz="880" dirty="0">
                          <a:solidFill>
                            <a:srgbClr val="101A22"/>
                          </a:solidFill>
                          <a:latin typeface="Arial" pitchFamily="34" charset="0"/>
                          <a:ea typeface="Arial" pitchFamily="34" charset="-122"/>
                          <a:cs typeface="Arial" pitchFamily="34" charset="-120"/>
                        </a:rPr>
                        <a:t>Loads the dashboard "Moodle events" with five charts and one list into OpenSearch Dashboards.</a:t>
                      </a:r>
                      <a:endParaRPr lang="en-US" sz="1200" dirty="0"/>
                    </a:p>
                  </a:txBody>
                  <a:tcPr marL="97479" marR="97479" marT="83553" marB="83553" anchor="t">
                    <a:lnL w="0" cap="flat" cmpd="sng" algn="ctr">
                      <a:noFill/>
                    </a:lnL>
                    <a:lnR w="0" cap="flat" cmpd="sng" algn="ctr">
                      <a:noFill/>
                    </a:lnR>
                    <a:lnT w="0" cap="flat" cmpd="sng" algn="ctr">
                      <a:noFill/>
                    </a:lnT>
                    <a:lnB w="6350" cap="flat" cmpd="sng" algn="ctr">
                      <a:solidFill>
                        <a:srgbClr val="CBD7DF"/>
                      </a:solidFill>
                      <a:prstDash val="solid"/>
                      <a:round/>
                      <a:headEnd type="none" w="med" len="med"/>
                      <a:tailEnd type="none" w="med" len="med"/>
                    </a:lnB>
                  </a:tcPr>
                </a:tc>
                <a:tc>
                  <a:txBody>
                    <a:bodyPr/>
                    <a:lstStyle/>
                    <a:p>
                      <a:pPr algn="l" indent="0" marL="0">
                        <a:lnSpc>
                          <a:spcPts val="1050"/>
                        </a:lnSpc>
                        <a:buNone/>
                      </a:pPr>
                      <a:r>
                        <a:rPr lang="en-US" sz="880" dirty="0">
                          <a:solidFill>
                            <a:srgbClr val="101A22"/>
                          </a:solidFill>
                          <a:latin typeface="Arial" pitchFamily="34" charset="0"/>
                          <a:ea typeface="Arial" pitchFamily="34" charset="-122"/>
                          <a:cs typeface="Arial" pitchFamily="34" charset="-120"/>
                        </a:rPr>
                        <a:t>once</a:t>
                      </a:r>
                      <a:endParaRPr lang="en-US" sz="1200" dirty="0"/>
                    </a:p>
                  </a:txBody>
                  <a:tcPr marL="97479" marR="97479" marT="83553" marB="83553" anchor="t">
                    <a:lnL w="0" cap="flat" cmpd="sng" algn="ctr">
                      <a:noFill/>
                    </a:lnL>
                    <a:lnR w="0" cap="flat" cmpd="sng" algn="ctr">
                      <a:noFill/>
                    </a:lnR>
                    <a:lnT w="0" cap="flat" cmpd="sng" algn="ctr">
                      <a:noFill/>
                    </a:lnT>
                    <a:lnB w="6350" cap="flat" cmpd="sng" algn="ctr">
                      <a:solidFill>
                        <a:srgbClr val="CBD7DF"/>
                      </a:solidFill>
                      <a:prstDash val="solid"/>
                      <a:round/>
                      <a:headEnd type="none" w="med" len="med"/>
                      <a:tailEnd type="none" w="med" len="med"/>
                    </a:lnB>
                  </a:tcPr>
                </a:tc>
              </a:tr>
              <a:tr h="549909">
                <a:tc>
                  <a:txBody>
                    <a:bodyPr/>
                    <a:lstStyle/>
                    <a:p>
                      <a:pPr algn="l" indent="0" marL="0">
                        <a:lnSpc>
                          <a:spcPts val="1120"/>
                        </a:lnSpc>
                        <a:buNone/>
                      </a:pPr>
                      <a:r>
                        <a:rPr lang="en-US" sz="930" dirty="0">
                          <a:solidFill>
                            <a:srgbClr val="101A22"/>
                          </a:solidFill>
                          <a:latin typeface="Courier New" pitchFamily="34" charset="0"/>
                          <a:ea typeface="Courier New" pitchFamily="34" charset="-122"/>
                          <a:cs typeface="Courier New" pitchFamily="34" charset="-120"/>
                        </a:rPr>
                        <a:t>otelcol</a:t>
                      </a:r>
                      <a:endParaRPr lang="en-US" sz="1200" dirty="0"/>
                    </a:p>
                  </a:txBody>
                  <a:tcPr marL="97479" marR="97479" marT="83553" marB="83553" anchor="t">
                    <a:lnL w="0" cap="flat" cmpd="sng" algn="ctr">
                      <a:noFill/>
                    </a:lnL>
                    <a:lnR w="0" cap="flat" cmpd="sng" algn="ctr">
                      <a:noFill/>
                    </a:lnR>
                    <a:lnT w="0" cap="flat" cmpd="sng" algn="ctr">
                      <a:noFill/>
                    </a:lnT>
                    <a:lnB w="6350" cap="flat" cmpd="sng" algn="ctr">
                      <a:solidFill>
                        <a:srgbClr val="CBD7DF"/>
                      </a:solidFill>
                      <a:prstDash val="solid"/>
                      <a:round/>
                      <a:headEnd type="none" w="med" len="med"/>
                      <a:tailEnd type="none" w="med" len="med"/>
                    </a:lnB>
                  </a:tcPr>
                </a:tc>
                <a:tc>
                  <a:txBody>
                    <a:bodyPr/>
                    <a:lstStyle/>
                    <a:p>
                      <a:pPr algn="l" indent="0" marL="0">
                        <a:lnSpc>
                          <a:spcPts val="1120"/>
                        </a:lnSpc>
                        <a:buNone/>
                      </a:pPr>
                      <a:r>
                        <a:rPr lang="en-US" sz="930" dirty="0">
                          <a:solidFill>
                            <a:srgbClr val="101A22"/>
                          </a:solidFill>
                          <a:latin typeface="Courier New" pitchFamily="34" charset="0"/>
                          <a:ea typeface="Courier New" pitchFamily="34" charset="-122"/>
                          <a:cs typeface="Courier New" pitchFamily="34" charset="-120"/>
                        </a:rPr>
                        <a:t>opentelemetry-collector-contrib:0.161.0</a:t>
                      </a:r>
                      <a:endParaRPr lang="en-US" sz="1200" dirty="0"/>
                    </a:p>
                  </a:txBody>
                  <a:tcPr marL="97479" marR="97479" marT="83553" marB="83553" anchor="t">
                    <a:lnL w="0" cap="flat" cmpd="sng" algn="ctr">
                      <a:noFill/>
                    </a:lnL>
                    <a:lnR w="0" cap="flat" cmpd="sng" algn="ctr">
                      <a:noFill/>
                    </a:lnR>
                    <a:lnT w="0" cap="flat" cmpd="sng" algn="ctr">
                      <a:noFill/>
                    </a:lnT>
                    <a:lnB w="6350" cap="flat" cmpd="sng" algn="ctr">
                      <a:solidFill>
                        <a:srgbClr val="CBD7DF"/>
                      </a:solidFill>
                      <a:prstDash val="solid"/>
                      <a:round/>
                      <a:headEnd type="none" w="med" len="med"/>
                      <a:tailEnd type="none" w="med" len="med"/>
                    </a:lnB>
                  </a:tcPr>
                </a:tc>
                <a:tc>
                  <a:txBody>
                    <a:bodyPr/>
                    <a:lstStyle/>
                    <a:p>
                      <a:pPr algn="l" indent="0" marL="0">
                        <a:lnSpc>
                          <a:spcPts val="1050"/>
                        </a:lnSpc>
                        <a:buNone/>
                      </a:pPr>
                      <a:r>
                        <a:rPr lang="en-US" sz="880" dirty="0">
                          <a:solidFill>
                            <a:srgbClr val="101A22"/>
                          </a:solidFill>
                          <a:latin typeface="Arial" pitchFamily="34" charset="0"/>
                          <a:ea typeface="Arial" pitchFamily="34" charset="-122"/>
                          <a:cs typeface="Arial" pitchFamily="34" charset="-120"/>
                        </a:rPr>
                        <a:t>Runs the OpenTelemetry Collector, which receives the events and the timing data from Moodle and sends them to OpenSearch.</a:t>
                      </a:r>
                      <a:endParaRPr lang="en-US" sz="1200" dirty="0"/>
                    </a:p>
                  </a:txBody>
                  <a:tcPr marL="97479" marR="97479" marT="83553" marB="83553" anchor="t">
                    <a:lnL w="0" cap="flat" cmpd="sng" algn="ctr">
                      <a:noFill/>
                    </a:lnL>
                    <a:lnR w="0" cap="flat" cmpd="sng" algn="ctr">
                      <a:noFill/>
                    </a:lnR>
                    <a:lnT w="0" cap="flat" cmpd="sng" algn="ctr">
                      <a:noFill/>
                    </a:lnT>
                    <a:lnB w="6350" cap="flat" cmpd="sng" algn="ctr">
                      <a:solidFill>
                        <a:srgbClr val="CBD7DF"/>
                      </a:solidFill>
                      <a:prstDash val="solid"/>
                      <a:round/>
                      <a:headEnd type="none" w="med" len="med"/>
                      <a:tailEnd type="none" w="med" len="med"/>
                    </a:lnB>
                  </a:tcPr>
                </a:tc>
                <a:tc>
                  <a:txBody>
                    <a:bodyPr/>
                    <a:lstStyle/>
                    <a:p>
                      <a:pPr algn="l" indent="0" marL="0">
                        <a:lnSpc>
                          <a:spcPts val="1050"/>
                        </a:lnSpc>
                        <a:buNone/>
                      </a:pPr>
                      <a:r>
                        <a:rPr lang="en-US" sz="880" dirty="0">
                          <a:solidFill>
                            <a:srgbClr val="101A22"/>
                          </a:solidFill>
                          <a:latin typeface="Arial" pitchFamily="34" charset="0"/>
                          <a:ea typeface="Arial" pitchFamily="34" charset="-122"/>
                          <a:cs typeface="Arial" pitchFamily="34" charset="-120"/>
                        </a:rPr>
                        <a:t>always</a:t>
                      </a:r>
                      <a:endParaRPr lang="en-US" sz="1200" dirty="0"/>
                    </a:p>
                  </a:txBody>
                  <a:tcPr marL="97479" marR="97479" marT="83553" marB="83553" anchor="t">
                    <a:lnL w="0" cap="flat" cmpd="sng" algn="ctr">
                      <a:noFill/>
                    </a:lnL>
                    <a:lnR w="0" cap="flat" cmpd="sng" algn="ctr">
                      <a:noFill/>
                    </a:lnR>
                    <a:lnT w="0" cap="flat" cmpd="sng" algn="ctr">
                      <a:noFill/>
                    </a:lnT>
                    <a:lnB w="6350" cap="flat" cmpd="sng" algn="ctr">
                      <a:solidFill>
                        <a:srgbClr val="CBD7DF"/>
                      </a:solidFill>
                      <a:prstDash val="solid"/>
                      <a:round/>
                      <a:headEnd type="none" w="med" len="med"/>
                      <a:tailEnd type="none" w="med" len="med"/>
                    </a:lnB>
                  </a:tcPr>
                </a:tc>
              </a:tr>
              <a:tr h="306278">
                <a:tc>
                  <a:txBody>
                    <a:bodyPr/>
                    <a:lstStyle/>
                    <a:p>
                      <a:pPr algn="l" indent="0" marL="0">
                        <a:lnSpc>
                          <a:spcPts val="1120"/>
                        </a:lnSpc>
                        <a:buNone/>
                      </a:pPr>
                      <a:r>
                        <a:rPr lang="en-US" sz="930" dirty="0">
                          <a:solidFill>
                            <a:srgbClr val="101A22"/>
                          </a:solidFill>
                          <a:latin typeface="Courier New" pitchFamily="34" charset="0"/>
                          <a:ea typeface="Courier New" pitchFamily="34" charset="-122"/>
                          <a:cs typeface="Courier New" pitchFamily="34" charset="-120"/>
                        </a:rPr>
                        <a:t>moodle-init</a:t>
                      </a:r>
                      <a:endParaRPr lang="en-US" sz="1200" dirty="0"/>
                    </a:p>
                  </a:txBody>
                  <a:tcPr marL="97479" marR="97479" marT="83553" marB="83553" anchor="t">
                    <a:lnL w="0" cap="flat" cmpd="sng" algn="ctr">
                      <a:noFill/>
                    </a:lnL>
                    <a:lnR w="0" cap="flat" cmpd="sng" algn="ctr">
                      <a:noFill/>
                    </a:lnR>
                    <a:lnT w="0" cap="flat" cmpd="sng" algn="ctr">
                      <a:noFill/>
                    </a:lnT>
                    <a:lnB w="6350" cap="flat" cmpd="sng" algn="ctr">
                      <a:solidFill>
                        <a:srgbClr val="CBD7DF"/>
                      </a:solidFill>
                      <a:prstDash val="solid"/>
                      <a:round/>
                      <a:headEnd type="none" w="med" len="med"/>
                      <a:tailEnd type="none" w="med" len="med"/>
                    </a:lnB>
                  </a:tcPr>
                </a:tc>
                <a:tc>
                  <a:txBody>
                    <a:bodyPr/>
                    <a:lstStyle/>
                    <a:p>
                      <a:pPr algn="l" indent="0" marL="0">
                        <a:lnSpc>
                          <a:spcPts val="1120"/>
                        </a:lnSpc>
                        <a:buNone/>
                      </a:pPr>
                      <a:r>
                        <a:rPr lang="en-US" sz="930" dirty="0">
                          <a:solidFill>
                            <a:srgbClr val="101A22"/>
                          </a:solidFill>
                          <a:latin typeface="Courier New" pitchFamily="34" charset="0"/>
                          <a:ea typeface="Courier New" pitchFamily="34" charset="-122"/>
                          <a:cs typeface="Courier New" pitchFamily="34" charset="-120"/>
                        </a:rPr>
                        <a:t>built from </a:t>
                      </a:r>
                      <a:pPr algn="l" indent="0" marL="0">
                        <a:lnSpc>
                          <a:spcPts val="1120"/>
                        </a:lnSpc>
                        <a:buNone/>
                      </a:pPr>
                      <a:r>
                        <a:rPr lang="en-US" sz="820" dirty="0">
                          <a:solidFill>
                            <a:srgbClr val="101A22"/>
                          </a:solidFill>
                          <a:highlight>
                            <a:srgbClr val="E1F0F7"/>
                          </a:highlight>
                          <a:latin typeface="Courier New" pitchFamily="34" charset="0"/>
                          <a:ea typeface="Courier New" pitchFamily="34" charset="-122"/>
                          <a:cs typeface="Courier New" pitchFamily="34" charset="-120"/>
                        </a:rPr>
                        <a:t>docker/Dockerfile</a:t>
                      </a:r>
                      <a:endParaRPr lang="en-US" sz="1200" dirty="0"/>
                    </a:p>
                  </a:txBody>
                  <a:tcPr marL="97479" marR="97479" marT="83553" marB="83553" anchor="t">
                    <a:lnL w="0" cap="flat" cmpd="sng" algn="ctr">
                      <a:noFill/>
                    </a:lnL>
                    <a:lnR w="0" cap="flat" cmpd="sng" algn="ctr">
                      <a:noFill/>
                    </a:lnR>
                    <a:lnT w="0" cap="flat" cmpd="sng" algn="ctr">
                      <a:noFill/>
                    </a:lnT>
                    <a:lnB w="6350" cap="flat" cmpd="sng" algn="ctr">
                      <a:solidFill>
                        <a:srgbClr val="CBD7DF"/>
                      </a:solidFill>
                      <a:prstDash val="solid"/>
                      <a:round/>
                      <a:headEnd type="none" w="med" len="med"/>
                      <a:tailEnd type="none" w="med" len="med"/>
                    </a:lnB>
                  </a:tcPr>
                </a:tc>
                <a:tc>
                  <a:txBody>
                    <a:bodyPr/>
                    <a:lstStyle/>
                    <a:p>
                      <a:pPr algn="l" indent="0" marL="0">
                        <a:lnSpc>
                          <a:spcPts val="1050"/>
                        </a:lnSpc>
                        <a:buNone/>
                      </a:pPr>
                      <a:r>
                        <a:rPr lang="en-US" sz="880" dirty="0">
                          <a:solidFill>
                            <a:srgbClr val="101A22"/>
                          </a:solidFill>
                          <a:latin typeface="Arial" pitchFamily="34" charset="0"/>
                          <a:ea typeface="Arial" pitchFamily="34" charset="-122"/>
                          <a:cs typeface="Arial" pitchFamily="34" charset="-120"/>
                        </a:rPr>
                        <a:t>Installs the Moodle database on the first start.</a:t>
                      </a:r>
                      <a:endParaRPr lang="en-US" sz="1200" dirty="0"/>
                    </a:p>
                  </a:txBody>
                  <a:tcPr marL="97479" marR="97479" marT="83553" marB="83553" anchor="t">
                    <a:lnL w="0" cap="flat" cmpd="sng" algn="ctr">
                      <a:noFill/>
                    </a:lnL>
                    <a:lnR w="0" cap="flat" cmpd="sng" algn="ctr">
                      <a:noFill/>
                    </a:lnR>
                    <a:lnT w="0" cap="flat" cmpd="sng" algn="ctr">
                      <a:noFill/>
                    </a:lnT>
                    <a:lnB w="6350" cap="flat" cmpd="sng" algn="ctr">
                      <a:solidFill>
                        <a:srgbClr val="CBD7DF"/>
                      </a:solidFill>
                      <a:prstDash val="solid"/>
                      <a:round/>
                      <a:headEnd type="none" w="med" len="med"/>
                      <a:tailEnd type="none" w="med" len="med"/>
                    </a:lnB>
                  </a:tcPr>
                </a:tc>
                <a:tc>
                  <a:txBody>
                    <a:bodyPr/>
                    <a:lstStyle/>
                    <a:p>
                      <a:pPr algn="l" indent="0" marL="0">
                        <a:lnSpc>
                          <a:spcPts val="1050"/>
                        </a:lnSpc>
                        <a:buNone/>
                      </a:pPr>
                      <a:r>
                        <a:rPr lang="en-US" sz="880" dirty="0">
                          <a:solidFill>
                            <a:srgbClr val="101A22"/>
                          </a:solidFill>
                          <a:latin typeface="Arial" pitchFamily="34" charset="0"/>
                          <a:ea typeface="Arial" pitchFamily="34" charset="-122"/>
                          <a:cs typeface="Arial" pitchFamily="34" charset="-120"/>
                        </a:rPr>
                        <a:t>once</a:t>
                      </a:r>
                      <a:endParaRPr lang="en-US" sz="1200" dirty="0"/>
                    </a:p>
                  </a:txBody>
                  <a:tcPr marL="97479" marR="97479" marT="83553" marB="83553" anchor="t">
                    <a:lnL w="0" cap="flat" cmpd="sng" algn="ctr">
                      <a:noFill/>
                    </a:lnL>
                    <a:lnR w="0" cap="flat" cmpd="sng" algn="ctr">
                      <a:noFill/>
                    </a:lnR>
                    <a:lnT w="0" cap="flat" cmpd="sng" algn="ctr">
                      <a:noFill/>
                    </a:lnT>
                    <a:lnB w="6350" cap="flat" cmpd="sng" algn="ctr">
                      <a:solidFill>
                        <a:srgbClr val="CBD7DF"/>
                      </a:solidFill>
                      <a:prstDash val="solid"/>
                      <a:round/>
                      <a:headEnd type="none" w="med" len="med"/>
                      <a:tailEnd type="none" w="med" len="med"/>
                    </a:lnB>
                  </a:tcPr>
                </a:tc>
              </a:tr>
              <a:tr h="549909">
                <a:tc>
                  <a:txBody>
                    <a:bodyPr/>
                    <a:lstStyle/>
                    <a:p>
                      <a:pPr algn="l" indent="0" marL="0">
                        <a:lnSpc>
                          <a:spcPts val="1120"/>
                        </a:lnSpc>
                        <a:buNone/>
                      </a:pPr>
                      <a:r>
                        <a:rPr lang="en-US" sz="930" dirty="0">
                          <a:solidFill>
                            <a:srgbClr val="101A22"/>
                          </a:solidFill>
                          <a:latin typeface="Courier New" pitchFamily="34" charset="0"/>
                          <a:ea typeface="Courier New" pitchFamily="34" charset="-122"/>
                          <a:cs typeface="Courier New" pitchFamily="34" charset="-120"/>
                        </a:rPr>
                        <a:t>moodle</a:t>
                      </a:r>
                      <a:endParaRPr lang="en-US" sz="1200" dirty="0"/>
                    </a:p>
                  </a:txBody>
                  <a:tcPr marL="97479" marR="97479" marT="83553" marB="83553" anchor="t">
                    <a:lnL w="0" cap="flat" cmpd="sng" algn="ctr">
                      <a:noFill/>
                    </a:lnL>
                    <a:lnR w="0" cap="flat" cmpd="sng" algn="ctr">
                      <a:noFill/>
                    </a:lnR>
                    <a:lnT w="0" cap="flat" cmpd="sng" algn="ctr">
                      <a:noFill/>
                    </a:lnT>
                    <a:lnB w="6350" cap="flat" cmpd="sng" algn="ctr">
                      <a:solidFill>
                        <a:srgbClr val="CBD7DF"/>
                      </a:solidFill>
                      <a:prstDash val="solid"/>
                      <a:round/>
                      <a:headEnd type="none" w="med" len="med"/>
                      <a:tailEnd type="none" w="med" len="med"/>
                    </a:lnB>
                  </a:tcPr>
                </a:tc>
                <a:tc>
                  <a:txBody>
                    <a:bodyPr/>
                    <a:lstStyle/>
                    <a:p>
                      <a:pPr algn="l" indent="0" marL="0">
                        <a:lnSpc>
                          <a:spcPts val="1120"/>
                        </a:lnSpc>
                        <a:buNone/>
                      </a:pPr>
                      <a:r>
                        <a:rPr lang="en-US" sz="930" dirty="0">
                          <a:solidFill>
                            <a:srgbClr val="101A22"/>
                          </a:solidFill>
                          <a:latin typeface="Courier New" pitchFamily="34" charset="0"/>
                          <a:ea typeface="Courier New" pitchFamily="34" charset="-122"/>
                          <a:cs typeface="Courier New" pitchFamily="34" charset="-120"/>
                        </a:rPr>
                        <a:t>the same built image</a:t>
                      </a:r>
                      <a:endParaRPr lang="en-US" sz="1200" dirty="0"/>
                    </a:p>
                  </a:txBody>
                  <a:tcPr marL="97479" marR="97479" marT="83553" marB="83553" anchor="t">
                    <a:lnL w="0" cap="flat" cmpd="sng" algn="ctr">
                      <a:noFill/>
                    </a:lnL>
                    <a:lnR w="0" cap="flat" cmpd="sng" algn="ctr">
                      <a:noFill/>
                    </a:lnR>
                    <a:lnT w="0" cap="flat" cmpd="sng" algn="ctr">
                      <a:noFill/>
                    </a:lnT>
                    <a:lnB w="6350" cap="flat" cmpd="sng" algn="ctr">
                      <a:solidFill>
                        <a:srgbClr val="CBD7DF"/>
                      </a:solidFill>
                      <a:prstDash val="solid"/>
                      <a:round/>
                      <a:headEnd type="none" w="med" len="med"/>
                      <a:tailEnd type="none" w="med" len="med"/>
                    </a:lnB>
                  </a:tcPr>
                </a:tc>
                <a:tc>
                  <a:txBody>
                    <a:bodyPr/>
                    <a:lstStyle/>
                    <a:p>
                      <a:pPr algn="l" indent="0" marL="0">
                        <a:lnSpc>
                          <a:spcPts val="1050"/>
                        </a:lnSpc>
                        <a:buNone/>
                      </a:pPr>
                      <a:r>
                        <a:rPr lang="en-US" sz="880" dirty="0">
                          <a:solidFill>
                            <a:srgbClr val="101A22"/>
                          </a:solidFill>
                          <a:latin typeface="Arial" pitchFamily="34" charset="0"/>
                          <a:ea typeface="Arial" pitchFamily="34" charset="-122"/>
                          <a:cs typeface="Arial" pitchFamily="34" charset="-120"/>
                        </a:rPr>
                        <a:t>Runs Moodle 5.2 with the OpenTelemetry PHP extension and both PHP Composer packages. https on port 443.</a:t>
                      </a:r>
                      <a:endParaRPr lang="en-US" sz="1200" dirty="0"/>
                    </a:p>
                  </a:txBody>
                  <a:tcPr marL="97479" marR="97479" marT="83553" marB="83553" anchor="t">
                    <a:lnL w="0" cap="flat" cmpd="sng" algn="ctr">
                      <a:noFill/>
                    </a:lnL>
                    <a:lnR w="0" cap="flat" cmpd="sng" algn="ctr">
                      <a:noFill/>
                    </a:lnR>
                    <a:lnT w="0" cap="flat" cmpd="sng" algn="ctr">
                      <a:noFill/>
                    </a:lnT>
                    <a:lnB w="6350" cap="flat" cmpd="sng" algn="ctr">
                      <a:solidFill>
                        <a:srgbClr val="CBD7DF"/>
                      </a:solidFill>
                      <a:prstDash val="solid"/>
                      <a:round/>
                      <a:headEnd type="none" w="med" len="med"/>
                      <a:tailEnd type="none" w="med" len="med"/>
                    </a:lnB>
                  </a:tcPr>
                </a:tc>
                <a:tc>
                  <a:txBody>
                    <a:bodyPr/>
                    <a:lstStyle/>
                    <a:p>
                      <a:pPr algn="l" indent="0" marL="0">
                        <a:lnSpc>
                          <a:spcPts val="1050"/>
                        </a:lnSpc>
                        <a:buNone/>
                      </a:pPr>
                      <a:r>
                        <a:rPr lang="en-US" sz="880" dirty="0">
                          <a:solidFill>
                            <a:srgbClr val="101A22"/>
                          </a:solidFill>
                          <a:latin typeface="Arial" pitchFamily="34" charset="0"/>
                          <a:ea typeface="Arial" pitchFamily="34" charset="-122"/>
                          <a:cs typeface="Arial" pitchFamily="34" charset="-120"/>
                        </a:rPr>
                        <a:t>always</a:t>
                      </a:r>
                      <a:endParaRPr lang="en-US" sz="1200" dirty="0"/>
                    </a:p>
                  </a:txBody>
                  <a:tcPr marL="97479" marR="97479" marT="83553" marB="83553" anchor="t">
                    <a:lnL w="0" cap="flat" cmpd="sng" algn="ctr">
                      <a:noFill/>
                    </a:lnL>
                    <a:lnR w="0" cap="flat" cmpd="sng" algn="ctr">
                      <a:noFill/>
                    </a:lnR>
                    <a:lnT w="0" cap="flat" cmpd="sng" algn="ctr">
                      <a:noFill/>
                    </a:lnT>
                    <a:lnB w="6350" cap="flat" cmpd="sng" algn="ctr">
                      <a:solidFill>
                        <a:srgbClr val="CBD7DF"/>
                      </a:solidFill>
                      <a:prstDash val="solid"/>
                      <a:round/>
                      <a:headEnd type="none" w="med" len="med"/>
                      <a:tailEnd type="none" w="med" len="med"/>
                    </a:lnB>
                  </a:tcPr>
                </a:tc>
              </a:tr>
              <a:tr h="424613">
                <a:tc>
                  <a:txBody>
                    <a:bodyPr/>
                    <a:lstStyle/>
                    <a:p>
                      <a:pPr algn="l" indent="0" marL="0">
                        <a:lnSpc>
                          <a:spcPts val="1120"/>
                        </a:lnSpc>
                        <a:buNone/>
                      </a:pPr>
                      <a:r>
                        <a:rPr lang="en-US" sz="930" dirty="0">
                          <a:solidFill>
                            <a:srgbClr val="101A22"/>
                          </a:solidFill>
                          <a:latin typeface="Courier New" pitchFamily="34" charset="0"/>
                          <a:ea typeface="Courier New" pitchFamily="34" charset="-122"/>
                          <a:cs typeface="Courier New" pitchFamily="34" charset="-120"/>
                        </a:rPr>
                        <a:t>moodle-cron</a:t>
                      </a:r>
                      <a:endParaRPr lang="en-US" sz="1200" dirty="0"/>
                    </a:p>
                  </a:txBody>
                  <a:tcPr marL="97479" marR="97479" marT="83553" marB="83553" anchor="t">
                    <a:lnL w="0" cap="flat" cmpd="sng" algn="ctr">
                      <a:noFill/>
                    </a:lnL>
                    <a:lnR w="0" cap="flat" cmpd="sng" algn="ctr">
                      <a:noFill/>
                    </a:lnR>
                    <a:lnT w="0" cap="flat" cmpd="sng" algn="ctr">
                      <a:noFill/>
                    </a:lnT>
                    <a:lnB w="6350" cap="flat" cmpd="sng" algn="ctr">
                      <a:solidFill>
                        <a:srgbClr val="CBD7DF"/>
                      </a:solidFill>
                      <a:prstDash val="solid"/>
                      <a:round/>
                      <a:headEnd type="none" w="med" len="med"/>
                      <a:tailEnd type="none" w="med" len="med"/>
                    </a:lnB>
                  </a:tcPr>
                </a:tc>
                <a:tc>
                  <a:txBody>
                    <a:bodyPr/>
                    <a:lstStyle/>
                    <a:p>
                      <a:pPr algn="l" indent="0" marL="0">
                        <a:lnSpc>
                          <a:spcPts val="1120"/>
                        </a:lnSpc>
                        <a:buNone/>
                      </a:pPr>
                      <a:r>
                        <a:rPr lang="en-US" sz="930" dirty="0">
                          <a:solidFill>
                            <a:srgbClr val="101A22"/>
                          </a:solidFill>
                          <a:latin typeface="Courier New" pitchFamily="34" charset="0"/>
                          <a:ea typeface="Courier New" pitchFamily="34" charset="-122"/>
                          <a:cs typeface="Courier New" pitchFamily="34" charset="-120"/>
                        </a:rPr>
                        <a:t>the same built image</a:t>
                      </a:r>
                      <a:endParaRPr lang="en-US" sz="1200" dirty="0"/>
                    </a:p>
                  </a:txBody>
                  <a:tcPr marL="97479" marR="97479" marT="83553" marB="83553" anchor="t">
                    <a:lnL w="0" cap="flat" cmpd="sng" algn="ctr">
                      <a:noFill/>
                    </a:lnL>
                    <a:lnR w="0" cap="flat" cmpd="sng" algn="ctr">
                      <a:noFill/>
                    </a:lnR>
                    <a:lnT w="0" cap="flat" cmpd="sng" algn="ctr">
                      <a:noFill/>
                    </a:lnT>
                    <a:lnB w="6350" cap="flat" cmpd="sng" algn="ctr">
                      <a:solidFill>
                        <a:srgbClr val="CBD7DF"/>
                      </a:solidFill>
                      <a:prstDash val="solid"/>
                      <a:round/>
                      <a:headEnd type="none" w="med" len="med"/>
                      <a:tailEnd type="none" w="med" len="med"/>
                    </a:lnB>
                  </a:tcPr>
                </a:tc>
                <a:tc>
                  <a:txBody>
                    <a:bodyPr/>
                    <a:lstStyle/>
                    <a:p>
                      <a:pPr algn="l" indent="0" marL="0">
                        <a:lnSpc>
                          <a:spcPts val="1050"/>
                        </a:lnSpc>
                        <a:buNone/>
                      </a:pPr>
                      <a:r>
                        <a:rPr lang="en-US" sz="880" dirty="0">
                          <a:solidFill>
                            <a:srgbClr val="101A22"/>
                          </a:solidFill>
                          <a:latin typeface="Arial" pitchFamily="34" charset="0"/>
                          <a:ea typeface="Arial" pitchFamily="34" charset="-122"/>
                          <a:cs typeface="Arial" pitchFamily="34" charset="-120"/>
                        </a:rPr>
                        <a:t>Runs Moodle cron every minute, so the timing data of scheduled tasks exists too.</a:t>
                      </a:r>
                      <a:endParaRPr lang="en-US" sz="1200" dirty="0"/>
                    </a:p>
                  </a:txBody>
                  <a:tcPr marL="97479" marR="97479" marT="83553" marB="83553" anchor="t">
                    <a:lnL w="0" cap="flat" cmpd="sng" algn="ctr">
                      <a:noFill/>
                    </a:lnL>
                    <a:lnR w="0" cap="flat" cmpd="sng" algn="ctr">
                      <a:noFill/>
                    </a:lnR>
                    <a:lnT w="0" cap="flat" cmpd="sng" algn="ctr">
                      <a:noFill/>
                    </a:lnT>
                    <a:lnB w="6350" cap="flat" cmpd="sng" algn="ctr">
                      <a:solidFill>
                        <a:srgbClr val="CBD7DF"/>
                      </a:solidFill>
                      <a:prstDash val="solid"/>
                      <a:round/>
                      <a:headEnd type="none" w="med" len="med"/>
                      <a:tailEnd type="none" w="med" len="med"/>
                    </a:lnB>
                  </a:tcPr>
                </a:tc>
                <a:tc>
                  <a:txBody>
                    <a:bodyPr/>
                    <a:lstStyle/>
                    <a:p>
                      <a:pPr algn="l" indent="0" marL="0">
                        <a:lnSpc>
                          <a:spcPts val="1050"/>
                        </a:lnSpc>
                        <a:buNone/>
                      </a:pPr>
                      <a:r>
                        <a:rPr lang="en-US" sz="880" dirty="0">
                          <a:solidFill>
                            <a:srgbClr val="101A22"/>
                          </a:solidFill>
                          <a:latin typeface="Arial" pitchFamily="34" charset="0"/>
                          <a:ea typeface="Arial" pitchFamily="34" charset="-122"/>
                          <a:cs typeface="Arial" pitchFamily="34" charset="-120"/>
                        </a:rPr>
                        <a:t>always</a:t>
                      </a:r>
                      <a:endParaRPr lang="en-US" sz="1200" dirty="0"/>
                    </a:p>
                  </a:txBody>
                  <a:tcPr marL="97479" marR="97479" marT="83553" marB="83553" anchor="t">
                    <a:lnL w="0" cap="flat" cmpd="sng" algn="ctr">
                      <a:noFill/>
                    </a:lnL>
                    <a:lnR w="0" cap="flat" cmpd="sng" algn="ctr">
                      <a:noFill/>
                    </a:lnR>
                    <a:lnT w="0" cap="flat" cmpd="sng" algn="ctr">
                      <a:noFill/>
                    </a:lnT>
                    <a:lnB w="6350" cap="flat" cmpd="sng" algn="ctr">
                      <a:solidFill>
                        <a:srgbClr val="CBD7DF"/>
                      </a:solidFill>
                      <a:prstDash val="solid"/>
                      <a:round/>
                      <a:headEnd type="none" w="med" len="med"/>
                      <a:tailEnd type="none" w="med" len="med"/>
                    </a:lnB>
                  </a:tcPr>
                </a:tc>
              </a:tr>
            </a:tbl>
          </a:graphicData>
        </a:graphic>
      </p:graphicFrame>
      <p:sp>
        <p:nvSpPr>
          <p:cNvPr id="4" name="Text 1"/>
          <p:cNvSpPr txBox="1"/>
          <p:nvPr/>
        </p:nvSpPr>
        <p:spPr>
          <a:xfrm>
            <a:off x="2114383" y="517560"/>
            <a:ext cx="8020385" cy="135774"/>
          </a:xfrm>
          <a:prstGeom prst="rect">
            <a:avLst/>
          </a:prstGeom>
          <a:noFill/>
          <a:ln/>
        </p:spPr>
        <p:txBody>
          <a:bodyPr wrap="none" lIns="0" tIns="0" rIns="0" bIns="0" rtlCol="0" anchor="t"/>
          <a:lstStyle/>
          <a:p>
            <a:pPr algn="l" indent="0" marL="0">
              <a:lnSpc>
                <a:spcPts val="1070"/>
              </a:lnSpc>
              <a:buNone/>
            </a:pPr>
            <a:r>
              <a:rPr lang="en-US" sz="710" spc="110" kern="0" dirty="0">
                <a:solidFill>
                  <a:srgbClr val="0B6E99"/>
                </a:solidFill>
                <a:latin typeface="Courier New" pitchFamily="34" charset="0"/>
                <a:ea typeface="Courier New" pitchFamily="34" charset="-122"/>
                <a:cs typeface="Courier New" pitchFamily="34" charset="-120"/>
              </a:rPr>
              <a:t>THE DOCKER COMPOSE STACK</a:t>
            </a:r>
            <a:endParaRPr lang="en-US" sz="710" dirty="0"/>
          </a:p>
        </p:txBody>
      </p:sp>
      <p:sp>
        <p:nvSpPr>
          <p:cNvPr id="5" name="Text 2"/>
          <p:cNvSpPr txBox="1"/>
          <p:nvPr/>
        </p:nvSpPr>
        <p:spPr>
          <a:xfrm>
            <a:off x="2114383" y="766589"/>
            <a:ext cx="8020385" cy="315831"/>
          </a:xfrm>
          <a:prstGeom prst="rect">
            <a:avLst/>
          </a:prstGeom>
          <a:noFill/>
          <a:ln/>
        </p:spPr>
        <p:txBody>
          <a:bodyPr wrap="none" lIns="0" tIns="0" rIns="0" bIns="0" rtlCol="0" anchor="t"/>
          <a:lstStyle/>
          <a:p>
            <a:pPr algn="l" indent="0" marL="0">
              <a:lnSpc>
                <a:spcPts val="2490"/>
              </a:lnSpc>
              <a:buNone/>
            </a:pPr>
            <a:r>
              <a:rPr lang="en-US" sz="2300" b="1" spc="-50" kern="0" dirty="0">
                <a:solidFill>
                  <a:srgbClr val="101A22"/>
                </a:solidFill>
                <a:latin typeface="Arial" pitchFamily="34" charset="0"/>
                <a:ea typeface="Arial" pitchFamily="34" charset="-122"/>
                <a:cs typeface="Arial" pitchFamily="34" charset="-120"/>
              </a:rPr>
              <a:t>Docker Compose starts ten containers in this order</a:t>
            </a:r>
            <a:endParaRPr lang="en-US" sz="2300" dirty="0"/>
          </a:p>
        </p:txBody>
      </p:sp>
      <p:sp>
        <p:nvSpPr>
          <p:cNvPr id="6" name="Text 3"/>
          <p:cNvSpPr txBox="1"/>
          <p:nvPr/>
        </p:nvSpPr>
        <p:spPr>
          <a:xfrm>
            <a:off x="647700" y="6465212"/>
            <a:ext cx="354509" cy="142875"/>
          </a:xfrm>
          <a:prstGeom prst="rect">
            <a:avLst/>
          </a:prstGeom>
          <a:noFill/>
          <a:ln/>
        </p:spPr>
        <p:txBody>
          <a:bodyPr wrap="none" lIns="0" tIns="0" rIns="0" bIns="0" rtlCol="0" anchor="t"/>
          <a:lstStyle/>
          <a:p>
            <a:pPr algn="l" indent="0" marL="0">
              <a:lnSpc>
                <a:spcPts val="860"/>
              </a:lnSpc>
              <a:buNone/>
            </a:pPr>
            <a:r>
              <a:rPr lang="en-US" sz="710" dirty="0">
                <a:solidFill>
                  <a:srgbClr val="8496A2"/>
                </a:solidFill>
                <a:latin typeface="Courier New" pitchFamily="34" charset="0"/>
                <a:ea typeface="Courier New" pitchFamily="34" charset="-122"/>
                <a:cs typeface="Courier New" pitchFamily="34" charset="-120"/>
              </a:rPr>
              <a:t>Demo</a:t>
            </a:r>
            <a:endParaRPr lang="en-US" sz="710" dirty="0"/>
          </a:p>
        </p:txBody>
      </p:sp>
      <p:sp>
        <p:nvSpPr>
          <p:cNvPr id="7" name="Text 4"/>
          <p:cNvSpPr txBox="1"/>
          <p:nvPr/>
        </p:nvSpPr>
        <p:spPr>
          <a:xfrm>
            <a:off x="11024146" y="6465212"/>
            <a:ext cx="577304" cy="142875"/>
          </a:xfrm>
          <a:prstGeom prst="rect">
            <a:avLst/>
          </a:prstGeom>
          <a:noFill/>
          <a:ln/>
        </p:spPr>
        <p:txBody>
          <a:bodyPr wrap="none" lIns="0" tIns="0" rIns="0" bIns="0" rtlCol="0" anchor="t"/>
          <a:lstStyle/>
          <a:p>
            <a:pPr algn="l" indent="0" marL="0">
              <a:lnSpc>
                <a:spcPts val="860"/>
              </a:lnSpc>
              <a:buNone/>
            </a:pPr>
            <a:r>
              <a:rPr lang="en-US" sz="710" dirty="0">
                <a:solidFill>
                  <a:srgbClr val="8496A2"/>
                </a:solidFill>
                <a:latin typeface="Courier New" pitchFamily="34" charset="0"/>
                <a:ea typeface="Courier New" pitchFamily="34" charset="-122"/>
                <a:cs typeface="Courier New" pitchFamily="34" charset="-120"/>
              </a:rPr>
              <a:t>37 / 39</a:t>
            </a:r>
            <a:endParaRPr lang="en-US" sz="710" dirty="0"/>
          </a:p>
        </p:txBody>
      </p:sp>
      <p:pic>
        <p:nvPicPr>
          <p:cNvPr id="900" name="NetSapiensis mark" descr="NetSapiensis"/>
          <p:cNvPicPr>
            <a:picLocks noChangeAspect="1"/>
          </p:cNvPicPr>
          <p:nvPr/>
        </p:nvPicPr>
        <p:blipFill>
          <a:blip r:embed="rId3"/>
          <a:stretch>
            <a:fillRect/>
          </a:stretch>
        </p:blipFill>
        <p:spPr>
          <a:xfrm>
            <a:off x="10776204" y="6419088"/>
            <a:ext cx="178308" cy="237744"/>
          </a:xfrm>
          <a:prstGeom prst="rect">
            <a:avLst/>
          </a:prstGeom>
        </p:spPr>
      </p:pic>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7700" y="6343650"/>
            <a:ext cx="10896600" cy="0"/>
          </a:xfrm>
          <a:prstGeom prst="line">
            <a:avLst/>
          </a:prstGeom>
          <a:noFill/>
          <a:ln w="8890">
            <a:solidFill>
              <a:srgbClr val="CBD7DF"/>
            </a:solidFill>
            <a:prstDash val="solid"/>
          </a:ln>
        </p:spPr>
      </p:sp>
      <p:pic>
        <p:nvPicPr>
          <p:cNvPr id="3" name="Image 0" descr="OpenSearch Dashboards Discover on the otel-v1-logs-* index pattern, last 30 minutes: a histogram of events per 30 seconds, then a table of 102 results with the columns time, body, event name, user id, course id and crud; the first rows are course views, a dashboard view and a login by the user with id 2.">    </p:cNvPr>
          <p:cNvPicPr>
            <a:picLocks noChangeAspect="1"/>
          </p:cNvPicPr>
          <p:nvPr/>
        </p:nvPicPr>
        <p:blipFill>
          <a:blip r:embed="rId1"/>
          <a:stretch>
            <a:fillRect/>
          </a:stretch>
        </p:blipFill>
        <p:spPr>
          <a:xfrm>
            <a:off x="1368510" y="1400046"/>
            <a:ext cx="9471510" cy="4218685"/>
          </a:xfrm>
          <a:prstGeom prst="rect">
            <a:avLst/>
          </a:prstGeom>
        </p:spPr>
      </p:pic>
      <p:sp>
        <p:nvSpPr>
          <p:cNvPr id="4" name="Text 1"/>
          <p:cNvSpPr txBox="1"/>
          <p:nvPr/>
        </p:nvSpPr>
        <p:spPr>
          <a:xfrm>
            <a:off x="1368510" y="514591"/>
            <a:ext cx="9512130" cy="161220"/>
          </a:xfrm>
          <a:prstGeom prst="rect">
            <a:avLst/>
          </a:prstGeom>
          <a:noFill/>
          <a:ln/>
        </p:spPr>
        <p:txBody>
          <a:bodyPr wrap="none" lIns="0" tIns="0" rIns="0" bIns="0" rtlCol="0" anchor="t"/>
          <a:lstStyle/>
          <a:p>
            <a:pPr algn="l" indent="0" marL="0">
              <a:lnSpc>
                <a:spcPts val="1270"/>
              </a:lnSpc>
              <a:buNone/>
            </a:pPr>
            <a:r>
              <a:rPr lang="en-US" sz="850" spc="140" kern="0" dirty="0">
                <a:solidFill>
                  <a:srgbClr val="0B6E99"/>
                </a:solidFill>
                <a:latin typeface="Courier New" pitchFamily="34" charset="0"/>
                <a:ea typeface="Courier New" pitchFamily="34" charset="-122"/>
                <a:cs typeface="Courier New" pitchFamily="34" charset="-120"/>
              </a:rPr>
              <a:t>DEMO · IN PICTURES</a:t>
            </a:r>
            <a:endParaRPr lang="en-US" sz="850" dirty="0"/>
          </a:p>
        </p:txBody>
      </p:sp>
      <p:sp>
        <p:nvSpPr>
          <p:cNvPr id="5" name="Text 2"/>
          <p:cNvSpPr txBox="1"/>
          <p:nvPr/>
        </p:nvSpPr>
        <p:spPr>
          <a:xfrm>
            <a:off x="1368510" y="810272"/>
            <a:ext cx="9512130" cy="375023"/>
          </a:xfrm>
          <a:prstGeom prst="rect">
            <a:avLst/>
          </a:prstGeom>
          <a:noFill/>
          <a:ln/>
        </p:spPr>
        <p:txBody>
          <a:bodyPr wrap="none" lIns="0" tIns="0" rIns="0" bIns="0" rtlCol="0" anchor="t"/>
          <a:lstStyle/>
          <a:p>
            <a:pPr algn="l" indent="0" marL="0">
              <a:lnSpc>
                <a:spcPts val="2950"/>
              </a:lnSpc>
              <a:buNone/>
            </a:pPr>
            <a:r>
              <a:rPr lang="en-US" sz="2730" b="1" spc="-50" kern="0" dirty="0">
                <a:solidFill>
                  <a:srgbClr val="101A22"/>
                </a:solidFill>
                <a:latin typeface="Arial" pitchFamily="34" charset="0"/>
                <a:ea typeface="Arial" pitchFamily="34" charset="-122"/>
                <a:cs typeface="Arial" pitchFamily="34" charset="-120"/>
              </a:rPr>
              <a:t>Discover shows one row for each Moodle event</a:t>
            </a:r>
            <a:endParaRPr lang="en-US" sz="2730" dirty="0"/>
          </a:p>
        </p:txBody>
      </p:sp>
      <p:sp>
        <p:nvSpPr>
          <p:cNvPr id="6" name="Text 3"/>
          <p:cNvSpPr txBox="1"/>
          <p:nvPr/>
        </p:nvSpPr>
        <p:spPr>
          <a:xfrm>
            <a:off x="1368510" y="5682164"/>
            <a:ext cx="9512130" cy="128976"/>
          </a:xfrm>
          <a:prstGeom prst="rect">
            <a:avLst/>
          </a:prstGeom>
          <a:noFill/>
          <a:ln/>
        </p:spPr>
        <p:txBody>
          <a:bodyPr wrap="none" lIns="0" tIns="0" rIns="0" bIns="0" rtlCol="0" anchor="t"/>
          <a:lstStyle/>
          <a:p>
            <a:pPr algn="l" indent="0" marL="0">
              <a:lnSpc>
                <a:spcPts val="1020"/>
              </a:lnSpc>
              <a:buNone/>
            </a:pPr>
            <a:r>
              <a:rPr lang="en-US" sz="850" dirty="0">
                <a:solidFill>
                  <a:srgbClr val="5A6D7A"/>
                </a:solidFill>
                <a:latin typeface="Courier New" pitchFamily="34" charset="0"/>
                <a:ea typeface="Courier New" pitchFamily="34" charset="-122"/>
                <a:cs typeface="Courier New" pitchFamily="34" charset="-120"/>
              </a:rPr>
              <a:t>The table shows the time, the body and four attributes of each event.</a:t>
            </a:r>
            <a:endParaRPr lang="en-US" sz="850" dirty="0"/>
          </a:p>
        </p:txBody>
      </p:sp>
      <p:sp>
        <p:nvSpPr>
          <p:cNvPr id="7" name="Text 4"/>
          <p:cNvSpPr txBox="1"/>
          <p:nvPr/>
        </p:nvSpPr>
        <p:spPr>
          <a:xfrm>
            <a:off x="647700" y="6464788"/>
            <a:ext cx="354509" cy="142875"/>
          </a:xfrm>
          <a:prstGeom prst="rect">
            <a:avLst/>
          </a:prstGeom>
          <a:noFill/>
          <a:ln/>
        </p:spPr>
        <p:txBody>
          <a:bodyPr wrap="none" lIns="0" tIns="0" rIns="0" bIns="0" rtlCol="0" anchor="t"/>
          <a:lstStyle/>
          <a:p>
            <a:pPr algn="l" indent="0" marL="0">
              <a:lnSpc>
                <a:spcPts val="1020"/>
              </a:lnSpc>
              <a:buNone/>
            </a:pPr>
            <a:r>
              <a:rPr lang="en-US" sz="850" dirty="0">
                <a:solidFill>
                  <a:srgbClr val="8496A2"/>
                </a:solidFill>
                <a:latin typeface="Courier New" pitchFamily="34" charset="0"/>
                <a:ea typeface="Courier New" pitchFamily="34" charset="-122"/>
                <a:cs typeface="Courier New" pitchFamily="34" charset="-120"/>
              </a:rPr>
              <a:t>Demo</a:t>
            </a:r>
            <a:endParaRPr lang="en-US" sz="850" dirty="0"/>
          </a:p>
        </p:txBody>
      </p:sp>
      <p:sp>
        <p:nvSpPr>
          <p:cNvPr id="8" name="Text 5"/>
          <p:cNvSpPr txBox="1"/>
          <p:nvPr/>
        </p:nvSpPr>
        <p:spPr>
          <a:xfrm>
            <a:off x="11024146" y="6464788"/>
            <a:ext cx="577304" cy="142875"/>
          </a:xfrm>
          <a:prstGeom prst="rect">
            <a:avLst/>
          </a:prstGeom>
          <a:noFill/>
          <a:ln/>
        </p:spPr>
        <p:txBody>
          <a:bodyPr wrap="none" lIns="0" tIns="0" rIns="0" bIns="0" rtlCol="0" anchor="t"/>
          <a:lstStyle/>
          <a:p>
            <a:pPr algn="l" indent="0" marL="0">
              <a:lnSpc>
                <a:spcPts val="1020"/>
              </a:lnSpc>
              <a:buNone/>
            </a:pPr>
            <a:r>
              <a:rPr lang="en-US" sz="850" dirty="0">
                <a:solidFill>
                  <a:srgbClr val="8496A2"/>
                </a:solidFill>
                <a:latin typeface="Courier New" pitchFamily="34" charset="0"/>
                <a:ea typeface="Courier New" pitchFamily="34" charset="-122"/>
                <a:cs typeface="Courier New" pitchFamily="34" charset="-120"/>
              </a:rPr>
              <a:t>38 / 39</a:t>
            </a:r>
            <a:endParaRPr lang="en-US" sz="850" dirty="0"/>
          </a:p>
        </p:txBody>
      </p:sp>
      <p:pic>
        <p:nvPicPr>
          <p:cNvPr id="900" name="NetSapiensis mark" descr="NetSapiensis"/>
          <p:cNvPicPr>
            <a:picLocks noChangeAspect="1"/>
          </p:cNvPicPr>
          <p:nvPr/>
        </p:nvPicPr>
        <p:blipFill>
          <a:blip r:embed="rId4"/>
          <a:stretch>
            <a:fillRect/>
          </a:stretch>
        </p:blipFill>
        <p:spPr>
          <a:xfrm>
            <a:off x="10776204" y="6419088"/>
            <a:ext cx="178308" cy="237744"/>
          </a:xfrm>
          <a:prstGeom prst="rect">
            <a:avLst/>
          </a:prstGeom>
        </p:spPr>
      </p:pic>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7700" y="6343650"/>
            <a:ext cx="10896600" cy="0"/>
          </a:xfrm>
          <a:prstGeom prst="line">
            <a:avLst/>
          </a:prstGeom>
          <a:noFill/>
          <a:ln w="10160">
            <a:solidFill>
              <a:srgbClr val="CBD7DF"/>
            </a:solidFill>
            <a:prstDash val="solid"/>
          </a:ln>
        </p:spPr>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647700" y="1532186"/>
          <a:ext cx="10896600" cy="914400"/>
        </p:xfrm>
        <a:graphic>
          <a:graphicData uri="http://schemas.openxmlformats.org/drawingml/2006/table">
            <a:tbl>
              <a:tblPr/>
              <a:tblGrid>
                <a:gridCol w="2113062"/>
                <a:gridCol w="8783538"/>
              </a:tblGrid>
              <a:tr h="452438">
                <a:tc>
                  <a:txBody>
                    <a:bodyPr/>
                    <a:lstStyle/>
                    <a:p>
                      <a:pPr algn="l" indent="0" marL="0">
                        <a:lnSpc>
                          <a:spcPts val="1530"/>
                        </a:lnSpc>
                        <a:buNone/>
                      </a:pPr>
                      <a:r>
                        <a:rPr lang="en-US" sz="1280" dirty="0">
                          <a:solidFill>
                            <a:srgbClr val="0B6E99"/>
                          </a:solidFill>
                          <a:latin typeface="Courier New" pitchFamily="34" charset="0"/>
                          <a:ea typeface="Courier New" pitchFamily="34" charset="-122"/>
                          <a:cs typeface="Courier New" pitchFamily="34" charset="-120"/>
                        </a:rPr>
                        <a:t>This talk</a:t>
                      </a:r>
                      <a:endParaRPr lang="en-US" sz="1200" dirty="0"/>
                    </a:p>
                  </a:txBody>
                  <a:tcPr marL="133350" marR="133350" marT="114300" marB="114300" anchor="t">
                    <a:lnL w="0" cap="flat" cmpd="sng" algn="ctr">
                      <a:noFill/>
                    </a:lnL>
                    <a:lnR w="0" cap="flat" cmpd="sng" algn="ctr">
                      <a:noFill/>
                    </a:lnR>
                    <a:lnT w="0" cap="flat" cmpd="sng" algn="ctr">
                      <a:noFill/>
                    </a:lnT>
                    <a:lnB w="10160" cap="flat" cmpd="sng" algn="ctr">
                      <a:solidFill>
                        <a:srgbClr val="CBD7DF"/>
                      </a:solidFill>
                      <a:prstDash val="solid"/>
                      <a:round/>
                      <a:headEnd type="none" w="med" len="med"/>
                      <a:tailEnd type="none" w="med" len="med"/>
                    </a:lnB>
                  </a:tcPr>
                </a:tc>
                <a:tc>
                  <a:txBody>
                    <a:bodyPr/>
                    <a:lstStyle/>
                    <a:p>
                      <a:pPr algn="l" indent="0" marL="0">
                        <a:lnSpc>
                          <a:spcPts val="1800"/>
                        </a:lnSpc>
                        <a:buNone/>
                      </a:pPr>
                      <a:r>
                        <a:rPr lang="en-US" sz="1500" dirty="0">
                          <a:solidFill>
                            <a:srgbClr val="101A22"/>
                          </a:solidFill>
                          <a:latin typeface="Arial" pitchFamily="34" charset="0"/>
                          <a:ea typeface="Arial" pitchFamily="34" charset="-122"/>
                          <a:cs typeface="Arial" pitchFamily="34" charset="-120"/>
                        </a:rPr>
                        <a:t>https://github.com/netsapiensis/MoodleMootNordic2026, in the folder Moodle-Otel-Opensearch</a:t>
                      </a:r>
                      <a:endParaRPr lang="en-US" sz="1200" dirty="0"/>
                    </a:p>
                  </a:txBody>
                  <a:tcPr marL="133350" marR="133350" marT="114300" marB="114300" anchor="t">
                    <a:lnL w="0" cap="flat" cmpd="sng" algn="ctr">
                      <a:noFill/>
                    </a:lnL>
                    <a:lnR w="0" cap="flat" cmpd="sng" algn="ctr">
                      <a:noFill/>
                    </a:lnR>
                    <a:lnT w="0" cap="flat" cmpd="sng" algn="ctr">
                      <a:noFill/>
                    </a:lnT>
                    <a:lnB w="10160" cap="flat" cmpd="sng" algn="ctr">
                      <a:solidFill>
                        <a:srgbClr val="CBD7DF"/>
                      </a:solidFill>
                      <a:prstDash val="solid"/>
                      <a:round/>
                      <a:headEnd type="none" w="med" len="med"/>
                      <a:tailEnd type="none" w="med" len="med"/>
                    </a:lnB>
                  </a:tcPr>
                </a:tc>
              </a:tr>
              <a:tr h="457200">
                <a:tc>
                  <a:txBody>
                    <a:bodyPr/>
                    <a:lstStyle/>
                    <a:p>
                      <a:pPr algn="l" indent="0" marL="0">
                        <a:lnSpc>
                          <a:spcPts val="1530"/>
                        </a:lnSpc>
                        <a:buNone/>
                      </a:pPr>
                      <a:r>
                        <a:rPr lang="en-US" sz="1280" dirty="0">
                          <a:solidFill>
                            <a:srgbClr val="0B6E99"/>
                          </a:solidFill>
                          <a:latin typeface="Courier New" pitchFamily="34" charset="0"/>
                          <a:ea typeface="Courier New" pitchFamily="34" charset="-122"/>
                          <a:cs typeface="Courier New" pitchFamily="34" charset="-120"/>
                        </a:rPr>
                        <a:t>Moodle</a:t>
                      </a:r>
                      <a:endParaRPr lang="en-US" sz="1200" dirty="0"/>
                    </a:p>
                  </a:txBody>
                  <a:tcPr marL="133350" marR="133350" marT="114300" marB="114300" anchor="t">
                    <a:lnL w="0" cap="flat" cmpd="sng" algn="ctr">
                      <a:noFill/>
                    </a:lnL>
                    <a:lnR w="0" cap="flat" cmpd="sng" algn="ctr">
                      <a:noFill/>
                    </a:lnR>
                    <a:lnT w="0" cap="flat" cmpd="sng" algn="ctr">
                      <a:noFill/>
                    </a:lnT>
                    <a:lnB w="10160" cap="flat" cmpd="sng" algn="ctr">
                      <a:solidFill>
                        <a:srgbClr val="CBD7DF"/>
                      </a:solidFill>
                      <a:prstDash val="solid"/>
                      <a:round/>
                      <a:headEnd type="none" w="med" len="med"/>
                      <a:tailEnd type="none" w="med" len="med"/>
                    </a:lnB>
                  </a:tcPr>
                </a:tc>
                <a:tc>
                  <a:txBody>
                    <a:bodyPr/>
                    <a:lstStyle/>
                    <a:p>
                      <a:pPr algn="l" indent="0" marL="0">
                        <a:lnSpc>
                          <a:spcPts val="1800"/>
                        </a:lnSpc>
                        <a:buNone/>
                      </a:pPr>
                      <a:r>
                        <a:rPr lang="en-US" sz="1500" dirty="0">
                          <a:solidFill>
                            <a:srgbClr val="101A22"/>
                          </a:solidFill>
                          <a:latin typeface="Arial" pitchFamily="34" charset="0"/>
                          <a:ea typeface="Arial" pitchFamily="34" charset="-122"/>
                          <a:cs typeface="Arial" pitchFamily="34" charset="-120"/>
                        </a:rPr>
                        <a:t>https://moodledev.io/docs/5.2/apis/telemetry</a:t>
                      </a:r>
                      <a:endParaRPr lang="en-US" sz="1200" dirty="0"/>
                    </a:p>
                  </a:txBody>
                  <a:tcPr marL="133350" marR="133350" marT="114300" marB="114300" anchor="t">
                    <a:lnL w="0" cap="flat" cmpd="sng" algn="ctr">
                      <a:noFill/>
                    </a:lnL>
                    <a:lnR w="0" cap="flat" cmpd="sng" algn="ctr">
                      <a:noFill/>
                    </a:lnR>
                    <a:lnT w="0" cap="flat" cmpd="sng" algn="ctr">
                      <a:noFill/>
                    </a:lnT>
                    <a:lnB w="10160" cap="flat" cmpd="sng" algn="ctr">
                      <a:solidFill>
                        <a:srgbClr val="CBD7DF"/>
                      </a:solidFill>
                      <a:prstDash val="solid"/>
                      <a:round/>
                      <a:headEnd type="none" w="med" len="med"/>
                      <a:tailEnd type="none" w="med" len="med"/>
                    </a:lnB>
                  </a:tcPr>
                </a:tc>
              </a:tr>
              <a:tr h="457200">
                <a:tc>
                  <a:txBody>
                    <a:bodyPr/>
                    <a:lstStyle/>
                    <a:p>
                      <a:pPr algn="l" indent="0" marL="0">
                        <a:lnSpc>
                          <a:spcPts val="1530"/>
                        </a:lnSpc>
                        <a:buNone/>
                      </a:pPr>
                      <a:r>
                        <a:rPr lang="en-US" sz="1280" dirty="0">
                          <a:solidFill>
                            <a:srgbClr val="0B6E99"/>
                          </a:solidFill>
                          <a:latin typeface="Courier New" pitchFamily="34" charset="0"/>
                          <a:ea typeface="Courier New" pitchFamily="34" charset="-122"/>
                          <a:cs typeface="Courier New" pitchFamily="34" charset="-120"/>
                        </a:rPr>
                        <a:t>Package</a:t>
                      </a:r>
                      <a:endParaRPr lang="en-US" sz="1200" dirty="0"/>
                    </a:p>
                  </a:txBody>
                  <a:tcPr marL="133350" marR="133350" marT="114300" marB="114300" anchor="t">
                    <a:lnL w="0" cap="flat" cmpd="sng" algn="ctr">
                      <a:noFill/>
                    </a:lnL>
                    <a:lnR w="0" cap="flat" cmpd="sng" algn="ctr">
                      <a:noFill/>
                    </a:lnR>
                    <a:lnT w="0" cap="flat" cmpd="sng" algn="ctr">
                      <a:noFill/>
                    </a:lnT>
                    <a:lnB w="10160" cap="flat" cmpd="sng" algn="ctr">
                      <a:solidFill>
                        <a:srgbClr val="CBD7DF"/>
                      </a:solidFill>
                      <a:prstDash val="solid"/>
                      <a:round/>
                      <a:headEnd type="none" w="med" len="med"/>
                      <a:tailEnd type="none" w="med" len="med"/>
                    </a:lnB>
                  </a:tcPr>
                </a:tc>
                <a:tc>
                  <a:txBody>
                    <a:bodyPr/>
                    <a:lstStyle/>
                    <a:p>
                      <a:pPr algn="l" indent="0" marL="0">
                        <a:lnSpc>
                          <a:spcPts val="1800"/>
                        </a:lnSpc>
                        <a:buNone/>
                      </a:pPr>
                      <a:r>
                        <a:rPr lang="en-US" sz="1500" dirty="0">
                          <a:solidFill>
                            <a:srgbClr val="101A22"/>
                          </a:solidFill>
                          <a:latin typeface="Arial" pitchFamily="34" charset="0"/>
                          <a:ea typeface="Arial" pitchFamily="34" charset="-122"/>
                          <a:cs typeface="Arial" pitchFamily="34" charset="-120"/>
                        </a:rPr>
                        <a:t>https://github.com/moodlehq/moodle-package-otel</a:t>
                      </a:r>
                      <a:endParaRPr lang="en-US" sz="1200" dirty="0"/>
                    </a:p>
                  </a:txBody>
                  <a:tcPr marL="133350" marR="133350" marT="114300" marB="114300" anchor="t">
                    <a:lnL w="0" cap="flat" cmpd="sng" algn="ctr">
                      <a:noFill/>
                    </a:lnL>
                    <a:lnR w="0" cap="flat" cmpd="sng" algn="ctr">
                      <a:noFill/>
                    </a:lnR>
                    <a:lnT w="0" cap="flat" cmpd="sng" algn="ctr">
                      <a:noFill/>
                    </a:lnT>
                    <a:lnB w="10160" cap="flat" cmpd="sng" algn="ctr">
                      <a:solidFill>
                        <a:srgbClr val="CBD7DF"/>
                      </a:solidFill>
                      <a:prstDash val="solid"/>
                      <a:round/>
                      <a:headEnd type="none" w="med" len="med"/>
                      <a:tailEnd type="none" w="med" len="med"/>
                    </a:lnB>
                  </a:tcPr>
                </a:tc>
              </a:tr>
              <a:tr h="457200">
                <a:tc>
                  <a:txBody>
                    <a:bodyPr/>
                    <a:lstStyle/>
                    <a:p>
                      <a:pPr algn="l" indent="0" marL="0">
                        <a:lnSpc>
                          <a:spcPts val="1530"/>
                        </a:lnSpc>
                        <a:buNone/>
                      </a:pPr>
                      <a:r>
                        <a:rPr lang="en-US" sz="1280" dirty="0">
                          <a:solidFill>
                            <a:srgbClr val="0B6E99"/>
                          </a:solidFill>
                          <a:latin typeface="Courier New" pitchFamily="34" charset="0"/>
                          <a:ea typeface="Courier New" pitchFamily="34" charset="-122"/>
                          <a:cs typeface="Courier New" pitchFamily="34" charset="-120"/>
                        </a:rPr>
                        <a:t>PHP extension</a:t>
                      </a:r>
                      <a:endParaRPr lang="en-US" sz="1200" dirty="0"/>
                    </a:p>
                  </a:txBody>
                  <a:tcPr marL="133350" marR="133350" marT="114300" marB="114300" anchor="t">
                    <a:lnL w="0" cap="flat" cmpd="sng" algn="ctr">
                      <a:noFill/>
                    </a:lnL>
                    <a:lnR w="0" cap="flat" cmpd="sng" algn="ctr">
                      <a:noFill/>
                    </a:lnR>
                    <a:lnT w="0" cap="flat" cmpd="sng" algn="ctr">
                      <a:noFill/>
                    </a:lnT>
                    <a:lnB w="10160" cap="flat" cmpd="sng" algn="ctr">
                      <a:solidFill>
                        <a:srgbClr val="CBD7DF"/>
                      </a:solidFill>
                      <a:prstDash val="solid"/>
                      <a:round/>
                      <a:headEnd type="none" w="med" len="med"/>
                      <a:tailEnd type="none" w="med" len="med"/>
                    </a:lnB>
                  </a:tcPr>
                </a:tc>
                <a:tc>
                  <a:txBody>
                    <a:bodyPr/>
                    <a:lstStyle/>
                    <a:p>
                      <a:pPr algn="l" indent="0" marL="0">
                        <a:lnSpc>
                          <a:spcPts val="1800"/>
                        </a:lnSpc>
                        <a:buNone/>
                      </a:pPr>
                      <a:r>
                        <a:rPr lang="en-US" sz="1500" dirty="0">
                          <a:solidFill>
                            <a:srgbClr val="101A22"/>
                          </a:solidFill>
                          <a:latin typeface="Arial" pitchFamily="34" charset="0"/>
                          <a:ea typeface="Arial" pitchFamily="34" charset="-122"/>
                          <a:cs typeface="Arial" pitchFamily="34" charset="-120"/>
                        </a:rPr>
                        <a:t>https://opentelemetry.io/docs/zero-code/php/</a:t>
                      </a:r>
                      <a:endParaRPr lang="en-US" sz="1200" dirty="0"/>
                    </a:p>
                  </a:txBody>
                  <a:tcPr marL="133350" marR="133350" marT="114300" marB="114300" anchor="t">
                    <a:lnL w="0" cap="flat" cmpd="sng" algn="ctr">
                      <a:noFill/>
                    </a:lnL>
                    <a:lnR w="0" cap="flat" cmpd="sng" algn="ctr">
                      <a:noFill/>
                    </a:lnR>
                    <a:lnT w="0" cap="flat" cmpd="sng" algn="ctr">
                      <a:noFill/>
                    </a:lnT>
                    <a:lnB w="10160" cap="flat" cmpd="sng" algn="ctr">
                      <a:solidFill>
                        <a:srgbClr val="CBD7DF"/>
                      </a:solidFill>
                      <a:prstDash val="solid"/>
                      <a:round/>
                      <a:headEnd type="none" w="med" len="med"/>
                      <a:tailEnd type="none" w="med" len="med"/>
                    </a:lnB>
                  </a:tcPr>
                </a:tc>
              </a:tr>
              <a:tr h="676275">
                <a:tc>
                  <a:txBody>
                    <a:bodyPr/>
                    <a:lstStyle/>
                    <a:p>
                      <a:pPr algn="l" indent="0" marL="0">
                        <a:lnSpc>
                          <a:spcPts val="1530"/>
                        </a:lnSpc>
                        <a:buNone/>
                      </a:pPr>
                      <a:r>
                        <a:rPr lang="en-US" sz="1280" dirty="0">
                          <a:solidFill>
                            <a:srgbClr val="0B6E99"/>
                          </a:solidFill>
                          <a:latin typeface="Courier New" pitchFamily="34" charset="0"/>
                          <a:ea typeface="Courier New" pitchFamily="34" charset="-122"/>
                          <a:cs typeface="Courier New" pitchFamily="34" charset="-120"/>
                        </a:rPr>
                        <a:t>OpenSearch exporter</a:t>
                      </a:r>
                      <a:endParaRPr lang="en-US" sz="1200" dirty="0"/>
                    </a:p>
                  </a:txBody>
                  <a:tcPr marL="133350" marR="133350" marT="114300" marB="114300" anchor="t">
                    <a:lnL w="0" cap="flat" cmpd="sng" algn="ctr">
                      <a:noFill/>
                    </a:lnL>
                    <a:lnR w="0" cap="flat" cmpd="sng" algn="ctr">
                      <a:noFill/>
                    </a:lnR>
                    <a:lnT w="0" cap="flat" cmpd="sng" algn="ctr">
                      <a:noFill/>
                    </a:lnT>
                    <a:lnB w="10160" cap="flat" cmpd="sng" algn="ctr">
                      <a:solidFill>
                        <a:srgbClr val="CBD7DF"/>
                      </a:solidFill>
                      <a:prstDash val="solid"/>
                      <a:round/>
                      <a:headEnd type="none" w="med" len="med"/>
                      <a:tailEnd type="none" w="med" len="med"/>
                    </a:lnB>
                  </a:tcPr>
                </a:tc>
                <a:tc>
                  <a:txBody>
                    <a:bodyPr/>
                    <a:lstStyle/>
                    <a:p>
                      <a:pPr algn="l" indent="0" marL="0">
                        <a:lnSpc>
                          <a:spcPts val="1800"/>
                        </a:lnSpc>
                        <a:buNone/>
                      </a:pPr>
                      <a:r>
                        <a:rPr lang="en-US" sz="1500" dirty="0">
                          <a:solidFill>
                            <a:srgbClr val="101A22"/>
                          </a:solidFill>
                          <a:latin typeface="Arial" pitchFamily="34" charset="0"/>
                          <a:ea typeface="Arial" pitchFamily="34" charset="-122"/>
                          <a:cs typeface="Arial" pitchFamily="34" charset="-120"/>
                        </a:rPr>
                        <a:t>https://github.com/open-telemetry/opentelemetry-collector-contrib, folder exporter/opensearchexporter</a:t>
                      </a:r>
                      <a:endParaRPr lang="en-US" sz="1200" dirty="0"/>
                    </a:p>
                  </a:txBody>
                  <a:tcPr marL="133350" marR="133350" marT="114300" marB="114300" anchor="t">
                    <a:lnL w="0" cap="flat" cmpd="sng" algn="ctr">
                      <a:noFill/>
                    </a:lnL>
                    <a:lnR w="0" cap="flat" cmpd="sng" algn="ctr">
                      <a:noFill/>
                    </a:lnR>
                    <a:lnT w="0" cap="flat" cmpd="sng" algn="ctr">
                      <a:noFill/>
                    </a:lnT>
                    <a:lnB w="10160" cap="flat" cmpd="sng" algn="ctr">
                      <a:solidFill>
                        <a:srgbClr val="CBD7DF"/>
                      </a:solidFill>
                      <a:prstDash val="solid"/>
                      <a:round/>
                      <a:headEnd type="none" w="med" len="med"/>
                      <a:tailEnd type="none" w="med" len="med"/>
                    </a:lnB>
                  </a:tcPr>
                </a:tc>
              </a:tr>
              <a:tr h="457200">
                <a:tc>
                  <a:txBody>
                    <a:bodyPr/>
                    <a:lstStyle/>
                    <a:p>
                      <a:pPr algn="l" indent="0" marL="0">
                        <a:lnSpc>
                          <a:spcPts val="1530"/>
                        </a:lnSpc>
                        <a:buNone/>
                      </a:pPr>
                      <a:r>
                        <a:rPr lang="en-US" sz="1280" dirty="0">
                          <a:solidFill>
                            <a:srgbClr val="0B6E99"/>
                          </a:solidFill>
                          <a:latin typeface="Courier New" pitchFamily="34" charset="0"/>
                          <a:ea typeface="Courier New" pitchFamily="34" charset="-122"/>
                          <a:cs typeface="Courier New" pitchFamily="34" charset="-120"/>
                        </a:rPr>
                        <a:t>OpenSearch</a:t>
                      </a:r>
                      <a:endParaRPr lang="en-US" sz="1200" dirty="0"/>
                    </a:p>
                  </a:txBody>
                  <a:tcPr marL="133350" marR="133350" marT="114300" marB="114300" anchor="t">
                    <a:lnL w="0" cap="flat" cmpd="sng" algn="ctr">
                      <a:noFill/>
                    </a:lnL>
                    <a:lnR w="0" cap="flat" cmpd="sng" algn="ctr">
                      <a:noFill/>
                    </a:lnR>
                    <a:lnT w="0" cap="flat" cmpd="sng" algn="ctr">
                      <a:noFill/>
                    </a:lnT>
                    <a:lnB w="10160" cap="flat" cmpd="sng" algn="ctr">
                      <a:solidFill>
                        <a:srgbClr val="CBD7DF"/>
                      </a:solidFill>
                      <a:prstDash val="solid"/>
                      <a:round/>
                      <a:headEnd type="none" w="med" len="med"/>
                      <a:tailEnd type="none" w="med" len="med"/>
                    </a:lnB>
                  </a:tcPr>
                </a:tc>
                <a:tc>
                  <a:txBody>
                    <a:bodyPr/>
                    <a:lstStyle/>
                    <a:p>
                      <a:pPr algn="l" indent="0" marL="0">
                        <a:lnSpc>
                          <a:spcPts val="1800"/>
                        </a:lnSpc>
                        <a:buNone/>
                      </a:pPr>
                      <a:r>
                        <a:rPr lang="en-US" sz="1500" dirty="0">
                          <a:solidFill>
                            <a:srgbClr val="101A22"/>
                          </a:solidFill>
                          <a:latin typeface="Arial" pitchFamily="34" charset="0"/>
                          <a:ea typeface="Arial" pitchFamily="34" charset="-122"/>
                          <a:cs typeface="Arial" pitchFamily="34" charset="-120"/>
                        </a:rPr>
                        <a:t>https://docs.opensearch.org — Discover, Index State Management, Trace Analytics</a:t>
                      </a:r>
                      <a:endParaRPr lang="en-US" sz="1200" dirty="0"/>
                    </a:p>
                  </a:txBody>
                  <a:tcPr marL="133350" marR="133350" marT="114300" marB="114300" anchor="t">
                    <a:lnL w="0" cap="flat" cmpd="sng" algn="ctr">
                      <a:noFill/>
                    </a:lnL>
                    <a:lnR w="0" cap="flat" cmpd="sng" algn="ctr">
                      <a:noFill/>
                    </a:lnR>
                    <a:lnT w="0" cap="flat" cmpd="sng" algn="ctr">
                      <a:noFill/>
                    </a:lnT>
                    <a:lnB w="10160" cap="flat" cmpd="sng" algn="ctr">
                      <a:solidFill>
                        <a:srgbClr val="CBD7DF"/>
                      </a:solidFill>
                      <a:prstDash val="solid"/>
                      <a:round/>
                      <a:headEnd type="none" w="med" len="med"/>
                      <a:tailEnd type="none" w="med" len="med"/>
                    </a:lnB>
                  </a:tcPr>
                </a:tc>
              </a:tr>
            </a:tbl>
          </a:graphicData>
        </a:graphic>
      </p:graphicFrame>
      <p:sp>
        <p:nvSpPr>
          <p:cNvPr id="4" name="Text 1"/>
          <p:cNvSpPr txBox="1"/>
          <p:nvPr/>
        </p:nvSpPr>
        <p:spPr>
          <a:xfrm>
            <a:off x="647700" y="511731"/>
            <a:ext cx="10953750" cy="185738"/>
          </a:xfrm>
          <a:prstGeom prst="rect">
            <a:avLst/>
          </a:prstGeom>
          <a:noFill/>
          <a:ln/>
        </p:spPr>
        <p:txBody>
          <a:bodyPr wrap="none" lIns="0" tIns="0" rIns="0" bIns="0" rtlCol="0" anchor="t"/>
          <a:lstStyle/>
          <a:p>
            <a:pPr algn="l" indent="0" marL="0">
              <a:lnSpc>
                <a:spcPts val="1460"/>
              </a:lnSpc>
              <a:buNone/>
            </a:pPr>
            <a:r>
              <a:rPr lang="en-US" sz="980" spc="160" kern="0" dirty="0">
                <a:solidFill>
                  <a:srgbClr val="0B6E99"/>
                </a:solidFill>
                <a:latin typeface="Courier New" pitchFamily="34" charset="0"/>
                <a:ea typeface="Courier New" pitchFamily="34" charset="-122"/>
                <a:cs typeface="Courier New" pitchFamily="34" charset="-120"/>
              </a:rPr>
              <a:t>QUESTIONS</a:t>
            </a:r>
            <a:endParaRPr lang="en-US" sz="980" dirty="0"/>
          </a:p>
        </p:txBody>
      </p:sp>
      <p:sp>
        <p:nvSpPr>
          <p:cNvPr id="5" name="Text 2"/>
          <p:cNvSpPr txBox="1"/>
          <p:nvPr/>
        </p:nvSpPr>
        <p:spPr>
          <a:xfrm>
            <a:off x="647700" y="852488"/>
            <a:ext cx="10953750" cy="432054"/>
          </a:xfrm>
          <a:prstGeom prst="rect">
            <a:avLst/>
          </a:prstGeom>
          <a:noFill/>
          <a:ln/>
        </p:spPr>
        <p:txBody>
          <a:bodyPr wrap="none" lIns="0" tIns="0" rIns="0" bIns="0" rtlCol="0" anchor="t"/>
          <a:lstStyle/>
          <a:p>
            <a:pPr algn="l" indent="0" marL="0">
              <a:lnSpc>
                <a:spcPts val="3400"/>
              </a:lnSpc>
              <a:buNone/>
            </a:pPr>
            <a:r>
              <a:rPr lang="en-US" sz="3150" b="1" spc="-60" kern="0" dirty="0">
                <a:solidFill>
                  <a:srgbClr val="101A22"/>
                </a:solidFill>
                <a:latin typeface="Arial" pitchFamily="34" charset="0"/>
                <a:ea typeface="Arial" pitchFamily="34" charset="-122"/>
                <a:cs typeface="Arial" pitchFamily="34" charset="-120"/>
              </a:rPr>
              <a:t>Read more at these six places</a:t>
            </a:r>
            <a:endParaRPr lang="en-US" sz="3150" dirty="0"/>
          </a:p>
        </p:txBody>
      </p:sp>
      <p:sp>
        <p:nvSpPr>
          <p:cNvPr id="6" name="Text 3"/>
          <p:cNvSpPr txBox="1"/>
          <p:nvPr/>
        </p:nvSpPr>
        <p:spPr>
          <a:xfrm>
            <a:off x="647700" y="4705439"/>
            <a:ext cx="10953750" cy="314325"/>
          </a:xfrm>
          <a:prstGeom prst="rect">
            <a:avLst/>
          </a:prstGeom>
          <a:noFill/>
          <a:ln/>
        </p:spPr>
        <p:txBody>
          <a:bodyPr wrap="none" lIns="0" tIns="0" rIns="0" bIns="0" rtlCol="0" anchor="t"/>
          <a:lstStyle/>
          <a:p>
            <a:pPr algn="l" indent="0" marL="0">
              <a:lnSpc>
                <a:spcPts val="2480"/>
              </a:lnSpc>
              <a:buNone/>
            </a:pPr>
            <a:r>
              <a:rPr lang="en-US" sz="1650" dirty="0">
                <a:solidFill>
                  <a:srgbClr val="5A6D7A"/>
                </a:solidFill>
                <a:latin typeface="Arial" pitchFamily="34" charset="0"/>
                <a:ea typeface="Arial" pitchFamily="34" charset="-122"/>
                <a:cs typeface="Arial" pitchFamily="34" charset="-120"/>
              </a:rPr>
              <a:t>Thank you.</a:t>
            </a:r>
            <a:endParaRPr lang="en-US" sz="1650" dirty="0"/>
          </a:p>
        </p:txBody>
      </p:sp>
      <p:sp>
        <p:nvSpPr>
          <p:cNvPr id="7" name="Text 4"/>
          <p:cNvSpPr txBox="1"/>
          <p:nvPr/>
        </p:nvSpPr>
        <p:spPr>
          <a:xfrm>
            <a:off x="647700" y="6464379"/>
            <a:ext cx="428774" cy="148590"/>
          </a:xfrm>
          <a:prstGeom prst="rect">
            <a:avLst/>
          </a:prstGeom>
          <a:noFill/>
          <a:ln/>
        </p:spPr>
        <p:txBody>
          <a:bodyPr wrap="none" lIns="0" tIns="0" rIns="0" bIns="0" rtlCol="0" anchor="t"/>
          <a:lstStyle/>
          <a:p>
            <a:pPr algn="l" indent="0" marL="0">
              <a:lnSpc>
                <a:spcPts val="1170"/>
              </a:lnSpc>
              <a:buNone/>
            </a:pPr>
            <a:r>
              <a:rPr lang="en-US" sz="980" dirty="0">
                <a:solidFill>
                  <a:srgbClr val="8496A2"/>
                </a:solidFill>
                <a:latin typeface="Courier New" pitchFamily="34" charset="0"/>
                <a:ea typeface="Courier New" pitchFamily="34" charset="-122"/>
                <a:cs typeface="Courier New" pitchFamily="34" charset="-120"/>
              </a:rPr>
              <a:t>Close</a:t>
            </a:r>
            <a:endParaRPr lang="en-US" sz="980" dirty="0"/>
          </a:p>
        </p:txBody>
      </p:sp>
      <p:sp>
        <p:nvSpPr>
          <p:cNvPr id="8" name="Text 5"/>
          <p:cNvSpPr txBox="1"/>
          <p:nvPr/>
        </p:nvSpPr>
        <p:spPr>
          <a:xfrm>
            <a:off x="11024146" y="6464379"/>
            <a:ext cx="577304" cy="148590"/>
          </a:xfrm>
          <a:prstGeom prst="rect">
            <a:avLst/>
          </a:prstGeom>
          <a:noFill/>
          <a:ln/>
        </p:spPr>
        <p:txBody>
          <a:bodyPr wrap="none" lIns="0" tIns="0" rIns="0" bIns="0" rtlCol="0" anchor="t"/>
          <a:lstStyle/>
          <a:p>
            <a:pPr algn="l" indent="0" marL="0">
              <a:lnSpc>
                <a:spcPts val="1170"/>
              </a:lnSpc>
              <a:buNone/>
            </a:pPr>
            <a:r>
              <a:rPr lang="en-US" sz="980" dirty="0">
                <a:solidFill>
                  <a:srgbClr val="8496A2"/>
                </a:solidFill>
                <a:latin typeface="Courier New" pitchFamily="34" charset="0"/>
                <a:ea typeface="Courier New" pitchFamily="34" charset="-122"/>
                <a:cs typeface="Courier New" pitchFamily="34" charset="-120"/>
              </a:rPr>
              <a:t>39 / 39</a:t>
            </a:r>
            <a:endParaRPr lang="en-US" sz="980" dirty="0"/>
          </a:p>
        </p:txBody>
      </p:sp>
      <p:pic>
        <p:nvPicPr>
          <p:cNvPr id="900" name="NetSapiensis mark" descr="NetSapiensis"/>
          <p:cNvPicPr>
            <a:picLocks noChangeAspect="1"/>
          </p:cNvPicPr>
          <p:nvPr/>
        </p:nvPicPr>
        <p:blipFill>
          <a:blip r:embed="rId3"/>
          <a:stretch>
            <a:fillRect/>
          </a:stretch>
        </p:blipFill>
        <p:spPr>
          <a:xfrm>
            <a:off x="10776204" y="6419088"/>
            <a:ext cx="178308" cy="237744"/>
          </a:xfrm>
          <a:prstGeom prst="rect">
            <a:avLst/>
          </a:prstGeom>
        </p:spPr>
      </p:pic>
      <p:pic>
        <p:nvPicPr>
          <p:cNvPr id="903" name="QR" descr="QR code linking to github.com/netsapiensis/MoodleMootNordic2026"/>
          <p:cNvPicPr>
            <a:picLocks noChangeAspect="1"/>
          </p:cNvPicPr>
          <p:nvPr/>
        </p:nvPicPr>
        <p:blipFill>
          <a:blip r:embed="rId4"/>
          <a:stretch>
            <a:fillRect/>
          </a:stretch>
        </p:blipFill>
        <p:spPr>
          <a:xfrm>
            <a:off x="10277856" y="4846320"/>
            <a:ext cx="1325880" cy="132588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39</Slides>
  <Notes>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39</vt:i4>
      </vt:variant>
    </vt:vector>
  </HeadingPairs>
  <TitlesOfParts>
    <vt:vector size="4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Moodle Events for Sysadmins</dc:title>
  <dc:subject>PptxGenJS Presentation</dc:subject>
  <dc:creator>PptxGenJS</dc:creator>
  <cp:lastModifiedBy>PptxGenJS</cp:lastModifiedBy>
  <cp:revision>1</cp:revision>
  <dcterms:created xsi:type="dcterms:W3CDTF">2026-09-30T05:59:19Z</dcterms:created>
  <dcterms:modified xsi:type="dcterms:W3CDTF">2026-09-30T05:59:19Z</dcterms:modified>
</cp:coreProperties>
</file>