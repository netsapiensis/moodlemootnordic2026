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Title only. The agenda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eight points so the room knows the shape of the hour: about four minutes on Moodle, OpenTelemetry and OpenSearch, four on how they fit together, six on the four terms, thirteen on installation, then what you get, the two cautions, a two-slide look at timing data, and the live system. The slides and the demo files are at https://github.com/netsapiensis/MoodleMootNordic2026. Tell them the address so nobody writes commands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two records are real, copied from the demo site you will see at the end — nothing needs to be invented, Moodle has logged like this for years. Ask the room who has ever read these records anywhere except Moodle's own reports. Then the part where the room nods: anyone who has hosted Moodle at scale has watched logstore_standard_log grow, and has either shortened the retention setting or paid for the table. Name the trade honestly: the history has value, but the database is the wrong place to keep it — it is the most expensive storage in the estate and every report query lands on the production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Do not promise magic — promise these questions. The live demo must answer at least two of them out loud, pointing back here. The last question is the hook for the look ahead at timing data: developers in the room get their payoff there, everyone else gets theirs from the other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Start here because it is the only one of the three names they already own. The left column is the logging side — the same event stream from the previous slide — and the right is the timing side. Say out loud that one configuration produces both; you do not choose. The event names are real ones recorded on the demo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Say it the plain way first: for this talk OpenTelemetry is a shipper — it takes the data that Moodle produces, the events and the timings, and sends it to OpenSearch. Then what the project publishes, because the room will meet both kinds: the specification defines the record format and the OTLP network protocol; the programs and libraries implement it, one library set per language, PHP among them, plus the collector as a separate program. Then the table: four pieces, installed separately, none of them a package called OpenTelemetry. Land on the last line — nothing here stores or draws — so nobody expects a screen from OpenTelemetry.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Define indexing properly, because half the room will only know grep. The contrast to draw: grep reads every byte of every file every time; an index is built once at write time so the question is answered without reading the data. That is why "which of my 40 000 cron runs took over 30 seconds last month" is instant here and impossible in a log file. Two more facts they will need: one document per span and per log record, and the indices roll over monthly, which is where retention gets decided. The right-hand card is the case for OpenSearch over a database table or a log file: it grows by adding servers (the docs' own example is a 400 GB index split into 10 shards over 10 nodes), and it is Apache 2.0 with RPM and DEB packages, which the lead-in already covers with "open source". The last two bullets are the reasons it fits this pipeline: the OpenTelemetry Collector already has an OpenSearch exporter, and OpenSearch Dashboards already has the trace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runs ~2 min 30 s. This is the map they should photograph. Everything in the walk-through refers back to a numbered component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Photograph slide. This is the map for the whole hour — every later slide points back to a numbered component. Trace the arrow left to right with a finger while saying it: Moodle does the work, OpenTelemetry records and measures it and carries it, OpenSearch keeps it and answers questions about it. Say the boundary out loud: everything up to and including component 5 is one project, component 6 is a different one, and the join between them is a network hop you configure. The install question always comes, so answer it here: nothing in components 2 to 5 comes with Moodle — 2 is a PECL extension, 3 and 4 are PHP Composer packages, 5 is an OS package, all installed by you. What Moodle 5.2 shipped is one line of code that loads the PHP Composer packages if they exist — that is the whole reason this needs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Three statements, in this order. One: components 1 to 4 are not merely on the same server — they are inside the same PHP process, one per request. There is no deployment decision to make and nothing to install elsewhere. Two: the collector runs on the Moodle web server too, as a separate service. That is what the walk-through installs: one collector per Moodle server, talking over localhost, so the data never crosses the network on its way to the collector, and port 4318 stays closed. No extra server is needed. The other way is one shared collector on its own host for every web server you run — fewer things to configure and one place to filter personal data — the pattern we run; it needs the endpoint variable pointed at that host and port 4318 open there. Three: OpenSearch is always separate, and it is the one component most of them already have. If asked which to pick: the shared host for a small estate, one per server once traffic is large enough that you want the buffering close to the source. Two glosses to give in passing: OTLP on the arrow is simply the message format, properly defined in part two; and the reason for a relay at all is buffering — PHP hands the data off in a millisecond and gets back to serving the page, and if OpenSearch is slow or down the collector absorbs it instead of the request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runs ~6 min. Say the transition plainly: so far you have seen what the six components are and where they run; nothing is installed yet. Before the commands, four terms, because they appear in the commands, in the collector config and in every search — in Discover's field browser, in the collector's config, in every OpenTelemetry and OpenSearch document they will read afterwards. Four terms, built in order, each needing the one before it. Nobody should leave having nodded at a term they do not own. Do not rush it. Trace and span are deliberately NOT here — they arrive in the look ahead at the end, once the log story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Anchor it to what they know: this is the same event Moodle already writes to its own log table — the same stream, pointed somewhere better. Nothing is invented, nothing is parsed out of a text file. One event in Moodle, one document in the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the first three attribute lines out loud and point at the words of the body sentence they come from: Moodle builds that sentence from userid, objecttable and contextinstanceid. Then the other four, and dwell on crud. Every Moodle event classifies itself as create, read, update or delete, so the value is c, r, u or d. Answer the where question before it is asked: attributes are written in PHP on the Moodle server at the moment the event fires, they ride inside the record over OTLP, and the OpenTelemetry Collector is the one place to add, drop or hash them in transit. That is how personal data gets controlled. Point at the attributes. prefix on the four lines: a search on an attribute needs the full name with the prefix, and the field browser in Discover shows the full name. These field names are real, from the demo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runs ~13 min, nine steps. Nothing is typed live. Each slide is one step with the real command. Remind them that the slides are at https://github.com/netsapiensis/MoodleMootNordic2026.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Checked on both distributions, not read in a blog. PHP itself is not installed here: anyone running Moodle 5.2 already has PHP 8.3 and PHP-FPM, so only the packages this extension needs are added. php-pear is what provides the pecl command on both — without it the next slide fails at "command not found". The header package (php8.3-dev, php-devel) and the compiler packages are needed because the extension is built from source. On RHEL and Rocky, php-devel comes from the enabled module stream, so it matches the PHP that Moodle runs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Two differences worth naming out loud. Debian and Ubuntu split configuration into mods-available plus a phpenmod symlink per SAPI; Red Hat just drops a numbered file into /etc/php.d and is done. The number 40 controls load order and matters only if an extension depends on another — 40 is a safe middle. pecl install compiles, so it takes a minute and needs the compiler from the previous slide. If they have never used PECL or PHP Composer, say that is normal — they are PHP developers' tools, not sysadmin ones — and that extension is not package: the extension is C, from PECL, listed in php.ini; the packages on the next slide are PHP, from PHP Composer, listed in composer.json. Different tools, different files, both needed. And the restart is not optional: the CLI picks the extension up immediately, FPM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Say whose dependency this is before anyone asks: Moodle does not need Composer — the OpenTelemetry PHP libraries do, because Composer is the only way they are shipped. You run it once, against the Moodle directory, so the libraries land where Moodle 5.2 will load them. Then walk the two packages against the chain: moodle-package-otel is component 3, written by Moodle HQ — it knows Moodle from the inside, which methods to time and which events to forward. exporter-otlp is component 4, from the OpenTelemetry project — it packs spans and log records into OTLP messages and sends them to the collector, and Composer pulls the OpenTelemetry SDK in as its dependency. Neither does anything yet: the switch is the environment variables, two steps ahead. Checked: Ubuntu 24.04 packages Composer 2.7.1; Rocky and RHEL 9 do not package it at all, so the official installer is the normal route there. Reassure the room that this writes only into vendor/ and never touches Moodle core — for many this is their first time running Composer against a production Moodle. Run it as the user that owns the Moodle tree, not as root, or the web server cannot read what it wrote. The 5.2 line is verified in both source trees: 5.1 has it at public/lib/setuplib.php:82 inside the Whoops handler, which returns early for CLI, for AJAX, and whenever debugdisplay is off. Anyone on 5.0 or 5.1 now knows why the answer is "upgrade first" — one line, not a rewrite. If anyone asks why 5.2 is the minimum: one line in public/lib/classes/component.php loads vendor/autoload.php on every request; Moodle 5.1 has it only inside its error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Every one is a standard OpenTelemetry PHP variable, not a Moodle invention, so the reference for them is https://opentelemetry.io rather than moodledev. AUTOLOAD_ENABLED is the on switch and the silent failure: without it nothing runs and nothing complains. Say where they go before anyone asks: the environment of the PHP process, which means three files, one per way PHP starts, on the next slide. Say also what they are NOT — not config.php, not a database setting, not an admin page — because someone will otherwise spend an afternoon hunting the Moodle admin tree. The protocol line: http/protobuf means HTTP on port 4318. gRPC on port 4317 also works, but it needs one more PHP Composer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slide people will photograph. Three points. One: PHP-FPM does not inherit your shell — the pool file is the only thing it reads, and the syntax is env[NAME] = value, not export. Two: cron is the same Moodle cron entry that already exists; crontab files accept plain NAME=value lines above the schedule, so you edit the file you already have. If they run Moodle cron from a systemd timer instead, the equivalent is Environment= or EnvironmentFile= in the unit. Three: a hand-run CLI command gets nothing unless the variables are in that shell, which is what the profile.d file fixes — or prefix the one command. Symptom of missing one: web traces but no cron traces, or the reverse, and never an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Say why the version is pinned in a variable: the collector releases every few weeks and the config keys change between versions — you will see a concrete example on the next slide. Take contrib, not the core build: the OpenSearch exporter only exists in contrib. After installing, the service is enabled but the shipped config does nothing useful until the next slide replaces it. Checked in the 0.159.0 package files: the postinstall script enables and starts the service at once, with the ready-made config file. That file listens on 0.0.0.0 on ports 4318 and 4317 (OTLP), 14250, 14268, 6831 and 6832 (Jaeger) and 9411 (Zipkin), and its debug exporter writes every record in full to the system log. Step 8 replaces the whole content of the file, and that closes the extra ports. Say this aloud; it is not on the slide. Also say that the Collector is the only new service. The PHP extension and the PHP packages run inside PHP, so after a change to them you restart PHP-FPM, and after a change to the Collector configuration you run systemctl restart otelcol-contrib.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This is the slide the OpenSearch administrator in the room has been waiting for, and the one the Moodle administrator will hand to a colleague. Say the split out loud: the collector is yours, the four rows here are done by whoever runs OpenSearch. Row one: the action group names are OpenSearch's own — write means create and update documents in existing indices, create_index means create indices and mappings, and the cluster-level cluster_manage_index_templates is what manage_index_template needs, and the cluster-level indices:data/write/bulk lets the collector send its records in bulk. Without it OpenSearch answers 403 to every batch; a fresh demo stack showed this on 2026-09-23. Row two: the exporter README says manage_index_template "creates composable index templates on startup" and is only valid with otel-v1 mode; the version numbers are from the collector changelog. Row three: the demo stack's README has this exact step, and creating the pattern through the API instead of the screen gives a pattern without a field list that Discover rejects. Row four: the ISM documentation says the policy is attached "when an index that matches the ISM template pattern is created" — so create the policy before the first monthly index, or attach it by hand. Moved off the slide: the security plugin is part of every OpenSearch install and is on unless someone switched it off; the collector logs in with a basicauth extension, an https endpoint and a tls setting, shown in step 8; mode: otel-v1 arrived in collector 0.154.0 and manage_index_template in 0.157.0, and older builds such as 0.144.0 have neither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 file is one file, shown on two slides so the text stays readable. This half takes the records in. The sender is the PHP package exporter-otlp inside PHP. receivers opens port 4318, the OTLP port that the variable OTEL_EXPORTER_OTLP_ENDPOINT from step 4 points at; localhost because the OpenTelemetry Collector runs on the Moodle web server, so the port stays closed to the network. A shared collector on its own host needs 0.0.0.0 here and a firewall rule. processors: batch groups records for five seconds before they are sent, so one busy Moodle does not open a connection per event. The demo file has one more processor, transform/cli-status, that fixes the cron timings. The README of the demo explains it. It is not on the slide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Say the host name out loud: opensearch1 is our name for the OpenSearch server in this and every following example, including the curl on the next slide — they substitute theirs. extensions holds the user name and the password of the OpenSearch user from step 7; the exporter points at this block by name and does not carry the credentials itself. insecure_skip_verify: true switches off every check of the OpenSearch certificate; with a real certificate, remove the line or set ca_file. One exporter, two pipelines: logs stores the events, traces stores the timing data that step 4 switched on with OTEL_TRACES_EXPORTER=otlp. Without the traces pipeline the collector answers 404 on /v1/traces, and PHP logs a warning on every request. traces_index stays otel-v1-apm-span: the Trace analytics page in OpenSearch Dashboards reads spans from that name only. Keys that carry the weight: logs_index must start with otel-v1-logs: the index template that the exporter installs applies only to the pattern otel-v1-logs*, tested on the demo stack. With any other name OpenSearch guesses the field types. The part after that is yours to name, and one events index per site is a sane default; Discover finds it by pattern. mapping.mode: otel-v1 writes one field layout for both kinds of data. The _time_format keys decide how many indices you create, and therefore how many shards — monthly, not daily. Flag honestly that this exporter is marked alpha upstream for both logs and traces (its README). manage_index_template was explained on the Configure OpenSearch slide, two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Give the debugging order explicitly — it is the single most useful thing they take away if they try this next week. Walk backwards from OpenSearch to PHP. The first check that looks right shows that the records stop just after that place. The variables check reads the PHP-FPM pool file; on RHEL and Rocky the path is /etc/php-fpm.d/www.conf. The slide counts only the logs index; the traces pipeline also creates otel-v1-apm-span-2026.09, which you can count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runs ~3 min 30 s. After thirteen minutes of installation, this section shows what the audience gets. This section is the reason the talk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Every line verified against the demo index, not the documentation: user_loggedin and user_login_failed with the username in the record, course_module_viewed with courseid and userid, the crud attribute on every event, capability_assigned and role_assigned, email_failed with the delivery error. The audit-trail line is the one that lands with managers — who got which permission,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Say what the search does: it keeps only the failed logins and counts them for each hour. OpenSearch calls this a date histogram. The numbers are from the demo site, run on 2026-09-27. The burst of 45 at 02:00 is added on purpose by the script that makes the demo data. If asked about "right now": add a filter on the time field, for example the last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A real screenshot from the Docker Compose stack. The dashboard has six charts on the events index, built by hand in OpenSearch Dashboards for this picture. The data is demo data, 3,143 events over seven days. Point at three things. First, the daytime shape in events per hour. Second, the burst in failed logins on 2026-09-03 at 03:00, which answers the opening question about failed logins. Third, the event types list, where every bar is a Moodle event name. Say that every chart is built from the same records that the searches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runs ~3 min 30 s. Credibility section. This audience trusts a talk more when the speaker names the downsides before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For a Swedish education host this is an important point. It decides whether the whole thing gets approved. The email_failed example is real and verified on the demo stack: the event's other.message attribute held the full text of a sign-in notification, including the account email, the login IP and the user agent. Tell what happened, step by step. It is the single most convincing argument for filtering in the collector: one config, off the Moodle components, applied to every site at once. The pseudonymity point has two sides: good for privacy by default, and it means dashboards show ids unless you deliberately enrich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The 1000 is the default of cluster.max_shards_per_node; it can be raised, but that only postpones the problem. The card is arithmetic, not a story: five daily indices reach 1000 shards after 100 days, because the limit counts the primary and the replica. The sizing sentence comes from the demo index, about 290 bytes per event record on disk, so one million events a day is about 9 GB a month. Weekly indices are not available: the exporter's index name format knows only yyyy, yy, MM, dd, HH, mm and ss. If asked, the OpenSearch-native way to get a fixed index size is an ISM rollover policy behind an alias.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runs ~3 min 30 s. The cautions are over. Two slides on the timing data, then the demo. Say once, out loud: the timing data goes through the same OpenTelemetry Collector into the same OpenSearch. Nothing new is installed for it. The collector file from step 8 already has the pipeline named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Everything so far was events. Point at the traceId and say it has been on every document shown this hour. Two new words, define each one in a short sentence: a trace is one request's timing record start to finish, a span is one step inside it. Correct the common wrong guess out loud: a trace does not follow a user around; it ends when the request ends, and a cron run is a trace too. Then read the picture: a real login request from the demo site took 92.8 ms, and the login event inside it took 2.5 ms. The trace id is 37a0a4f13ade731c02fb88010eb876b4, and the event record "The user with id '2' has logged in." carries the same traceId. No span covers the 79 ms before the login event, so the trace does not name the slow step. The first span carries a note named moodle.shutdown_handler with Moodle's own summary of the request: dbtime 0.032 s, dbqueries 13/9, which is 13 reads and 9 writes. This is the fifth question from the opening, answered in part, by the same OpenTelemetry Collector that ships the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Say it once, plainly: nothing extra was installed for this. The events and the timing data use one collector and one store, the same collector file as the walk-through. Close with the promise: the timing data gets its own session. Only if asked: by default the Trace analytics page reads spans from indices named otel-v1-apm-span-*, so the OpenTelemetry Collector writes the spans under that name, with its traces_index setting. With another name the spans are stored, but the page stays empty until you change the setting observability:traceAnalyticsSpanIndices in OpenSearch Dashboards. Only if asked: two views on the Trace analytics page, Services and the service map, need a second index. Only Data Prepper builds it. Data Prepper is a separate OpenSearch program that sits between the OpenTelemetry Collector and OpenSearch. Only if asked: a sampling rate of 10 % is a starting convention, not a Moodle measurement, and OTEL_SERVICE_NAME does not reach the stored span, verified on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Start the Docker Compose stack before the talk. The first start builds the Moodle image and takes 5 to 10 minutes. Generate a little traffic a few minutes before you present. Have the browser tab open and logged in already. Two slides show the demo environment. After them, switch to the browser. If the live system fails, show the picture of the records screen, which is the slide after the ten containers, and continue with the next step. Never debug in front of the room. Four moves, roughly a minute each. 1. The indices exist: _cat/indices/otel-* shows the events index, with the timing index beside it. 2. The event stream: Discover on otel-v1-logs-moodle-*. Read three bodies out loud. The histogram above them is the shape of the day. 3. One search each: *user_login_failed*, then attributes.event.data.courseid: 2, then the trail of one userid. 4. Thirty seconds of timing data: copy a traceId from an event, open Trace analytics, and show the timeline. Say that the timing data is the next talk. Then go back to the four questions from the opening and answer two of them out loud. Do not explore. A short demo is better than a long one. The Services page and the service map stay empty in this stack, because it has no Data Prepper. Do not open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Say what it is for: the same six components, the same environment variables, and a collector file like the one in the walk-through, with one more processor and a debug exporter. So what they saw on the slides is what starts on their computer. Everything is https, with one self-signed certificate: the browser warns once for each of the three addresses. Two limits to state: there is no Data Prepper in it, so the Services page and the service map in Trace analytics stay empty — the trace list and the per-request timeline work; and on Linux, OpenSearch needs vm.max_map_count of at least 262144 (Docker Desktop on macOS and Windows sets it for you). The compose/README.md has the first steps in Dashboards: create the index pattern, then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rows are the start order, which compose.yaml enforces with depends_on, so nobody starts anything by hand: the certificate first, because OpenSearch needs it to listen on https; OpenSearch, then the init job that creates the collector's user, because the collector cannot log in before the user exists; then the collector, because Moodle sends to it from its first request; then Moodle's database install, and only then the web server and the cron loop. MariaDB starts alongside, it only has to be healthy before moodle-init. The four one-shot helpers, certs, opensearch-init, dashboards-init and moodle-init, do their job on the first start and exit; later starts find their work done. Image names are shortened; the full names, with the Docker Hub organisations, are in compose.yaml.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the live system fails. A real screenshot from the Docker Compose stack, taken beforehand: Discover on the events index, the same screen as demo move 2. Read one body out loud, then point at the columns: they are the attributes of the log record, chosen from the field list on the left. The histogram is the count of events per three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10 minutes of questions. Advice if asked where to begin: install the PHP extension on a test server first, because it is the only step that compiles code. Likely ones: overhead in production (sample, and measure on your own site); PHP 8.4 (the extension supports PHP 8+); can we send to Grafana instead (yes — same OTLP, components 1 to 4 unchanged, and the Collector gets a different exporter); what about metrics (not from this package, because it records no metrics; the OpenSearch exporter can send metrics in recent versions, but Moodle does not produce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7700" y="4453086"/>
            <a:ext cx="10896600" cy="695325"/>
          </a:xfrm>
          <a:prstGeom prst="roundRect">
            <a:avLst>
              <a:gd name="adj" fmla="val 28823"/>
            </a:avLst>
          </a:prstGeom>
          <a:solidFill>
            <a:srgbClr val="E1F0F7"/>
          </a:solidFill>
          <a:ln w="10160">
            <a:solidFill>
              <a:srgbClr val="0B6E99"/>
            </a:solidFill>
            <a:prstDash val="solid"/>
          </a:ln>
        </p:spPr>
      </p:sp>
      <p:sp>
        <p:nvSpPr>
          <p:cNvPr id="3" name="Text 1"/>
          <p:cNvSpPr txBox="1"/>
          <p:nvPr/>
        </p:nvSpPr>
        <p:spPr>
          <a:xfrm>
            <a:off x="647700" y="1345019"/>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MOODLE 5.2 · OPENTELEMETRY · OPENSEARCH</a:t>
            </a:r>
            <a:endParaRPr lang="en-US" sz="980" dirty="0"/>
          </a:p>
        </p:txBody>
      </p:sp>
      <p:sp>
        <p:nvSpPr>
          <p:cNvPr id="4" name="Text 2"/>
          <p:cNvSpPr txBox="1"/>
          <p:nvPr/>
        </p:nvSpPr>
        <p:spPr>
          <a:xfrm>
            <a:off x="647700" y="1685776"/>
            <a:ext cx="8109049" cy="1490960"/>
          </a:xfrm>
          <a:prstGeom prst="rect">
            <a:avLst/>
          </a:prstGeom>
          <a:noFill/>
          <a:ln/>
        </p:spPr>
        <p:txBody>
          <a:bodyPr wrap="square" lIns="0" tIns="0" rIns="0" bIns="0" rtlCol="0" anchor="t"/>
          <a:lstStyle/>
          <a:p>
            <a:pPr algn="l" indent="0" marL="0">
              <a:lnSpc>
                <a:spcPts val="5870"/>
              </a:lnSpc>
              <a:buNone/>
            </a:pPr>
            <a:r>
              <a:rPr lang="en-US" sz="5700" b="1" spc="-140" kern="0" dirty="0">
                <a:solidFill>
                  <a:srgbClr val="101A22"/>
                </a:solidFill>
                <a:latin typeface="Arial" pitchFamily="34" charset="0"/>
                <a:ea typeface="Arial" pitchFamily="34" charset="-122"/>
                <a:cs typeface="Arial" pitchFamily="34" charset="-120"/>
              </a:rPr>
              <a:t>What Is Your Moodle Doing?</a:t>
            </a:r>
            <a:endParaRPr lang="en-US" sz="5700" dirty="0"/>
          </a:p>
        </p:txBody>
      </p:sp>
      <p:sp>
        <p:nvSpPr>
          <p:cNvPr id="5" name="Text 3"/>
          <p:cNvSpPr txBox="1"/>
          <p:nvPr/>
        </p:nvSpPr>
        <p:spPr>
          <a:xfrm>
            <a:off x="647700" y="3342948"/>
            <a:ext cx="10953750" cy="742950"/>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This presentation shows you how to send Moodle logs and timing data to OpenSearch using OpenTelemetry. In OpenSearch you can run searches to analyse the state of your Moodle site.</a:t>
            </a:r>
            <a:endParaRPr lang="en-US" sz="1950" dirty="0"/>
          </a:p>
        </p:txBody>
      </p:sp>
      <p:sp>
        <p:nvSpPr>
          <p:cNvPr id="6" name="Text 4"/>
          <p:cNvSpPr txBox="1"/>
          <p:nvPr/>
        </p:nvSpPr>
        <p:spPr>
          <a:xfrm>
            <a:off x="809625" y="4529524"/>
            <a:ext cx="10629900" cy="485775"/>
          </a:xfrm>
          <a:prstGeom prst="rect">
            <a:avLst/>
          </a:prstGeom>
          <a:noFill/>
          <a:ln/>
        </p:spPr>
        <p:txBody>
          <a:bodyPr wrap="square" lIns="0" tIns="0" rIns="0" bIns="0" rtlCol="0" anchor="t"/>
          <a:lstStyle/>
          <a:p>
            <a:pPr algn="l" indent="0" marL="0">
              <a:lnSpc>
                <a:spcPts val="1910"/>
              </a:lnSpc>
              <a:buNone/>
            </a:pPr>
            <a:r>
              <a:rPr lang="en-US" sz="1280" dirty="0">
                <a:solidFill>
                  <a:srgbClr val="0B6E99"/>
                </a:solidFill>
                <a:latin typeface="Courier New" pitchFamily="34" charset="0"/>
                <a:ea typeface="Courier New" pitchFamily="34" charset="-122"/>
                <a:cs typeface="Courier New" pitchFamily="34" charset="-120"/>
              </a:rPr>
              <a:t>The slides and the demo files are at https://github.com/netsapiensis/MoodleMootNordic2026, in the folder Moodle-Otel-Opensearch.</a:t>
            </a:r>
            <a:endParaRPr lang="en-US" sz="1280" dirty="0"/>
          </a:p>
        </p:txBody>
      </p:sp>
      <p:sp>
        <p:nvSpPr>
          <p:cNvPr id="7" name="Text 5"/>
          <p:cNvSpPr txBox="1"/>
          <p:nvPr/>
        </p:nvSpPr>
        <p:spPr>
          <a:xfrm>
            <a:off x="647700" y="6464379"/>
            <a:ext cx="2212181"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50 minutes + 10 for questions</a:t>
            </a:r>
            <a:endParaRPr lang="en-US" sz="980" dirty="0"/>
          </a:p>
        </p:txBody>
      </p:sp>
      <p:sp>
        <p:nvSpPr>
          <p:cNvPr id="8" name="Text 6"/>
          <p:cNvSpPr txBox="1"/>
          <p:nvPr/>
        </p:nvSpPr>
        <p:spPr>
          <a:xfrm>
            <a:off x="11098411" y="6464379"/>
            <a:ext cx="503039"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1 / 39</a:t>
            </a:r>
            <a:endParaRPr lang="en-US" sz="9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8890">
            <a:solidFill>
              <a:srgbClr val="CBD7DF"/>
            </a:solidFill>
            <a:prstDash val="solid"/>
          </a:ln>
        </p:spPr>
      </p:sp>
      <p:sp>
        <p:nvSpPr>
          <p:cNvPr id="3" name="Text 1"/>
          <p:cNvSpPr txBox="1"/>
          <p:nvPr/>
        </p:nvSpPr>
        <p:spPr>
          <a:xfrm>
            <a:off x="1010012" y="533400"/>
            <a:ext cx="10229124" cy="403317"/>
          </a:xfrm>
          <a:prstGeom prst="rect">
            <a:avLst/>
          </a:prstGeom>
          <a:noFill/>
          <a:ln/>
        </p:spPr>
        <p:txBody>
          <a:bodyPr wrap="none" lIns="0" tIns="0" rIns="0" bIns="0" rtlCol="0" anchor="t"/>
          <a:lstStyle/>
          <a:p>
            <a:pPr algn="l" indent="0" marL="0">
              <a:lnSpc>
                <a:spcPts val="3170"/>
              </a:lnSpc>
              <a:buNone/>
            </a:pPr>
            <a:r>
              <a:rPr lang="en-US" sz="2940" b="1" spc="-60" kern="0" dirty="0">
                <a:solidFill>
                  <a:srgbClr val="101A22"/>
                </a:solidFill>
                <a:latin typeface="Arial" pitchFamily="34" charset="0"/>
                <a:ea typeface="Arial" pitchFamily="34" charset="-122"/>
                <a:cs typeface="Arial" pitchFamily="34" charset="-120"/>
              </a:rPr>
              <a:t>Agenda</a:t>
            </a:r>
            <a:endParaRPr lang="en-US" sz="2940" dirty="0"/>
          </a:p>
        </p:txBody>
      </p:sp>
      <p:sp>
        <p:nvSpPr>
          <p:cNvPr id="4" name="Text 2"/>
          <p:cNvSpPr txBox="1"/>
          <p:nvPr/>
        </p:nvSpPr>
        <p:spPr>
          <a:xfrm>
            <a:off x="1401032" y="1140127"/>
            <a:ext cx="9838104" cy="311291"/>
          </a:xfrm>
          <a:prstGeom prst="rect">
            <a:avLst/>
          </a:prstGeom>
          <a:noFill/>
          <a:ln/>
        </p:spPr>
        <p:txBody>
          <a:bodyPr wrap="none" lIns="0" tIns="0" rIns="0" bIns="0" rtlCol="0" anchor="t"/>
          <a:lstStyle/>
          <a:p>
            <a:pPr algn="l" indent="0" marL="0">
              <a:lnSpc>
                <a:spcPts val="2450"/>
              </a:lnSpc>
              <a:buNone/>
            </a:pPr>
            <a:r>
              <a:rPr lang="en-US" sz="1750" dirty="0">
                <a:solidFill>
                  <a:srgbClr val="101A22"/>
                </a:solidFill>
                <a:latin typeface="Arial" pitchFamily="34" charset="0"/>
                <a:ea typeface="Arial" pitchFamily="34" charset="-122"/>
                <a:cs typeface="Arial" pitchFamily="34" charset="-120"/>
              </a:rPr>
              <a:t>The problem with the Moodle log table</a:t>
            </a:r>
            <a:endParaRPr lang="en-US" sz="1750" dirty="0"/>
          </a:p>
        </p:txBody>
      </p:sp>
      <p:sp>
        <p:nvSpPr>
          <p:cNvPr id="5" name="Text 3"/>
          <p:cNvSpPr txBox="1"/>
          <p:nvPr/>
        </p:nvSpPr>
        <p:spPr>
          <a:xfrm>
            <a:off x="1010012" y="1193472"/>
            <a:ext cx="147872" cy="211592"/>
          </a:xfrm>
          <a:prstGeom prst="rect">
            <a:avLst/>
          </a:prstGeom>
          <a:noFill/>
          <a:ln/>
        </p:spPr>
        <p:txBody>
          <a:bodyPr wrap="none" lIns="0" tIns="0" rIns="0" bIns="0" rtlCol="0" anchor="t"/>
          <a:lstStyle/>
          <a:p>
            <a:pPr algn="l" indent="0" marL="0">
              <a:lnSpc>
                <a:spcPts val="1670"/>
              </a:lnSpc>
              <a:buNone/>
            </a:pPr>
            <a:r>
              <a:rPr lang="en-US" sz="1190" b="1" dirty="0">
                <a:solidFill>
                  <a:srgbClr val="0B6E99"/>
                </a:solidFill>
                <a:latin typeface="Courier New" pitchFamily="34" charset="0"/>
                <a:ea typeface="Courier New" pitchFamily="34" charset="-122"/>
                <a:cs typeface="Courier New" pitchFamily="34" charset="-120"/>
              </a:rPr>
              <a:t>1</a:t>
            </a:r>
            <a:endParaRPr lang="en-US" sz="1190" dirty="0"/>
          </a:p>
        </p:txBody>
      </p:sp>
      <p:sp>
        <p:nvSpPr>
          <p:cNvPr id="6" name="Text 4"/>
          <p:cNvSpPr txBox="1"/>
          <p:nvPr/>
        </p:nvSpPr>
        <p:spPr>
          <a:xfrm>
            <a:off x="1401032" y="1735863"/>
            <a:ext cx="9838104" cy="311291"/>
          </a:xfrm>
          <a:prstGeom prst="rect">
            <a:avLst/>
          </a:prstGeom>
          <a:noFill/>
          <a:ln/>
        </p:spPr>
        <p:txBody>
          <a:bodyPr wrap="none" lIns="0" tIns="0" rIns="0" bIns="0" rtlCol="0" anchor="t"/>
          <a:lstStyle/>
          <a:p>
            <a:pPr algn="l" indent="0" marL="0">
              <a:lnSpc>
                <a:spcPts val="2450"/>
              </a:lnSpc>
              <a:buNone/>
            </a:pPr>
            <a:r>
              <a:rPr lang="en-US" sz="1750" dirty="0">
                <a:solidFill>
                  <a:srgbClr val="101A22"/>
                </a:solidFill>
                <a:latin typeface="Arial" pitchFamily="34" charset="0"/>
                <a:ea typeface="Arial" pitchFamily="34" charset="-122"/>
                <a:cs typeface="Arial" pitchFamily="34" charset="-120"/>
              </a:rPr>
              <a:t>What Moodle 5.2, OpenTelemetry and OpenSearch each do</a:t>
            </a:r>
            <a:endParaRPr lang="en-US" sz="1750" dirty="0"/>
          </a:p>
        </p:txBody>
      </p:sp>
      <p:sp>
        <p:nvSpPr>
          <p:cNvPr id="7" name="Text 5"/>
          <p:cNvSpPr txBox="1"/>
          <p:nvPr/>
        </p:nvSpPr>
        <p:spPr>
          <a:xfrm>
            <a:off x="1010012" y="1789208"/>
            <a:ext cx="147872" cy="211592"/>
          </a:xfrm>
          <a:prstGeom prst="rect">
            <a:avLst/>
          </a:prstGeom>
          <a:noFill/>
          <a:ln/>
        </p:spPr>
        <p:txBody>
          <a:bodyPr wrap="none" lIns="0" tIns="0" rIns="0" bIns="0" rtlCol="0" anchor="t"/>
          <a:lstStyle/>
          <a:p>
            <a:pPr algn="l" indent="0" marL="0">
              <a:lnSpc>
                <a:spcPts val="1670"/>
              </a:lnSpc>
              <a:buNone/>
            </a:pPr>
            <a:r>
              <a:rPr lang="en-US" sz="1190" b="1" dirty="0">
                <a:solidFill>
                  <a:srgbClr val="0B6E99"/>
                </a:solidFill>
                <a:latin typeface="Courier New" pitchFamily="34" charset="0"/>
                <a:ea typeface="Courier New" pitchFamily="34" charset="-122"/>
                <a:cs typeface="Courier New" pitchFamily="34" charset="-120"/>
              </a:rPr>
              <a:t>2</a:t>
            </a:r>
            <a:endParaRPr lang="en-US" sz="1190" dirty="0"/>
          </a:p>
        </p:txBody>
      </p:sp>
      <p:sp>
        <p:nvSpPr>
          <p:cNvPr id="8" name="Text 6"/>
          <p:cNvSpPr txBox="1"/>
          <p:nvPr/>
        </p:nvSpPr>
        <p:spPr>
          <a:xfrm>
            <a:off x="1401032" y="2331599"/>
            <a:ext cx="9838104" cy="311291"/>
          </a:xfrm>
          <a:prstGeom prst="rect">
            <a:avLst/>
          </a:prstGeom>
          <a:noFill/>
          <a:ln/>
        </p:spPr>
        <p:txBody>
          <a:bodyPr wrap="none" lIns="0" tIns="0" rIns="0" bIns="0" rtlCol="0" anchor="t"/>
          <a:lstStyle/>
          <a:p>
            <a:pPr algn="l" indent="0" marL="0">
              <a:lnSpc>
                <a:spcPts val="2450"/>
              </a:lnSpc>
              <a:buNone/>
            </a:pPr>
            <a:r>
              <a:rPr lang="en-US" sz="1750" dirty="0">
                <a:solidFill>
                  <a:srgbClr val="101A22"/>
                </a:solidFill>
                <a:latin typeface="Arial" pitchFamily="34" charset="0"/>
                <a:ea typeface="Arial" pitchFamily="34" charset="-122"/>
                <a:cs typeface="Arial" pitchFamily="34" charset="-120"/>
              </a:rPr>
              <a:t>How the three fit together, and where each component runs</a:t>
            </a:r>
            <a:endParaRPr lang="en-US" sz="1750" dirty="0"/>
          </a:p>
        </p:txBody>
      </p:sp>
      <p:sp>
        <p:nvSpPr>
          <p:cNvPr id="9" name="Text 7"/>
          <p:cNvSpPr txBox="1"/>
          <p:nvPr/>
        </p:nvSpPr>
        <p:spPr>
          <a:xfrm>
            <a:off x="1010012" y="2384944"/>
            <a:ext cx="147872" cy="211592"/>
          </a:xfrm>
          <a:prstGeom prst="rect">
            <a:avLst/>
          </a:prstGeom>
          <a:noFill/>
          <a:ln/>
        </p:spPr>
        <p:txBody>
          <a:bodyPr wrap="none" lIns="0" tIns="0" rIns="0" bIns="0" rtlCol="0" anchor="t"/>
          <a:lstStyle/>
          <a:p>
            <a:pPr algn="l" indent="0" marL="0">
              <a:lnSpc>
                <a:spcPts val="1670"/>
              </a:lnSpc>
              <a:buNone/>
            </a:pPr>
            <a:r>
              <a:rPr lang="en-US" sz="1190" b="1" dirty="0">
                <a:solidFill>
                  <a:srgbClr val="0B6E99"/>
                </a:solidFill>
                <a:latin typeface="Courier New" pitchFamily="34" charset="0"/>
                <a:ea typeface="Courier New" pitchFamily="34" charset="-122"/>
                <a:cs typeface="Courier New" pitchFamily="34" charset="-120"/>
              </a:rPr>
              <a:t>3</a:t>
            </a:r>
            <a:endParaRPr lang="en-US" sz="1190" dirty="0"/>
          </a:p>
        </p:txBody>
      </p:sp>
      <p:sp>
        <p:nvSpPr>
          <p:cNvPr id="10" name="Text 8"/>
          <p:cNvSpPr txBox="1"/>
          <p:nvPr/>
        </p:nvSpPr>
        <p:spPr>
          <a:xfrm>
            <a:off x="1401032" y="2927336"/>
            <a:ext cx="9838104" cy="311291"/>
          </a:xfrm>
          <a:prstGeom prst="rect">
            <a:avLst/>
          </a:prstGeom>
          <a:noFill/>
          <a:ln/>
        </p:spPr>
        <p:txBody>
          <a:bodyPr wrap="none" lIns="0" tIns="0" rIns="0" bIns="0" rtlCol="0" anchor="t"/>
          <a:lstStyle/>
          <a:p>
            <a:pPr algn="l" indent="0" marL="0">
              <a:lnSpc>
                <a:spcPts val="2450"/>
              </a:lnSpc>
              <a:buNone/>
            </a:pPr>
            <a:r>
              <a:rPr lang="en-US" sz="1750" dirty="0">
                <a:solidFill>
                  <a:srgbClr val="101A22"/>
                </a:solidFill>
                <a:latin typeface="Arial" pitchFamily="34" charset="0"/>
                <a:ea typeface="Arial" pitchFamily="34" charset="-122"/>
                <a:cs typeface="Arial" pitchFamily="34" charset="-120"/>
              </a:rPr>
              <a:t>Terms used in the commands and in the searches</a:t>
            </a:r>
            <a:endParaRPr lang="en-US" sz="1750" dirty="0"/>
          </a:p>
        </p:txBody>
      </p:sp>
      <p:sp>
        <p:nvSpPr>
          <p:cNvPr id="11" name="Text 9"/>
          <p:cNvSpPr txBox="1"/>
          <p:nvPr/>
        </p:nvSpPr>
        <p:spPr>
          <a:xfrm>
            <a:off x="1010012" y="2980681"/>
            <a:ext cx="147872" cy="211592"/>
          </a:xfrm>
          <a:prstGeom prst="rect">
            <a:avLst/>
          </a:prstGeom>
          <a:noFill/>
          <a:ln/>
        </p:spPr>
        <p:txBody>
          <a:bodyPr wrap="none" lIns="0" tIns="0" rIns="0" bIns="0" rtlCol="0" anchor="t"/>
          <a:lstStyle/>
          <a:p>
            <a:pPr algn="l" indent="0" marL="0">
              <a:lnSpc>
                <a:spcPts val="1670"/>
              </a:lnSpc>
              <a:buNone/>
            </a:pPr>
            <a:r>
              <a:rPr lang="en-US" sz="1190" b="1" dirty="0">
                <a:solidFill>
                  <a:srgbClr val="0B6E99"/>
                </a:solidFill>
                <a:latin typeface="Courier New" pitchFamily="34" charset="0"/>
                <a:ea typeface="Courier New" pitchFamily="34" charset="-122"/>
                <a:cs typeface="Courier New" pitchFamily="34" charset="-120"/>
              </a:rPr>
              <a:t>4</a:t>
            </a:r>
            <a:endParaRPr lang="en-US" sz="1190" dirty="0"/>
          </a:p>
        </p:txBody>
      </p:sp>
      <p:sp>
        <p:nvSpPr>
          <p:cNvPr id="12" name="Text 10"/>
          <p:cNvSpPr txBox="1"/>
          <p:nvPr/>
        </p:nvSpPr>
        <p:spPr>
          <a:xfrm>
            <a:off x="1401032" y="3523072"/>
            <a:ext cx="9838104" cy="311292"/>
          </a:xfrm>
          <a:prstGeom prst="rect">
            <a:avLst/>
          </a:prstGeom>
          <a:noFill/>
          <a:ln/>
        </p:spPr>
        <p:txBody>
          <a:bodyPr wrap="none" lIns="0" tIns="0" rIns="0" bIns="0" rtlCol="0" anchor="t"/>
          <a:lstStyle/>
          <a:p>
            <a:pPr algn="l" indent="0" marL="0">
              <a:lnSpc>
                <a:spcPts val="2450"/>
              </a:lnSpc>
              <a:buNone/>
            </a:pPr>
            <a:r>
              <a:rPr lang="en-US" sz="1750" dirty="0">
                <a:solidFill>
                  <a:srgbClr val="101A22"/>
                </a:solidFill>
                <a:latin typeface="Arial" pitchFamily="34" charset="0"/>
                <a:ea typeface="Arial" pitchFamily="34" charset="-122"/>
                <a:cs typeface="Arial" pitchFamily="34" charset="-120"/>
              </a:rPr>
              <a:t>Installation and configuration on Ubuntu and Red Hat</a:t>
            </a:r>
            <a:endParaRPr lang="en-US" sz="1750" dirty="0"/>
          </a:p>
        </p:txBody>
      </p:sp>
      <p:sp>
        <p:nvSpPr>
          <p:cNvPr id="13" name="Text 11"/>
          <p:cNvSpPr txBox="1"/>
          <p:nvPr/>
        </p:nvSpPr>
        <p:spPr>
          <a:xfrm>
            <a:off x="1010012" y="3576417"/>
            <a:ext cx="147872" cy="211592"/>
          </a:xfrm>
          <a:prstGeom prst="rect">
            <a:avLst/>
          </a:prstGeom>
          <a:noFill/>
          <a:ln/>
        </p:spPr>
        <p:txBody>
          <a:bodyPr wrap="none" lIns="0" tIns="0" rIns="0" bIns="0" rtlCol="0" anchor="t"/>
          <a:lstStyle/>
          <a:p>
            <a:pPr algn="l" indent="0" marL="0">
              <a:lnSpc>
                <a:spcPts val="1670"/>
              </a:lnSpc>
              <a:buNone/>
            </a:pPr>
            <a:r>
              <a:rPr lang="en-US" sz="1190" b="1" dirty="0">
                <a:solidFill>
                  <a:srgbClr val="0B6E99"/>
                </a:solidFill>
                <a:latin typeface="Courier New" pitchFamily="34" charset="0"/>
                <a:ea typeface="Courier New" pitchFamily="34" charset="-122"/>
                <a:cs typeface="Courier New" pitchFamily="34" charset="-120"/>
              </a:rPr>
              <a:t>5</a:t>
            </a:r>
            <a:endParaRPr lang="en-US" sz="1190" dirty="0"/>
          </a:p>
        </p:txBody>
      </p:sp>
      <p:sp>
        <p:nvSpPr>
          <p:cNvPr id="14" name="Text 12"/>
          <p:cNvSpPr txBox="1"/>
          <p:nvPr/>
        </p:nvSpPr>
        <p:spPr>
          <a:xfrm>
            <a:off x="1401032" y="4118809"/>
            <a:ext cx="9838104" cy="311291"/>
          </a:xfrm>
          <a:prstGeom prst="rect">
            <a:avLst/>
          </a:prstGeom>
          <a:noFill/>
          <a:ln/>
        </p:spPr>
        <p:txBody>
          <a:bodyPr wrap="none" lIns="0" tIns="0" rIns="0" bIns="0" rtlCol="0" anchor="t"/>
          <a:lstStyle/>
          <a:p>
            <a:pPr algn="l" indent="0" marL="0">
              <a:lnSpc>
                <a:spcPts val="2450"/>
              </a:lnSpc>
              <a:buNone/>
            </a:pPr>
            <a:r>
              <a:rPr lang="en-US" sz="1750" dirty="0">
                <a:solidFill>
                  <a:srgbClr val="101A22"/>
                </a:solidFill>
                <a:latin typeface="Arial" pitchFamily="34" charset="0"/>
                <a:ea typeface="Arial" pitchFamily="34" charset="-122"/>
                <a:cs typeface="Arial" pitchFamily="34" charset="-120"/>
              </a:rPr>
              <a:t>Searches and charts in OpenSearch</a:t>
            </a:r>
            <a:endParaRPr lang="en-US" sz="1750" dirty="0"/>
          </a:p>
        </p:txBody>
      </p:sp>
      <p:sp>
        <p:nvSpPr>
          <p:cNvPr id="15" name="Text 13"/>
          <p:cNvSpPr txBox="1"/>
          <p:nvPr/>
        </p:nvSpPr>
        <p:spPr>
          <a:xfrm>
            <a:off x="1010012" y="4172153"/>
            <a:ext cx="147872" cy="211592"/>
          </a:xfrm>
          <a:prstGeom prst="rect">
            <a:avLst/>
          </a:prstGeom>
          <a:noFill/>
          <a:ln/>
        </p:spPr>
        <p:txBody>
          <a:bodyPr wrap="none" lIns="0" tIns="0" rIns="0" bIns="0" rtlCol="0" anchor="t"/>
          <a:lstStyle/>
          <a:p>
            <a:pPr algn="l" indent="0" marL="0">
              <a:lnSpc>
                <a:spcPts val="1670"/>
              </a:lnSpc>
              <a:buNone/>
            </a:pPr>
            <a:r>
              <a:rPr lang="en-US" sz="1190" b="1" dirty="0">
                <a:solidFill>
                  <a:srgbClr val="0B6E99"/>
                </a:solidFill>
                <a:latin typeface="Courier New" pitchFamily="34" charset="0"/>
                <a:ea typeface="Courier New" pitchFamily="34" charset="-122"/>
                <a:cs typeface="Courier New" pitchFamily="34" charset="-120"/>
              </a:rPr>
              <a:t>6</a:t>
            </a:r>
            <a:endParaRPr lang="en-US" sz="1190" dirty="0"/>
          </a:p>
        </p:txBody>
      </p:sp>
      <p:sp>
        <p:nvSpPr>
          <p:cNvPr id="16" name="Text 14"/>
          <p:cNvSpPr txBox="1"/>
          <p:nvPr/>
        </p:nvSpPr>
        <p:spPr>
          <a:xfrm>
            <a:off x="1401032" y="4714545"/>
            <a:ext cx="9838104" cy="311291"/>
          </a:xfrm>
          <a:prstGeom prst="rect">
            <a:avLst/>
          </a:prstGeom>
          <a:noFill/>
          <a:ln/>
        </p:spPr>
        <p:txBody>
          <a:bodyPr wrap="none" lIns="0" tIns="0" rIns="0" bIns="0" rtlCol="0" anchor="t"/>
          <a:lstStyle/>
          <a:p>
            <a:pPr algn="l" indent="0" marL="0">
              <a:lnSpc>
                <a:spcPts val="2450"/>
              </a:lnSpc>
              <a:buNone/>
            </a:pPr>
            <a:r>
              <a:rPr lang="en-US" sz="1750" dirty="0">
                <a:solidFill>
                  <a:srgbClr val="101A22"/>
                </a:solidFill>
                <a:latin typeface="Arial" pitchFamily="34" charset="0"/>
                <a:ea typeface="Arial" pitchFamily="34" charset="-122"/>
                <a:cs typeface="Arial" pitchFamily="34" charset="-120"/>
              </a:rPr>
              <a:t>Plan for personal data in the events and for too many indices</a:t>
            </a:r>
            <a:endParaRPr lang="en-US" sz="1750" dirty="0"/>
          </a:p>
        </p:txBody>
      </p:sp>
      <p:sp>
        <p:nvSpPr>
          <p:cNvPr id="17" name="Text 15"/>
          <p:cNvSpPr txBox="1"/>
          <p:nvPr/>
        </p:nvSpPr>
        <p:spPr>
          <a:xfrm>
            <a:off x="1010012" y="4767890"/>
            <a:ext cx="147872" cy="211592"/>
          </a:xfrm>
          <a:prstGeom prst="rect">
            <a:avLst/>
          </a:prstGeom>
          <a:noFill/>
          <a:ln/>
        </p:spPr>
        <p:txBody>
          <a:bodyPr wrap="none" lIns="0" tIns="0" rIns="0" bIns="0" rtlCol="0" anchor="t"/>
          <a:lstStyle/>
          <a:p>
            <a:pPr algn="l" indent="0" marL="0">
              <a:lnSpc>
                <a:spcPts val="1670"/>
              </a:lnSpc>
              <a:buNone/>
            </a:pPr>
            <a:r>
              <a:rPr lang="en-US" sz="1190" b="1" dirty="0">
                <a:solidFill>
                  <a:srgbClr val="0B6E99"/>
                </a:solidFill>
                <a:latin typeface="Courier New" pitchFamily="34" charset="0"/>
                <a:ea typeface="Courier New" pitchFamily="34" charset="-122"/>
                <a:cs typeface="Courier New" pitchFamily="34" charset="-120"/>
              </a:rPr>
              <a:t>7</a:t>
            </a:r>
            <a:endParaRPr lang="en-US" sz="1190" dirty="0"/>
          </a:p>
        </p:txBody>
      </p:sp>
      <p:sp>
        <p:nvSpPr>
          <p:cNvPr id="18" name="Text 16"/>
          <p:cNvSpPr txBox="1"/>
          <p:nvPr/>
        </p:nvSpPr>
        <p:spPr>
          <a:xfrm>
            <a:off x="1401032" y="5310281"/>
            <a:ext cx="9838104" cy="311292"/>
          </a:xfrm>
          <a:prstGeom prst="rect">
            <a:avLst/>
          </a:prstGeom>
          <a:noFill/>
          <a:ln/>
        </p:spPr>
        <p:txBody>
          <a:bodyPr wrap="none" lIns="0" tIns="0" rIns="0" bIns="0" rtlCol="0" anchor="t"/>
          <a:lstStyle/>
          <a:p>
            <a:pPr algn="l" indent="0" marL="0">
              <a:lnSpc>
                <a:spcPts val="2450"/>
              </a:lnSpc>
              <a:buNone/>
            </a:pPr>
            <a:r>
              <a:rPr lang="en-US" sz="1750" dirty="0">
                <a:solidFill>
                  <a:srgbClr val="101A22"/>
                </a:solidFill>
                <a:latin typeface="Arial" pitchFamily="34" charset="0"/>
                <a:ea typeface="Arial" pitchFamily="34" charset="-122"/>
                <a:cs typeface="Arial" pitchFamily="34" charset="-120"/>
              </a:rPr>
              <a:t>A short look at timing data, and then a live system</a:t>
            </a:r>
            <a:endParaRPr lang="en-US" sz="1750" dirty="0"/>
          </a:p>
        </p:txBody>
      </p:sp>
      <p:sp>
        <p:nvSpPr>
          <p:cNvPr id="19" name="Text 17"/>
          <p:cNvSpPr txBox="1"/>
          <p:nvPr/>
        </p:nvSpPr>
        <p:spPr>
          <a:xfrm>
            <a:off x="1010012" y="5363626"/>
            <a:ext cx="147872" cy="211592"/>
          </a:xfrm>
          <a:prstGeom prst="rect">
            <a:avLst/>
          </a:prstGeom>
          <a:noFill/>
          <a:ln/>
        </p:spPr>
        <p:txBody>
          <a:bodyPr wrap="none" lIns="0" tIns="0" rIns="0" bIns="0" rtlCol="0" anchor="t"/>
          <a:lstStyle/>
          <a:p>
            <a:pPr algn="l" indent="0" marL="0">
              <a:lnSpc>
                <a:spcPts val="1670"/>
              </a:lnSpc>
              <a:buNone/>
            </a:pPr>
            <a:r>
              <a:rPr lang="en-US" sz="1190" b="1" dirty="0">
                <a:solidFill>
                  <a:srgbClr val="0B6E99"/>
                </a:solidFill>
                <a:latin typeface="Courier New" pitchFamily="34" charset="0"/>
                <a:ea typeface="Courier New" pitchFamily="34" charset="-122"/>
                <a:cs typeface="Courier New" pitchFamily="34" charset="-120"/>
              </a:rPr>
              <a:t>8</a:t>
            </a:r>
            <a:endParaRPr lang="en-US" sz="1190" dirty="0"/>
          </a:p>
        </p:txBody>
      </p:sp>
      <p:sp>
        <p:nvSpPr>
          <p:cNvPr id="20" name="Text 18"/>
          <p:cNvSpPr txBox="1"/>
          <p:nvPr/>
        </p:nvSpPr>
        <p:spPr>
          <a:xfrm>
            <a:off x="647700" y="6464587"/>
            <a:ext cx="503039" cy="142875"/>
          </a:xfrm>
          <a:prstGeom prst="rect">
            <a:avLst/>
          </a:prstGeom>
          <a:noFill/>
          <a:ln/>
        </p:spPr>
        <p:txBody>
          <a:bodyPr wrap="none" lIns="0" tIns="0" rIns="0" bIns="0" rtlCol="0" anchor="t"/>
          <a:lstStyle/>
          <a:p>
            <a:pPr algn="l" indent="0" marL="0">
              <a:lnSpc>
                <a:spcPts val="1090"/>
              </a:lnSpc>
              <a:buNone/>
            </a:pPr>
            <a:r>
              <a:rPr lang="en-US" sz="910" dirty="0">
                <a:solidFill>
                  <a:srgbClr val="8496A2"/>
                </a:solidFill>
                <a:latin typeface="Courier New" pitchFamily="34" charset="0"/>
                <a:ea typeface="Courier New" pitchFamily="34" charset="-122"/>
                <a:cs typeface="Courier New" pitchFamily="34" charset="-120"/>
              </a:rPr>
              <a:t>Agenda</a:t>
            </a:r>
            <a:endParaRPr lang="en-US" sz="910" dirty="0"/>
          </a:p>
        </p:txBody>
      </p:sp>
      <p:sp>
        <p:nvSpPr>
          <p:cNvPr id="21" name="Text 19"/>
          <p:cNvSpPr txBox="1"/>
          <p:nvPr/>
        </p:nvSpPr>
        <p:spPr>
          <a:xfrm>
            <a:off x="11098411" y="6464587"/>
            <a:ext cx="503039" cy="142875"/>
          </a:xfrm>
          <a:prstGeom prst="rect">
            <a:avLst/>
          </a:prstGeom>
          <a:noFill/>
          <a:ln/>
        </p:spPr>
        <p:txBody>
          <a:bodyPr wrap="none" lIns="0" tIns="0" rIns="0" bIns="0" rtlCol="0" anchor="t"/>
          <a:lstStyle/>
          <a:p>
            <a:pPr algn="l" indent="0" marL="0">
              <a:lnSpc>
                <a:spcPts val="1090"/>
              </a:lnSpc>
              <a:buNone/>
            </a:pPr>
            <a:r>
              <a:rPr lang="en-US" sz="910" dirty="0">
                <a:solidFill>
                  <a:srgbClr val="8496A2"/>
                </a:solidFill>
                <a:latin typeface="Courier New" pitchFamily="34" charset="0"/>
                <a:ea typeface="Courier New" pitchFamily="34" charset="-122"/>
                <a:cs typeface="Courier New" pitchFamily="34" charset="-120"/>
              </a:rPr>
              <a:t>2 / 39</a:t>
            </a:r>
            <a:endParaRPr lang="en-US" sz="9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1532186"/>
            <a:ext cx="10896600" cy="1378744"/>
          </a:xfrm>
          <a:prstGeom prst="roundRect">
            <a:avLst>
              <a:gd name="adj" fmla="val 9164"/>
            </a:avLst>
          </a:prstGeom>
          <a:solidFill>
            <a:srgbClr val="0F2027"/>
          </a:solidFill>
          <a:ln/>
        </p:spPr>
      </p:sp>
      <p:sp>
        <p:nvSpPr>
          <p:cNvPr id="3" name="Shape 1"/>
          <p:cNvSpPr/>
          <p:nvPr/>
        </p:nvSpPr>
        <p:spPr>
          <a:xfrm>
            <a:off x="685800" y="3196679"/>
            <a:ext cx="85725" cy="85725"/>
          </a:xfrm>
          <a:prstGeom prst="roundRect">
            <a:avLst>
              <a:gd name="adj" fmla="val 474074"/>
            </a:avLst>
          </a:prstGeom>
          <a:solidFill>
            <a:srgbClr val="0B6E99"/>
          </a:solidFill>
          <a:ln/>
        </p:spPr>
      </p:sp>
      <p:sp>
        <p:nvSpPr>
          <p:cNvPr id="4" name="Shape 2"/>
          <p:cNvSpPr/>
          <p:nvPr/>
        </p:nvSpPr>
        <p:spPr>
          <a:xfrm>
            <a:off x="685800" y="3963591"/>
            <a:ext cx="85725" cy="85725"/>
          </a:xfrm>
          <a:prstGeom prst="roundRect">
            <a:avLst>
              <a:gd name="adj" fmla="val 474074"/>
            </a:avLst>
          </a:prstGeom>
          <a:solidFill>
            <a:srgbClr val="0B6E99"/>
          </a:solidFill>
          <a:ln/>
        </p:spPr>
      </p:sp>
      <p:sp>
        <p:nvSpPr>
          <p:cNvPr id="5" name="Shape 3"/>
          <p:cNvSpPr/>
          <p:nvPr/>
        </p:nvSpPr>
        <p:spPr>
          <a:xfrm>
            <a:off x="685800" y="4403527"/>
            <a:ext cx="85725" cy="85725"/>
          </a:xfrm>
          <a:prstGeom prst="roundRect">
            <a:avLst>
              <a:gd name="adj" fmla="val 474074"/>
            </a:avLst>
          </a:prstGeom>
          <a:solidFill>
            <a:srgbClr val="0B6E99"/>
          </a:solidFill>
          <a:ln/>
        </p:spPr>
      </p:sp>
      <p:sp>
        <p:nvSpPr>
          <p:cNvPr id="6" name="Shape 4"/>
          <p:cNvSpPr/>
          <p:nvPr/>
        </p:nvSpPr>
        <p:spPr>
          <a:xfrm>
            <a:off x="647700" y="6343650"/>
            <a:ext cx="10896600" cy="0"/>
          </a:xfrm>
          <a:prstGeom prst="line">
            <a:avLst/>
          </a:prstGeom>
          <a:noFill/>
          <a:ln w="10160">
            <a:solidFill>
              <a:srgbClr val="CBD7DF"/>
            </a:solidFill>
            <a:prstDash val="solid"/>
          </a:ln>
        </p:spPr>
      </p:sp>
      <p:sp>
        <p:nvSpPr>
          <p:cNvPr id="7" name="Text 5"/>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THE PROBLEM</a:t>
            </a:r>
            <a:endParaRPr lang="en-US" sz="980" dirty="0"/>
          </a:p>
        </p:txBody>
      </p:sp>
      <p:sp>
        <p:nvSpPr>
          <p:cNvPr id="8" name="Text 6"/>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Moodle already logs every event</a:t>
            </a:r>
            <a:endParaRPr lang="en-US" sz="3150" dirty="0"/>
          </a:p>
        </p:txBody>
      </p:sp>
      <p:sp>
        <p:nvSpPr>
          <p:cNvPr id="9" name="Text 7"/>
          <p:cNvSpPr txBox="1"/>
          <p:nvPr/>
        </p:nvSpPr>
        <p:spPr>
          <a:xfrm>
            <a:off x="857250" y="1682204"/>
            <a:ext cx="10534650" cy="1035844"/>
          </a:xfrm>
          <a:prstGeom prst="rect">
            <a:avLst/>
          </a:prstGeom>
          <a:noFill/>
          <a:ln/>
        </p:spPr>
        <p:txBody>
          <a:bodyPr wrap="square" lIns="0" tIns="0" rIns="0" bIns="0" rtlCol="0" anchor="t"/>
          <a:lstStyle/>
          <a:p>
            <a:pPr algn="l" indent="0" marL="0">
              <a:lnSpc>
                <a:spcPts val="1630"/>
              </a:lnSpc>
              <a:buNone/>
            </a:pPr>
            <a:r>
              <a:rPr lang="en-US" sz="1130" dirty="0">
                <a:solidFill>
                  <a:srgbClr val="F0C070"/>
                </a:solidFill>
                <a:latin typeface="Courier New" pitchFamily="34" charset="0"/>
                <a:ea typeface="Courier New" pitchFamily="34" charset="-122"/>
                <a:cs typeface="Courier New" pitchFamily="34" charset="-120"/>
              </a:rPr>
              <a:t>"Login failed for user 'admin'. Most likely the</a:t>
            </a:r>
            <a:endParaRPr lang="en-US" sz="1130" dirty="0"/>
          </a:p>
          <a:p>
            <a:pPr algn="l" indent="0" marL="0">
              <a:lnSpc>
                <a:spcPts val="1630"/>
              </a:lnSpc>
              <a:buNone/>
            </a:pPr>
            <a:r>
              <a:rPr lang="en-US" sz="1130" dirty="0">
                <a:solidFill>
                  <a:srgbClr val="F0C070"/>
                </a:solidFill>
                <a:latin typeface="Courier New" pitchFamily="34" charset="0"/>
                <a:ea typeface="Courier New" pitchFamily="34" charset="-122"/>
                <a:cs typeface="Courier New" pitchFamily="34" charset="-120"/>
              </a:rPr>
              <a:t> password did not match (error ID '3')."</a:t>
            </a:r>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endParaRPr lang="en-US" sz="1130" dirty="0"/>
          </a:p>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endParaRPr lang="en-US" sz="1130" dirty="0"/>
          </a:p>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pPr algn="l" indent="0" marL="0">
              <a:lnSpc>
                <a:spcPts val="1630"/>
              </a:lnSpc>
              <a:buNone/>
            </a:pPr>
            <a:r>
              <a:rPr lang="en-US" sz="1130" dirty="0">
                <a:solidFill>
                  <a:srgbClr val="F0C070"/>
                </a:solidFill>
                <a:latin typeface="Courier New" pitchFamily="34" charset="0"/>
                <a:ea typeface="Courier New" pitchFamily="34" charset="-122"/>
                <a:cs typeface="Courier New" pitchFamily="34" charset="-120"/>
              </a:rPr>
              <a:t>"The user with id '2' viewed the 'assign' activity</a:t>
            </a:r>
            <a:endParaRPr lang="en-US" sz="1130" dirty="0"/>
          </a:p>
          <a:p>
            <a:pPr algn="l" indent="0" marL="0">
              <a:lnSpc>
                <a:spcPts val="1630"/>
              </a:lnSpc>
              <a:buNone/>
            </a:pPr>
            <a:r>
              <a:rPr lang="en-US" sz="1130" dirty="0">
                <a:solidFill>
                  <a:srgbClr val="F0C070"/>
                </a:solidFill>
                <a:latin typeface="Courier New" pitchFamily="34" charset="0"/>
                <a:ea typeface="Courier New" pitchFamily="34" charset="-122"/>
                <a:cs typeface="Courier New" pitchFamily="34" charset="-120"/>
              </a:rPr>
              <a:t> with course module id '2'."</a:t>
            </a:r>
            <a:endParaRPr lang="en-US" sz="1130" dirty="0"/>
          </a:p>
        </p:txBody>
      </p:sp>
      <p:sp>
        <p:nvSpPr>
          <p:cNvPr id="10" name="Text 8"/>
          <p:cNvSpPr txBox="1"/>
          <p:nvPr/>
        </p:nvSpPr>
        <p:spPr>
          <a:xfrm>
            <a:off x="933450" y="3054995"/>
            <a:ext cx="10668000" cy="633561"/>
          </a:xfrm>
          <a:prstGeom prst="rect">
            <a:avLst/>
          </a:prstGeom>
          <a:noFill/>
          <a:ln/>
        </p:spPr>
        <p:txBody>
          <a:bodyPr wrap="squar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Every click, every login and every failure becomes one row in </a:t>
            </a:r>
            <a:pPr algn="l" indent="0" marL="0">
              <a:lnSpc>
                <a:spcPts val="2420"/>
              </a:lnSpc>
              <a:buNone/>
            </a:pPr>
            <a:r>
              <a:rPr lang="en-US" sz="1520" dirty="0">
                <a:solidFill>
                  <a:srgbClr val="101A22"/>
                </a:solidFill>
                <a:highlight>
                  <a:srgbClr val="E1F0F7"/>
                </a:highlight>
                <a:latin typeface="Courier New" pitchFamily="34" charset="0"/>
                <a:ea typeface="Courier New" pitchFamily="34" charset="-122"/>
                <a:cs typeface="Courier New" pitchFamily="34" charset="-120"/>
              </a:rPr>
              <a:t>mdl_logstore_standard_log</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That table is in the same database that serves your pages, and it is usually one of the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largest tables you have</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a:t>
            </a:r>
            <a:endParaRPr lang="en-US" sz="1730" dirty="0"/>
          </a:p>
        </p:txBody>
      </p:sp>
      <p:sp>
        <p:nvSpPr>
          <p:cNvPr id="11" name="Text 9"/>
          <p:cNvSpPr txBox="1"/>
          <p:nvPr/>
        </p:nvSpPr>
        <p:spPr>
          <a:xfrm>
            <a:off x="933450" y="3821906"/>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Moodle's built-in reports, such as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Logs</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and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Live logs</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read that table directly.</a:t>
            </a:r>
            <a:endParaRPr lang="en-US" sz="1730" dirty="0"/>
          </a:p>
        </p:txBody>
      </p:sp>
      <p:sp>
        <p:nvSpPr>
          <p:cNvPr id="12" name="Text 10"/>
          <p:cNvSpPr txBox="1"/>
          <p:nvPr/>
        </p:nvSpPr>
        <p:spPr>
          <a:xfrm>
            <a:off x="933450" y="4261842"/>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By default Moodle never deletes these rows, so the table grows for as long as the site runs.</a:t>
            </a:r>
            <a:endParaRPr lang="en-US" sz="1730" dirty="0"/>
          </a:p>
        </p:txBody>
      </p:sp>
      <p:sp>
        <p:nvSpPr>
          <p:cNvPr id="13" name="Text 11"/>
          <p:cNvSpPr txBox="1"/>
          <p:nvPr/>
        </p:nvSpPr>
        <p:spPr>
          <a:xfrm>
            <a:off x="647700" y="6464379"/>
            <a:ext cx="874663"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The problem</a:t>
            </a:r>
            <a:endParaRPr lang="en-US" sz="980" dirty="0"/>
          </a:p>
        </p:txBody>
      </p:sp>
      <p:sp>
        <p:nvSpPr>
          <p:cNvPr id="14" name="Text 12"/>
          <p:cNvSpPr txBox="1"/>
          <p:nvPr/>
        </p:nvSpPr>
        <p:spPr>
          <a:xfrm>
            <a:off x="11098411" y="6464379"/>
            <a:ext cx="503039"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3 / 39</a:t>
            </a:r>
            <a:endParaRPr lang="en-US" sz="9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646486"/>
            <a:ext cx="85725" cy="85725"/>
          </a:xfrm>
          <a:prstGeom prst="roundRect">
            <a:avLst>
              <a:gd name="adj" fmla="val 474074"/>
            </a:avLst>
          </a:prstGeom>
          <a:solidFill>
            <a:srgbClr val="0B6E99"/>
          </a:solidFill>
          <a:ln/>
        </p:spPr>
      </p:sp>
      <p:sp>
        <p:nvSpPr>
          <p:cNvPr id="3" name="Shape 1"/>
          <p:cNvSpPr/>
          <p:nvPr/>
        </p:nvSpPr>
        <p:spPr>
          <a:xfrm>
            <a:off x="685800" y="2086421"/>
            <a:ext cx="85725" cy="85725"/>
          </a:xfrm>
          <a:prstGeom prst="roundRect">
            <a:avLst>
              <a:gd name="adj" fmla="val 474074"/>
            </a:avLst>
          </a:prstGeom>
          <a:solidFill>
            <a:srgbClr val="0B6E99"/>
          </a:solidFill>
          <a:ln/>
        </p:spPr>
      </p:sp>
      <p:sp>
        <p:nvSpPr>
          <p:cNvPr id="4" name="Shape 2"/>
          <p:cNvSpPr/>
          <p:nvPr/>
        </p:nvSpPr>
        <p:spPr>
          <a:xfrm>
            <a:off x="685800" y="2526357"/>
            <a:ext cx="85725" cy="85725"/>
          </a:xfrm>
          <a:prstGeom prst="roundRect">
            <a:avLst>
              <a:gd name="adj" fmla="val 474074"/>
            </a:avLst>
          </a:prstGeom>
          <a:solidFill>
            <a:srgbClr val="0B6E99"/>
          </a:solidFill>
          <a:ln/>
        </p:spPr>
      </p:sp>
      <p:sp>
        <p:nvSpPr>
          <p:cNvPr id="5" name="Shape 3"/>
          <p:cNvSpPr/>
          <p:nvPr/>
        </p:nvSpPr>
        <p:spPr>
          <a:xfrm>
            <a:off x="685800" y="2966293"/>
            <a:ext cx="85725" cy="85725"/>
          </a:xfrm>
          <a:prstGeom prst="roundRect">
            <a:avLst>
              <a:gd name="adj" fmla="val 474074"/>
            </a:avLst>
          </a:prstGeom>
          <a:solidFill>
            <a:srgbClr val="0B6E99"/>
          </a:solidFill>
          <a:ln/>
        </p:spPr>
      </p:sp>
      <p:sp>
        <p:nvSpPr>
          <p:cNvPr id="6" name="Shape 4"/>
          <p:cNvSpPr/>
          <p:nvPr/>
        </p:nvSpPr>
        <p:spPr>
          <a:xfrm>
            <a:off x="647700" y="6343650"/>
            <a:ext cx="10896600" cy="0"/>
          </a:xfrm>
          <a:prstGeom prst="line">
            <a:avLst/>
          </a:prstGeom>
          <a:noFill/>
          <a:ln w="10160">
            <a:solidFill>
              <a:srgbClr val="CBD7DF"/>
            </a:solidFill>
            <a:prstDash val="solid"/>
          </a:ln>
        </p:spPr>
      </p:sp>
      <p:sp>
        <p:nvSpPr>
          <p:cNvPr id="7" name="Text 5"/>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THE PROBLEM</a:t>
            </a:r>
            <a:endParaRPr lang="en-US" sz="980" dirty="0"/>
          </a:p>
        </p:txBody>
      </p:sp>
      <p:sp>
        <p:nvSpPr>
          <p:cNvPr id="8" name="Text 6"/>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Questions the core Moodle reports cannot answer</a:t>
            </a:r>
            <a:endParaRPr lang="en-US" sz="3150" dirty="0"/>
          </a:p>
        </p:txBody>
      </p:sp>
      <p:sp>
        <p:nvSpPr>
          <p:cNvPr id="9" name="Text 7"/>
          <p:cNvSpPr txBox="1"/>
          <p:nvPr/>
        </p:nvSpPr>
        <p:spPr>
          <a:xfrm>
            <a:off x="933450" y="1504801"/>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How many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logins per hour</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were there this week and last week?</a:t>
            </a:r>
            <a:endParaRPr lang="en-US" sz="1730" dirty="0"/>
          </a:p>
        </p:txBody>
      </p:sp>
      <p:sp>
        <p:nvSpPr>
          <p:cNvPr id="10" name="Text 8"/>
          <p:cNvSpPr txBox="1"/>
          <p:nvPr/>
        </p:nvSpPr>
        <p:spPr>
          <a:xfrm>
            <a:off x="933450" y="1944737"/>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Which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courses are actually used</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and which has nobody opened since term start?</a:t>
            </a:r>
            <a:endParaRPr lang="en-US" sz="1730" dirty="0"/>
          </a:p>
        </p:txBody>
      </p:sp>
      <p:sp>
        <p:nvSpPr>
          <p:cNvPr id="11" name="Text 9"/>
          <p:cNvSpPr txBox="1"/>
          <p:nvPr/>
        </p:nvSpPr>
        <p:spPr>
          <a:xfrm>
            <a:off x="933450" y="2384673"/>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What did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this one user</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do, across every course, last month?</a:t>
            </a:r>
            <a:endParaRPr lang="en-US" sz="1730" dirty="0"/>
          </a:p>
        </p:txBody>
      </p:sp>
      <p:sp>
        <p:nvSpPr>
          <p:cNvPr id="12" name="Text 10"/>
          <p:cNvSpPr txBox="1"/>
          <p:nvPr/>
        </p:nvSpPr>
        <p:spPr>
          <a:xfrm>
            <a:off x="933450" y="2824609"/>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Are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failed logins</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spiking right now?</a:t>
            </a:r>
            <a:endParaRPr lang="en-US" sz="1730" dirty="0"/>
          </a:p>
        </p:txBody>
      </p:sp>
      <p:sp>
        <p:nvSpPr>
          <p:cNvPr id="13" name="Text 11"/>
          <p:cNvSpPr txBox="1"/>
          <p:nvPr/>
        </p:nvSpPr>
        <p:spPr>
          <a:xfrm>
            <a:off x="647700" y="3369558"/>
            <a:ext cx="10953750" cy="628650"/>
          </a:xfrm>
          <a:prstGeom prst="rect">
            <a:avLst/>
          </a:prstGeom>
          <a:noFill/>
          <a:ln/>
        </p:spPr>
        <p:txBody>
          <a:bodyPr wrap="square" lIns="0" tIns="0" rIns="0" bIns="0" rtlCol="0" anchor="t"/>
          <a:lstStyle/>
          <a:p>
            <a:pPr algn="l" indent="0" marL="0">
              <a:lnSpc>
                <a:spcPts val="2480"/>
              </a:lnSpc>
              <a:buNone/>
            </a:pPr>
            <a:r>
              <a:rPr lang="en-US" sz="1650" dirty="0">
                <a:solidFill>
                  <a:srgbClr val="5A6D7A"/>
                </a:solidFill>
                <a:latin typeface="Arial" pitchFamily="34" charset="0"/>
                <a:ea typeface="Arial" pitchFamily="34" charset="-122"/>
                <a:cs typeface="Arial" pitchFamily="34" charset="-120"/>
              </a:rPr>
              <a:t>In OpenSearch you can answer each of these questions. One more question is why a page was slow. That question gets a short look at the end of this presentation.</a:t>
            </a:r>
            <a:endParaRPr lang="en-US" sz="1650" dirty="0"/>
          </a:p>
        </p:txBody>
      </p:sp>
      <p:sp>
        <p:nvSpPr>
          <p:cNvPr id="14" name="Text 12"/>
          <p:cNvSpPr txBox="1"/>
          <p:nvPr/>
        </p:nvSpPr>
        <p:spPr>
          <a:xfrm>
            <a:off x="647700" y="6464379"/>
            <a:ext cx="874663"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The problem</a:t>
            </a:r>
            <a:endParaRPr lang="en-US" sz="980" dirty="0"/>
          </a:p>
        </p:txBody>
      </p:sp>
      <p:sp>
        <p:nvSpPr>
          <p:cNvPr id="15" name="Text 13"/>
          <p:cNvSpPr txBox="1"/>
          <p:nvPr/>
        </p:nvSpPr>
        <p:spPr>
          <a:xfrm>
            <a:off x="11098411" y="6464379"/>
            <a:ext cx="503039"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4 / 39</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1532186"/>
            <a:ext cx="5257800" cy="1540073"/>
          </a:xfrm>
          <a:prstGeom prst="roundRect">
            <a:avLst>
              <a:gd name="adj" fmla="val 8813"/>
            </a:avLst>
          </a:prstGeom>
          <a:solidFill>
            <a:srgbClr val="FFFFFF"/>
          </a:solidFill>
          <a:ln w="19050">
            <a:solidFill>
              <a:srgbClr val="0B6E99"/>
            </a:solidFill>
            <a:prstDash val="solid"/>
          </a:ln>
        </p:spPr>
      </p:sp>
      <p:sp>
        <p:nvSpPr>
          <p:cNvPr id="3" name="Shape 1"/>
          <p:cNvSpPr/>
          <p:nvPr/>
        </p:nvSpPr>
        <p:spPr>
          <a:xfrm>
            <a:off x="6286500" y="1532186"/>
            <a:ext cx="5257800" cy="1435298"/>
          </a:xfrm>
          <a:prstGeom prst="roundRect">
            <a:avLst>
              <a:gd name="adj" fmla="val 10147"/>
            </a:avLst>
          </a:prstGeom>
          <a:solidFill>
            <a:srgbClr val="FFFFFF"/>
          </a:solidFill>
          <a:ln w="19050">
            <a:solidFill>
              <a:srgbClr val="0B6E99"/>
            </a:solidFill>
            <a:prstDash val="solid"/>
          </a:ln>
        </p:spPr>
      </p:sp>
      <p:sp>
        <p:nvSpPr>
          <p:cNvPr id="4" name="Shape 2"/>
          <p:cNvSpPr/>
          <p:nvPr/>
        </p:nvSpPr>
        <p:spPr>
          <a:xfrm>
            <a:off x="647700" y="6343650"/>
            <a:ext cx="10896600" cy="0"/>
          </a:xfrm>
          <a:prstGeom prst="line">
            <a:avLst/>
          </a:prstGeom>
          <a:noFill/>
          <a:ln w="10160">
            <a:solidFill>
              <a:srgbClr val="CBD7DF"/>
            </a:solidFill>
            <a:prstDash val="solid"/>
          </a:ln>
        </p:spPr>
      </p:sp>
      <p:sp>
        <p:nvSpPr>
          <p:cNvPr id="5" name="Text 3"/>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THE SOFTWARE</a:t>
            </a:r>
            <a:endParaRPr lang="en-US" sz="980" dirty="0"/>
          </a:p>
        </p:txBody>
      </p:sp>
      <p:sp>
        <p:nvSpPr>
          <p:cNvPr id="6" name="Text 4"/>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Moodle produces two kinds of records: events and timings</a:t>
            </a:r>
            <a:endParaRPr lang="en-US" sz="3150" dirty="0"/>
          </a:p>
        </p:txBody>
      </p:sp>
      <p:sp>
        <p:nvSpPr>
          <p:cNvPr id="7" name="Text 5"/>
          <p:cNvSpPr txBox="1"/>
          <p:nvPr/>
        </p:nvSpPr>
        <p:spPr>
          <a:xfrm>
            <a:off x="895350" y="1756499"/>
            <a:ext cx="4819650" cy="205740"/>
          </a:xfrm>
          <a:prstGeom prst="rect">
            <a:avLst/>
          </a:prstGeom>
          <a:noFill/>
          <a:ln/>
        </p:spPr>
        <p:txBody>
          <a:bodyPr wrap="none" lIns="0" tIns="0" rIns="0" bIns="0" rtlCol="0" anchor="t"/>
          <a:lstStyle/>
          <a:p>
            <a:pPr algn="l" indent="0" marL="0">
              <a:lnSpc>
                <a:spcPts val="1620"/>
              </a:lnSpc>
              <a:buNone/>
            </a:pPr>
            <a:r>
              <a:rPr lang="en-US" sz="1350" b="1" dirty="0">
                <a:solidFill>
                  <a:srgbClr val="0B6E99"/>
                </a:solidFill>
                <a:latin typeface="Courier New" pitchFamily="34" charset="0"/>
                <a:ea typeface="Courier New" pitchFamily="34" charset="-122"/>
                <a:cs typeface="Courier New" pitchFamily="34" charset="-120"/>
              </a:rPr>
              <a:t>An event records what happened in Moodle</a:t>
            </a:r>
            <a:endParaRPr lang="en-US" sz="1350" dirty="0"/>
          </a:p>
        </p:txBody>
      </p:sp>
      <p:sp>
        <p:nvSpPr>
          <p:cNvPr id="8" name="Text 6"/>
          <p:cNvSpPr txBox="1"/>
          <p:nvPr/>
        </p:nvSpPr>
        <p:spPr>
          <a:xfrm>
            <a:off x="895350" y="2020833"/>
            <a:ext cx="4819650" cy="797123"/>
          </a:xfrm>
          <a:prstGeom prst="rect">
            <a:avLst/>
          </a:prstGeom>
          <a:noFill/>
          <a:ln/>
        </p:spPr>
        <p:txBody>
          <a:bodyPr wrap="square" lIns="0" tIns="0" rIns="0" bIns="0" rtlCol="0" anchor="t"/>
          <a:lstStyle/>
          <a:p>
            <a:pPr algn="l" indent="0" marL="0">
              <a:lnSpc>
                <a:spcPts val="1570"/>
              </a:lnSpc>
              <a:buNone/>
            </a:pPr>
            <a:r>
              <a:rPr lang="en-US" sz="1010" dirty="0">
                <a:solidFill>
                  <a:srgbClr val="101A22"/>
                </a:solidFill>
                <a:latin typeface="Courier New" pitchFamily="34" charset="0"/>
                <a:ea typeface="Courier New" pitchFamily="34" charset="-122"/>
                <a:cs typeface="Courier New" pitchFamily="34" charset="-120"/>
              </a:rPr>
              <a:t>user_login_failed</a:t>
            </a:r>
            <a:endParaRPr lang="en-US" sz="1010" dirty="0"/>
          </a:p>
          <a:p>
            <a:pPr algn="l" indent="0" marL="0">
              <a:lnSpc>
                <a:spcPts val="1570"/>
              </a:lnSpc>
              <a:buNone/>
            </a:pPr>
            <a:r>
              <a:rPr lang="en-US" sz="1010" dirty="0">
                <a:solidFill>
                  <a:srgbClr val="101A22"/>
                </a:solidFill>
                <a:latin typeface="Courier New" pitchFamily="34" charset="0"/>
                <a:ea typeface="Courier New" pitchFamily="34" charset="-122"/>
                <a:cs typeface="Courier New" pitchFamily="34" charset="-120"/>
              </a:rPr>
              <a:t>course_section_created</a:t>
            </a:r>
            <a:endParaRPr lang="en-US" sz="1010" dirty="0"/>
          </a:p>
          <a:p>
            <a:pPr algn="l" indent="0" marL="0">
              <a:lnSpc>
                <a:spcPts val="1570"/>
              </a:lnSpc>
              <a:buNone/>
            </a:pPr>
            <a:r>
              <a:rPr lang="en-US" sz="1010" dirty="0">
                <a:solidFill>
                  <a:srgbClr val="101A22"/>
                </a:solidFill>
                <a:latin typeface="Courier New" pitchFamily="34" charset="0"/>
                <a:ea typeface="Courier New" pitchFamily="34" charset="-122"/>
                <a:cs typeface="Courier New" pitchFamily="34" charset="-120"/>
              </a:rPr>
              <a:t>enrol_instance_created</a:t>
            </a:r>
            <a:endParaRPr lang="en-US" sz="1010" dirty="0"/>
          </a:p>
          <a:p>
            <a:pPr algn="l" indent="0" marL="0">
              <a:lnSpc>
                <a:spcPts val="1570"/>
              </a:lnSpc>
              <a:buNone/>
            </a:pPr>
            <a:r>
              <a:rPr lang="en-US" sz="1010" dirty="0">
                <a:solidFill>
                  <a:srgbClr val="101A22"/>
                </a:solidFill>
                <a:latin typeface="Courier New" pitchFamily="34" charset="0"/>
                <a:ea typeface="Courier New" pitchFamily="34" charset="-122"/>
                <a:cs typeface="Courier New" pitchFamily="34" charset="-120"/>
              </a:rPr>
              <a:t>capability_assigned</a:t>
            </a:r>
            <a:endParaRPr lang="en-US" sz="1010" dirty="0"/>
          </a:p>
        </p:txBody>
      </p:sp>
      <p:sp>
        <p:nvSpPr>
          <p:cNvPr id="9" name="Text 7"/>
          <p:cNvSpPr txBox="1"/>
          <p:nvPr/>
        </p:nvSpPr>
        <p:spPr>
          <a:xfrm>
            <a:off x="6534150" y="1760786"/>
            <a:ext cx="4819650" cy="381000"/>
          </a:xfrm>
          <a:prstGeom prst="rect">
            <a:avLst/>
          </a:prstGeom>
          <a:noFill/>
          <a:ln/>
        </p:spPr>
        <p:txBody>
          <a:bodyPr wrap="square" lIns="0" tIns="0" rIns="0" bIns="0" rtlCol="0" anchor="t"/>
          <a:lstStyle/>
          <a:p>
            <a:pPr algn="l" indent="0" marL="0">
              <a:lnSpc>
                <a:spcPts val="1500"/>
              </a:lnSpc>
              <a:buNone/>
            </a:pPr>
            <a:r>
              <a:rPr lang="en-US" sz="1350" b="1" dirty="0">
                <a:solidFill>
                  <a:srgbClr val="0B6E99"/>
                </a:solidFill>
                <a:latin typeface="Courier New" pitchFamily="34" charset="0"/>
                <a:ea typeface="Courier New" pitchFamily="34" charset="-122"/>
                <a:cs typeface="Courier New" pitchFamily="34" charset="-120"/>
              </a:rPr>
              <a:t>A timing records how long one run took (a short look at the end)</a:t>
            </a:r>
            <a:endParaRPr lang="en-US" sz="1350" dirty="0"/>
          </a:p>
        </p:txBody>
      </p:sp>
      <p:sp>
        <p:nvSpPr>
          <p:cNvPr id="10" name="Text 8"/>
          <p:cNvSpPr txBox="1"/>
          <p:nvPr/>
        </p:nvSpPr>
        <p:spPr>
          <a:xfrm>
            <a:off x="6534150" y="2204651"/>
            <a:ext cx="4819650" cy="501848"/>
          </a:xfrm>
          <a:prstGeom prst="rect">
            <a:avLst/>
          </a:prstGeom>
          <a:noFill/>
          <a:ln/>
        </p:spPr>
        <p:txBody>
          <a:bodyPr wrap="square" lIns="0" tIns="0" rIns="0" bIns="0" rtlCol="0" anchor="t"/>
          <a:lstStyle/>
          <a:p>
            <a:pPr algn="l" indent="0" marL="0">
              <a:lnSpc>
                <a:spcPts val="1980"/>
              </a:lnSpc>
              <a:buNone/>
            </a:pPr>
            <a:r>
              <a:rPr lang="en-US" sz="1280" dirty="0">
                <a:solidFill>
                  <a:srgbClr val="101A22"/>
                </a:solidFill>
                <a:latin typeface="Arial" pitchFamily="34" charset="0"/>
                <a:ea typeface="Arial" pitchFamily="34" charset="-122"/>
                <a:cs typeface="Arial" pitchFamily="34" charset="-120"/>
              </a:rPr>
              <a:t>every web request · every CLI run · every scheduled task · every adhoc task · every web service call</a:t>
            </a:r>
            <a:endParaRPr lang="en-US" sz="1280" dirty="0"/>
          </a:p>
        </p:txBody>
      </p:sp>
      <p:sp>
        <p:nvSpPr>
          <p:cNvPr id="11" name="Text 9"/>
          <p:cNvSpPr txBox="1"/>
          <p:nvPr/>
        </p:nvSpPr>
        <p:spPr>
          <a:xfrm>
            <a:off x="647700" y="6464379"/>
            <a:ext cx="1320403"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Setting the scene</a:t>
            </a:r>
            <a:endParaRPr lang="en-US" sz="980" dirty="0"/>
          </a:p>
        </p:txBody>
      </p:sp>
      <p:sp>
        <p:nvSpPr>
          <p:cNvPr id="12" name="Text 10"/>
          <p:cNvSpPr txBox="1"/>
          <p:nvPr/>
        </p:nvSpPr>
        <p:spPr>
          <a:xfrm>
            <a:off x="11098411" y="6464379"/>
            <a:ext cx="503039"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5 / 39</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1286" y="5209227"/>
            <a:ext cx="2634739" cy="448818"/>
          </a:xfrm>
          <a:prstGeom prst="roundRect">
            <a:avLst>
              <a:gd name="adj" fmla="val 68627"/>
            </a:avLst>
          </a:prstGeom>
          <a:solidFill>
            <a:srgbClr val="E1F0F7"/>
          </a:solidFill>
          <a:ln w="8890">
            <a:solidFill>
              <a:srgbClr val="0B6E99"/>
            </a:solidFill>
            <a:prstDash val="solid"/>
          </a:ln>
        </p:spPr>
      </p:sp>
      <p:sp>
        <p:nvSpPr>
          <p:cNvPr id="3" name="Shape 1"/>
          <p:cNvSpPr/>
          <p:nvPr/>
        </p:nvSpPr>
        <p:spPr>
          <a:xfrm>
            <a:off x="647700" y="6343650"/>
            <a:ext cx="10896600" cy="0"/>
          </a:xfrm>
          <a:prstGeom prst="line">
            <a:avLst/>
          </a:prstGeom>
          <a:noFill/>
          <a:ln w="8890">
            <a:solidFill>
              <a:srgbClr val="CBD7DF"/>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91286" y="2969862"/>
          <a:ext cx="10809429" cy="914400"/>
        </p:xfrm>
        <a:graphic>
          <a:graphicData uri="http://schemas.openxmlformats.org/drawingml/2006/table">
            <a:tbl>
              <a:tblPr/>
              <a:tblGrid>
                <a:gridCol w="2481639"/>
                <a:gridCol w="8327789"/>
              </a:tblGrid>
              <a:tr h="429920">
                <a:tc>
                  <a:txBody>
                    <a:bodyPr/>
                    <a:lstStyle/>
                    <a:p>
                      <a:pPr algn="l" indent="0" marL="0">
                        <a:lnSpc>
                          <a:spcPts val="1520"/>
                        </a:lnSpc>
                        <a:buNone/>
                      </a:pPr>
                      <a:r>
                        <a:rPr lang="en-US" sz="1260" dirty="0">
                          <a:solidFill>
                            <a:srgbClr val="0B6E99"/>
                          </a:solidFill>
                          <a:latin typeface="Courier New" pitchFamily="34" charset="0"/>
                          <a:ea typeface="Courier New" pitchFamily="34" charset="-122"/>
                          <a:cs typeface="Courier New" pitchFamily="34" charset="-120"/>
                        </a:rPr>
                        <a:t>ext‑opentelemetry</a:t>
                      </a:r>
                      <a:endParaRPr lang="en-US" sz="1200" dirty="0"/>
                    </a:p>
                  </a:txBody>
                  <a:tcPr marL="132283" marR="132283" marT="113386" marB="11338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610"/>
                        </a:lnSpc>
                        <a:buNone/>
                      </a:pPr>
                      <a:r>
                        <a:rPr lang="en-US" sz="1340" dirty="0">
                          <a:solidFill>
                            <a:srgbClr val="101A22"/>
                          </a:solidFill>
                          <a:latin typeface="Arial" pitchFamily="34" charset="0"/>
                          <a:ea typeface="Arial" pitchFamily="34" charset="-122"/>
                          <a:cs typeface="Arial" pitchFamily="34" charset="-120"/>
                        </a:rPr>
                        <a:t>a PHP extension — hooks into running PHP code without editing it</a:t>
                      </a:r>
                      <a:endParaRPr lang="en-US" sz="1200" dirty="0"/>
                    </a:p>
                  </a:txBody>
                  <a:tcPr marL="132283" marR="132283" marT="113386" marB="11338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434645">
                <a:tc>
                  <a:txBody>
                    <a:bodyPr/>
                    <a:lstStyle/>
                    <a:p>
                      <a:pPr algn="l" indent="0" marL="0">
                        <a:lnSpc>
                          <a:spcPts val="1520"/>
                        </a:lnSpc>
                        <a:buNone/>
                      </a:pPr>
                      <a:r>
                        <a:rPr lang="en-US" sz="1260" dirty="0">
                          <a:solidFill>
                            <a:srgbClr val="0B6E99"/>
                          </a:solidFill>
                          <a:latin typeface="Courier New" pitchFamily="34" charset="0"/>
                          <a:ea typeface="Courier New" pitchFamily="34" charset="-122"/>
                          <a:cs typeface="Courier New" pitchFamily="34" charset="-120"/>
                        </a:rPr>
                        <a:t>SDK</a:t>
                      </a:r>
                      <a:endParaRPr lang="en-US" sz="1200" dirty="0"/>
                    </a:p>
                  </a:txBody>
                  <a:tcPr marL="132283" marR="132283" marT="113386" marB="11338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610"/>
                        </a:lnSpc>
                        <a:buNone/>
                      </a:pPr>
                      <a:r>
                        <a:rPr lang="en-US" sz="1340" dirty="0">
                          <a:solidFill>
                            <a:srgbClr val="101A22"/>
                          </a:solidFill>
                          <a:latin typeface="Arial" pitchFamily="34" charset="0"/>
                          <a:ea typeface="Arial" pitchFamily="34" charset="-122"/>
                          <a:cs typeface="Arial" pitchFamily="34" charset="-120"/>
                        </a:rPr>
                        <a:t>PHP libraries — turn the Moodle data into records, in memory</a:t>
                      </a:r>
                      <a:endParaRPr lang="en-US" sz="1200" dirty="0"/>
                    </a:p>
                  </a:txBody>
                  <a:tcPr marL="132283" marR="132283" marT="113386" marB="11338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434645">
                <a:tc>
                  <a:txBody>
                    <a:bodyPr/>
                    <a:lstStyle/>
                    <a:p>
                      <a:pPr algn="l" indent="0" marL="0">
                        <a:lnSpc>
                          <a:spcPts val="1520"/>
                        </a:lnSpc>
                        <a:buNone/>
                      </a:pPr>
                      <a:r>
                        <a:rPr lang="en-US" sz="1260" dirty="0">
                          <a:solidFill>
                            <a:srgbClr val="0B6E99"/>
                          </a:solidFill>
                          <a:latin typeface="Courier New" pitchFamily="34" charset="0"/>
                          <a:ea typeface="Courier New" pitchFamily="34" charset="-122"/>
                          <a:cs typeface="Courier New" pitchFamily="34" charset="-120"/>
                        </a:rPr>
                        <a:t>exporter</a:t>
                      </a:r>
                      <a:endParaRPr lang="en-US" sz="1200" dirty="0"/>
                    </a:p>
                  </a:txBody>
                  <a:tcPr marL="132283" marR="132283" marT="113386" marB="11338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610"/>
                        </a:lnSpc>
                        <a:buNone/>
                      </a:pPr>
                      <a:r>
                        <a:rPr lang="en-US" sz="1340" dirty="0">
                          <a:solidFill>
                            <a:srgbClr val="101A22"/>
                          </a:solidFill>
                          <a:latin typeface="Arial" pitchFamily="34" charset="0"/>
                          <a:ea typeface="Arial" pitchFamily="34" charset="-122"/>
                          <a:cs typeface="Arial" pitchFamily="34" charset="-120"/>
                        </a:rPr>
                        <a:t>a PHP library — encodes the records and sends them over the network</a:t>
                      </a:r>
                      <a:endParaRPr lang="en-US" sz="1200" dirty="0"/>
                    </a:p>
                  </a:txBody>
                  <a:tcPr marL="132283" marR="132283" marT="113386" marB="11338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434645">
                <a:tc>
                  <a:txBody>
                    <a:bodyPr/>
                    <a:lstStyle/>
                    <a:p>
                      <a:pPr algn="l" indent="0" marL="0">
                        <a:lnSpc>
                          <a:spcPts val="1520"/>
                        </a:lnSpc>
                        <a:buNone/>
                      </a:pPr>
                      <a:r>
                        <a:rPr lang="en-US" sz="1260" dirty="0">
                          <a:solidFill>
                            <a:srgbClr val="0B6E99"/>
                          </a:solidFill>
                          <a:latin typeface="Courier New" pitchFamily="34" charset="0"/>
                          <a:ea typeface="Courier New" pitchFamily="34" charset="-122"/>
                          <a:cs typeface="Courier New" pitchFamily="34" charset="-120"/>
                        </a:rPr>
                        <a:t>OpenTelemetry Collector</a:t>
                      </a:r>
                      <a:endParaRPr lang="en-US" sz="1200" dirty="0"/>
                    </a:p>
                  </a:txBody>
                  <a:tcPr marL="132283" marR="132283" marT="113386" marB="11338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610"/>
                        </a:lnSpc>
                        <a:buNone/>
                      </a:pPr>
                      <a:r>
                        <a:rPr lang="en-US" sz="1340" dirty="0">
                          <a:solidFill>
                            <a:srgbClr val="101A22"/>
                          </a:solidFill>
                          <a:latin typeface="Arial" pitchFamily="34" charset="0"/>
                          <a:ea typeface="Arial" pitchFamily="34" charset="-122"/>
                          <a:cs typeface="Arial" pitchFamily="34" charset="-120"/>
                        </a:rPr>
                        <a:t>a separate service — receives everything, filters it, forwards it to storage</a:t>
                      </a:r>
                      <a:endParaRPr lang="en-US" sz="1200" dirty="0"/>
                    </a:p>
                  </a:txBody>
                  <a:tcPr marL="132283" marR="132283" marT="113386" marB="11338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bl>
          </a:graphicData>
        </a:graphic>
      </p:graphicFrame>
      <p:sp>
        <p:nvSpPr>
          <p:cNvPr id="5" name="Text 2"/>
          <p:cNvSpPr txBox="1"/>
          <p:nvPr/>
        </p:nvSpPr>
        <p:spPr>
          <a:xfrm>
            <a:off x="691286" y="511904"/>
            <a:ext cx="10866579" cy="184252"/>
          </a:xfrm>
          <a:prstGeom prst="rect">
            <a:avLst/>
          </a:prstGeom>
          <a:noFill/>
          <a:ln/>
        </p:spPr>
        <p:txBody>
          <a:bodyPr wrap="none" lIns="0" tIns="0" rIns="0" bIns="0" rtlCol="0" anchor="t"/>
          <a:lstStyle/>
          <a:p>
            <a:pPr algn="l" indent="0" marL="0">
              <a:lnSpc>
                <a:spcPts val="1450"/>
              </a:lnSpc>
              <a:buNone/>
            </a:pPr>
            <a:r>
              <a:rPr lang="en-US" sz="970" spc="150" kern="0" dirty="0">
                <a:solidFill>
                  <a:srgbClr val="0B6E99"/>
                </a:solidFill>
                <a:latin typeface="Courier New" pitchFamily="34" charset="0"/>
                <a:ea typeface="Courier New" pitchFamily="34" charset="-122"/>
                <a:cs typeface="Courier New" pitchFamily="34" charset="-120"/>
              </a:rPr>
              <a:t>THE SOFTWARE</a:t>
            </a:r>
            <a:endParaRPr lang="en-US" sz="970" dirty="0"/>
          </a:p>
        </p:txBody>
      </p:sp>
      <p:sp>
        <p:nvSpPr>
          <p:cNvPr id="6" name="Text 3"/>
          <p:cNvSpPr txBox="1"/>
          <p:nvPr/>
        </p:nvSpPr>
        <p:spPr>
          <a:xfrm>
            <a:off x="691286" y="849935"/>
            <a:ext cx="10866579" cy="428598"/>
          </a:xfrm>
          <a:prstGeom prst="rect">
            <a:avLst/>
          </a:prstGeom>
          <a:noFill/>
          <a:ln/>
        </p:spPr>
        <p:txBody>
          <a:bodyPr wrap="none" lIns="0" tIns="0" rIns="0" bIns="0" rtlCol="0" anchor="t"/>
          <a:lstStyle/>
          <a:p>
            <a:pPr algn="l" indent="0" marL="0">
              <a:lnSpc>
                <a:spcPts val="3370"/>
              </a:lnSpc>
              <a:buNone/>
            </a:pPr>
            <a:r>
              <a:rPr lang="en-US" sz="3120" b="1" spc="-60" kern="0" dirty="0">
                <a:solidFill>
                  <a:srgbClr val="101A22"/>
                </a:solidFill>
                <a:latin typeface="Arial" pitchFamily="34" charset="0"/>
                <a:ea typeface="Arial" pitchFamily="34" charset="-122"/>
                <a:cs typeface="Arial" pitchFamily="34" charset="-120"/>
              </a:rPr>
              <a:t>OpenTelemetry sends the Moodle data to OpenSearch</a:t>
            </a:r>
            <a:endParaRPr lang="en-US" sz="3120" dirty="0"/>
          </a:p>
        </p:txBody>
      </p:sp>
      <p:sp>
        <p:nvSpPr>
          <p:cNvPr id="7" name="Text 4"/>
          <p:cNvSpPr txBox="1"/>
          <p:nvPr/>
        </p:nvSpPr>
        <p:spPr>
          <a:xfrm>
            <a:off x="691286" y="1481203"/>
            <a:ext cx="10866579" cy="737006"/>
          </a:xfrm>
          <a:prstGeom prst="rect">
            <a:avLst/>
          </a:prstGeom>
          <a:noFill/>
          <a:ln/>
        </p:spPr>
        <p:txBody>
          <a:bodyPr wrap="square" lIns="0" tIns="0" rIns="0" bIns="0" rtlCol="0" anchor="t"/>
          <a:lstStyle/>
          <a:p>
            <a:pPr algn="l" indent="0" marL="0">
              <a:lnSpc>
                <a:spcPts val="2900"/>
              </a:lnSpc>
              <a:buNone/>
            </a:pPr>
            <a:r>
              <a:rPr lang="en-US" sz="1930" dirty="0">
                <a:solidFill>
                  <a:srgbClr val="5A6D7A"/>
                </a:solidFill>
                <a:latin typeface="Arial" pitchFamily="34" charset="0"/>
                <a:ea typeface="Arial" pitchFamily="34" charset="-122"/>
                <a:cs typeface="Arial" pitchFamily="34" charset="-120"/>
              </a:rPr>
              <a:t>OpenTelemetry is a log shipper. It is distributed as open source. It takes the data that Moodle produces, the events and the timings, and sends it to OpenSearch.</a:t>
            </a:r>
            <a:endParaRPr lang="en-US" sz="1930" dirty="0"/>
          </a:p>
        </p:txBody>
      </p:sp>
      <p:sp>
        <p:nvSpPr>
          <p:cNvPr id="8" name="Text 5"/>
          <p:cNvSpPr txBox="1"/>
          <p:nvPr/>
        </p:nvSpPr>
        <p:spPr>
          <a:xfrm>
            <a:off x="691286" y="2470492"/>
            <a:ext cx="10866579" cy="311811"/>
          </a:xfrm>
          <a:prstGeom prst="rect">
            <a:avLst/>
          </a:prstGeom>
          <a:noFill/>
          <a:ln/>
        </p:spPr>
        <p:txBody>
          <a:bodyPr wrap="none" lIns="0" tIns="0" rIns="0" bIns="0" rtlCol="0" anchor="t"/>
          <a:lstStyle/>
          <a:p>
            <a:pPr algn="l" indent="0" marL="0">
              <a:lnSpc>
                <a:spcPts val="2460"/>
              </a:lnSpc>
              <a:buNone/>
            </a:pPr>
            <a:r>
              <a:rPr lang="en-US" sz="1640" b="1" dirty="0">
                <a:solidFill>
                  <a:srgbClr val="101A22"/>
                </a:solidFill>
                <a:latin typeface="Arial" pitchFamily="34" charset="0"/>
                <a:ea typeface="Arial" pitchFamily="34" charset="-122"/>
                <a:cs typeface="Arial" pitchFamily="34" charset="-120"/>
              </a:rPr>
              <a:t>There is no package called OpenTelemetry.</a:t>
            </a:r>
            <a:pPr algn="l" indent="0" marL="0">
              <a:lnSpc>
                <a:spcPts val="2460"/>
              </a:lnSpc>
              <a:buNone/>
            </a:pPr>
            <a:r>
              <a:rPr lang="en-US" sz="1640" dirty="0">
                <a:solidFill>
                  <a:srgbClr val="101A22"/>
                </a:solidFill>
                <a:latin typeface="Arial" pitchFamily="34" charset="0"/>
                <a:ea typeface="Arial" pitchFamily="34" charset="-122"/>
                <a:cs typeface="Arial" pitchFamily="34" charset="-120"/>
              </a:rPr>
              <a:t> It is a family of pieces. These four appear in this talk:</a:t>
            </a:r>
            <a:endParaRPr lang="en-US" sz="1640" dirty="0"/>
          </a:p>
        </p:txBody>
      </p:sp>
      <p:sp>
        <p:nvSpPr>
          <p:cNvPr id="9" name="Text 6"/>
          <p:cNvSpPr txBox="1"/>
          <p:nvPr/>
        </p:nvSpPr>
        <p:spPr>
          <a:xfrm>
            <a:off x="691286" y="4766551"/>
            <a:ext cx="10866579" cy="311810"/>
          </a:xfrm>
          <a:prstGeom prst="rect">
            <a:avLst/>
          </a:prstGeom>
          <a:noFill/>
          <a:ln/>
        </p:spPr>
        <p:txBody>
          <a:bodyPr wrap="none" lIns="0" tIns="0" rIns="0" bIns="0" rtlCol="0" anchor="t"/>
          <a:lstStyle/>
          <a:p>
            <a:pPr algn="l" indent="0" marL="0">
              <a:lnSpc>
                <a:spcPts val="2460"/>
              </a:lnSpc>
              <a:buNone/>
            </a:pPr>
            <a:r>
              <a:rPr lang="en-US" sz="1640" dirty="0">
                <a:solidFill>
                  <a:srgbClr val="5A6D7A"/>
                </a:solidFill>
                <a:latin typeface="Arial" pitchFamily="34" charset="0"/>
                <a:ea typeface="Arial" pitchFamily="34" charset="-122"/>
                <a:cs typeface="Arial" pitchFamily="34" charset="-120"/>
              </a:rPr>
              <a:t>None of them stores data or displays it. That is OpenSearch's job.</a:t>
            </a:r>
            <a:endParaRPr lang="en-US" sz="1640" dirty="0"/>
          </a:p>
        </p:txBody>
      </p:sp>
      <p:sp>
        <p:nvSpPr>
          <p:cNvPr id="10" name="Text 7"/>
          <p:cNvSpPr txBox="1"/>
          <p:nvPr/>
        </p:nvSpPr>
        <p:spPr>
          <a:xfrm>
            <a:off x="851916" y="5285054"/>
            <a:ext cx="2370630" cy="240944"/>
          </a:xfrm>
          <a:prstGeom prst="rect">
            <a:avLst/>
          </a:prstGeom>
          <a:noFill/>
          <a:ln/>
        </p:spPr>
        <p:txBody>
          <a:bodyPr wrap="none" lIns="0" tIns="0" rIns="0" bIns="0" rtlCol="0" anchor="t"/>
          <a:lstStyle/>
          <a:p>
            <a:pPr algn="l" indent="0" marL="0">
              <a:lnSpc>
                <a:spcPts val="1900"/>
              </a:lnSpc>
              <a:buNone/>
            </a:pPr>
            <a:r>
              <a:rPr lang="en-US" sz="1260" dirty="0">
                <a:solidFill>
                  <a:srgbClr val="0B6E99"/>
                </a:solidFill>
                <a:latin typeface="Courier New" pitchFamily="34" charset="0"/>
                <a:ea typeface="Courier New" pitchFamily="34" charset="-122"/>
                <a:cs typeface="Courier New" pitchFamily="34" charset="-120"/>
              </a:rPr>
              <a:t>https://opentelemetry.io</a:t>
            </a:r>
            <a:endParaRPr lang="en-US" sz="1260" dirty="0"/>
          </a:p>
        </p:txBody>
      </p:sp>
      <p:sp>
        <p:nvSpPr>
          <p:cNvPr id="11" name="Text 8"/>
          <p:cNvSpPr txBox="1"/>
          <p:nvPr/>
        </p:nvSpPr>
        <p:spPr>
          <a:xfrm>
            <a:off x="647700" y="6464404"/>
            <a:ext cx="1320403" cy="147401"/>
          </a:xfrm>
          <a:prstGeom prst="rect">
            <a:avLst/>
          </a:prstGeom>
          <a:noFill/>
          <a:ln/>
        </p:spPr>
        <p:txBody>
          <a:bodyPr wrap="none" lIns="0" tIns="0" rIns="0" bIns="0" rtlCol="0" anchor="t"/>
          <a:lstStyle/>
          <a:p>
            <a:pPr algn="l" indent="0" marL="0">
              <a:lnSpc>
                <a:spcPts val="1160"/>
              </a:lnSpc>
              <a:buNone/>
            </a:pPr>
            <a:r>
              <a:rPr lang="en-US" sz="970" dirty="0">
                <a:solidFill>
                  <a:srgbClr val="8496A2"/>
                </a:solidFill>
                <a:latin typeface="Courier New" pitchFamily="34" charset="0"/>
                <a:ea typeface="Courier New" pitchFamily="34" charset="-122"/>
                <a:cs typeface="Courier New" pitchFamily="34" charset="-120"/>
              </a:rPr>
              <a:t>Setting the scene</a:t>
            </a:r>
            <a:endParaRPr lang="en-US" sz="970" dirty="0"/>
          </a:p>
        </p:txBody>
      </p:sp>
      <p:sp>
        <p:nvSpPr>
          <p:cNvPr id="12" name="Text 9"/>
          <p:cNvSpPr txBox="1"/>
          <p:nvPr/>
        </p:nvSpPr>
        <p:spPr>
          <a:xfrm>
            <a:off x="11098411" y="6464404"/>
            <a:ext cx="503039" cy="147401"/>
          </a:xfrm>
          <a:prstGeom prst="rect">
            <a:avLst/>
          </a:prstGeom>
          <a:noFill/>
          <a:ln/>
        </p:spPr>
        <p:txBody>
          <a:bodyPr wrap="none" lIns="0" tIns="0" rIns="0" bIns="0" rtlCol="0" anchor="t"/>
          <a:lstStyle/>
          <a:p>
            <a:pPr algn="l" indent="0" marL="0">
              <a:lnSpc>
                <a:spcPts val="1160"/>
              </a:lnSpc>
              <a:buNone/>
            </a:pPr>
            <a:r>
              <a:rPr lang="en-US" sz="970" dirty="0">
                <a:solidFill>
                  <a:srgbClr val="8496A2"/>
                </a:solidFill>
                <a:latin typeface="Courier New" pitchFamily="34" charset="0"/>
                <a:ea typeface="Courier New" pitchFamily="34" charset="-122"/>
                <a:cs typeface="Courier New" pitchFamily="34" charset="-120"/>
              </a:rPr>
              <a:t>6 / 39</a:t>
            </a:r>
            <a:endParaRPr lang="en-US" sz="9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104907" y="3329030"/>
            <a:ext cx="63265" cy="63265"/>
          </a:xfrm>
          <a:prstGeom prst="roundRect">
            <a:avLst>
              <a:gd name="adj" fmla="val 642377"/>
            </a:avLst>
          </a:prstGeom>
          <a:solidFill>
            <a:srgbClr val="0B6E99"/>
          </a:solidFill>
          <a:ln/>
        </p:spPr>
      </p:sp>
      <p:sp>
        <p:nvSpPr>
          <p:cNvPr id="3" name="Shape 1"/>
          <p:cNvSpPr/>
          <p:nvPr/>
        </p:nvSpPr>
        <p:spPr>
          <a:xfrm>
            <a:off x="6264650" y="3329030"/>
            <a:ext cx="63265" cy="63265"/>
          </a:xfrm>
          <a:prstGeom prst="roundRect">
            <a:avLst>
              <a:gd name="adj" fmla="val 642377"/>
            </a:avLst>
          </a:prstGeom>
          <a:solidFill>
            <a:srgbClr val="0B6E99"/>
          </a:solidFill>
          <a:ln/>
        </p:spPr>
      </p:sp>
      <p:sp>
        <p:nvSpPr>
          <p:cNvPr id="4" name="Shape 2"/>
          <p:cNvSpPr/>
          <p:nvPr/>
        </p:nvSpPr>
        <p:spPr>
          <a:xfrm>
            <a:off x="2104907" y="4360182"/>
            <a:ext cx="63265" cy="63265"/>
          </a:xfrm>
          <a:prstGeom prst="roundRect">
            <a:avLst>
              <a:gd name="adj" fmla="val 642377"/>
            </a:avLst>
          </a:prstGeom>
          <a:solidFill>
            <a:srgbClr val="0B6E99"/>
          </a:solidFill>
          <a:ln/>
        </p:spPr>
      </p:sp>
      <p:sp>
        <p:nvSpPr>
          <p:cNvPr id="5" name="Shape 3"/>
          <p:cNvSpPr/>
          <p:nvPr/>
        </p:nvSpPr>
        <p:spPr>
          <a:xfrm>
            <a:off x="6264650" y="4360182"/>
            <a:ext cx="63265" cy="63265"/>
          </a:xfrm>
          <a:prstGeom prst="roundRect">
            <a:avLst>
              <a:gd name="adj" fmla="val 642377"/>
            </a:avLst>
          </a:prstGeom>
          <a:solidFill>
            <a:srgbClr val="0B6E99"/>
          </a:solidFill>
          <a:ln/>
        </p:spPr>
      </p:sp>
      <p:sp>
        <p:nvSpPr>
          <p:cNvPr id="6" name="Shape 4"/>
          <p:cNvSpPr/>
          <p:nvPr/>
        </p:nvSpPr>
        <p:spPr>
          <a:xfrm>
            <a:off x="2076789" y="5363194"/>
            <a:ext cx="1815935" cy="333763"/>
          </a:xfrm>
          <a:prstGeom prst="roundRect">
            <a:avLst>
              <a:gd name="adj" fmla="val 92321"/>
            </a:avLst>
          </a:prstGeom>
          <a:solidFill>
            <a:srgbClr val="E1F0F7"/>
          </a:solidFill>
          <a:ln w="7620">
            <a:solidFill>
              <a:srgbClr val="0B6E99"/>
            </a:solidFill>
            <a:prstDash val="solid"/>
          </a:ln>
        </p:spPr>
      </p:sp>
      <p:sp>
        <p:nvSpPr>
          <p:cNvPr id="7" name="Shape 5"/>
          <p:cNvSpPr/>
          <p:nvPr/>
        </p:nvSpPr>
        <p:spPr>
          <a:xfrm>
            <a:off x="647700" y="6343650"/>
            <a:ext cx="10896600" cy="0"/>
          </a:xfrm>
          <a:prstGeom prst="line">
            <a:avLst/>
          </a:prstGeom>
          <a:noFill/>
          <a:ln w="7620">
            <a:solidFill>
              <a:srgbClr val="CBD7DF"/>
            </a:solidFill>
            <a:prstDash val="solid"/>
          </a:ln>
        </p:spPr>
      </p:sp>
      <p:sp>
        <p:nvSpPr>
          <p:cNvPr id="8" name="Text 6"/>
          <p:cNvSpPr txBox="1"/>
          <p:nvPr/>
        </p:nvSpPr>
        <p:spPr>
          <a:xfrm>
            <a:off x="2076789" y="517408"/>
            <a:ext cx="8095571" cy="137074"/>
          </a:xfrm>
          <a:prstGeom prst="rect">
            <a:avLst/>
          </a:prstGeom>
          <a:noFill/>
          <a:ln/>
        </p:spPr>
        <p:txBody>
          <a:bodyPr wrap="none" lIns="0" tIns="0" rIns="0" bIns="0" rtlCol="0" anchor="t"/>
          <a:lstStyle/>
          <a:p>
            <a:pPr algn="l" indent="0" marL="0">
              <a:lnSpc>
                <a:spcPts val="1080"/>
              </a:lnSpc>
              <a:buNone/>
            </a:pPr>
            <a:r>
              <a:rPr lang="en-US" sz="720" spc="120" kern="0" dirty="0">
                <a:solidFill>
                  <a:srgbClr val="0B6E99"/>
                </a:solidFill>
                <a:latin typeface="Courier New" pitchFamily="34" charset="0"/>
                <a:ea typeface="Courier New" pitchFamily="34" charset="-122"/>
                <a:cs typeface="Courier New" pitchFamily="34" charset="-120"/>
              </a:rPr>
              <a:t>THE SOFTWARE</a:t>
            </a:r>
            <a:endParaRPr lang="en-US" sz="720" dirty="0"/>
          </a:p>
        </p:txBody>
      </p:sp>
      <p:sp>
        <p:nvSpPr>
          <p:cNvPr id="9" name="Text 7"/>
          <p:cNvSpPr txBox="1"/>
          <p:nvPr/>
        </p:nvSpPr>
        <p:spPr>
          <a:xfrm>
            <a:off x="2076789" y="768791"/>
            <a:ext cx="8095571" cy="318856"/>
          </a:xfrm>
          <a:prstGeom prst="rect">
            <a:avLst/>
          </a:prstGeom>
          <a:noFill/>
          <a:ln/>
        </p:spPr>
        <p:txBody>
          <a:bodyPr wrap="none" lIns="0" tIns="0" rIns="0" bIns="0" rtlCol="0" anchor="t"/>
          <a:lstStyle/>
          <a:p>
            <a:pPr algn="l" indent="0" marL="0">
              <a:lnSpc>
                <a:spcPts val="2510"/>
              </a:lnSpc>
              <a:buNone/>
            </a:pPr>
            <a:r>
              <a:rPr lang="en-US" sz="2320" b="1" spc="-50" kern="0" dirty="0">
                <a:solidFill>
                  <a:srgbClr val="101A22"/>
                </a:solidFill>
                <a:latin typeface="Arial" pitchFamily="34" charset="0"/>
                <a:ea typeface="Arial" pitchFamily="34" charset="-122"/>
                <a:cs typeface="Arial" pitchFamily="34" charset="-120"/>
              </a:rPr>
              <a:t>OpenSearch stores the events and searches them</a:t>
            </a:r>
            <a:endParaRPr lang="en-US" sz="2320" dirty="0"/>
          </a:p>
        </p:txBody>
      </p:sp>
      <p:sp>
        <p:nvSpPr>
          <p:cNvPr id="10" name="Text 8"/>
          <p:cNvSpPr txBox="1"/>
          <p:nvPr/>
        </p:nvSpPr>
        <p:spPr>
          <a:xfrm>
            <a:off x="2076789" y="1238220"/>
            <a:ext cx="8095571" cy="548074"/>
          </a:xfrm>
          <a:prstGeom prst="rect">
            <a:avLst/>
          </a:prstGeom>
          <a:noFill/>
          <a:ln/>
        </p:spPr>
        <p:txBody>
          <a:bodyPr wrap="square" lIns="0" tIns="0" rIns="0" bIns="0" rtlCol="0" anchor="t"/>
          <a:lstStyle/>
          <a:p>
            <a:pPr algn="l" indent="0" marL="0">
              <a:lnSpc>
                <a:spcPts val="2160"/>
              </a:lnSpc>
              <a:buNone/>
            </a:pPr>
            <a:r>
              <a:rPr lang="en-US" sz="1440" dirty="0">
                <a:solidFill>
                  <a:srgbClr val="5A6D7A"/>
                </a:solidFill>
                <a:latin typeface="Arial" pitchFamily="34" charset="0"/>
                <a:ea typeface="Arial" pitchFamily="34" charset="-122"/>
                <a:cs typeface="Arial" pitchFamily="34" charset="-120"/>
              </a:rPr>
              <a:t>OpenSearch is an open-source search engine and document store, forked from </a:t>
            </a:r>
            <a:pPr algn="l" indent="0" marL="0">
              <a:lnSpc>
                <a:spcPts val="2160"/>
              </a:lnSpc>
              <a:buNone/>
            </a:pPr>
            <a:r>
              <a:rPr lang="en-US" sz="1440" b="1" dirty="0">
                <a:solidFill>
                  <a:srgbClr val="5A6D7A"/>
                </a:solidFill>
                <a:latin typeface="Arial" pitchFamily="34" charset="0"/>
                <a:ea typeface="Arial" pitchFamily="34" charset="-122"/>
                <a:cs typeface="Arial" pitchFamily="34" charset="-120"/>
              </a:rPr>
              <a:t>Elasticsearch</a:t>
            </a:r>
            <a:pPr algn="l" indent="0" marL="0">
              <a:lnSpc>
                <a:spcPts val="2160"/>
              </a:lnSpc>
              <a:buNone/>
            </a:pPr>
            <a:r>
              <a:rPr lang="en-US" sz="1440" dirty="0">
                <a:solidFill>
                  <a:srgbClr val="5A6D7A"/>
                </a:solidFill>
                <a:latin typeface="Arial" pitchFamily="34" charset="0"/>
                <a:ea typeface="Arial" pitchFamily="34" charset="-122"/>
                <a:cs typeface="Arial" pitchFamily="34" charset="-120"/>
              </a:rPr>
              <a:t>, with a web front end called </a:t>
            </a:r>
            <a:pPr algn="l" indent="0" marL="0">
              <a:lnSpc>
                <a:spcPts val="2160"/>
              </a:lnSpc>
              <a:buNone/>
            </a:pPr>
            <a:r>
              <a:rPr lang="en-US" sz="1440" b="1" dirty="0">
                <a:solidFill>
                  <a:srgbClr val="5A6D7A"/>
                </a:solidFill>
                <a:latin typeface="Arial" pitchFamily="34" charset="0"/>
                <a:ea typeface="Arial" pitchFamily="34" charset="-122"/>
                <a:cs typeface="Arial" pitchFamily="34" charset="-120"/>
              </a:rPr>
              <a:t>OpenSearch Dashboards</a:t>
            </a:r>
            <a:pPr algn="l" indent="0" marL="0">
              <a:lnSpc>
                <a:spcPts val="2160"/>
              </a:lnSpc>
              <a:buNone/>
            </a:pPr>
            <a:r>
              <a:rPr lang="en-US" sz="1440" dirty="0">
                <a:solidFill>
                  <a:srgbClr val="5A6D7A"/>
                </a:solidFill>
                <a:latin typeface="Arial" pitchFamily="34" charset="0"/>
                <a:ea typeface="Arial" pitchFamily="34" charset="-122"/>
                <a:cs typeface="Arial" pitchFamily="34" charset="-120"/>
              </a:rPr>
              <a:t>.</a:t>
            </a:r>
            <a:endParaRPr lang="en-US" sz="1440" dirty="0"/>
          </a:p>
        </p:txBody>
      </p:sp>
      <p:sp>
        <p:nvSpPr>
          <p:cNvPr id="11" name="Text 9"/>
          <p:cNvSpPr txBox="1"/>
          <p:nvPr/>
        </p:nvSpPr>
        <p:spPr>
          <a:xfrm>
            <a:off x="2076789" y="1997806"/>
            <a:ext cx="8095571" cy="151836"/>
          </a:xfrm>
          <a:prstGeom prst="rect">
            <a:avLst/>
          </a:prstGeom>
          <a:noFill/>
          <a:ln/>
        </p:spPr>
        <p:txBody>
          <a:bodyPr wrap="none" lIns="0" tIns="0" rIns="0" bIns="0" rtlCol="0" anchor="t"/>
          <a:lstStyle/>
          <a:p>
            <a:pPr algn="l" indent="0" marL="0">
              <a:lnSpc>
                <a:spcPts val="1200"/>
              </a:lnSpc>
              <a:buNone/>
            </a:pPr>
            <a:r>
              <a:rPr lang="en-US" sz="1000" b="1" dirty="0">
                <a:solidFill>
                  <a:srgbClr val="0B6E99"/>
                </a:solidFill>
                <a:latin typeface="Arial" pitchFamily="34" charset="0"/>
                <a:ea typeface="Arial" pitchFamily="34" charset="-122"/>
                <a:cs typeface="Arial" pitchFamily="34" charset="-120"/>
              </a:rPr>
              <a:t>What it does</a:t>
            </a:r>
            <a:endParaRPr lang="en-US" sz="1000" dirty="0"/>
          </a:p>
        </p:txBody>
      </p:sp>
      <p:sp>
        <p:nvSpPr>
          <p:cNvPr id="12" name="Text 10"/>
          <p:cNvSpPr txBox="1"/>
          <p:nvPr/>
        </p:nvSpPr>
        <p:spPr>
          <a:xfrm>
            <a:off x="2076789" y="2191731"/>
            <a:ext cx="8095571" cy="695633"/>
          </a:xfrm>
          <a:prstGeom prst="rect">
            <a:avLst/>
          </a:prstGeom>
          <a:noFill/>
          <a:ln/>
        </p:spPr>
        <p:txBody>
          <a:bodyPr wrap="square" lIns="0" tIns="0" rIns="0" bIns="0" rtlCol="0" anchor="t"/>
          <a:lstStyle/>
          <a:p>
            <a:pPr algn="l" indent="0" marL="0">
              <a:lnSpc>
                <a:spcPts val="1830"/>
              </a:lnSpc>
              <a:buNone/>
            </a:pPr>
            <a:r>
              <a:rPr lang="en-US" sz="1220" b="1" dirty="0">
                <a:solidFill>
                  <a:srgbClr val="101A22"/>
                </a:solidFill>
                <a:latin typeface="Arial" pitchFamily="34" charset="0"/>
                <a:ea typeface="Arial" pitchFamily="34" charset="-122"/>
                <a:cs typeface="Arial" pitchFamily="34" charset="-120"/>
              </a:rPr>
              <a:t>Indexes</a:t>
            </a:r>
            <a:pPr algn="l" indent="0" marL="0">
              <a:lnSpc>
                <a:spcPts val="1830"/>
              </a:lnSpc>
              <a:buNone/>
            </a:pPr>
            <a:r>
              <a:rPr lang="en-US" sz="1220" dirty="0">
                <a:solidFill>
                  <a:srgbClr val="101A22"/>
                </a:solidFill>
                <a:latin typeface="Arial" pitchFamily="34" charset="0"/>
                <a:ea typeface="Arial" pitchFamily="34" charset="-122"/>
                <a:cs typeface="Arial" pitchFamily="34" charset="-120"/>
              </a:rPr>
              <a:t> every event, and every timing, as one document, then answers questions about millions of them in milliseconds. OpenSearch Dashboards draws charts from them. </a:t>
            </a:r>
            <a:pPr algn="l" indent="0" marL="0">
              <a:lnSpc>
                <a:spcPts val="1830"/>
              </a:lnSpc>
              <a:buNone/>
            </a:pPr>
            <a:r>
              <a:rPr lang="en-US" sz="1220" b="1" dirty="0">
                <a:solidFill>
                  <a:srgbClr val="101A22"/>
                </a:solidFill>
                <a:latin typeface="Arial" pitchFamily="34" charset="0"/>
                <a:ea typeface="Arial" pitchFamily="34" charset="-122"/>
                <a:cs typeface="Arial" pitchFamily="34" charset="-120"/>
              </a:rPr>
              <a:t>Indexing</a:t>
            </a:r>
            <a:pPr algn="l" indent="0" marL="0">
              <a:lnSpc>
                <a:spcPts val="1830"/>
              </a:lnSpc>
              <a:buNone/>
            </a:pPr>
            <a:r>
              <a:rPr lang="en-US" sz="1220" dirty="0">
                <a:solidFill>
                  <a:srgbClr val="101A22"/>
                </a:solidFill>
                <a:latin typeface="Arial" pitchFamily="34" charset="0"/>
                <a:ea typeface="Arial" pitchFamily="34" charset="-122"/>
                <a:cs typeface="Arial" pitchFamily="34" charset="-120"/>
              </a:rPr>
              <a:t> means every field — duration, task name, file path, line number — is written into a structure built for searching.</a:t>
            </a:r>
            <a:endParaRPr lang="en-US" sz="1220" dirty="0"/>
          </a:p>
        </p:txBody>
      </p:sp>
      <p:sp>
        <p:nvSpPr>
          <p:cNvPr id="13" name="Text 11"/>
          <p:cNvSpPr txBox="1"/>
          <p:nvPr/>
        </p:nvSpPr>
        <p:spPr>
          <a:xfrm>
            <a:off x="2076789" y="3023689"/>
            <a:ext cx="8095571" cy="151836"/>
          </a:xfrm>
          <a:prstGeom prst="rect">
            <a:avLst/>
          </a:prstGeom>
          <a:noFill/>
          <a:ln/>
        </p:spPr>
        <p:txBody>
          <a:bodyPr wrap="none" lIns="0" tIns="0" rIns="0" bIns="0" rtlCol="0" anchor="t"/>
          <a:lstStyle/>
          <a:p>
            <a:pPr algn="l" indent="0" marL="0">
              <a:lnSpc>
                <a:spcPts val="1200"/>
              </a:lnSpc>
              <a:buNone/>
            </a:pPr>
            <a:r>
              <a:rPr lang="en-US" sz="1000" b="1" dirty="0">
                <a:solidFill>
                  <a:srgbClr val="0B6E99"/>
                </a:solidFill>
                <a:latin typeface="Arial" pitchFamily="34" charset="0"/>
                <a:ea typeface="Arial" pitchFamily="34" charset="-122"/>
                <a:cs typeface="Arial" pitchFamily="34" charset="-120"/>
              </a:rPr>
              <a:t>Why choose OpenSearch</a:t>
            </a:r>
            <a:endParaRPr lang="en-US" sz="1000" dirty="0"/>
          </a:p>
        </p:txBody>
      </p:sp>
      <p:sp>
        <p:nvSpPr>
          <p:cNvPr id="14" name="Text 12"/>
          <p:cNvSpPr txBox="1"/>
          <p:nvPr/>
        </p:nvSpPr>
        <p:spPr>
          <a:xfrm>
            <a:off x="2287673" y="3224467"/>
            <a:ext cx="3724945" cy="904674"/>
          </a:xfrm>
          <a:prstGeom prst="rect">
            <a:avLst/>
          </a:prstGeom>
          <a:noFill/>
          <a:ln/>
        </p:spPr>
        <p:txBody>
          <a:bodyPr wrap="square" lIns="0" tIns="0" rIns="0" bIns="0" rtlCol="0" anchor="t"/>
          <a:lstStyle/>
          <a:p>
            <a:pPr algn="l" indent="0" marL="0">
              <a:lnSpc>
                <a:spcPts val="1780"/>
              </a:lnSpc>
              <a:buNone/>
            </a:pPr>
            <a:r>
              <a:rPr lang="en-US" sz="1270" b="1" dirty="0">
                <a:solidFill>
                  <a:srgbClr val="101A22"/>
                </a:solidFill>
                <a:latin typeface="Arial" pitchFamily="34" charset="0"/>
                <a:ea typeface="Arial" pitchFamily="34" charset="-122"/>
                <a:cs typeface="Arial" pitchFamily="34" charset="-120"/>
              </a:rPr>
              <a:t>Grows by adding servers.</a:t>
            </a:r>
            <a:pPr algn="l" indent="0" marL="0">
              <a:lnSpc>
                <a:spcPts val="1780"/>
              </a:lnSpc>
              <a:buNone/>
            </a:pPr>
            <a:r>
              <a:rPr lang="en-US" sz="1270" dirty="0">
                <a:solidFill>
                  <a:srgbClr val="101A22"/>
                </a:solidFill>
                <a:latin typeface="Arial" pitchFamily="34" charset="0"/>
                <a:ea typeface="Arial" pitchFamily="34" charset="-122"/>
                <a:cs typeface="Arial" pitchFamily="34" charset="-120"/>
              </a:rPr>
              <a:t> An index is split into shards spread over the nodes of a cluster; a replica of each shard survives a lost node.</a:t>
            </a:r>
            <a:endParaRPr lang="en-US" sz="1270" dirty="0"/>
          </a:p>
        </p:txBody>
      </p:sp>
      <p:sp>
        <p:nvSpPr>
          <p:cNvPr id="15" name="Text 13"/>
          <p:cNvSpPr txBox="1"/>
          <p:nvPr/>
        </p:nvSpPr>
        <p:spPr>
          <a:xfrm>
            <a:off x="6447416" y="3224467"/>
            <a:ext cx="3724945" cy="904674"/>
          </a:xfrm>
          <a:prstGeom prst="rect">
            <a:avLst/>
          </a:prstGeom>
          <a:noFill/>
          <a:ln/>
        </p:spPr>
        <p:txBody>
          <a:bodyPr wrap="square" lIns="0" tIns="0" rIns="0" bIns="0" rtlCol="0" anchor="t"/>
          <a:lstStyle/>
          <a:p>
            <a:pPr algn="l" indent="0" marL="0">
              <a:lnSpc>
                <a:spcPts val="1780"/>
              </a:lnSpc>
              <a:buNone/>
            </a:pPr>
            <a:r>
              <a:rPr lang="en-US" sz="1270" b="1" dirty="0">
                <a:solidFill>
                  <a:srgbClr val="101A22"/>
                </a:solidFill>
                <a:latin typeface="Arial" pitchFamily="34" charset="0"/>
                <a:ea typeface="Arial" pitchFamily="34" charset="-122"/>
                <a:cs typeface="Arial" pitchFamily="34" charset="-120"/>
              </a:rPr>
              <a:t>Fast on large volumes.</a:t>
            </a:r>
            <a:pPr algn="l" indent="0" marL="0">
              <a:lnSpc>
                <a:spcPts val="1780"/>
              </a:lnSpc>
              <a:buNone/>
            </a:pPr>
            <a:r>
              <a:rPr lang="en-US" sz="1270" dirty="0">
                <a:solidFill>
                  <a:srgbClr val="101A22"/>
                </a:solidFill>
                <a:latin typeface="Arial" pitchFamily="34" charset="0"/>
                <a:ea typeface="Arial" pitchFamily="34" charset="-122"/>
                <a:cs typeface="Arial" pitchFamily="34" charset="-120"/>
              </a:rPr>
              <a:t> A search looks up the index instead of scanning every stored document, like the index at the back of a book, so it stays fast as the data grows.</a:t>
            </a:r>
            <a:endParaRPr lang="en-US" sz="1270" dirty="0"/>
          </a:p>
        </p:txBody>
      </p:sp>
      <p:sp>
        <p:nvSpPr>
          <p:cNvPr id="16" name="Text 14"/>
          <p:cNvSpPr txBox="1"/>
          <p:nvPr/>
        </p:nvSpPr>
        <p:spPr>
          <a:xfrm>
            <a:off x="2287673" y="4255619"/>
            <a:ext cx="3724945" cy="904674"/>
          </a:xfrm>
          <a:prstGeom prst="rect">
            <a:avLst/>
          </a:prstGeom>
          <a:noFill/>
          <a:ln/>
        </p:spPr>
        <p:txBody>
          <a:bodyPr wrap="square" lIns="0" tIns="0" rIns="0" bIns="0" rtlCol="0" anchor="t"/>
          <a:lstStyle/>
          <a:p>
            <a:pPr algn="l" indent="0" marL="0">
              <a:lnSpc>
                <a:spcPts val="1780"/>
              </a:lnSpc>
              <a:buNone/>
            </a:pPr>
            <a:r>
              <a:rPr lang="en-US" sz="1270" b="1" dirty="0">
                <a:solidFill>
                  <a:srgbClr val="101A22"/>
                </a:solidFill>
                <a:latin typeface="Arial" pitchFamily="34" charset="0"/>
                <a:ea typeface="Arial" pitchFamily="34" charset="-122"/>
                <a:cs typeface="Arial" pitchFamily="34" charset="-120"/>
              </a:rPr>
              <a:t>Speaks OpenTelemetry.</a:t>
            </a:r>
            <a:pPr algn="l" indent="0" marL="0">
              <a:lnSpc>
                <a:spcPts val="1780"/>
              </a:lnSpc>
              <a:buNone/>
            </a:pPr>
            <a:r>
              <a:rPr lang="en-US" sz="1270" dirty="0">
                <a:solidFill>
                  <a:srgbClr val="101A22"/>
                </a:solidFill>
                <a:latin typeface="Arial" pitchFamily="34" charset="0"/>
                <a:ea typeface="Arial" pitchFamily="34" charset="-122"/>
                <a:cs typeface="Arial" pitchFamily="34" charset="-120"/>
              </a:rPr>
              <a:t> The OpenTelemetry Collector ships an OpenSearch exporter; OpenSearch Dashboards has Trace analytics built in.</a:t>
            </a:r>
            <a:endParaRPr lang="en-US" sz="1270" dirty="0"/>
          </a:p>
        </p:txBody>
      </p:sp>
      <p:sp>
        <p:nvSpPr>
          <p:cNvPr id="17" name="Text 15"/>
          <p:cNvSpPr txBox="1"/>
          <p:nvPr/>
        </p:nvSpPr>
        <p:spPr>
          <a:xfrm>
            <a:off x="6447416" y="4255619"/>
            <a:ext cx="3724945" cy="960886"/>
          </a:xfrm>
          <a:prstGeom prst="rect">
            <a:avLst/>
          </a:prstGeom>
          <a:noFill/>
          <a:ln/>
        </p:spPr>
        <p:txBody>
          <a:bodyPr wrap="square" lIns="0" tIns="0" rIns="0" bIns="0" rtlCol="0" anchor="t"/>
          <a:lstStyle/>
          <a:p>
            <a:pPr algn="l" indent="0" marL="0">
              <a:lnSpc>
                <a:spcPts val="1780"/>
              </a:lnSpc>
              <a:buNone/>
            </a:pPr>
            <a:r>
              <a:rPr lang="en-US" sz="1270" b="1" dirty="0">
                <a:solidFill>
                  <a:srgbClr val="101A22"/>
                </a:solidFill>
                <a:latin typeface="Arial" pitchFamily="34" charset="0"/>
                <a:ea typeface="Arial" pitchFamily="34" charset="-122"/>
                <a:cs typeface="Arial" pitchFamily="34" charset="-120"/>
              </a:rPr>
              <a:t>Retention built in.</a:t>
            </a:r>
            <a:pPr algn="l" indent="0" marL="0">
              <a:lnSpc>
                <a:spcPts val="1780"/>
              </a:lnSpc>
              <a:buNone/>
            </a:pPr>
            <a:r>
              <a:rPr lang="en-US" sz="1270" dirty="0">
                <a:solidFill>
                  <a:srgbClr val="101A22"/>
                </a:solidFill>
                <a:latin typeface="Arial" pitchFamily="34" charset="0"/>
                <a:ea typeface="Arial" pitchFamily="34" charset="-122"/>
                <a:cs typeface="Arial" pitchFamily="34" charset="-120"/>
              </a:rPr>
              <a:t> A policy deletes whole indices on schedule.</a:t>
            </a:r>
            <a:endParaRPr lang="en-US" sz="1270" dirty="0"/>
          </a:p>
        </p:txBody>
      </p:sp>
      <p:sp>
        <p:nvSpPr>
          <p:cNvPr id="18" name="Text 16"/>
          <p:cNvSpPr txBox="1"/>
          <p:nvPr/>
        </p:nvSpPr>
        <p:spPr>
          <a:xfrm>
            <a:off x="2196290" y="5419605"/>
            <a:ext cx="1634083" cy="179251"/>
          </a:xfrm>
          <a:prstGeom prst="rect">
            <a:avLst/>
          </a:prstGeom>
          <a:noFill/>
          <a:ln/>
        </p:spPr>
        <p:txBody>
          <a:bodyPr wrap="none" lIns="0" tIns="0" rIns="0" bIns="0" rtlCol="0" anchor="t"/>
          <a:lstStyle/>
          <a:p>
            <a:pPr algn="l" indent="0" marL="0">
              <a:lnSpc>
                <a:spcPts val="1410"/>
              </a:lnSpc>
              <a:buNone/>
            </a:pPr>
            <a:r>
              <a:rPr lang="en-US" sz="940" dirty="0">
                <a:solidFill>
                  <a:srgbClr val="0B6E99"/>
                </a:solidFill>
                <a:latin typeface="Courier New" pitchFamily="34" charset="0"/>
                <a:ea typeface="Courier New" pitchFamily="34" charset="-122"/>
                <a:cs typeface="Courier New" pitchFamily="34" charset="-120"/>
              </a:rPr>
              <a:t>https://opensearch.org</a:t>
            </a:r>
            <a:endParaRPr lang="en-US" sz="940" dirty="0"/>
          </a:p>
        </p:txBody>
      </p:sp>
      <p:sp>
        <p:nvSpPr>
          <p:cNvPr id="19" name="Text 17"/>
          <p:cNvSpPr txBox="1"/>
          <p:nvPr/>
        </p:nvSpPr>
        <p:spPr>
          <a:xfrm>
            <a:off x="647700" y="6465190"/>
            <a:ext cx="1320403" cy="142875"/>
          </a:xfrm>
          <a:prstGeom prst="rect">
            <a:avLst/>
          </a:prstGeom>
          <a:noFill/>
          <a:ln/>
        </p:spPr>
        <p:txBody>
          <a:bodyPr wrap="none" lIns="0" tIns="0" rIns="0" bIns="0" rtlCol="0" anchor="t"/>
          <a:lstStyle/>
          <a:p>
            <a:pPr algn="l" indent="0" marL="0">
              <a:lnSpc>
                <a:spcPts val="860"/>
              </a:lnSpc>
              <a:buNone/>
            </a:pPr>
            <a:r>
              <a:rPr lang="en-US" sz="720" dirty="0">
                <a:solidFill>
                  <a:srgbClr val="8496A2"/>
                </a:solidFill>
                <a:latin typeface="Courier New" pitchFamily="34" charset="0"/>
                <a:ea typeface="Courier New" pitchFamily="34" charset="-122"/>
                <a:cs typeface="Courier New" pitchFamily="34" charset="-120"/>
              </a:rPr>
              <a:t>Setting the scene</a:t>
            </a:r>
            <a:endParaRPr lang="en-US" sz="720" dirty="0"/>
          </a:p>
        </p:txBody>
      </p:sp>
      <p:sp>
        <p:nvSpPr>
          <p:cNvPr id="20" name="Text 18"/>
          <p:cNvSpPr txBox="1"/>
          <p:nvPr/>
        </p:nvSpPr>
        <p:spPr>
          <a:xfrm>
            <a:off x="11098411" y="6465190"/>
            <a:ext cx="503039" cy="142875"/>
          </a:xfrm>
          <a:prstGeom prst="rect">
            <a:avLst/>
          </a:prstGeom>
          <a:noFill/>
          <a:ln/>
        </p:spPr>
        <p:txBody>
          <a:bodyPr wrap="none" lIns="0" tIns="0" rIns="0" bIns="0" rtlCol="0" anchor="t"/>
          <a:lstStyle/>
          <a:p>
            <a:pPr algn="l" indent="0" marL="0">
              <a:lnSpc>
                <a:spcPts val="860"/>
              </a:lnSpc>
              <a:buNone/>
            </a:pPr>
            <a:r>
              <a:rPr lang="en-US" sz="720" dirty="0">
                <a:solidFill>
                  <a:srgbClr val="8496A2"/>
                </a:solidFill>
                <a:latin typeface="Courier New" pitchFamily="34" charset="0"/>
                <a:ea typeface="Courier New" pitchFamily="34" charset="-122"/>
                <a:cs typeface="Courier New" pitchFamily="34" charset="-120"/>
              </a:rPr>
              <a:t>7 / 39</a:t>
            </a:r>
            <a:endParaRPr lang="en-US" sz="7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A22"/>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10160">
            <a:solidFill>
              <a:srgbClr val="2A3B47"/>
            </a:solidFill>
            <a:prstDash val="solid"/>
          </a:ln>
        </p:spPr>
      </p:sp>
      <p:sp>
        <p:nvSpPr>
          <p:cNvPr id="3" name="Text 1"/>
          <p:cNvSpPr txBox="1"/>
          <p:nvPr/>
        </p:nvSpPr>
        <p:spPr>
          <a:xfrm>
            <a:off x="647700" y="2757785"/>
            <a:ext cx="10953750" cy="1151930"/>
          </a:xfrm>
          <a:prstGeom prst="rect">
            <a:avLst/>
          </a:prstGeom>
          <a:noFill/>
          <a:ln/>
        </p:spPr>
        <p:txBody>
          <a:bodyPr wrap="square" lIns="0" tIns="0" rIns="0" bIns="0" rtlCol="0" anchor="t"/>
          <a:lstStyle/>
          <a:p>
            <a:pPr algn="l" indent="0" marL="0">
              <a:lnSpc>
                <a:spcPts val="4540"/>
              </a:lnSpc>
              <a:buNone/>
            </a:pPr>
            <a:r>
              <a:rPr lang="en-US" sz="4200" b="1" spc="-80" kern="0" dirty="0">
                <a:solidFill>
                  <a:srgbClr val="FFFFFF"/>
                </a:solidFill>
                <a:latin typeface="Arial" pitchFamily="34" charset="0"/>
                <a:ea typeface="Arial" pitchFamily="34" charset="-122"/>
                <a:cs typeface="Arial" pitchFamily="34" charset="-120"/>
              </a:rPr>
              <a:t>How do events travel from Moodle to OpenSearch?</a:t>
            </a:r>
            <a:endParaRPr lang="en-US" sz="4200" dirty="0"/>
          </a:p>
        </p:txBody>
      </p:sp>
      <p:sp>
        <p:nvSpPr>
          <p:cNvPr id="4" name="Text 2"/>
          <p:cNvSpPr txBox="1"/>
          <p:nvPr/>
        </p:nvSpPr>
        <p:spPr>
          <a:xfrm>
            <a:off x="647700" y="6464379"/>
            <a:ext cx="725984"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The chain</a:t>
            </a:r>
            <a:endParaRPr lang="en-US" sz="980" dirty="0"/>
          </a:p>
        </p:txBody>
      </p:sp>
      <p:sp>
        <p:nvSpPr>
          <p:cNvPr id="5" name="Text 3"/>
          <p:cNvSpPr txBox="1"/>
          <p:nvPr/>
        </p:nvSpPr>
        <p:spPr>
          <a:xfrm>
            <a:off x="11098411" y="6464379"/>
            <a:ext cx="503039"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8 / 39</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2522786"/>
            <a:ext cx="1466850" cy="1070521"/>
          </a:xfrm>
          <a:prstGeom prst="roundRect">
            <a:avLst>
              <a:gd name="adj" fmla="val 15200"/>
            </a:avLst>
          </a:prstGeom>
          <a:solidFill>
            <a:srgbClr val="FFFFFF"/>
          </a:solidFill>
          <a:ln w="19050">
            <a:solidFill>
              <a:srgbClr val="CBD7DF"/>
            </a:solidFill>
            <a:prstDash val="solid"/>
          </a:ln>
        </p:spPr>
      </p:sp>
      <p:sp>
        <p:nvSpPr>
          <p:cNvPr id="3" name="Shape 1"/>
          <p:cNvSpPr/>
          <p:nvPr/>
        </p:nvSpPr>
        <p:spPr>
          <a:xfrm>
            <a:off x="2533650" y="2522786"/>
            <a:ext cx="1466850" cy="1070521"/>
          </a:xfrm>
          <a:prstGeom prst="roundRect">
            <a:avLst>
              <a:gd name="adj" fmla="val 15200"/>
            </a:avLst>
          </a:prstGeom>
          <a:solidFill>
            <a:srgbClr val="E1F0F7"/>
          </a:solidFill>
          <a:ln w="19050">
            <a:solidFill>
              <a:srgbClr val="0B6E99"/>
            </a:solidFill>
            <a:prstDash val="solid"/>
          </a:ln>
        </p:spPr>
      </p:sp>
      <p:sp>
        <p:nvSpPr>
          <p:cNvPr id="4" name="Shape 2"/>
          <p:cNvSpPr/>
          <p:nvPr/>
        </p:nvSpPr>
        <p:spPr>
          <a:xfrm>
            <a:off x="4419600" y="2522786"/>
            <a:ext cx="1466850" cy="1070521"/>
          </a:xfrm>
          <a:prstGeom prst="roundRect">
            <a:avLst>
              <a:gd name="adj" fmla="val 15200"/>
            </a:avLst>
          </a:prstGeom>
          <a:solidFill>
            <a:srgbClr val="E1F0F7"/>
          </a:solidFill>
          <a:ln w="19050">
            <a:solidFill>
              <a:srgbClr val="0B6E99"/>
            </a:solidFill>
            <a:prstDash val="solid"/>
          </a:ln>
        </p:spPr>
      </p:sp>
      <p:sp>
        <p:nvSpPr>
          <p:cNvPr id="5" name="Shape 3"/>
          <p:cNvSpPr/>
          <p:nvPr/>
        </p:nvSpPr>
        <p:spPr>
          <a:xfrm>
            <a:off x="6305550" y="2522786"/>
            <a:ext cx="1466850" cy="1070521"/>
          </a:xfrm>
          <a:prstGeom prst="roundRect">
            <a:avLst>
              <a:gd name="adj" fmla="val 15200"/>
            </a:avLst>
          </a:prstGeom>
          <a:solidFill>
            <a:srgbClr val="E1F0F7"/>
          </a:solidFill>
          <a:ln w="19050">
            <a:solidFill>
              <a:srgbClr val="0B6E99"/>
            </a:solidFill>
            <a:prstDash val="solid"/>
          </a:ln>
        </p:spPr>
      </p:sp>
      <p:sp>
        <p:nvSpPr>
          <p:cNvPr id="6" name="Shape 4"/>
          <p:cNvSpPr/>
          <p:nvPr/>
        </p:nvSpPr>
        <p:spPr>
          <a:xfrm>
            <a:off x="8191500" y="2522786"/>
            <a:ext cx="1466850" cy="1070521"/>
          </a:xfrm>
          <a:prstGeom prst="roundRect">
            <a:avLst>
              <a:gd name="adj" fmla="val 15200"/>
            </a:avLst>
          </a:prstGeom>
          <a:solidFill>
            <a:srgbClr val="E1F0F7"/>
          </a:solidFill>
          <a:ln w="19050">
            <a:solidFill>
              <a:srgbClr val="0B6E99"/>
            </a:solidFill>
            <a:prstDash val="solid"/>
          </a:ln>
        </p:spPr>
      </p:sp>
      <p:sp>
        <p:nvSpPr>
          <p:cNvPr id="7" name="Shape 5"/>
          <p:cNvSpPr/>
          <p:nvPr/>
        </p:nvSpPr>
        <p:spPr>
          <a:xfrm>
            <a:off x="10077450" y="2522786"/>
            <a:ext cx="1466850" cy="1070521"/>
          </a:xfrm>
          <a:prstGeom prst="roundRect">
            <a:avLst>
              <a:gd name="adj" fmla="val 15200"/>
            </a:avLst>
          </a:prstGeom>
          <a:solidFill>
            <a:srgbClr val="0B6E99"/>
          </a:solidFill>
          <a:ln w="19050">
            <a:solidFill>
              <a:srgbClr val="0B6E99"/>
            </a:solidFill>
            <a:prstDash val="solid"/>
          </a:ln>
        </p:spPr>
      </p:sp>
      <p:sp>
        <p:nvSpPr>
          <p:cNvPr id="8" name="Shape 6"/>
          <p:cNvSpPr/>
          <p:nvPr/>
        </p:nvSpPr>
        <p:spPr>
          <a:xfrm>
            <a:off x="647700" y="3802856"/>
            <a:ext cx="1466701" cy="0"/>
          </a:xfrm>
          <a:prstGeom prst="line">
            <a:avLst/>
          </a:prstGeom>
          <a:noFill/>
          <a:ln w="19050">
            <a:solidFill>
              <a:srgbClr val="CBD7DF"/>
            </a:solidFill>
            <a:prstDash val="dash"/>
          </a:ln>
        </p:spPr>
      </p:sp>
      <p:sp>
        <p:nvSpPr>
          <p:cNvPr id="9" name="Shape 7"/>
          <p:cNvSpPr/>
          <p:nvPr/>
        </p:nvSpPr>
        <p:spPr>
          <a:xfrm>
            <a:off x="2724001" y="3802856"/>
            <a:ext cx="7124551" cy="0"/>
          </a:xfrm>
          <a:prstGeom prst="line">
            <a:avLst/>
          </a:prstGeom>
          <a:noFill/>
          <a:ln w="19050">
            <a:solidFill>
              <a:srgbClr val="0B6E99"/>
            </a:solidFill>
            <a:prstDash val="dash"/>
          </a:ln>
        </p:spPr>
      </p:sp>
      <p:sp>
        <p:nvSpPr>
          <p:cNvPr id="10" name="Shape 8"/>
          <p:cNvSpPr/>
          <p:nvPr/>
        </p:nvSpPr>
        <p:spPr>
          <a:xfrm>
            <a:off x="10458152" y="3802856"/>
            <a:ext cx="1086148" cy="0"/>
          </a:xfrm>
          <a:prstGeom prst="line">
            <a:avLst/>
          </a:prstGeom>
          <a:noFill/>
          <a:ln w="19050">
            <a:solidFill>
              <a:srgbClr val="0B6E99"/>
            </a:solidFill>
            <a:prstDash val="dash"/>
          </a:ln>
        </p:spPr>
      </p:sp>
      <p:sp>
        <p:nvSpPr>
          <p:cNvPr id="11" name="Shape 9"/>
          <p:cNvSpPr/>
          <p:nvPr/>
        </p:nvSpPr>
        <p:spPr>
          <a:xfrm>
            <a:off x="647700" y="6343650"/>
            <a:ext cx="10896600" cy="0"/>
          </a:xfrm>
          <a:prstGeom prst="line">
            <a:avLst/>
          </a:prstGeom>
          <a:noFill/>
          <a:ln w="10160">
            <a:solidFill>
              <a:srgbClr val="CBD7DF"/>
            </a:solidFill>
            <a:prstDash val="solid"/>
          </a:ln>
        </p:spPr>
      </p:sp>
      <p:sp>
        <p:nvSpPr>
          <p:cNvPr id="12" name="Text 10"/>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HOW THE THREE FIT TOGETHER</a:t>
            </a:r>
            <a:endParaRPr lang="en-US" sz="980" dirty="0"/>
          </a:p>
        </p:txBody>
      </p:sp>
      <p:sp>
        <p:nvSpPr>
          <p:cNvPr id="13" name="Text 11"/>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Why you need both OpenTelemetry and OpenSearch</a:t>
            </a:r>
            <a:endParaRPr lang="en-US" sz="3150" dirty="0"/>
          </a:p>
        </p:txBody>
      </p:sp>
      <p:sp>
        <p:nvSpPr>
          <p:cNvPr id="14" name="Text 12"/>
          <p:cNvSpPr txBox="1"/>
          <p:nvPr/>
        </p:nvSpPr>
        <p:spPr>
          <a:xfrm>
            <a:off x="647700" y="1488847"/>
            <a:ext cx="10953750" cy="742950"/>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Moodle produces the data. OpenTelemetry records it and sends it. OpenSearch keeps it and searches it.</a:t>
            </a:r>
            <a:endParaRPr lang="en-US" sz="1950" dirty="0"/>
          </a:p>
        </p:txBody>
      </p:sp>
      <p:sp>
        <p:nvSpPr>
          <p:cNvPr id="15" name="Text 13"/>
          <p:cNvSpPr txBox="1"/>
          <p:nvPr/>
        </p:nvSpPr>
        <p:spPr>
          <a:xfrm>
            <a:off x="752475" y="2672328"/>
            <a:ext cx="1257300" cy="137160"/>
          </a:xfrm>
          <a:prstGeom prst="rect">
            <a:avLst/>
          </a:prstGeom>
          <a:noFill/>
          <a:ln/>
        </p:spPr>
        <p:txBody>
          <a:bodyPr wrap="none" lIns="0" tIns="0" rIns="0" bIns="0" rtlCol="0" anchor="t"/>
          <a:lstStyle/>
          <a:p>
            <a:pPr algn="ctr" indent="0" marL="0">
              <a:lnSpc>
                <a:spcPts val="1080"/>
              </a:lnSpc>
              <a:buNone/>
            </a:pPr>
            <a:r>
              <a:rPr lang="en-US" sz="900" dirty="0">
                <a:solidFill>
                  <a:srgbClr val="0B6E99"/>
                </a:solidFill>
                <a:latin typeface="Courier New" pitchFamily="34" charset="0"/>
                <a:ea typeface="Courier New" pitchFamily="34" charset="-122"/>
                <a:cs typeface="Courier New" pitchFamily="34" charset="-120"/>
              </a:rPr>
              <a:t>1</a:t>
            </a:r>
            <a:endParaRPr lang="en-US" sz="900" dirty="0"/>
          </a:p>
        </p:txBody>
      </p:sp>
      <p:sp>
        <p:nvSpPr>
          <p:cNvPr id="16" name="Text 14"/>
          <p:cNvSpPr txBox="1"/>
          <p:nvPr/>
        </p:nvSpPr>
        <p:spPr>
          <a:xfrm>
            <a:off x="752475" y="2858542"/>
            <a:ext cx="1257300" cy="178594"/>
          </a:xfrm>
          <a:prstGeom prst="rect">
            <a:avLst/>
          </a:prstGeom>
          <a:noFill/>
          <a:ln/>
        </p:spPr>
        <p:txBody>
          <a:bodyPr wrap="none" lIns="0" tIns="0" rIns="0" bIns="0" rtlCol="0" anchor="t"/>
          <a:lstStyle/>
          <a:p>
            <a:pPr algn="ctr" indent="0" marL="0">
              <a:lnSpc>
                <a:spcPts val="1410"/>
              </a:lnSpc>
              <a:buNone/>
            </a:pPr>
            <a:r>
              <a:rPr lang="en-US" sz="1130" b="1" dirty="0">
                <a:solidFill>
                  <a:srgbClr val="101A22"/>
                </a:solidFill>
                <a:latin typeface="Courier New" pitchFamily="34" charset="0"/>
                <a:ea typeface="Courier New" pitchFamily="34" charset="-122"/>
                <a:cs typeface="Courier New" pitchFamily="34" charset="-120"/>
              </a:rPr>
              <a:t>Moodle 5.2</a:t>
            </a:r>
            <a:endParaRPr lang="en-US" sz="1130" dirty="0"/>
          </a:p>
        </p:txBody>
      </p:sp>
      <p:sp>
        <p:nvSpPr>
          <p:cNvPr id="17" name="Text 15"/>
          <p:cNvSpPr txBox="1"/>
          <p:nvPr/>
        </p:nvSpPr>
        <p:spPr>
          <a:xfrm>
            <a:off x="752475" y="3092142"/>
            <a:ext cx="1257300" cy="321766"/>
          </a:xfrm>
          <a:prstGeom prst="rect">
            <a:avLst/>
          </a:prstGeom>
          <a:noFill/>
          <a:ln/>
        </p:spPr>
        <p:txBody>
          <a:bodyPr wrap="square" lIns="0" tIns="0" rIns="0" bIns="0" rtlCol="0" anchor="t"/>
          <a:lstStyle/>
          <a:p>
            <a:pPr algn="ctr" indent="0" marL="0">
              <a:lnSpc>
                <a:spcPts val="1270"/>
              </a:lnSpc>
              <a:buNone/>
            </a:pPr>
            <a:r>
              <a:rPr lang="en-US" sz="980" dirty="0">
                <a:solidFill>
                  <a:srgbClr val="5A6D7A"/>
                </a:solidFill>
                <a:latin typeface="Arial" pitchFamily="34" charset="0"/>
                <a:ea typeface="Arial" pitchFamily="34" charset="-122"/>
                <a:cs typeface="Arial" pitchFamily="34" charset="-120"/>
              </a:rPr>
              <a:t>the source of the events and timings</a:t>
            </a:r>
            <a:endParaRPr lang="en-US" sz="980" dirty="0"/>
          </a:p>
        </p:txBody>
      </p:sp>
      <p:sp>
        <p:nvSpPr>
          <p:cNvPr id="18" name="Text 16"/>
          <p:cNvSpPr txBox="1"/>
          <p:nvPr/>
        </p:nvSpPr>
        <p:spPr>
          <a:xfrm>
            <a:off x="2114550" y="2517547"/>
            <a:ext cx="476250" cy="1070521"/>
          </a:xfrm>
          <a:prstGeom prst="rect">
            <a:avLst/>
          </a:prstGeom>
          <a:noFill/>
          <a:ln/>
        </p:spPr>
        <p:txBody>
          <a:bodyPr wrap="none" lIns="0" tIns="0" rIns="0" bIns="0" rtlCol="0" anchor="t"/>
          <a:lstStyle/>
          <a:p>
            <a:pPr algn="l" indent="0" marL="0">
              <a:lnSpc>
                <a:spcPts val="1980"/>
              </a:lnSpc>
              <a:buNone/>
            </a:pPr>
            <a:r>
              <a:rPr lang="en-US" sz="1650" dirty="0">
                <a:solidFill>
                  <a:srgbClr val="0B6E99"/>
                </a:solidFill>
                <a:latin typeface="Arial" pitchFamily="34" charset="0"/>
                <a:ea typeface="Arial" pitchFamily="34" charset="-122"/>
                <a:cs typeface="Arial" pitchFamily="34" charset="-120"/>
              </a:rPr>
              <a:t>→</a:t>
            </a:r>
            <a:endParaRPr lang="en-US" sz="1650" dirty="0"/>
          </a:p>
        </p:txBody>
      </p:sp>
      <p:sp>
        <p:nvSpPr>
          <p:cNvPr id="19" name="Text 17"/>
          <p:cNvSpPr txBox="1"/>
          <p:nvPr/>
        </p:nvSpPr>
        <p:spPr>
          <a:xfrm>
            <a:off x="2638425" y="2672328"/>
            <a:ext cx="1257300" cy="137160"/>
          </a:xfrm>
          <a:prstGeom prst="rect">
            <a:avLst/>
          </a:prstGeom>
          <a:noFill/>
          <a:ln/>
        </p:spPr>
        <p:txBody>
          <a:bodyPr wrap="none" lIns="0" tIns="0" rIns="0" bIns="0" rtlCol="0" anchor="t"/>
          <a:lstStyle/>
          <a:p>
            <a:pPr algn="ctr" indent="0" marL="0">
              <a:lnSpc>
                <a:spcPts val="1080"/>
              </a:lnSpc>
              <a:buNone/>
            </a:pPr>
            <a:r>
              <a:rPr lang="en-US" sz="900" dirty="0">
                <a:solidFill>
                  <a:srgbClr val="0B6E99"/>
                </a:solidFill>
                <a:latin typeface="Courier New" pitchFamily="34" charset="0"/>
                <a:ea typeface="Courier New" pitchFamily="34" charset="-122"/>
                <a:cs typeface="Courier New" pitchFamily="34" charset="-120"/>
              </a:rPr>
              <a:t>2</a:t>
            </a:r>
            <a:endParaRPr lang="en-US" sz="900" dirty="0"/>
          </a:p>
        </p:txBody>
      </p:sp>
      <p:sp>
        <p:nvSpPr>
          <p:cNvPr id="20" name="Text 18"/>
          <p:cNvSpPr txBox="1"/>
          <p:nvPr/>
        </p:nvSpPr>
        <p:spPr>
          <a:xfrm>
            <a:off x="2638425" y="2858542"/>
            <a:ext cx="1257300" cy="178594"/>
          </a:xfrm>
          <a:prstGeom prst="rect">
            <a:avLst/>
          </a:prstGeom>
          <a:noFill/>
          <a:ln/>
        </p:spPr>
        <p:txBody>
          <a:bodyPr wrap="none" lIns="0" tIns="0" rIns="0" bIns="0" rtlCol="0" anchor="t"/>
          <a:lstStyle/>
          <a:p>
            <a:pPr algn="ctr" indent="0" marL="0">
              <a:lnSpc>
                <a:spcPts val="1410"/>
              </a:lnSpc>
              <a:buNone/>
            </a:pPr>
            <a:r>
              <a:rPr lang="en-US" sz="1130" b="1" dirty="0">
                <a:solidFill>
                  <a:srgbClr val="101A22"/>
                </a:solidFill>
                <a:latin typeface="Courier New" pitchFamily="34" charset="0"/>
                <a:ea typeface="Courier New" pitchFamily="34" charset="-122"/>
                <a:cs typeface="Courier New" pitchFamily="34" charset="-120"/>
              </a:rPr>
              <a:t>PHP extension</a:t>
            </a:r>
            <a:endParaRPr lang="en-US" sz="1130" dirty="0"/>
          </a:p>
        </p:txBody>
      </p:sp>
      <p:sp>
        <p:nvSpPr>
          <p:cNvPr id="21" name="Text 19"/>
          <p:cNvSpPr txBox="1"/>
          <p:nvPr/>
        </p:nvSpPr>
        <p:spPr>
          <a:xfrm>
            <a:off x="2638425" y="3092142"/>
            <a:ext cx="1257300" cy="321766"/>
          </a:xfrm>
          <a:prstGeom prst="rect">
            <a:avLst/>
          </a:prstGeom>
          <a:noFill/>
          <a:ln/>
        </p:spPr>
        <p:txBody>
          <a:bodyPr wrap="square" lIns="0" tIns="0" rIns="0" bIns="0" rtlCol="0" anchor="t"/>
          <a:lstStyle/>
          <a:p>
            <a:pPr algn="ctr" indent="0" marL="0">
              <a:lnSpc>
                <a:spcPts val="1270"/>
              </a:lnSpc>
              <a:buNone/>
            </a:pPr>
            <a:r>
              <a:rPr lang="en-US" sz="980" dirty="0">
                <a:solidFill>
                  <a:srgbClr val="5A6D7A"/>
                </a:solidFill>
                <a:latin typeface="Arial" pitchFamily="34" charset="0"/>
                <a:ea typeface="Arial" pitchFamily="34" charset="-122"/>
                <a:cs typeface="Arial" pitchFamily="34" charset="-120"/>
              </a:rPr>
              <a:t>hooks into running PHP code</a:t>
            </a:r>
            <a:endParaRPr lang="en-US" sz="980" dirty="0"/>
          </a:p>
        </p:txBody>
      </p:sp>
      <p:sp>
        <p:nvSpPr>
          <p:cNvPr id="22" name="Text 20"/>
          <p:cNvSpPr txBox="1"/>
          <p:nvPr/>
        </p:nvSpPr>
        <p:spPr>
          <a:xfrm>
            <a:off x="4000500" y="2517547"/>
            <a:ext cx="476250" cy="1070521"/>
          </a:xfrm>
          <a:prstGeom prst="rect">
            <a:avLst/>
          </a:prstGeom>
          <a:noFill/>
          <a:ln/>
        </p:spPr>
        <p:txBody>
          <a:bodyPr wrap="none" lIns="0" tIns="0" rIns="0" bIns="0" rtlCol="0" anchor="t"/>
          <a:lstStyle/>
          <a:p>
            <a:pPr algn="l" indent="0" marL="0">
              <a:lnSpc>
                <a:spcPts val="1980"/>
              </a:lnSpc>
              <a:buNone/>
            </a:pPr>
            <a:r>
              <a:rPr lang="en-US" sz="1650" dirty="0">
                <a:solidFill>
                  <a:srgbClr val="0B6E99"/>
                </a:solidFill>
                <a:latin typeface="Arial" pitchFamily="34" charset="0"/>
                <a:ea typeface="Arial" pitchFamily="34" charset="-122"/>
                <a:cs typeface="Arial" pitchFamily="34" charset="-120"/>
              </a:rPr>
              <a:t>→</a:t>
            </a:r>
            <a:endParaRPr lang="en-US" sz="1650" dirty="0"/>
          </a:p>
        </p:txBody>
      </p:sp>
      <p:sp>
        <p:nvSpPr>
          <p:cNvPr id="23" name="Text 21"/>
          <p:cNvSpPr txBox="1"/>
          <p:nvPr/>
        </p:nvSpPr>
        <p:spPr>
          <a:xfrm>
            <a:off x="4524375" y="2672328"/>
            <a:ext cx="1257300" cy="137160"/>
          </a:xfrm>
          <a:prstGeom prst="rect">
            <a:avLst/>
          </a:prstGeom>
          <a:noFill/>
          <a:ln/>
        </p:spPr>
        <p:txBody>
          <a:bodyPr wrap="none" lIns="0" tIns="0" rIns="0" bIns="0" rtlCol="0" anchor="t"/>
          <a:lstStyle/>
          <a:p>
            <a:pPr algn="ctr" indent="0" marL="0">
              <a:lnSpc>
                <a:spcPts val="1080"/>
              </a:lnSpc>
              <a:buNone/>
            </a:pPr>
            <a:r>
              <a:rPr lang="en-US" sz="900" dirty="0">
                <a:solidFill>
                  <a:srgbClr val="0B6E99"/>
                </a:solidFill>
                <a:latin typeface="Courier New" pitchFamily="34" charset="0"/>
                <a:ea typeface="Courier New" pitchFamily="34" charset="-122"/>
                <a:cs typeface="Courier New" pitchFamily="34" charset="-120"/>
              </a:rPr>
              <a:t>3</a:t>
            </a:r>
            <a:endParaRPr lang="en-US" sz="900" dirty="0"/>
          </a:p>
        </p:txBody>
      </p:sp>
      <p:sp>
        <p:nvSpPr>
          <p:cNvPr id="24" name="Text 22"/>
          <p:cNvSpPr txBox="1"/>
          <p:nvPr/>
        </p:nvSpPr>
        <p:spPr>
          <a:xfrm>
            <a:off x="4524375" y="2858542"/>
            <a:ext cx="1257300" cy="357188"/>
          </a:xfrm>
          <a:prstGeom prst="rect">
            <a:avLst/>
          </a:prstGeom>
          <a:noFill/>
          <a:ln/>
        </p:spPr>
        <p:txBody>
          <a:bodyPr wrap="square" lIns="0" tIns="0" rIns="0" bIns="0" rtlCol="0" anchor="t"/>
          <a:lstStyle/>
          <a:p>
            <a:pPr algn="ctr" indent="0" marL="0">
              <a:lnSpc>
                <a:spcPts val="1410"/>
              </a:lnSpc>
              <a:buNone/>
            </a:pPr>
            <a:r>
              <a:rPr lang="en-US" sz="1130" b="1" dirty="0">
                <a:solidFill>
                  <a:srgbClr val="101A22"/>
                </a:solidFill>
                <a:latin typeface="Courier New" pitchFamily="34" charset="0"/>
                <a:ea typeface="Courier New" pitchFamily="34" charset="-122"/>
                <a:cs typeface="Courier New" pitchFamily="34" charset="-120"/>
              </a:rPr>
              <a:t>Moodle package</a:t>
            </a:r>
            <a:endParaRPr lang="en-US" sz="1130" dirty="0"/>
          </a:p>
        </p:txBody>
      </p:sp>
      <p:sp>
        <p:nvSpPr>
          <p:cNvPr id="25" name="Text 23"/>
          <p:cNvSpPr txBox="1"/>
          <p:nvPr/>
        </p:nvSpPr>
        <p:spPr>
          <a:xfrm>
            <a:off x="4524375" y="3270736"/>
            <a:ext cx="1257300" cy="160973"/>
          </a:xfrm>
          <a:prstGeom prst="rect">
            <a:avLst/>
          </a:prstGeom>
          <a:noFill/>
          <a:ln/>
        </p:spPr>
        <p:txBody>
          <a:bodyPr wrap="none" lIns="0" tIns="0" rIns="0" bIns="0" rtlCol="0" anchor="t"/>
          <a:lstStyle/>
          <a:p>
            <a:pPr algn="ctr" indent="0" marL="0">
              <a:lnSpc>
                <a:spcPts val="1270"/>
              </a:lnSpc>
              <a:buNone/>
            </a:pPr>
            <a:r>
              <a:rPr lang="en-US" sz="980" dirty="0">
                <a:solidFill>
                  <a:srgbClr val="5A6D7A"/>
                </a:solidFill>
                <a:latin typeface="Arial" pitchFamily="34" charset="0"/>
                <a:ea typeface="Arial" pitchFamily="34" charset="-122"/>
                <a:cs typeface="Arial" pitchFamily="34" charset="-120"/>
              </a:rPr>
              <a:t>knows what to time</a:t>
            </a:r>
            <a:endParaRPr lang="en-US" sz="980" dirty="0"/>
          </a:p>
        </p:txBody>
      </p:sp>
      <p:sp>
        <p:nvSpPr>
          <p:cNvPr id="26" name="Text 24"/>
          <p:cNvSpPr txBox="1"/>
          <p:nvPr/>
        </p:nvSpPr>
        <p:spPr>
          <a:xfrm>
            <a:off x="5886450" y="2517547"/>
            <a:ext cx="476250" cy="1070521"/>
          </a:xfrm>
          <a:prstGeom prst="rect">
            <a:avLst/>
          </a:prstGeom>
          <a:noFill/>
          <a:ln/>
        </p:spPr>
        <p:txBody>
          <a:bodyPr wrap="none" lIns="0" tIns="0" rIns="0" bIns="0" rtlCol="0" anchor="t"/>
          <a:lstStyle/>
          <a:p>
            <a:pPr algn="l" indent="0" marL="0">
              <a:lnSpc>
                <a:spcPts val="1980"/>
              </a:lnSpc>
              <a:buNone/>
            </a:pPr>
            <a:r>
              <a:rPr lang="en-US" sz="1650" dirty="0">
                <a:solidFill>
                  <a:srgbClr val="0B6E99"/>
                </a:solidFill>
                <a:latin typeface="Arial" pitchFamily="34" charset="0"/>
                <a:ea typeface="Arial" pitchFamily="34" charset="-122"/>
                <a:cs typeface="Arial" pitchFamily="34" charset="-120"/>
              </a:rPr>
              <a:t>→</a:t>
            </a:r>
            <a:endParaRPr lang="en-US" sz="1650" dirty="0"/>
          </a:p>
        </p:txBody>
      </p:sp>
      <p:sp>
        <p:nvSpPr>
          <p:cNvPr id="27" name="Text 25"/>
          <p:cNvSpPr txBox="1"/>
          <p:nvPr/>
        </p:nvSpPr>
        <p:spPr>
          <a:xfrm>
            <a:off x="6410325" y="2672328"/>
            <a:ext cx="1257300" cy="137160"/>
          </a:xfrm>
          <a:prstGeom prst="rect">
            <a:avLst/>
          </a:prstGeom>
          <a:noFill/>
          <a:ln/>
        </p:spPr>
        <p:txBody>
          <a:bodyPr wrap="none" lIns="0" tIns="0" rIns="0" bIns="0" rtlCol="0" anchor="t"/>
          <a:lstStyle/>
          <a:p>
            <a:pPr algn="ctr" indent="0" marL="0">
              <a:lnSpc>
                <a:spcPts val="1080"/>
              </a:lnSpc>
              <a:buNone/>
            </a:pPr>
            <a:r>
              <a:rPr lang="en-US" sz="900" dirty="0">
                <a:solidFill>
                  <a:srgbClr val="0B6E99"/>
                </a:solidFill>
                <a:latin typeface="Courier New" pitchFamily="34" charset="0"/>
                <a:ea typeface="Courier New" pitchFamily="34" charset="-122"/>
                <a:cs typeface="Courier New" pitchFamily="34" charset="-120"/>
              </a:rPr>
              <a:t>4</a:t>
            </a:r>
            <a:endParaRPr lang="en-US" sz="900" dirty="0"/>
          </a:p>
        </p:txBody>
      </p:sp>
      <p:sp>
        <p:nvSpPr>
          <p:cNvPr id="28" name="Text 26"/>
          <p:cNvSpPr txBox="1"/>
          <p:nvPr/>
        </p:nvSpPr>
        <p:spPr>
          <a:xfrm>
            <a:off x="6410325" y="2858542"/>
            <a:ext cx="1257300" cy="357188"/>
          </a:xfrm>
          <a:prstGeom prst="rect">
            <a:avLst/>
          </a:prstGeom>
          <a:noFill/>
          <a:ln/>
        </p:spPr>
        <p:txBody>
          <a:bodyPr wrap="square" lIns="0" tIns="0" rIns="0" bIns="0" rtlCol="0" anchor="t"/>
          <a:lstStyle/>
          <a:p>
            <a:pPr algn="ctr" indent="0" marL="0">
              <a:lnSpc>
                <a:spcPts val="1410"/>
              </a:lnSpc>
              <a:buNone/>
            </a:pPr>
            <a:r>
              <a:rPr lang="en-US" sz="1130" b="1" dirty="0">
                <a:solidFill>
                  <a:srgbClr val="101A22"/>
                </a:solidFill>
                <a:latin typeface="Courier New" pitchFamily="34" charset="0"/>
                <a:ea typeface="Courier New" pitchFamily="34" charset="-122"/>
                <a:cs typeface="Courier New" pitchFamily="34" charset="-120"/>
              </a:rPr>
              <a:t>sdk + exporter</a:t>
            </a:r>
            <a:endParaRPr lang="en-US" sz="1130" dirty="0"/>
          </a:p>
        </p:txBody>
      </p:sp>
      <p:sp>
        <p:nvSpPr>
          <p:cNvPr id="29" name="Text 27"/>
          <p:cNvSpPr txBox="1"/>
          <p:nvPr/>
        </p:nvSpPr>
        <p:spPr>
          <a:xfrm>
            <a:off x="6410325" y="3270736"/>
            <a:ext cx="1257300" cy="160973"/>
          </a:xfrm>
          <a:prstGeom prst="rect">
            <a:avLst/>
          </a:prstGeom>
          <a:noFill/>
          <a:ln/>
        </p:spPr>
        <p:txBody>
          <a:bodyPr wrap="none" lIns="0" tIns="0" rIns="0" bIns="0" rtlCol="0" anchor="t"/>
          <a:lstStyle/>
          <a:p>
            <a:pPr algn="ctr" indent="0" marL="0">
              <a:lnSpc>
                <a:spcPts val="1270"/>
              </a:lnSpc>
              <a:buNone/>
            </a:pPr>
            <a:r>
              <a:rPr lang="en-US" sz="980" dirty="0">
                <a:solidFill>
                  <a:srgbClr val="5A6D7A"/>
                </a:solidFill>
                <a:latin typeface="Arial" pitchFamily="34" charset="0"/>
                <a:ea typeface="Arial" pitchFamily="34" charset="-122"/>
                <a:cs typeface="Arial" pitchFamily="34" charset="-120"/>
              </a:rPr>
              <a:t>packs and sends</a:t>
            </a:r>
            <a:endParaRPr lang="en-US" sz="980" dirty="0"/>
          </a:p>
        </p:txBody>
      </p:sp>
      <p:sp>
        <p:nvSpPr>
          <p:cNvPr id="30" name="Text 28"/>
          <p:cNvSpPr txBox="1"/>
          <p:nvPr/>
        </p:nvSpPr>
        <p:spPr>
          <a:xfrm>
            <a:off x="7772400" y="2517547"/>
            <a:ext cx="476250" cy="1070521"/>
          </a:xfrm>
          <a:prstGeom prst="rect">
            <a:avLst/>
          </a:prstGeom>
          <a:noFill/>
          <a:ln/>
        </p:spPr>
        <p:txBody>
          <a:bodyPr wrap="none" lIns="0" tIns="0" rIns="0" bIns="0" rtlCol="0" anchor="t"/>
          <a:lstStyle/>
          <a:p>
            <a:pPr algn="l" indent="0" marL="0">
              <a:lnSpc>
                <a:spcPts val="1980"/>
              </a:lnSpc>
              <a:buNone/>
            </a:pPr>
            <a:r>
              <a:rPr lang="en-US" sz="1650" dirty="0">
                <a:solidFill>
                  <a:srgbClr val="0B6E99"/>
                </a:solidFill>
                <a:latin typeface="Arial" pitchFamily="34" charset="0"/>
                <a:ea typeface="Arial" pitchFamily="34" charset="-122"/>
                <a:cs typeface="Arial" pitchFamily="34" charset="-120"/>
              </a:rPr>
              <a:t>→</a:t>
            </a:r>
            <a:endParaRPr lang="en-US" sz="1650" dirty="0"/>
          </a:p>
        </p:txBody>
      </p:sp>
      <p:sp>
        <p:nvSpPr>
          <p:cNvPr id="31" name="Text 29"/>
          <p:cNvSpPr txBox="1"/>
          <p:nvPr/>
        </p:nvSpPr>
        <p:spPr>
          <a:xfrm>
            <a:off x="8296275" y="2672328"/>
            <a:ext cx="1257300" cy="137160"/>
          </a:xfrm>
          <a:prstGeom prst="rect">
            <a:avLst/>
          </a:prstGeom>
          <a:noFill/>
          <a:ln/>
        </p:spPr>
        <p:txBody>
          <a:bodyPr wrap="none" lIns="0" tIns="0" rIns="0" bIns="0" rtlCol="0" anchor="t"/>
          <a:lstStyle/>
          <a:p>
            <a:pPr algn="ctr" indent="0" marL="0">
              <a:lnSpc>
                <a:spcPts val="1080"/>
              </a:lnSpc>
              <a:buNone/>
            </a:pPr>
            <a:r>
              <a:rPr lang="en-US" sz="900" dirty="0">
                <a:solidFill>
                  <a:srgbClr val="0B6E99"/>
                </a:solidFill>
                <a:latin typeface="Courier New" pitchFamily="34" charset="0"/>
                <a:ea typeface="Courier New" pitchFamily="34" charset="-122"/>
                <a:cs typeface="Courier New" pitchFamily="34" charset="-120"/>
              </a:rPr>
              <a:t>5</a:t>
            </a:r>
            <a:endParaRPr lang="en-US" sz="900" dirty="0"/>
          </a:p>
        </p:txBody>
      </p:sp>
      <p:sp>
        <p:nvSpPr>
          <p:cNvPr id="32" name="Text 30"/>
          <p:cNvSpPr txBox="1"/>
          <p:nvPr/>
        </p:nvSpPr>
        <p:spPr>
          <a:xfrm>
            <a:off x="8296275" y="2858542"/>
            <a:ext cx="1257300" cy="357188"/>
          </a:xfrm>
          <a:prstGeom prst="rect">
            <a:avLst/>
          </a:prstGeom>
          <a:noFill/>
          <a:ln/>
        </p:spPr>
        <p:txBody>
          <a:bodyPr wrap="square" lIns="0" tIns="0" rIns="0" bIns="0" rtlCol="0" anchor="t"/>
          <a:lstStyle/>
          <a:p>
            <a:pPr algn="ctr" indent="0" marL="0">
              <a:lnSpc>
                <a:spcPts val="1410"/>
              </a:lnSpc>
              <a:buNone/>
            </a:pPr>
            <a:r>
              <a:rPr lang="en-US" sz="1130" b="1" dirty="0">
                <a:solidFill>
                  <a:srgbClr val="101A22"/>
                </a:solidFill>
                <a:latin typeface="Courier New" pitchFamily="34" charset="0"/>
                <a:ea typeface="Courier New" pitchFamily="34" charset="-122"/>
                <a:cs typeface="Courier New" pitchFamily="34" charset="-120"/>
              </a:rPr>
              <a:t>OpenTelemetry Collector</a:t>
            </a:r>
            <a:endParaRPr lang="en-US" sz="1130" dirty="0"/>
          </a:p>
        </p:txBody>
      </p:sp>
      <p:sp>
        <p:nvSpPr>
          <p:cNvPr id="33" name="Text 31"/>
          <p:cNvSpPr txBox="1"/>
          <p:nvPr/>
        </p:nvSpPr>
        <p:spPr>
          <a:xfrm>
            <a:off x="8296275" y="3270736"/>
            <a:ext cx="1257300" cy="160973"/>
          </a:xfrm>
          <a:prstGeom prst="rect">
            <a:avLst/>
          </a:prstGeom>
          <a:noFill/>
          <a:ln/>
        </p:spPr>
        <p:txBody>
          <a:bodyPr wrap="none" lIns="0" tIns="0" rIns="0" bIns="0" rtlCol="0" anchor="t"/>
          <a:lstStyle/>
          <a:p>
            <a:pPr algn="ctr" indent="0" marL="0">
              <a:lnSpc>
                <a:spcPts val="1270"/>
              </a:lnSpc>
              <a:buNone/>
            </a:pPr>
            <a:r>
              <a:rPr lang="en-US" sz="980" dirty="0">
                <a:solidFill>
                  <a:srgbClr val="5A6D7A"/>
                </a:solidFill>
                <a:latin typeface="Arial" pitchFamily="34" charset="0"/>
                <a:ea typeface="Arial" pitchFamily="34" charset="-122"/>
                <a:cs typeface="Arial" pitchFamily="34" charset="-120"/>
              </a:rPr>
              <a:t>receives, forwards</a:t>
            </a:r>
            <a:endParaRPr lang="en-US" sz="980" dirty="0"/>
          </a:p>
        </p:txBody>
      </p:sp>
      <p:sp>
        <p:nvSpPr>
          <p:cNvPr id="34" name="Text 32"/>
          <p:cNvSpPr txBox="1"/>
          <p:nvPr/>
        </p:nvSpPr>
        <p:spPr>
          <a:xfrm>
            <a:off x="9658350" y="2517547"/>
            <a:ext cx="476250" cy="1070521"/>
          </a:xfrm>
          <a:prstGeom prst="rect">
            <a:avLst/>
          </a:prstGeom>
          <a:noFill/>
          <a:ln/>
        </p:spPr>
        <p:txBody>
          <a:bodyPr wrap="none" lIns="0" tIns="0" rIns="0" bIns="0" rtlCol="0" anchor="t"/>
          <a:lstStyle/>
          <a:p>
            <a:pPr algn="l" indent="0" marL="0">
              <a:lnSpc>
                <a:spcPts val="1980"/>
              </a:lnSpc>
              <a:buNone/>
            </a:pPr>
            <a:r>
              <a:rPr lang="en-US" sz="1650" dirty="0">
                <a:solidFill>
                  <a:srgbClr val="0B6E99"/>
                </a:solidFill>
                <a:latin typeface="Arial" pitchFamily="34" charset="0"/>
                <a:ea typeface="Arial" pitchFamily="34" charset="-122"/>
                <a:cs typeface="Arial" pitchFamily="34" charset="-120"/>
              </a:rPr>
              <a:t>→</a:t>
            </a:r>
            <a:endParaRPr lang="en-US" sz="1650" dirty="0"/>
          </a:p>
        </p:txBody>
      </p:sp>
      <p:sp>
        <p:nvSpPr>
          <p:cNvPr id="35" name="Text 33"/>
          <p:cNvSpPr txBox="1"/>
          <p:nvPr/>
        </p:nvSpPr>
        <p:spPr>
          <a:xfrm>
            <a:off x="10182225" y="2672328"/>
            <a:ext cx="1257300" cy="137160"/>
          </a:xfrm>
          <a:prstGeom prst="rect">
            <a:avLst/>
          </a:prstGeom>
          <a:noFill/>
          <a:ln/>
        </p:spPr>
        <p:txBody>
          <a:bodyPr wrap="none" lIns="0" tIns="0" rIns="0" bIns="0" rtlCol="0" anchor="t"/>
          <a:lstStyle/>
          <a:p>
            <a:pPr algn="ctr" indent="0" marL="0">
              <a:lnSpc>
                <a:spcPts val="1080"/>
              </a:lnSpc>
              <a:buNone/>
            </a:pPr>
            <a:r>
              <a:rPr lang="en-US" sz="900" dirty="0">
                <a:solidFill>
                  <a:srgbClr val="FFFFFF"/>
                </a:solidFill>
                <a:latin typeface="Courier New" pitchFamily="34" charset="0"/>
                <a:ea typeface="Courier New" pitchFamily="34" charset="-122"/>
                <a:cs typeface="Courier New" pitchFamily="34" charset="-120"/>
              </a:rPr>
              <a:t>6</a:t>
            </a:r>
            <a:endParaRPr lang="en-US" sz="900" dirty="0"/>
          </a:p>
        </p:txBody>
      </p:sp>
      <p:sp>
        <p:nvSpPr>
          <p:cNvPr id="36" name="Text 34"/>
          <p:cNvSpPr txBox="1"/>
          <p:nvPr/>
        </p:nvSpPr>
        <p:spPr>
          <a:xfrm>
            <a:off x="10182225" y="2858542"/>
            <a:ext cx="1257300" cy="178594"/>
          </a:xfrm>
          <a:prstGeom prst="rect">
            <a:avLst/>
          </a:prstGeom>
          <a:noFill/>
          <a:ln/>
        </p:spPr>
        <p:txBody>
          <a:bodyPr wrap="none" lIns="0" tIns="0" rIns="0" bIns="0" rtlCol="0" anchor="t"/>
          <a:lstStyle/>
          <a:p>
            <a:pPr algn="ctr" indent="0" marL="0">
              <a:lnSpc>
                <a:spcPts val="1410"/>
              </a:lnSpc>
              <a:buNone/>
            </a:pPr>
            <a:r>
              <a:rPr lang="en-US" sz="1130" b="1" dirty="0">
                <a:solidFill>
                  <a:srgbClr val="FFFFFF"/>
                </a:solidFill>
                <a:latin typeface="Courier New" pitchFamily="34" charset="0"/>
                <a:ea typeface="Courier New" pitchFamily="34" charset="-122"/>
                <a:cs typeface="Courier New" pitchFamily="34" charset="-120"/>
              </a:rPr>
              <a:t>OpenSearch</a:t>
            </a:r>
            <a:endParaRPr lang="en-US" sz="1130" dirty="0"/>
          </a:p>
        </p:txBody>
      </p:sp>
      <p:sp>
        <p:nvSpPr>
          <p:cNvPr id="37" name="Text 35"/>
          <p:cNvSpPr txBox="1"/>
          <p:nvPr/>
        </p:nvSpPr>
        <p:spPr>
          <a:xfrm>
            <a:off x="10182225" y="3092142"/>
            <a:ext cx="1257300" cy="160973"/>
          </a:xfrm>
          <a:prstGeom prst="rect">
            <a:avLst/>
          </a:prstGeom>
          <a:noFill/>
          <a:ln/>
        </p:spPr>
        <p:txBody>
          <a:bodyPr wrap="none" lIns="0" tIns="0" rIns="0" bIns="0" rtlCol="0" anchor="t"/>
          <a:lstStyle/>
          <a:p>
            <a:pPr algn="ctr" indent="0" marL="0">
              <a:lnSpc>
                <a:spcPts val="1270"/>
              </a:lnSpc>
              <a:buNone/>
            </a:pPr>
            <a:r>
              <a:rPr lang="en-US" sz="980" dirty="0">
                <a:solidFill>
                  <a:srgbClr val="FFFFFF"/>
                </a:solidFill>
                <a:latin typeface="Arial" pitchFamily="34" charset="0"/>
                <a:ea typeface="Arial" pitchFamily="34" charset="-122"/>
                <a:cs typeface="Arial" pitchFamily="34" charset="-120"/>
              </a:rPr>
              <a:t>stores, searches</a:t>
            </a:r>
            <a:endParaRPr lang="en-US" sz="980" dirty="0"/>
          </a:p>
        </p:txBody>
      </p:sp>
      <p:sp>
        <p:nvSpPr>
          <p:cNvPr id="38" name="Text 36"/>
          <p:cNvSpPr txBox="1"/>
          <p:nvPr/>
        </p:nvSpPr>
        <p:spPr>
          <a:xfrm>
            <a:off x="619125" y="3895011"/>
            <a:ext cx="1523851" cy="438150"/>
          </a:xfrm>
          <a:prstGeom prst="rect">
            <a:avLst/>
          </a:prstGeom>
          <a:noFill/>
          <a:ln/>
        </p:spPr>
        <p:txBody>
          <a:bodyPr wrap="none" lIns="0" tIns="0" rIns="0" bIns="0" rtlCol="0" anchor="t"/>
          <a:lstStyle/>
          <a:p>
            <a:pPr algn="ctr" indent="0" marL="0">
              <a:lnSpc>
                <a:spcPts val="1170"/>
              </a:lnSpc>
              <a:buNone/>
            </a:pPr>
            <a:r>
              <a:rPr lang="en-US" sz="980" dirty="0">
                <a:solidFill>
                  <a:srgbClr val="5A6D7A"/>
                </a:solidFill>
                <a:latin typeface="Courier New" pitchFamily="34" charset="0"/>
                <a:ea typeface="Courier New" pitchFamily="34" charset="-122"/>
                <a:cs typeface="Courier New" pitchFamily="34" charset="-120"/>
              </a:rPr>
              <a:t>Moodle</a:t>
            </a:r>
            <a:endParaRPr lang="en-US" sz="980" dirty="0"/>
          </a:p>
        </p:txBody>
      </p:sp>
      <p:sp>
        <p:nvSpPr>
          <p:cNvPr id="39" name="Text 37"/>
          <p:cNvSpPr txBox="1"/>
          <p:nvPr/>
        </p:nvSpPr>
        <p:spPr>
          <a:xfrm>
            <a:off x="2695426" y="3895011"/>
            <a:ext cx="7181701" cy="438150"/>
          </a:xfrm>
          <a:prstGeom prst="rect">
            <a:avLst/>
          </a:prstGeom>
          <a:noFill/>
          <a:ln/>
        </p:spPr>
        <p:txBody>
          <a:bodyPr wrap="none" lIns="0" tIns="0" rIns="0" bIns="0" rtlCol="0" anchor="t"/>
          <a:lstStyle/>
          <a:p>
            <a:pPr algn="ctr" indent="0" marL="0">
              <a:lnSpc>
                <a:spcPts val="1170"/>
              </a:lnSpc>
              <a:buNone/>
            </a:pPr>
            <a:r>
              <a:rPr lang="en-US" sz="980" b="1" dirty="0">
                <a:solidFill>
                  <a:srgbClr val="0B6E99"/>
                </a:solidFill>
                <a:latin typeface="Arial" pitchFamily="34" charset="0"/>
                <a:ea typeface="Arial" pitchFamily="34" charset="-122"/>
                <a:cs typeface="Arial" pitchFamily="34" charset="-120"/>
              </a:rPr>
              <a:t>OpenTelemetry</a:t>
            </a:r>
            <a:pPr algn="ctr" indent="0" marL="0">
              <a:lnSpc>
                <a:spcPts val="1170"/>
              </a:lnSpc>
              <a:buNone/>
            </a:pPr>
            <a:r>
              <a:rPr lang="en-US" sz="980" dirty="0">
                <a:solidFill>
                  <a:srgbClr val="0B6E99"/>
                </a:solidFill>
                <a:latin typeface="Courier New" pitchFamily="34" charset="0"/>
                <a:ea typeface="Courier New" pitchFamily="34" charset="-122"/>
                <a:cs typeface="Courier New" pitchFamily="34" charset="-120"/>
              </a:rPr>
              <a:t> — records and sends</a:t>
            </a:r>
            <a:endParaRPr lang="en-US" sz="980" dirty="0"/>
          </a:p>
        </p:txBody>
      </p:sp>
      <p:sp>
        <p:nvSpPr>
          <p:cNvPr id="40" name="Text 38"/>
          <p:cNvSpPr txBox="1"/>
          <p:nvPr/>
        </p:nvSpPr>
        <p:spPr>
          <a:xfrm>
            <a:off x="10429577" y="3895011"/>
            <a:ext cx="1143298" cy="438150"/>
          </a:xfrm>
          <a:prstGeom prst="rect">
            <a:avLst/>
          </a:prstGeom>
          <a:noFill/>
          <a:ln/>
        </p:spPr>
        <p:txBody>
          <a:bodyPr wrap="square" lIns="0" tIns="0" rIns="0" bIns="0" rtlCol="0" anchor="t"/>
          <a:lstStyle/>
          <a:p>
            <a:pPr algn="ctr" indent="0" marL="0">
              <a:lnSpc>
                <a:spcPts val="1170"/>
              </a:lnSpc>
              <a:buNone/>
            </a:pPr>
            <a:r>
              <a:rPr lang="en-US" sz="980" b="1" dirty="0">
                <a:solidFill>
                  <a:srgbClr val="0B6E99"/>
                </a:solidFill>
                <a:latin typeface="Arial" pitchFamily="34" charset="0"/>
                <a:ea typeface="Arial" pitchFamily="34" charset="-122"/>
                <a:cs typeface="Arial" pitchFamily="34" charset="-120"/>
              </a:rPr>
              <a:t>OpenSearch</a:t>
            </a:r>
            <a:pPr algn="ctr" indent="0" marL="0">
              <a:lnSpc>
                <a:spcPts val="1170"/>
              </a:lnSpc>
              <a:buNone/>
            </a:pPr>
            <a:r>
              <a:rPr lang="en-US" sz="980" dirty="0">
                <a:solidFill>
                  <a:srgbClr val="0B6E99"/>
                </a:solidFill>
                <a:latin typeface="Courier New" pitchFamily="34" charset="0"/>
                <a:ea typeface="Courier New" pitchFamily="34" charset="-122"/>
                <a:cs typeface="Courier New" pitchFamily="34" charset="-120"/>
              </a:rPr>
              <a:t> — stores and searches</a:t>
            </a:r>
            <a:endParaRPr lang="en-US" sz="980" dirty="0"/>
          </a:p>
        </p:txBody>
      </p:sp>
      <p:sp>
        <p:nvSpPr>
          <p:cNvPr id="41" name="Text 39"/>
          <p:cNvSpPr txBox="1"/>
          <p:nvPr/>
        </p:nvSpPr>
        <p:spPr>
          <a:xfrm>
            <a:off x="647700" y="4585335"/>
            <a:ext cx="10953750" cy="628650"/>
          </a:xfrm>
          <a:prstGeom prst="rect">
            <a:avLst/>
          </a:prstGeom>
          <a:noFill/>
          <a:ln/>
        </p:spPr>
        <p:txBody>
          <a:bodyPr wrap="square" lIns="0" tIns="0" rIns="0" bIns="0" rtlCol="0" anchor="t"/>
          <a:lstStyle/>
          <a:p>
            <a:pPr algn="l" indent="0" marL="0">
              <a:lnSpc>
                <a:spcPts val="2480"/>
              </a:lnSpc>
              <a:buNone/>
            </a:pPr>
            <a:r>
              <a:rPr lang="en-US" sz="1650" dirty="0">
                <a:solidFill>
                  <a:srgbClr val="101A22"/>
                </a:solidFill>
                <a:latin typeface="Arial" pitchFamily="34" charset="0"/>
                <a:ea typeface="Arial" pitchFamily="34" charset="-122"/>
                <a:cs typeface="Arial" pitchFamily="34" charset="-120"/>
              </a:rPr>
              <a:t>Four of the six components are OpenTelemetry — and </a:t>
            </a:r>
            <a:pPr algn="l" indent="0" marL="0">
              <a:lnSpc>
                <a:spcPts val="2480"/>
              </a:lnSpc>
              <a:buNone/>
            </a:pPr>
            <a:r>
              <a:rPr lang="en-US" sz="1650" b="1" dirty="0">
                <a:solidFill>
                  <a:srgbClr val="101A22"/>
                </a:solidFill>
                <a:latin typeface="Arial" pitchFamily="34" charset="0"/>
                <a:ea typeface="Arial" pitchFamily="34" charset="-122"/>
                <a:cs typeface="Arial" pitchFamily="34" charset="-120"/>
              </a:rPr>
              <a:t>none of them ships with Moodle</a:t>
            </a:r>
            <a:pPr algn="l" indent="0" marL="0">
              <a:lnSpc>
                <a:spcPts val="2480"/>
              </a:lnSpc>
              <a:buNone/>
            </a:pPr>
            <a:r>
              <a:rPr lang="en-US" sz="1650" dirty="0">
                <a:solidFill>
                  <a:srgbClr val="101A22"/>
                </a:solidFill>
                <a:latin typeface="Arial" pitchFamily="34" charset="0"/>
                <a:ea typeface="Arial" pitchFamily="34" charset="-122"/>
                <a:cs typeface="Arial" pitchFamily="34" charset="-120"/>
              </a:rPr>
              <a:t>: you install all four separately. Moodle 5.2's only contribution is that it loads them once they are in place.</a:t>
            </a:r>
            <a:endParaRPr lang="en-US" sz="1650" dirty="0"/>
          </a:p>
        </p:txBody>
      </p:sp>
      <p:sp>
        <p:nvSpPr>
          <p:cNvPr id="42" name="Text 40"/>
          <p:cNvSpPr txBox="1"/>
          <p:nvPr/>
        </p:nvSpPr>
        <p:spPr>
          <a:xfrm>
            <a:off x="647700" y="6464379"/>
            <a:ext cx="72598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The chain</a:t>
            </a:r>
            <a:endParaRPr lang="en-US" sz="980" dirty="0"/>
          </a:p>
        </p:txBody>
      </p:sp>
      <p:sp>
        <p:nvSpPr>
          <p:cNvPr id="43" name="Text 41"/>
          <p:cNvSpPr txBox="1"/>
          <p:nvPr/>
        </p:nvSpPr>
        <p:spPr>
          <a:xfrm>
            <a:off x="11098411" y="6464379"/>
            <a:ext cx="503039"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9 / 39</a:t>
            </a:r>
            <a:endParaRPr lang="en-US" sz="9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10160">
            <a:solidFill>
              <a:srgbClr val="CBD7DF"/>
            </a:solidFill>
            <a:prstDash val="solid"/>
          </a:ln>
        </p:spPr>
      </p:sp>
      <p:pic>
        <p:nvPicPr>
          <p:cNvPr id="3" name="Image 0" descr="Placement diagram: components one to four run inside one PHP process on the Moodle web server; the OpenTelemetry Collector runs on that same server as a separate service, reached at localhost port 4318; OpenSearch is always a separate machine, reached on port 9200. A shared collector on its own host is the other option.">    </p:cNvPr>
          <p:cNvPicPr>
            <a:picLocks noChangeAspect="1"/>
          </p:cNvPicPr>
          <p:nvPr/>
        </p:nvPicPr>
        <p:blipFill>
          <a:blip r:embed="rId1"/>
          <a:stretch>
            <a:fillRect/>
          </a:stretch>
        </p:blipFill>
        <p:spPr>
          <a:xfrm>
            <a:off x="647700" y="1532186"/>
            <a:ext cx="10896600" cy="3682157"/>
          </a:xfrm>
          <a:prstGeom prst="rect">
            <a:avLst/>
          </a:prstGeom>
        </p:spPr>
      </p:pic>
      <p:sp>
        <p:nvSpPr>
          <p:cNvPr id="4" name="Text 1"/>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THE PIPELINE · WHERE IT ALL RUNS</a:t>
            </a:r>
            <a:endParaRPr lang="en-US" sz="980" dirty="0"/>
          </a:p>
        </p:txBody>
      </p:sp>
      <p:sp>
        <p:nvSpPr>
          <p:cNvPr id="5" name="Text 2"/>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Where does each component run?</a:t>
            </a:r>
            <a:endParaRPr lang="en-US" sz="3150" dirty="0"/>
          </a:p>
        </p:txBody>
      </p:sp>
      <p:sp>
        <p:nvSpPr>
          <p:cNvPr id="6" name="Text 3"/>
          <p:cNvSpPr txBox="1"/>
          <p:nvPr/>
        </p:nvSpPr>
        <p:spPr>
          <a:xfrm>
            <a:off x="647700" y="6464379"/>
            <a:ext cx="72598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The chain</a:t>
            </a:r>
            <a:endParaRPr lang="en-US" sz="980" dirty="0"/>
          </a:p>
        </p:txBody>
      </p:sp>
      <p:sp>
        <p:nvSpPr>
          <p:cNvPr id="7" name="Text 4"/>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10 / 39</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A22"/>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10160">
            <a:solidFill>
              <a:srgbClr val="2A3B47"/>
            </a:solidFill>
            <a:prstDash val="solid"/>
          </a:ln>
        </p:spPr>
      </p:sp>
      <p:sp>
        <p:nvSpPr>
          <p:cNvPr id="3" name="Text 1"/>
          <p:cNvSpPr txBox="1"/>
          <p:nvPr/>
        </p:nvSpPr>
        <p:spPr>
          <a:xfrm>
            <a:off x="647700" y="2757785"/>
            <a:ext cx="10953750" cy="1151930"/>
          </a:xfrm>
          <a:prstGeom prst="rect">
            <a:avLst/>
          </a:prstGeom>
          <a:noFill/>
          <a:ln/>
        </p:spPr>
        <p:txBody>
          <a:bodyPr wrap="square" lIns="0" tIns="0" rIns="0" bIns="0" rtlCol="0" anchor="t"/>
          <a:lstStyle/>
          <a:p>
            <a:pPr algn="l" indent="0" marL="0">
              <a:lnSpc>
                <a:spcPts val="4540"/>
              </a:lnSpc>
              <a:buNone/>
            </a:pPr>
            <a:r>
              <a:rPr lang="en-US" sz="4200" b="1" spc="-80" kern="0" dirty="0">
                <a:solidFill>
                  <a:srgbClr val="FFFFFF"/>
                </a:solidFill>
                <a:latin typeface="Arial" pitchFamily="34" charset="0"/>
                <a:ea typeface="Arial" pitchFamily="34" charset="-122"/>
                <a:cs typeface="Arial" pitchFamily="34" charset="-120"/>
              </a:rPr>
              <a:t>These terms appear in the commands and in the searches</a:t>
            </a:r>
            <a:endParaRPr lang="en-US" sz="4200" dirty="0"/>
          </a:p>
        </p:txBody>
      </p:sp>
      <p:sp>
        <p:nvSpPr>
          <p:cNvPr id="4" name="Text 2"/>
          <p:cNvSpPr txBox="1"/>
          <p:nvPr/>
        </p:nvSpPr>
        <p:spPr>
          <a:xfrm>
            <a:off x="647700" y="6464379"/>
            <a:ext cx="725984"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The terms</a:t>
            </a:r>
            <a:endParaRPr lang="en-US" sz="980" dirty="0"/>
          </a:p>
        </p:txBody>
      </p:sp>
      <p:sp>
        <p:nvSpPr>
          <p:cNvPr id="5" name="Text 3"/>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11 / 39</a:t>
            </a:r>
            <a:endParaRPr lang="en-US" sz="9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2522786"/>
            <a:ext cx="10896600" cy="1171575"/>
          </a:xfrm>
          <a:prstGeom prst="roundRect">
            <a:avLst>
              <a:gd name="adj" fmla="val 12691"/>
            </a:avLst>
          </a:prstGeom>
          <a:solidFill>
            <a:srgbClr val="0F2027"/>
          </a:solidFill>
          <a:ln/>
        </p:spPr>
      </p:sp>
      <p:sp>
        <p:nvSpPr>
          <p:cNvPr id="3" name="Shape 1"/>
          <p:cNvSpPr/>
          <p:nvPr/>
        </p:nvSpPr>
        <p:spPr>
          <a:xfrm>
            <a:off x="647700" y="6343650"/>
            <a:ext cx="10896600" cy="0"/>
          </a:xfrm>
          <a:prstGeom prst="line">
            <a:avLst/>
          </a:prstGeom>
          <a:noFill/>
          <a:ln w="10160">
            <a:solidFill>
              <a:srgbClr val="CBD7DF"/>
            </a:solidFill>
            <a:prstDash val="solid"/>
          </a:ln>
        </p:spPr>
      </p:sp>
      <p:sp>
        <p:nvSpPr>
          <p:cNvPr id="4" name="Text 2"/>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TERM</a:t>
            </a:r>
            <a:endParaRPr lang="en-US" sz="980" dirty="0"/>
          </a:p>
        </p:txBody>
      </p:sp>
      <p:sp>
        <p:nvSpPr>
          <p:cNvPr id="5" name="Text 3"/>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Log record: one Moodle event stored as one document</a:t>
            </a:r>
            <a:endParaRPr lang="en-US" sz="3150" dirty="0"/>
          </a:p>
        </p:txBody>
      </p:sp>
      <p:sp>
        <p:nvSpPr>
          <p:cNvPr id="6" name="Text 4"/>
          <p:cNvSpPr txBox="1"/>
          <p:nvPr/>
        </p:nvSpPr>
        <p:spPr>
          <a:xfrm>
            <a:off x="647700" y="1488847"/>
            <a:ext cx="10953750" cy="742950"/>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When anything happens in Moodle, it emits an </a:t>
            </a:r>
            <a:pPr algn="l" indent="0" marL="0">
              <a:lnSpc>
                <a:spcPts val="2930"/>
              </a:lnSpc>
              <a:buNone/>
            </a:pPr>
            <a:r>
              <a:rPr lang="en-US" sz="1950" b="1" dirty="0">
                <a:solidFill>
                  <a:srgbClr val="5A6D7A"/>
                </a:solidFill>
                <a:latin typeface="Arial" pitchFamily="34" charset="0"/>
                <a:ea typeface="Arial" pitchFamily="34" charset="-122"/>
                <a:cs typeface="Arial" pitchFamily="34" charset="-120"/>
              </a:rPr>
              <a:t>event</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Shipped to OpenSearch, each event becomes one document.</a:t>
            </a:r>
            <a:endParaRPr lang="en-US" sz="1950" dirty="0"/>
          </a:p>
        </p:txBody>
      </p:sp>
      <p:sp>
        <p:nvSpPr>
          <p:cNvPr id="7" name="Text 5"/>
          <p:cNvSpPr txBox="1"/>
          <p:nvPr/>
        </p:nvSpPr>
        <p:spPr>
          <a:xfrm>
            <a:off x="857250" y="2672804"/>
            <a:ext cx="10534650" cy="828675"/>
          </a:xfrm>
          <a:prstGeom prst="rect">
            <a:avLst/>
          </a:prstGeom>
          <a:noFill/>
          <a:ln/>
        </p:spPr>
        <p:txBody>
          <a:bodyPr wrap="square" lIns="0" tIns="0" rIns="0" bIns="0" rtlCol="0" anchor="t"/>
          <a:lstStyle/>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body     </a:t>
            </a:r>
            <a:pPr algn="l" indent="0" marL="0">
              <a:lnSpc>
                <a:spcPts val="1630"/>
              </a:lnSpc>
              <a:buNone/>
            </a:pPr>
            <a:r>
              <a:rPr lang="en-US" sz="1130" dirty="0">
                <a:solidFill>
                  <a:srgbClr val="F0C070"/>
                </a:solidFill>
                <a:latin typeface="Courier New" pitchFamily="34" charset="0"/>
                <a:ea typeface="Courier New" pitchFamily="34" charset="-122"/>
                <a:cs typeface="Courier New" pitchFamily="34" charset="-120"/>
              </a:rPr>
              <a:t>"The user with id '2' viewed the 'assign' activity</a:t>
            </a:r>
            <a:endParaRPr lang="en-US" sz="1130" dirty="0"/>
          </a:p>
          <a:p>
            <a:pPr algn="l" indent="0" marL="0">
              <a:lnSpc>
                <a:spcPts val="1630"/>
              </a:lnSpc>
              <a:buNone/>
            </a:pPr>
            <a:r>
              <a:rPr lang="en-US" sz="1130" dirty="0">
                <a:solidFill>
                  <a:srgbClr val="F0C070"/>
                </a:solidFill>
                <a:latin typeface="Courier New" pitchFamily="34" charset="0"/>
                <a:ea typeface="Courier New" pitchFamily="34" charset="-122"/>
                <a:cs typeface="Courier New" pitchFamily="34" charset="-120"/>
              </a:rPr>
              <a:t>          with course module id '2'."</a:t>
            </a:r>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endParaRPr lang="en-US" sz="1130" dirty="0"/>
          </a:p>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time     </a:t>
            </a:r>
            <a:pPr algn="l" indent="0" marL="0">
              <a:lnSpc>
                <a:spcPts val="1630"/>
              </a:lnSpc>
              <a:buNone/>
            </a:pPr>
            <a:r>
              <a:rPr lang="en-US" sz="1130" dirty="0">
                <a:solidFill>
                  <a:srgbClr val="6FC7EE"/>
                </a:solidFill>
                <a:latin typeface="Courier New" pitchFamily="34" charset="0"/>
                <a:ea typeface="Courier New" pitchFamily="34" charset="-122"/>
                <a:cs typeface="Courier New" pitchFamily="34" charset="-120"/>
              </a:rPr>
              <a:t>2026-08-23T21:30:58Z</a:t>
            </a:r>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endParaRPr lang="en-US" sz="1130" dirty="0"/>
          </a:p>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service  </a:t>
            </a:r>
            <a:pPr algn="l" indent="0" marL="0">
              <a:lnSpc>
                <a:spcPts val="1630"/>
              </a:lnSpc>
              <a:buNone/>
            </a:pPr>
            <a:r>
              <a:rPr lang="en-US" sz="1130" dirty="0">
                <a:solidFill>
                  <a:srgbClr val="6FC7EE"/>
                </a:solidFill>
                <a:latin typeface="Courier New" pitchFamily="34" charset="0"/>
                <a:ea typeface="Courier New" pitchFamily="34" charset="-122"/>
                <a:cs typeface="Courier New" pitchFamily="34" charset="-120"/>
              </a:rPr>
              <a:t>moodlelms</a:t>
            </a:r>
            <a:endParaRPr lang="en-US" sz="1130" dirty="0"/>
          </a:p>
        </p:txBody>
      </p:sp>
      <p:sp>
        <p:nvSpPr>
          <p:cNvPr id="8" name="Text 6"/>
          <p:cNvSpPr txBox="1"/>
          <p:nvPr/>
        </p:nvSpPr>
        <p:spPr>
          <a:xfrm>
            <a:off x="647700" y="6464379"/>
            <a:ext cx="72598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The terms</a:t>
            </a:r>
            <a:endParaRPr lang="en-US" sz="980" dirty="0"/>
          </a:p>
        </p:txBody>
      </p:sp>
      <p:sp>
        <p:nvSpPr>
          <p:cNvPr id="9" name="Text 7"/>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12 / 39</a:t>
            </a:r>
            <a:endParaRPr lang="en-US" sz="9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7597" y="2858234"/>
            <a:ext cx="10716806" cy="2782248"/>
          </a:xfrm>
          <a:prstGeom prst="roundRect">
            <a:avLst>
              <a:gd name="adj" fmla="val 2214"/>
            </a:avLst>
          </a:prstGeom>
          <a:solidFill>
            <a:srgbClr val="0F2027"/>
          </a:solidFill>
          <a:ln/>
        </p:spPr>
      </p:sp>
      <p:sp>
        <p:nvSpPr>
          <p:cNvPr id="3" name="Shape 1"/>
          <p:cNvSpPr/>
          <p:nvPr/>
        </p:nvSpPr>
        <p:spPr>
          <a:xfrm>
            <a:off x="647700" y="6343650"/>
            <a:ext cx="10896600" cy="0"/>
          </a:xfrm>
          <a:prstGeom prst="line">
            <a:avLst/>
          </a:prstGeom>
          <a:noFill/>
          <a:ln w="8890">
            <a:solidFill>
              <a:srgbClr val="CBD7DF"/>
            </a:solidFill>
            <a:prstDash val="solid"/>
          </a:ln>
        </p:spPr>
      </p:sp>
      <p:sp>
        <p:nvSpPr>
          <p:cNvPr id="4" name="Text 2"/>
          <p:cNvSpPr txBox="1"/>
          <p:nvPr/>
        </p:nvSpPr>
        <p:spPr>
          <a:xfrm>
            <a:off x="737597" y="512077"/>
            <a:ext cx="10773956" cy="182766"/>
          </a:xfrm>
          <a:prstGeom prst="rect">
            <a:avLst/>
          </a:prstGeom>
          <a:noFill/>
          <a:ln/>
        </p:spPr>
        <p:txBody>
          <a:bodyPr wrap="none" lIns="0" tIns="0" rIns="0" bIns="0" rtlCol="0" anchor="t"/>
          <a:lstStyle/>
          <a:p>
            <a:pPr algn="l" indent="0" marL="0">
              <a:lnSpc>
                <a:spcPts val="1440"/>
              </a:lnSpc>
              <a:buNone/>
            </a:pPr>
            <a:r>
              <a:rPr lang="en-US" sz="960" spc="150" kern="0" dirty="0">
                <a:solidFill>
                  <a:srgbClr val="0B6E99"/>
                </a:solidFill>
                <a:latin typeface="Courier New" pitchFamily="34" charset="0"/>
                <a:ea typeface="Courier New" pitchFamily="34" charset="-122"/>
                <a:cs typeface="Courier New" pitchFamily="34" charset="-120"/>
              </a:rPr>
              <a:t>TERM</a:t>
            </a:r>
            <a:endParaRPr lang="en-US" sz="960" dirty="0"/>
          </a:p>
        </p:txBody>
      </p:sp>
      <p:sp>
        <p:nvSpPr>
          <p:cNvPr id="5" name="Text 3"/>
          <p:cNvSpPr txBox="1"/>
          <p:nvPr/>
        </p:nvSpPr>
        <p:spPr>
          <a:xfrm>
            <a:off x="737597" y="847223"/>
            <a:ext cx="10773956" cy="425141"/>
          </a:xfrm>
          <a:prstGeom prst="rect">
            <a:avLst/>
          </a:prstGeom>
          <a:noFill/>
          <a:ln/>
        </p:spPr>
        <p:txBody>
          <a:bodyPr wrap="none" lIns="0" tIns="0" rIns="0" bIns="0" rtlCol="0" anchor="t"/>
          <a:lstStyle/>
          <a:p>
            <a:pPr algn="l" indent="0" marL="0">
              <a:lnSpc>
                <a:spcPts val="3350"/>
              </a:lnSpc>
              <a:buNone/>
            </a:pPr>
            <a:r>
              <a:rPr lang="en-US" sz="3100" b="1" spc="-60" kern="0" dirty="0">
                <a:solidFill>
                  <a:srgbClr val="101A22"/>
                </a:solidFill>
                <a:latin typeface="Arial" pitchFamily="34" charset="0"/>
                <a:ea typeface="Arial" pitchFamily="34" charset="-122"/>
                <a:cs typeface="Arial" pitchFamily="34" charset="-120"/>
              </a:rPr>
              <a:t>Attributes: the key = value pairs on a log record</a:t>
            </a:r>
            <a:endParaRPr lang="en-US" sz="3100" dirty="0"/>
          </a:p>
        </p:txBody>
      </p:sp>
      <p:sp>
        <p:nvSpPr>
          <p:cNvPr id="6" name="Text 4"/>
          <p:cNvSpPr txBox="1"/>
          <p:nvPr/>
        </p:nvSpPr>
        <p:spPr>
          <a:xfrm>
            <a:off x="737597" y="1473060"/>
            <a:ext cx="10773956" cy="1098964"/>
          </a:xfrm>
          <a:prstGeom prst="rect">
            <a:avLst/>
          </a:prstGeom>
          <a:noFill/>
          <a:ln/>
        </p:spPr>
        <p:txBody>
          <a:bodyPr wrap="square" lIns="0" tIns="0" rIns="0" bIns="0" rtlCol="0" anchor="t"/>
          <a:lstStyle/>
          <a:p>
            <a:pPr algn="l" indent="0" marL="0">
              <a:lnSpc>
                <a:spcPts val="2880"/>
              </a:lnSpc>
              <a:buNone/>
            </a:pPr>
            <a:r>
              <a:rPr lang="en-US" sz="1920" dirty="0">
                <a:solidFill>
                  <a:srgbClr val="5A6D7A"/>
                </a:solidFill>
                <a:latin typeface="Arial" pitchFamily="34" charset="0"/>
                <a:ea typeface="Arial" pitchFamily="34" charset="-122"/>
                <a:cs typeface="Arial" pitchFamily="34" charset="-120"/>
              </a:rPr>
              <a:t>Every record carries a list of </a:t>
            </a:r>
            <a:pPr algn="l" indent="0" marL="0">
              <a:lnSpc>
                <a:spcPts val="2880"/>
              </a:lnSpc>
              <a:buNone/>
            </a:pPr>
            <a:r>
              <a:rPr lang="en-US" sz="1920" b="1" dirty="0">
                <a:solidFill>
                  <a:srgbClr val="5A6D7A"/>
                </a:solidFill>
                <a:latin typeface="Arial" pitchFamily="34" charset="0"/>
                <a:ea typeface="Arial" pitchFamily="34" charset="-122"/>
                <a:cs typeface="Arial" pitchFamily="34" charset="-120"/>
              </a:rPr>
              <a:t>key = value</a:t>
            </a:r>
            <a:pPr algn="l" indent="0" marL="0">
              <a:lnSpc>
                <a:spcPts val="2880"/>
              </a:lnSpc>
              <a:buNone/>
            </a:pPr>
            <a:r>
              <a:rPr lang="en-US" sz="1920" dirty="0">
                <a:solidFill>
                  <a:srgbClr val="5A6D7A"/>
                </a:solidFill>
                <a:latin typeface="Arial" pitchFamily="34" charset="0"/>
                <a:ea typeface="Arial" pitchFamily="34" charset="-122"/>
                <a:cs typeface="Arial" pitchFamily="34" charset="-120"/>
              </a:rPr>
              <a:t> pairs, its attributes. OpenSearch stores each one as a searchable field under the prefix </a:t>
            </a:r>
            <a:pPr algn="l" indent="0" marL="0">
              <a:lnSpc>
                <a:spcPts val="2880"/>
              </a:lnSpc>
              <a:buNone/>
            </a:pPr>
            <a:r>
              <a:rPr lang="en-US" sz="1690" dirty="0">
                <a:solidFill>
                  <a:srgbClr val="5A6D7A"/>
                </a:solidFill>
                <a:highlight>
                  <a:srgbClr val="E1F0F7"/>
                </a:highlight>
                <a:latin typeface="Courier New" pitchFamily="34" charset="0"/>
                <a:ea typeface="Courier New" pitchFamily="34" charset="-122"/>
                <a:cs typeface="Courier New" pitchFamily="34" charset="-120"/>
              </a:rPr>
              <a:t>attributes.</a:t>
            </a:r>
            <a:pPr algn="l" indent="0" marL="0">
              <a:lnSpc>
                <a:spcPts val="2880"/>
              </a:lnSpc>
              <a:buNone/>
            </a:pPr>
            <a:r>
              <a:rPr lang="en-US" sz="1920" dirty="0">
                <a:solidFill>
                  <a:srgbClr val="5A6D7A"/>
                </a:solidFill>
                <a:latin typeface="Arial" pitchFamily="34" charset="0"/>
                <a:ea typeface="Arial" pitchFamily="34" charset="-122"/>
                <a:cs typeface="Arial" pitchFamily="34" charset="-120"/>
              </a:rPr>
              <a:t> This is the same log record with seven of its seventeen attributes. The body sentence is built from the first three.</a:t>
            </a:r>
            <a:endParaRPr lang="en-US" sz="1920" dirty="0"/>
          </a:p>
        </p:txBody>
      </p:sp>
      <p:sp>
        <p:nvSpPr>
          <p:cNvPr id="7" name="Text 5"/>
          <p:cNvSpPr txBox="1"/>
          <p:nvPr/>
        </p:nvSpPr>
        <p:spPr>
          <a:xfrm>
            <a:off x="943794" y="3005852"/>
            <a:ext cx="10361562" cy="2444834"/>
          </a:xfrm>
          <a:prstGeom prst="rect">
            <a:avLst/>
          </a:prstGeom>
          <a:noFill/>
          <a:ln/>
        </p:spPr>
        <p:txBody>
          <a:bodyPr wrap="square" lIns="0" tIns="0" rIns="0" bIns="0" rtlCol="0" anchor="t"/>
          <a:lstStyle/>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body     </a:t>
            </a:r>
            <a:pPr algn="l" indent="0" marL="0">
              <a:lnSpc>
                <a:spcPts val="1610"/>
              </a:lnSpc>
              <a:buNone/>
            </a:pPr>
            <a:r>
              <a:rPr lang="en-US" sz="1110" dirty="0">
                <a:solidFill>
                  <a:srgbClr val="F0C070"/>
                </a:solidFill>
                <a:latin typeface="Courier New" pitchFamily="34" charset="0"/>
                <a:ea typeface="Courier New" pitchFamily="34" charset="-122"/>
                <a:cs typeface="Courier New" pitchFamily="34" charset="-120"/>
              </a:rPr>
              <a:t>"The user with id '2' viewed the 'assign' activity</a:t>
            </a:r>
            <a:endParaRPr lang="en-US" sz="1110" dirty="0"/>
          </a:p>
          <a:p>
            <a:pPr algn="l" indent="0" marL="0">
              <a:lnSpc>
                <a:spcPts val="1610"/>
              </a:lnSpc>
              <a:buNone/>
            </a:pPr>
            <a:r>
              <a:rPr lang="en-US" sz="1110" dirty="0">
                <a:solidFill>
                  <a:srgbClr val="F0C070"/>
                </a:solidFill>
                <a:latin typeface="Courier New" pitchFamily="34" charset="0"/>
                <a:ea typeface="Courier New" pitchFamily="34" charset="-122"/>
                <a:cs typeface="Courier New" pitchFamily="34" charset="-120"/>
              </a:rPr>
              <a:t>          with course module id '2'."</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time     </a:t>
            </a:r>
            <a:pPr algn="l" indent="0" marL="0">
              <a:lnSpc>
                <a:spcPts val="1610"/>
              </a:lnSpc>
              <a:buNone/>
            </a:pPr>
            <a:r>
              <a:rPr lang="en-US" sz="1110" dirty="0">
                <a:solidFill>
                  <a:srgbClr val="6FC7EE"/>
                </a:solidFill>
                <a:latin typeface="Courier New" pitchFamily="34" charset="0"/>
                <a:ea typeface="Courier New" pitchFamily="34" charset="-122"/>
                <a:cs typeface="Courier New" pitchFamily="34" charset="-120"/>
              </a:rPr>
              <a:t>2026-08-23T21:30:58Z</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service  </a:t>
            </a:r>
            <a:pPr algn="l" indent="0" marL="0">
              <a:lnSpc>
                <a:spcPts val="1610"/>
              </a:lnSpc>
              <a:buNone/>
            </a:pPr>
            <a:r>
              <a:rPr lang="en-US" sz="1110" dirty="0">
                <a:solidFill>
                  <a:srgbClr val="6FC7EE"/>
                </a:solidFill>
                <a:latin typeface="Courier New" pitchFamily="34" charset="0"/>
                <a:ea typeface="Courier New" pitchFamily="34" charset="-122"/>
                <a:cs typeface="Courier New" pitchFamily="34" charset="-120"/>
              </a:rPr>
              <a:t>moodlelms</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attributes.event.data.userid              </a:t>
            </a:r>
            <a:pPr algn="l" indent="0" marL="0">
              <a:lnSpc>
                <a:spcPts val="1610"/>
              </a:lnSpc>
              <a:buNone/>
            </a:pPr>
            <a:r>
              <a:rPr lang="en-US" sz="1110" dirty="0">
                <a:solidFill>
                  <a:srgbClr val="6FC7EE"/>
                </a:solidFill>
                <a:latin typeface="Courier New" pitchFamily="34" charset="0"/>
                <a:ea typeface="Courier New" pitchFamily="34" charset="-122"/>
                <a:cs typeface="Courier New" pitchFamily="34" charset="-120"/>
              </a:rPr>
              <a:t>2</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pPr algn="l" indent="0" marL="0">
              <a:lnSpc>
                <a:spcPts val="1610"/>
              </a:lnSpc>
              <a:buNone/>
            </a:pPr>
            <a:r>
              <a:rPr lang="en-US" sz="1110" dirty="0">
                <a:solidFill>
                  <a:srgbClr val="86A5B4"/>
                </a:solidFill>
                <a:latin typeface="Courier New" pitchFamily="34" charset="0"/>
                <a:ea typeface="Courier New" pitchFamily="34" charset="-122"/>
                <a:cs typeface="Courier New" pitchFamily="34" charset="-120"/>
              </a:rPr>
              <a:t># the user with id '2'</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attributes.event.data.objecttable         </a:t>
            </a:r>
            <a:pPr algn="l" indent="0" marL="0">
              <a:lnSpc>
                <a:spcPts val="1610"/>
              </a:lnSpc>
              <a:buNone/>
            </a:pPr>
            <a:r>
              <a:rPr lang="en-US" sz="1110" dirty="0">
                <a:solidFill>
                  <a:srgbClr val="F0C070"/>
                </a:solidFill>
                <a:latin typeface="Courier New" pitchFamily="34" charset="0"/>
                <a:ea typeface="Courier New" pitchFamily="34" charset="-122"/>
                <a:cs typeface="Courier New" pitchFamily="34" charset="-120"/>
              </a:rPr>
              <a:t>assign</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pPr algn="l" indent="0" marL="0">
              <a:lnSpc>
                <a:spcPts val="1610"/>
              </a:lnSpc>
              <a:buNone/>
            </a:pPr>
            <a:r>
              <a:rPr lang="en-US" sz="1110" dirty="0">
                <a:solidFill>
                  <a:srgbClr val="86A5B4"/>
                </a:solidFill>
                <a:latin typeface="Courier New" pitchFamily="34" charset="0"/>
                <a:ea typeface="Courier New" pitchFamily="34" charset="-122"/>
                <a:cs typeface="Courier New" pitchFamily="34" charset="-120"/>
              </a:rPr>
              <a:t># the 'assign' activity</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attributes.event.data.contextinstanceid   </a:t>
            </a:r>
            <a:pPr algn="l" indent="0" marL="0">
              <a:lnSpc>
                <a:spcPts val="1610"/>
              </a:lnSpc>
              <a:buNone/>
            </a:pPr>
            <a:r>
              <a:rPr lang="en-US" sz="1110" dirty="0">
                <a:solidFill>
                  <a:srgbClr val="6FC7EE"/>
                </a:solidFill>
                <a:latin typeface="Courier New" pitchFamily="34" charset="0"/>
                <a:ea typeface="Courier New" pitchFamily="34" charset="-122"/>
                <a:cs typeface="Courier New" pitchFamily="34" charset="-120"/>
              </a:rPr>
              <a:t>2</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pPr algn="l" indent="0" marL="0">
              <a:lnSpc>
                <a:spcPts val="1610"/>
              </a:lnSpc>
              <a:buNone/>
            </a:pPr>
            <a:r>
              <a:rPr lang="en-US" sz="1110" dirty="0">
                <a:solidFill>
                  <a:srgbClr val="86A5B4"/>
                </a:solidFill>
                <a:latin typeface="Courier New" pitchFamily="34" charset="0"/>
                <a:ea typeface="Courier New" pitchFamily="34" charset="-122"/>
                <a:cs typeface="Courier New" pitchFamily="34" charset="-120"/>
              </a:rPr>
              <a:t># course module id '2'</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attributes.event.data.action              </a:t>
            </a:r>
            <a:pPr algn="l" indent="0" marL="0">
              <a:lnSpc>
                <a:spcPts val="1610"/>
              </a:lnSpc>
              <a:buNone/>
            </a:pPr>
            <a:r>
              <a:rPr lang="en-US" sz="1110" dirty="0">
                <a:solidFill>
                  <a:srgbClr val="F0C070"/>
                </a:solidFill>
                <a:latin typeface="Courier New" pitchFamily="34" charset="0"/>
                <a:ea typeface="Courier New" pitchFamily="34" charset="-122"/>
                <a:cs typeface="Courier New" pitchFamily="34" charset="-120"/>
              </a:rPr>
              <a:t>viewed</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attributes.event.data.eventname           </a:t>
            </a:r>
            <a:pPr algn="l" indent="0" marL="0">
              <a:lnSpc>
                <a:spcPts val="1610"/>
              </a:lnSpc>
              <a:buNone/>
            </a:pPr>
            <a:r>
              <a:rPr lang="en-US" sz="1110" dirty="0">
                <a:solidFill>
                  <a:srgbClr val="F0C070"/>
                </a:solidFill>
                <a:latin typeface="Courier New" pitchFamily="34" charset="0"/>
                <a:ea typeface="Courier New" pitchFamily="34" charset="-122"/>
                <a:cs typeface="Courier New" pitchFamily="34" charset="-120"/>
              </a:rPr>
              <a:t>\mod_assign\event\course_module_viewed</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attributes.event.data.crud                </a:t>
            </a:r>
            <a:pPr algn="l" indent="0" marL="0">
              <a:lnSpc>
                <a:spcPts val="1610"/>
              </a:lnSpc>
              <a:buNone/>
            </a:pPr>
            <a:r>
              <a:rPr lang="en-US" sz="1110" dirty="0">
                <a:solidFill>
                  <a:srgbClr val="F0C070"/>
                </a:solidFill>
                <a:latin typeface="Courier New" pitchFamily="34" charset="0"/>
                <a:ea typeface="Courier New" pitchFamily="34" charset="-122"/>
                <a:cs typeface="Courier New" pitchFamily="34" charset="-120"/>
              </a:rPr>
              <a:t>r</a:t>
            </a:r>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 </a:t>
            </a:r>
            <a:endParaRPr lang="en-US" sz="1110" dirty="0"/>
          </a:p>
          <a:p>
            <a:pPr algn="l" indent="0" marL="0">
              <a:lnSpc>
                <a:spcPts val="1610"/>
              </a:lnSpc>
              <a:buNone/>
            </a:pPr>
            <a:r>
              <a:rPr lang="en-US" sz="1110" dirty="0">
                <a:solidFill>
                  <a:srgbClr val="E4EDF2"/>
                </a:solidFill>
                <a:latin typeface="Courier New" pitchFamily="34" charset="0"/>
                <a:ea typeface="Courier New" pitchFamily="34" charset="-122"/>
                <a:cs typeface="Courier New" pitchFamily="34" charset="-120"/>
              </a:rPr>
              <a:t>attributes.event.data.courseid            </a:t>
            </a:r>
            <a:pPr algn="l" indent="0" marL="0">
              <a:lnSpc>
                <a:spcPts val="1610"/>
              </a:lnSpc>
              <a:buNone/>
            </a:pPr>
            <a:r>
              <a:rPr lang="en-US" sz="1110" dirty="0">
                <a:solidFill>
                  <a:srgbClr val="6FC7EE"/>
                </a:solidFill>
                <a:latin typeface="Courier New" pitchFamily="34" charset="0"/>
                <a:ea typeface="Courier New" pitchFamily="34" charset="-122"/>
                <a:cs typeface="Courier New" pitchFamily="34" charset="-120"/>
              </a:rPr>
              <a:t>2</a:t>
            </a:r>
            <a:endParaRPr lang="en-US" sz="1110" dirty="0"/>
          </a:p>
        </p:txBody>
      </p:sp>
      <p:sp>
        <p:nvSpPr>
          <p:cNvPr id="8" name="Text 6"/>
          <p:cNvSpPr txBox="1"/>
          <p:nvPr/>
        </p:nvSpPr>
        <p:spPr>
          <a:xfrm>
            <a:off x="647700" y="6464429"/>
            <a:ext cx="725984" cy="146213"/>
          </a:xfrm>
          <a:prstGeom prst="rect">
            <a:avLst/>
          </a:prstGeom>
          <a:noFill/>
          <a:ln/>
        </p:spPr>
        <p:txBody>
          <a:bodyPr wrap="none" lIns="0" tIns="0" rIns="0" bIns="0" rtlCol="0" anchor="t"/>
          <a:lstStyle/>
          <a:p>
            <a:pPr algn="l" indent="0" marL="0">
              <a:lnSpc>
                <a:spcPts val="1150"/>
              </a:lnSpc>
              <a:buNone/>
            </a:pPr>
            <a:r>
              <a:rPr lang="en-US" sz="960" dirty="0">
                <a:solidFill>
                  <a:srgbClr val="8496A2"/>
                </a:solidFill>
                <a:latin typeface="Courier New" pitchFamily="34" charset="0"/>
                <a:ea typeface="Courier New" pitchFamily="34" charset="-122"/>
                <a:cs typeface="Courier New" pitchFamily="34" charset="-120"/>
              </a:rPr>
              <a:t>The terms</a:t>
            </a:r>
            <a:endParaRPr lang="en-US" sz="960" dirty="0"/>
          </a:p>
        </p:txBody>
      </p:sp>
      <p:sp>
        <p:nvSpPr>
          <p:cNvPr id="9" name="Text 7"/>
          <p:cNvSpPr txBox="1"/>
          <p:nvPr/>
        </p:nvSpPr>
        <p:spPr>
          <a:xfrm>
            <a:off x="11024146" y="6464429"/>
            <a:ext cx="577304" cy="146213"/>
          </a:xfrm>
          <a:prstGeom prst="rect">
            <a:avLst/>
          </a:prstGeom>
          <a:noFill/>
          <a:ln/>
        </p:spPr>
        <p:txBody>
          <a:bodyPr wrap="none" lIns="0" tIns="0" rIns="0" bIns="0" rtlCol="0" anchor="t"/>
          <a:lstStyle/>
          <a:p>
            <a:pPr algn="l" indent="0" marL="0">
              <a:lnSpc>
                <a:spcPts val="1150"/>
              </a:lnSpc>
              <a:buNone/>
            </a:pPr>
            <a:r>
              <a:rPr lang="en-US" sz="960" dirty="0">
                <a:solidFill>
                  <a:srgbClr val="8496A2"/>
                </a:solidFill>
                <a:latin typeface="Courier New" pitchFamily="34" charset="0"/>
                <a:ea typeface="Courier New" pitchFamily="34" charset="-122"/>
                <a:cs typeface="Courier New" pitchFamily="34" charset="-120"/>
              </a:rPr>
              <a:t>13 / 39</a:t>
            </a:r>
            <a:endParaRPr lang="en-US" sz="9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A22"/>
        </a:solidFill>
      </p:bgPr>
    </p:bg>
    <p:spTree>
      <p:nvGrpSpPr>
        <p:cNvPr id="1" name=""/>
        <p:cNvGrpSpPr/>
        <p:nvPr/>
      </p:nvGrpSpPr>
      <p:grpSpPr>
        <a:xfrm>
          <a:off x="0" y="0"/>
          <a:ext cx="0" cy="0"/>
          <a:chOff x="0" y="0"/>
          <a:chExt cx="0" cy="0"/>
        </a:xfrm>
      </p:grpSpPr>
      <p:sp>
        <p:nvSpPr>
          <p:cNvPr id="2" name="Shape 0"/>
          <p:cNvSpPr/>
          <p:nvPr/>
        </p:nvSpPr>
        <p:spPr>
          <a:xfrm>
            <a:off x="647700" y="1233636"/>
            <a:ext cx="5567958" cy="1019175"/>
          </a:xfrm>
          <a:prstGeom prst="roundRect">
            <a:avLst>
              <a:gd name="adj" fmla="val 16770"/>
            </a:avLst>
          </a:prstGeom>
          <a:ln w="10160">
            <a:solidFill>
              <a:srgbClr val="3D5566"/>
            </a:solidFill>
            <a:prstDash val="solid"/>
          </a:ln>
        </p:spPr>
      </p:sp>
      <p:sp>
        <p:nvSpPr>
          <p:cNvPr id="3" name="Shape 1"/>
          <p:cNvSpPr/>
          <p:nvPr/>
        </p:nvSpPr>
        <p:spPr>
          <a:xfrm>
            <a:off x="647700" y="2386161"/>
            <a:ext cx="5567958" cy="1704975"/>
          </a:xfrm>
          <a:prstGeom prst="roundRect">
            <a:avLst>
              <a:gd name="adj" fmla="val 5992"/>
            </a:avLst>
          </a:prstGeom>
          <a:ln w="10160">
            <a:solidFill>
              <a:srgbClr val="3D5566"/>
            </a:solidFill>
            <a:prstDash val="solid"/>
          </a:ln>
        </p:spPr>
      </p:sp>
      <p:sp>
        <p:nvSpPr>
          <p:cNvPr id="4" name="Shape 2"/>
          <p:cNvSpPr/>
          <p:nvPr/>
        </p:nvSpPr>
        <p:spPr>
          <a:xfrm>
            <a:off x="6482358" y="1233636"/>
            <a:ext cx="5061942" cy="1235869"/>
          </a:xfrm>
          <a:prstGeom prst="roundRect">
            <a:avLst>
              <a:gd name="adj" fmla="val 11405"/>
            </a:avLst>
          </a:prstGeom>
          <a:ln w="10160">
            <a:solidFill>
              <a:srgbClr val="3D5566"/>
            </a:solidFill>
            <a:prstDash val="solid"/>
          </a:ln>
        </p:spPr>
      </p:sp>
      <p:sp>
        <p:nvSpPr>
          <p:cNvPr id="5" name="Shape 3"/>
          <p:cNvSpPr/>
          <p:nvPr/>
        </p:nvSpPr>
        <p:spPr>
          <a:xfrm>
            <a:off x="6482358" y="2602855"/>
            <a:ext cx="5061942" cy="735806"/>
          </a:xfrm>
          <a:prstGeom prst="roundRect">
            <a:avLst>
              <a:gd name="adj" fmla="val 32174"/>
            </a:avLst>
          </a:prstGeom>
          <a:ln w="10160">
            <a:solidFill>
              <a:srgbClr val="3D5566"/>
            </a:solidFill>
            <a:prstDash val="solid"/>
          </a:ln>
        </p:spPr>
      </p:sp>
      <p:sp>
        <p:nvSpPr>
          <p:cNvPr id="6" name="Shape 4"/>
          <p:cNvSpPr/>
          <p:nvPr/>
        </p:nvSpPr>
        <p:spPr>
          <a:xfrm>
            <a:off x="6482358" y="3472011"/>
            <a:ext cx="5061942" cy="735806"/>
          </a:xfrm>
          <a:prstGeom prst="roundRect">
            <a:avLst>
              <a:gd name="adj" fmla="val 32174"/>
            </a:avLst>
          </a:prstGeom>
          <a:ln w="10160">
            <a:solidFill>
              <a:srgbClr val="3D5566"/>
            </a:solidFill>
            <a:prstDash val="solid"/>
          </a:ln>
        </p:spPr>
      </p:sp>
      <p:sp>
        <p:nvSpPr>
          <p:cNvPr id="7" name="Shape 5"/>
          <p:cNvSpPr/>
          <p:nvPr/>
        </p:nvSpPr>
        <p:spPr>
          <a:xfrm>
            <a:off x="647700" y="6343650"/>
            <a:ext cx="10896600" cy="0"/>
          </a:xfrm>
          <a:prstGeom prst="line">
            <a:avLst/>
          </a:prstGeom>
          <a:noFill/>
          <a:ln w="10160">
            <a:solidFill>
              <a:srgbClr val="2A3B47"/>
            </a:solidFill>
            <a:prstDash val="solid"/>
          </a:ln>
        </p:spPr>
      </p:sp>
      <p:sp>
        <p:nvSpPr>
          <p:cNvPr id="8" name="Text 6"/>
          <p:cNvSpPr txBox="1"/>
          <p:nvPr/>
        </p:nvSpPr>
        <p:spPr>
          <a:xfrm>
            <a:off x="647700" y="533400"/>
            <a:ext cx="10953750" cy="452628"/>
          </a:xfrm>
          <a:prstGeom prst="rect">
            <a:avLst/>
          </a:prstGeom>
          <a:noFill/>
          <a:ln/>
        </p:spPr>
        <p:txBody>
          <a:bodyPr wrap="none" lIns="0" tIns="0" rIns="0" bIns="0" rtlCol="0" anchor="t"/>
          <a:lstStyle/>
          <a:p>
            <a:pPr algn="l" indent="0" marL="0">
              <a:lnSpc>
                <a:spcPts val="3560"/>
              </a:lnSpc>
              <a:buNone/>
            </a:pPr>
            <a:r>
              <a:rPr lang="en-US" sz="3300" b="1" spc="-70" kern="0" dirty="0">
                <a:solidFill>
                  <a:srgbClr val="FFFFFF"/>
                </a:solidFill>
                <a:latin typeface="Arial" pitchFamily="34" charset="0"/>
                <a:ea typeface="Arial" pitchFamily="34" charset="-122"/>
                <a:cs typeface="Arial" pitchFamily="34" charset="-120"/>
              </a:rPr>
              <a:t>We install and configure the components in nine steps</a:t>
            </a:r>
            <a:endParaRPr lang="en-US" sz="3300" dirty="0"/>
          </a:p>
        </p:txBody>
      </p:sp>
      <p:sp>
        <p:nvSpPr>
          <p:cNvPr id="9" name="Text 7"/>
          <p:cNvSpPr txBox="1"/>
          <p:nvPr/>
        </p:nvSpPr>
        <p:spPr>
          <a:xfrm>
            <a:off x="809625" y="1335792"/>
            <a:ext cx="5301258" cy="185738"/>
          </a:xfrm>
          <a:prstGeom prst="rect">
            <a:avLst/>
          </a:prstGeom>
          <a:noFill/>
          <a:ln/>
        </p:spPr>
        <p:txBody>
          <a:bodyPr wrap="none" lIns="0" tIns="0" rIns="0" bIns="0" rtlCol="0" anchor="t"/>
          <a:lstStyle/>
          <a:p>
            <a:pPr algn="l" indent="0" marL="0">
              <a:lnSpc>
                <a:spcPts val="1460"/>
              </a:lnSpc>
              <a:buNone/>
            </a:pPr>
            <a:r>
              <a:rPr lang="en-US" sz="980" spc="80" kern="0" dirty="0">
                <a:solidFill>
                  <a:srgbClr val="6FC7EE"/>
                </a:solidFill>
                <a:latin typeface="Courier New" pitchFamily="34" charset="0"/>
                <a:ea typeface="Courier New" pitchFamily="34" charset="-122"/>
                <a:cs typeface="Courier New" pitchFamily="34" charset="-120"/>
              </a:rPr>
              <a:t>COMPONENT 2 · THE PHP EXTENSION</a:t>
            </a:r>
            <a:endParaRPr lang="en-US" sz="980" dirty="0"/>
          </a:p>
        </p:txBody>
      </p:sp>
      <p:sp>
        <p:nvSpPr>
          <p:cNvPr id="10" name="Text 8"/>
          <p:cNvSpPr txBox="1"/>
          <p:nvPr/>
        </p:nvSpPr>
        <p:spPr>
          <a:xfrm>
            <a:off x="1133475" y="1606897"/>
            <a:ext cx="4977408" cy="216694"/>
          </a:xfrm>
          <a:prstGeom prst="rect">
            <a:avLst/>
          </a:prstGeom>
          <a:noFill/>
          <a:ln/>
        </p:spPr>
        <p:txBody>
          <a:bodyPr wrap="non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Install the C compiler, the PHP header files and pecl</a:t>
            </a:r>
            <a:endParaRPr lang="en-US" sz="1310" dirty="0"/>
          </a:p>
        </p:txBody>
      </p:sp>
      <p:sp>
        <p:nvSpPr>
          <p:cNvPr id="11" name="Text 9"/>
          <p:cNvSpPr txBox="1"/>
          <p:nvPr/>
        </p:nvSpPr>
        <p:spPr>
          <a:xfrm>
            <a:off x="1133475" y="1890266"/>
            <a:ext cx="4977408" cy="216694"/>
          </a:xfrm>
          <a:prstGeom prst="rect">
            <a:avLst/>
          </a:prstGeom>
          <a:noFill/>
          <a:ln/>
        </p:spPr>
        <p:txBody>
          <a:bodyPr wrap="non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Install and enable the OpenTelemetry PHP extension</a:t>
            </a:r>
            <a:endParaRPr lang="en-US" sz="1310" dirty="0"/>
          </a:p>
        </p:txBody>
      </p:sp>
      <p:sp>
        <p:nvSpPr>
          <p:cNvPr id="12" name="Text 10"/>
          <p:cNvSpPr txBox="1"/>
          <p:nvPr/>
        </p:nvSpPr>
        <p:spPr>
          <a:xfrm>
            <a:off x="809625" y="2488317"/>
            <a:ext cx="5301258" cy="371475"/>
          </a:xfrm>
          <a:prstGeom prst="rect">
            <a:avLst/>
          </a:prstGeom>
          <a:noFill/>
          <a:ln/>
        </p:spPr>
        <p:txBody>
          <a:bodyPr wrap="square" lIns="0" tIns="0" rIns="0" bIns="0" rtlCol="0" anchor="t"/>
          <a:lstStyle/>
          <a:p>
            <a:pPr algn="l" indent="0" marL="0">
              <a:lnSpc>
                <a:spcPts val="1460"/>
              </a:lnSpc>
              <a:buNone/>
            </a:pPr>
            <a:r>
              <a:rPr lang="en-US" sz="980" spc="80" kern="0" dirty="0">
                <a:solidFill>
                  <a:srgbClr val="6FC7EE"/>
                </a:solidFill>
                <a:latin typeface="Courier New" pitchFamily="34" charset="0"/>
                <a:ea typeface="Courier New" pitchFamily="34" charset="-122"/>
                <a:cs typeface="Courier New" pitchFamily="34" charset="-120"/>
              </a:rPr>
              <a:t>COMPONENTS 3 AND 4 · THE MOODLE PACKAGE, THE SDK AND THE EXPORTER</a:t>
            </a:r>
            <a:endParaRPr lang="en-US" sz="980" dirty="0"/>
          </a:p>
        </p:txBody>
      </p:sp>
      <p:sp>
        <p:nvSpPr>
          <p:cNvPr id="13" name="Text 11"/>
          <p:cNvSpPr txBox="1"/>
          <p:nvPr/>
        </p:nvSpPr>
        <p:spPr>
          <a:xfrm>
            <a:off x="1133475" y="2945160"/>
            <a:ext cx="4977408" cy="216694"/>
          </a:xfrm>
          <a:prstGeom prst="rect">
            <a:avLst/>
          </a:prstGeom>
          <a:noFill/>
          <a:ln/>
        </p:spPr>
        <p:txBody>
          <a:bodyPr wrap="non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Install PHP Composer and the two OpenTelemetry PHP packages</a:t>
            </a:r>
            <a:endParaRPr lang="en-US" sz="1310" dirty="0"/>
          </a:p>
        </p:txBody>
      </p:sp>
      <p:sp>
        <p:nvSpPr>
          <p:cNvPr id="14" name="Text 12"/>
          <p:cNvSpPr txBox="1"/>
          <p:nvPr/>
        </p:nvSpPr>
        <p:spPr>
          <a:xfrm>
            <a:off x="1133475" y="3228529"/>
            <a:ext cx="4977408" cy="433388"/>
          </a:xfrm>
          <a:prstGeom prst="rect">
            <a:avLst/>
          </a:prstGeom>
          <a:noFill/>
          <a:ln/>
        </p:spPr>
        <p:txBody>
          <a:bodyPr wrap="squar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These six environment variables configure the OpenTelemetry PHP libraries</a:t>
            </a:r>
            <a:endParaRPr lang="en-US" sz="1310" dirty="0"/>
          </a:p>
        </p:txBody>
      </p:sp>
      <p:sp>
        <p:nvSpPr>
          <p:cNvPr id="15" name="Text 13"/>
          <p:cNvSpPr txBox="1"/>
          <p:nvPr/>
        </p:nvSpPr>
        <p:spPr>
          <a:xfrm>
            <a:off x="1133475" y="3728591"/>
            <a:ext cx="4977408" cy="216694"/>
          </a:xfrm>
          <a:prstGeom prst="rect">
            <a:avLst/>
          </a:prstGeom>
          <a:noFill/>
          <a:ln/>
        </p:spPr>
        <p:txBody>
          <a:bodyPr wrap="non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Write the six environment variables into two files</a:t>
            </a:r>
            <a:endParaRPr lang="en-US" sz="1310" dirty="0"/>
          </a:p>
        </p:txBody>
      </p:sp>
      <p:sp>
        <p:nvSpPr>
          <p:cNvPr id="16" name="Text 14"/>
          <p:cNvSpPr txBox="1"/>
          <p:nvPr/>
        </p:nvSpPr>
        <p:spPr>
          <a:xfrm>
            <a:off x="6644283" y="1335792"/>
            <a:ext cx="4795242" cy="185738"/>
          </a:xfrm>
          <a:prstGeom prst="rect">
            <a:avLst/>
          </a:prstGeom>
          <a:noFill/>
          <a:ln/>
        </p:spPr>
        <p:txBody>
          <a:bodyPr wrap="none" lIns="0" tIns="0" rIns="0" bIns="0" rtlCol="0" anchor="t"/>
          <a:lstStyle/>
          <a:p>
            <a:pPr algn="l" indent="0" marL="0">
              <a:lnSpc>
                <a:spcPts val="1460"/>
              </a:lnSpc>
              <a:buNone/>
            </a:pPr>
            <a:r>
              <a:rPr lang="en-US" sz="980" spc="80" kern="0" dirty="0">
                <a:solidFill>
                  <a:srgbClr val="6FC7EE"/>
                </a:solidFill>
                <a:latin typeface="Courier New" pitchFamily="34" charset="0"/>
                <a:ea typeface="Courier New" pitchFamily="34" charset="-122"/>
                <a:cs typeface="Courier New" pitchFamily="34" charset="-120"/>
              </a:rPr>
              <a:t>COMPONENT 5 · THE OPENTELEMETRY COLLECTOR</a:t>
            </a:r>
            <a:endParaRPr lang="en-US" sz="980" dirty="0"/>
          </a:p>
        </p:txBody>
      </p:sp>
      <p:sp>
        <p:nvSpPr>
          <p:cNvPr id="17" name="Text 15"/>
          <p:cNvSpPr txBox="1"/>
          <p:nvPr/>
        </p:nvSpPr>
        <p:spPr>
          <a:xfrm>
            <a:off x="6968133" y="1606897"/>
            <a:ext cx="4471392" cy="216694"/>
          </a:xfrm>
          <a:prstGeom prst="rect">
            <a:avLst/>
          </a:prstGeom>
          <a:noFill/>
          <a:ln/>
        </p:spPr>
        <p:txBody>
          <a:bodyPr wrap="non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Install the OpenTelemetry Collector</a:t>
            </a:r>
            <a:endParaRPr lang="en-US" sz="1310" dirty="0"/>
          </a:p>
        </p:txBody>
      </p:sp>
      <p:sp>
        <p:nvSpPr>
          <p:cNvPr id="18" name="Text 16"/>
          <p:cNvSpPr txBox="1"/>
          <p:nvPr/>
        </p:nvSpPr>
        <p:spPr>
          <a:xfrm>
            <a:off x="6968133" y="1890266"/>
            <a:ext cx="4471392" cy="433388"/>
          </a:xfrm>
          <a:prstGeom prst="rect">
            <a:avLst/>
          </a:prstGeom>
          <a:noFill/>
          <a:ln/>
        </p:spPr>
        <p:txBody>
          <a:bodyPr wrap="squar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Configure the OpenTelemetry Collector to receive and send the records</a:t>
            </a:r>
            <a:endParaRPr lang="en-US" sz="1310" dirty="0"/>
          </a:p>
        </p:txBody>
      </p:sp>
      <p:sp>
        <p:nvSpPr>
          <p:cNvPr id="19" name="Text 17"/>
          <p:cNvSpPr txBox="1"/>
          <p:nvPr/>
        </p:nvSpPr>
        <p:spPr>
          <a:xfrm>
            <a:off x="6644283" y="2705011"/>
            <a:ext cx="4795242" cy="185738"/>
          </a:xfrm>
          <a:prstGeom prst="rect">
            <a:avLst/>
          </a:prstGeom>
          <a:noFill/>
          <a:ln/>
        </p:spPr>
        <p:txBody>
          <a:bodyPr wrap="none" lIns="0" tIns="0" rIns="0" bIns="0" rtlCol="0" anchor="t"/>
          <a:lstStyle/>
          <a:p>
            <a:pPr algn="l" indent="0" marL="0">
              <a:lnSpc>
                <a:spcPts val="1460"/>
              </a:lnSpc>
              <a:buNone/>
            </a:pPr>
            <a:r>
              <a:rPr lang="en-US" sz="980" spc="80" kern="0" dirty="0">
                <a:solidFill>
                  <a:srgbClr val="6FC7EE"/>
                </a:solidFill>
                <a:latin typeface="Courier New" pitchFamily="34" charset="0"/>
                <a:ea typeface="Courier New" pitchFamily="34" charset="-122"/>
                <a:cs typeface="Courier New" pitchFamily="34" charset="-120"/>
              </a:rPr>
              <a:t>COMPONENT 6 · OPENSEARCH</a:t>
            </a:r>
            <a:endParaRPr lang="en-US" sz="980" dirty="0"/>
          </a:p>
        </p:txBody>
      </p:sp>
      <p:sp>
        <p:nvSpPr>
          <p:cNvPr id="20" name="Text 18"/>
          <p:cNvSpPr txBox="1"/>
          <p:nvPr/>
        </p:nvSpPr>
        <p:spPr>
          <a:xfrm>
            <a:off x="6968133" y="2976116"/>
            <a:ext cx="4471392" cy="216694"/>
          </a:xfrm>
          <a:prstGeom prst="rect">
            <a:avLst/>
          </a:prstGeom>
          <a:noFill/>
          <a:ln/>
        </p:spPr>
        <p:txBody>
          <a:bodyPr wrap="non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Configure OpenSearch</a:t>
            </a:r>
            <a:endParaRPr lang="en-US" sz="1310" dirty="0"/>
          </a:p>
        </p:txBody>
      </p:sp>
      <p:sp>
        <p:nvSpPr>
          <p:cNvPr id="21" name="Text 19"/>
          <p:cNvSpPr txBox="1"/>
          <p:nvPr/>
        </p:nvSpPr>
        <p:spPr>
          <a:xfrm>
            <a:off x="6644283" y="3574167"/>
            <a:ext cx="4795242" cy="185738"/>
          </a:xfrm>
          <a:prstGeom prst="rect">
            <a:avLst/>
          </a:prstGeom>
          <a:noFill/>
          <a:ln/>
        </p:spPr>
        <p:txBody>
          <a:bodyPr wrap="none" lIns="0" tIns="0" rIns="0" bIns="0" rtlCol="0" anchor="t"/>
          <a:lstStyle/>
          <a:p>
            <a:pPr algn="l" indent="0" marL="0">
              <a:lnSpc>
                <a:spcPts val="1460"/>
              </a:lnSpc>
              <a:buNone/>
            </a:pPr>
            <a:r>
              <a:rPr lang="en-US" sz="980" spc="80" kern="0" dirty="0">
                <a:solidFill>
                  <a:srgbClr val="6FC7EE"/>
                </a:solidFill>
                <a:latin typeface="Courier New" pitchFamily="34" charset="0"/>
                <a:ea typeface="Courier New" pitchFamily="34" charset="-122"/>
                <a:cs typeface="Courier New" pitchFamily="34" charset="-120"/>
              </a:rPr>
              <a:t>THE CHECK</a:t>
            </a:r>
            <a:endParaRPr lang="en-US" sz="980" dirty="0"/>
          </a:p>
        </p:txBody>
      </p:sp>
      <p:sp>
        <p:nvSpPr>
          <p:cNvPr id="22" name="Text 20"/>
          <p:cNvSpPr txBox="1"/>
          <p:nvPr/>
        </p:nvSpPr>
        <p:spPr>
          <a:xfrm>
            <a:off x="6968133" y="3845272"/>
            <a:ext cx="4471392" cy="216694"/>
          </a:xfrm>
          <a:prstGeom prst="rect">
            <a:avLst/>
          </a:prstGeom>
          <a:noFill/>
          <a:ln/>
        </p:spPr>
        <p:txBody>
          <a:bodyPr wrap="none" lIns="0" tIns="0" rIns="0" bIns="0" rtlCol="0" anchor="t"/>
          <a:lstStyle/>
          <a:p>
            <a:pPr algn="l" indent="0" marL="0">
              <a:lnSpc>
                <a:spcPts val="1710"/>
              </a:lnSpc>
              <a:buNone/>
            </a:pPr>
            <a:r>
              <a:rPr lang="en-US" sz="1310" dirty="0">
                <a:solidFill>
                  <a:srgbClr val="DCE7EE"/>
                </a:solidFill>
                <a:latin typeface="Arial" pitchFamily="34" charset="0"/>
                <a:ea typeface="Arial" pitchFamily="34" charset="-122"/>
                <a:cs typeface="Arial" pitchFamily="34" charset="-120"/>
              </a:rPr>
              <a:t>Check with curl that the events have arrived in OpenSearch</a:t>
            </a:r>
            <a:endParaRPr lang="en-US" sz="1310" dirty="0"/>
          </a:p>
        </p:txBody>
      </p:sp>
      <p:sp>
        <p:nvSpPr>
          <p:cNvPr id="23" name="Text 21"/>
          <p:cNvSpPr txBox="1"/>
          <p:nvPr/>
        </p:nvSpPr>
        <p:spPr>
          <a:xfrm>
            <a:off x="647700" y="6464379"/>
            <a:ext cx="948928"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Walk-through</a:t>
            </a:r>
            <a:endParaRPr lang="en-US" sz="980" dirty="0"/>
          </a:p>
        </p:txBody>
      </p:sp>
      <p:sp>
        <p:nvSpPr>
          <p:cNvPr id="24" name="Text 22"/>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14 / 39</a:t>
            </a:r>
            <a:endParaRPr lang="en-US" sz="980" dirty="0"/>
          </a:p>
        </p:txBody>
      </p:sp>
      <p:sp>
        <p:nvSpPr>
          <p:cNvPr id="25" name="Text 23"/>
          <p:cNvSpPr txBox="1"/>
          <p:nvPr/>
        </p:nvSpPr>
        <p:spPr>
          <a:xfrm>
            <a:off x="771525" y="1619399"/>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1.</a:t>
            </a:r>
            <a:endParaRPr lang="en-US" sz="1050" dirty="0"/>
          </a:p>
        </p:txBody>
      </p:sp>
      <p:sp>
        <p:nvSpPr>
          <p:cNvPr id="26" name="Text 24"/>
          <p:cNvSpPr txBox="1"/>
          <p:nvPr/>
        </p:nvSpPr>
        <p:spPr>
          <a:xfrm>
            <a:off x="771525" y="1902768"/>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2.</a:t>
            </a:r>
            <a:endParaRPr lang="en-US" sz="1050" dirty="0"/>
          </a:p>
        </p:txBody>
      </p:sp>
      <p:sp>
        <p:nvSpPr>
          <p:cNvPr id="27" name="Text 25"/>
          <p:cNvSpPr txBox="1"/>
          <p:nvPr/>
        </p:nvSpPr>
        <p:spPr>
          <a:xfrm>
            <a:off x="771525" y="2957661"/>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3.</a:t>
            </a:r>
            <a:endParaRPr lang="en-US" sz="1050" dirty="0"/>
          </a:p>
        </p:txBody>
      </p:sp>
      <p:sp>
        <p:nvSpPr>
          <p:cNvPr id="28" name="Text 26"/>
          <p:cNvSpPr txBox="1"/>
          <p:nvPr/>
        </p:nvSpPr>
        <p:spPr>
          <a:xfrm>
            <a:off x="771525" y="3241030"/>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4.</a:t>
            </a:r>
            <a:endParaRPr lang="en-US" sz="1050" dirty="0"/>
          </a:p>
        </p:txBody>
      </p:sp>
      <p:sp>
        <p:nvSpPr>
          <p:cNvPr id="29" name="Text 27"/>
          <p:cNvSpPr txBox="1"/>
          <p:nvPr/>
        </p:nvSpPr>
        <p:spPr>
          <a:xfrm>
            <a:off x="771525" y="3741093"/>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5.</a:t>
            </a:r>
            <a:endParaRPr lang="en-US" sz="1050" dirty="0"/>
          </a:p>
        </p:txBody>
      </p:sp>
      <p:sp>
        <p:nvSpPr>
          <p:cNvPr id="30" name="Text 28"/>
          <p:cNvSpPr txBox="1"/>
          <p:nvPr/>
        </p:nvSpPr>
        <p:spPr>
          <a:xfrm>
            <a:off x="6606183" y="1619399"/>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6.</a:t>
            </a:r>
            <a:endParaRPr lang="en-US" sz="1050" dirty="0"/>
          </a:p>
        </p:txBody>
      </p:sp>
      <p:sp>
        <p:nvSpPr>
          <p:cNvPr id="31" name="Text 29"/>
          <p:cNvSpPr txBox="1"/>
          <p:nvPr/>
        </p:nvSpPr>
        <p:spPr>
          <a:xfrm>
            <a:off x="6606183" y="1902768"/>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8.</a:t>
            </a:r>
            <a:endParaRPr lang="en-US" sz="1050" dirty="0"/>
          </a:p>
        </p:txBody>
      </p:sp>
      <p:sp>
        <p:nvSpPr>
          <p:cNvPr id="32" name="Text 30"/>
          <p:cNvSpPr txBox="1"/>
          <p:nvPr/>
        </p:nvSpPr>
        <p:spPr>
          <a:xfrm>
            <a:off x="6606183" y="2988618"/>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7.</a:t>
            </a:r>
            <a:endParaRPr lang="en-US" sz="1050" dirty="0"/>
          </a:p>
        </p:txBody>
      </p:sp>
      <p:sp>
        <p:nvSpPr>
          <p:cNvPr id="33" name="Text 31"/>
          <p:cNvSpPr txBox="1"/>
          <p:nvPr/>
        </p:nvSpPr>
        <p:spPr>
          <a:xfrm>
            <a:off x="6606183" y="3857774"/>
            <a:ext cx="285750" cy="216694"/>
          </a:xfrm>
          <a:prstGeom prst="rect">
            <a:avLst/>
          </a:prstGeom>
          <a:noFill/>
          <a:ln/>
        </p:spPr>
        <p:txBody>
          <a:bodyPr wrap="square" lIns="0" tIns="0" rIns="0" bIns="0" rtlCol="0" anchor="t"/>
          <a:lstStyle/>
          <a:p>
            <a:pPr algn="r" indent="0" marL="0">
              <a:lnSpc>
                <a:spcPts val="1710"/>
              </a:lnSpc>
              <a:buNone/>
            </a:pPr>
            <a:r>
              <a:rPr lang="en-US" sz="1050" dirty="0">
                <a:solidFill>
                  <a:srgbClr val="6FC7EE"/>
                </a:solidFill>
                <a:latin typeface="Courier New" pitchFamily="34" charset="0"/>
                <a:ea typeface="Courier New" pitchFamily="34" charset="-122"/>
                <a:cs typeface="Courier New" pitchFamily="34" charset="-120"/>
              </a:rPr>
              <a:t>9.</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2795439"/>
            <a:ext cx="5257800" cy="688479"/>
          </a:xfrm>
          <a:prstGeom prst="roundRect">
            <a:avLst>
              <a:gd name="adj" fmla="val 36749"/>
            </a:avLst>
          </a:prstGeom>
          <a:solidFill>
            <a:srgbClr val="0F2027"/>
          </a:solidFill>
          <a:ln/>
        </p:spPr>
      </p:sp>
      <p:sp>
        <p:nvSpPr>
          <p:cNvPr id="3" name="Shape 1"/>
          <p:cNvSpPr/>
          <p:nvPr/>
        </p:nvSpPr>
        <p:spPr>
          <a:xfrm>
            <a:off x="6286500" y="2795439"/>
            <a:ext cx="5257800" cy="688479"/>
          </a:xfrm>
          <a:prstGeom prst="roundRect">
            <a:avLst>
              <a:gd name="adj" fmla="val 36749"/>
            </a:avLst>
          </a:prstGeom>
          <a:solidFill>
            <a:srgbClr val="0F2027"/>
          </a:solidFill>
          <a:ln/>
        </p:spPr>
      </p:sp>
      <p:sp>
        <p:nvSpPr>
          <p:cNvPr id="4" name="Shape 2"/>
          <p:cNvSpPr/>
          <p:nvPr/>
        </p:nvSpPr>
        <p:spPr>
          <a:xfrm>
            <a:off x="647700" y="6343650"/>
            <a:ext cx="10896600" cy="0"/>
          </a:xfrm>
          <a:prstGeom prst="line">
            <a:avLst/>
          </a:prstGeom>
          <a:noFill/>
          <a:ln w="10160">
            <a:solidFill>
              <a:srgbClr val="CBD7DF"/>
            </a:solidFill>
            <a:prstDash val="solid"/>
          </a:ln>
        </p:spPr>
      </p:sp>
      <p:sp>
        <p:nvSpPr>
          <p:cNvPr id="5" name="Text 3"/>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STEP 1 OF 9</a:t>
            </a:r>
            <a:endParaRPr lang="en-US" sz="980" dirty="0"/>
          </a:p>
        </p:txBody>
      </p:sp>
      <p:sp>
        <p:nvSpPr>
          <p:cNvPr id="6" name="Text 4"/>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Install the C compiler, the PHP header files and pecl</a:t>
            </a:r>
            <a:endParaRPr lang="en-US" sz="3150" dirty="0"/>
          </a:p>
        </p:txBody>
      </p:sp>
      <p:sp>
        <p:nvSpPr>
          <p:cNvPr id="7" name="Text 5"/>
          <p:cNvSpPr txBox="1"/>
          <p:nvPr/>
        </p:nvSpPr>
        <p:spPr>
          <a:xfrm>
            <a:off x="647700" y="1488847"/>
            <a:ext cx="10953750" cy="748903"/>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To install the OpenTelemetry PHP extension, the server needs the PHP header files, the </a:t>
            </a:r>
            <a:pPr algn="l" indent="0" marL="0">
              <a:lnSpc>
                <a:spcPts val="2930"/>
              </a:lnSpc>
              <a:buNone/>
            </a:pPr>
            <a:r>
              <a:rPr lang="en-US" sz="1720" dirty="0">
                <a:solidFill>
                  <a:srgbClr val="5A6D7A"/>
                </a:solidFill>
                <a:highlight>
                  <a:srgbClr val="E1F0F7"/>
                </a:highlight>
                <a:latin typeface="Courier New" pitchFamily="34" charset="0"/>
                <a:ea typeface="Courier New" pitchFamily="34" charset="-122"/>
                <a:cs typeface="Courier New" pitchFamily="34" charset="-120"/>
              </a:rPr>
              <a:t>pecl</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command and a C compiler. The package </a:t>
            </a:r>
            <a:pPr algn="l" indent="0" marL="0">
              <a:lnSpc>
                <a:spcPts val="2930"/>
              </a:lnSpc>
              <a:buNone/>
            </a:pPr>
            <a:r>
              <a:rPr lang="en-US" sz="1720" dirty="0">
                <a:solidFill>
                  <a:srgbClr val="5A6D7A"/>
                </a:solidFill>
                <a:highlight>
                  <a:srgbClr val="E1F0F7"/>
                </a:highlight>
                <a:latin typeface="Courier New" pitchFamily="34" charset="0"/>
                <a:ea typeface="Courier New" pitchFamily="34" charset="-122"/>
                <a:cs typeface="Courier New" pitchFamily="34" charset="-120"/>
              </a:rPr>
              <a:t>php-pear</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provides the </a:t>
            </a:r>
            <a:pPr algn="l" indent="0" marL="0">
              <a:lnSpc>
                <a:spcPts val="2930"/>
              </a:lnSpc>
              <a:buNone/>
            </a:pPr>
            <a:r>
              <a:rPr lang="en-US" sz="1720" dirty="0">
                <a:solidFill>
                  <a:srgbClr val="5A6D7A"/>
                </a:solidFill>
                <a:highlight>
                  <a:srgbClr val="E1F0F7"/>
                </a:highlight>
                <a:latin typeface="Courier New" pitchFamily="34" charset="0"/>
                <a:ea typeface="Courier New" pitchFamily="34" charset="-122"/>
                <a:cs typeface="Courier New" pitchFamily="34" charset="-120"/>
              </a:rPr>
              <a:t>pecl</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command.</a:t>
            </a:r>
            <a:endParaRPr lang="en-US" sz="1950" dirty="0"/>
          </a:p>
        </p:txBody>
      </p:sp>
      <p:sp>
        <p:nvSpPr>
          <p:cNvPr id="8" name="Text 6"/>
          <p:cNvSpPr txBox="1"/>
          <p:nvPr/>
        </p:nvSpPr>
        <p:spPr>
          <a:xfrm>
            <a:off x="647700" y="2524929"/>
            <a:ext cx="5314950" cy="182880"/>
          </a:xfrm>
          <a:prstGeom prst="rect">
            <a:avLst/>
          </a:prstGeom>
          <a:noFill/>
          <a:ln/>
        </p:spPr>
        <p:txBody>
          <a:bodyPr wrap="none" lIns="0" tIns="0" rIns="0" bIns="0" rtlCol="0" anchor="t"/>
          <a:lstStyle/>
          <a:p>
            <a:pPr algn="l" indent="0" marL="0">
              <a:lnSpc>
                <a:spcPts val="1440"/>
              </a:lnSpc>
              <a:buNone/>
            </a:pPr>
            <a:r>
              <a:rPr lang="en-US" sz="1200" b="1" dirty="0">
                <a:solidFill>
                  <a:srgbClr val="0B6E99"/>
                </a:solidFill>
                <a:latin typeface="Courier New" pitchFamily="34" charset="0"/>
                <a:ea typeface="Courier New" pitchFamily="34" charset="-122"/>
                <a:cs typeface="Courier New" pitchFamily="34" charset="-120"/>
              </a:rPr>
              <a:t>Ubuntu 24.04 LTS</a:t>
            </a:r>
            <a:endParaRPr lang="en-US" sz="1200" dirty="0"/>
          </a:p>
        </p:txBody>
      </p:sp>
      <p:sp>
        <p:nvSpPr>
          <p:cNvPr id="9" name="Text 7"/>
          <p:cNvSpPr txBox="1"/>
          <p:nvPr/>
        </p:nvSpPr>
        <p:spPr>
          <a:xfrm>
            <a:off x="819150" y="2923074"/>
            <a:ext cx="4972050" cy="383679"/>
          </a:xfrm>
          <a:prstGeom prst="rect">
            <a:avLst/>
          </a:prstGeom>
          <a:noFill/>
          <a:ln/>
        </p:spPr>
        <p:txBody>
          <a:bodyPr wrap="square" lIns="0" tIns="0" rIns="0" bIns="0" rtlCol="0" anchor="t"/>
          <a:lstStyle/>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apt install php8.3-dev php-pear \</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gcc make autoconf</a:t>
            </a:r>
            <a:endParaRPr lang="en-US" sz="980" dirty="0"/>
          </a:p>
        </p:txBody>
      </p:sp>
      <p:sp>
        <p:nvSpPr>
          <p:cNvPr id="10" name="Text 8"/>
          <p:cNvSpPr txBox="1"/>
          <p:nvPr/>
        </p:nvSpPr>
        <p:spPr>
          <a:xfrm>
            <a:off x="6286500" y="2524929"/>
            <a:ext cx="5314950" cy="182880"/>
          </a:xfrm>
          <a:prstGeom prst="rect">
            <a:avLst/>
          </a:prstGeom>
          <a:noFill/>
          <a:ln/>
        </p:spPr>
        <p:txBody>
          <a:bodyPr wrap="none" lIns="0" tIns="0" rIns="0" bIns="0" rtlCol="0" anchor="t"/>
          <a:lstStyle/>
          <a:p>
            <a:pPr algn="l" indent="0" marL="0">
              <a:lnSpc>
                <a:spcPts val="1440"/>
              </a:lnSpc>
              <a:buNone/>
            </a:pPr>
            <a:r>
              <a:rPr lang="en-US" sz="1200" b="1" dirty="0">
                <a:solidFill>
                  <a:srgbClr val="0B6E99"/>
                </a:solidFill>
                <a:latin typeface="Courier New" pitchFamily="34" charset="0"/>
                <a:ea typeface="Courier New" pitchFamily="34" charset="-122"/>
                <a:cs typeface="Courier New" pitchFamily="34" charset="-120"/>
              </a:rPr>
              <a:t>RHEL 9 · Rocky 9</a:t>
            </a:r>
            <a:endParaRPr lang="en-US" sz="1200" dirty="0"/>
          </a:p>
        </p:txBody>
      </p:sp>
      <p:sp>
        <p:nvSpPr>
          <p:cNvPr id="11" name="Text 9"/>
          <p:cNvSpPr txBox="1"/>
          <p:nvPr/>
        </p:nvSpPr>
        <p:spPr>
          <a:xfrm>
            <a:off x="6457950" y="2923074"/>
            <a:ext cx="4972050" cy="383679"/>
          </a:xfrm>
          <a:prstGeom prst="rect">
            <a:avLst/>
          </a:prstGeom>
          <a:noFill/>
          <a:ln/>
        </p:spPr>
        <p:txBody>
          <a:bodyPr wrap="square" lIns="0" tIns="0" rIns="0" bIns="0" rtlCol="0" anchor="t"/>
          <a:lstStyle/>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dnf install php-devel php-pear \</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gcc make autoconf</a:t>
            </a:r>
            <a:endParaRPr lang="en-US" sz="980" dirty="0"/>
          </a:p>
        </p:txBody>
      </p:sp>
      <p:sp>
        <p:nvSpPr>
          <p:cNvPr id="12" name="Text 10"/>
          <p:cNvSpPr txBox="1"/>
          <p:nvPr/>
        </p:nvSpPr>
        <p:spPr>
          <a:xfrm>
            <a:off x="647700" y="6464379"/>
            <a:ext cx="948928"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Walk-through</a:t>
            </a:r>
            <a:endParaRPr lang="en-US" sz="980" dirty="0"/>
          </a:p>
        </p:txBody>
      </p:sp>
      <p:sp>
        <p:nvSpPr>
          <p:cNvPr id="13" name="Text 11"/>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15 / 39</a:t>
            </a:r>
            <a:endParaRPr lang="en-US" sz="9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3590" y="3120564"/>
            <a:ext cx="5165263" cy="1618677"/>
          </a:xfrm>
          <a:prstGeom prst="roundRect">
            <a:avLst>
              <a:gd name="adj" fmla="val 6529"/>
            </a:avLst>
          </a:prstGeom>
          <a:solidFill>
            <a:srgbClr val="0F2027"/>
          </a:solidFill>
          <a:ln/>
        </p:spPr>
      </p:sp>
      <p:sp>
        <p:nvSpPr>
          <p:cNvPr id="3" name="Shape 1"/>
          <p:cNvSpPr/>
          <p:nvPr/>
        </p:nvSpPr>
        <p:spPr>
          <a:xfrm>
            <a:off x="6283147" y="3120564"/>
            <a:ext cx="5165263" cy="1618677"/>
          </a:xfrm>
          <a:prstGeom prst="roundRect">
            <a:avLst>
              <a:gd name="adj" fmla="val 6529"/>
            </a:avLst>
          </a:prstGeom>
          <a:solidFill>
            <a:srgbClr val="0F2027"/>
          </a:solidFill>
          <a:ln/>
        </p:spPr>
      </p:sp>
      <p:sp>
        <p:nvSpPr>
          <p:cNvPr id="4" name="Shape 2"/>
          <p:cNvSpPr/>
          <p:nvPr/>
        </p:nvSpPr>
        <p:spPr>
          <a:xfrm>
            <a:off x="647700" y="6343650"/>
            <a:ext cx="10896600" cy="0"/>
          </a:xfrm>
          <a:prstGeom prst="line">
            <a:avLst/>
          </a:prstGeom>
          <a:noFill/>
          <a:ln w="8890">
            <a:solidFill>
              <a:srgbClr val="CBD7DF"/>
            </a:solidFill>
            <a:prstDash val="solid"/>
          </a:ln>
        </p:spPr>
      </p:sp>
      <p:sp>
        <p:nvSpPr>
          <p:cNvPr id="5" name="Text 3"/>
          <p:cNvSpPr txBox="1"/>
          <p:nvPr/>
        </p:nvSpPr>
        <p:spPr>
          <a:xfrm>
            <a:off x="743590" y="512121"/>
            <a:ext cx="10761971" cy="182469"/>
          </a:xfrm>
          <a:prstGeom prst="rect">
            <a:avLst/>
          </a:prstGeom>
          <a:noFill/>
          <a:ln/>
        </p:spPr>
        <p:txBody>
          <a:bodyPr wrap="none" lIns="0" tIns="0" rIns="0" bIns="0" rtlCol="0" anchor="t"/>
          <a:lstStyle/>
          <a:p>
            <a:pPr algn="l" indent="0" marL="0">
              <a:lnSpc>
                <a:spcPts val="1440"/>
              </a:lnSpc>
              <a:buNone/>
            </a:pPr>
            <a:r>
              <a:rPr lang="en-US" sz="960" spc="150" kern="0" dirty="0">
                <a:solidFill>
                  <a:srgbClr val="0B6E99"/>
                </a:solidFill>
                <a:latin typeface="Courier New" pitchFamily="34" charset="0"/>
                <a:ea typeface="Courier New" pitchFamily="34" charset="-122"/>
                <a:cs typeface="Courier New" pitchFamily="34" charset="-120"/>
              </a:rPr>
              <a:t>STEP 2 OF 9</a:t>
            </a:r>
            <a:endParaRPr lang="en-US" sz="960" dirty="0"/>
          </a:p>
        </p:txBody>
      </p:sp>
      <p:sp>
        <p:nvSpPr>
          <p:cNvPr id="6" name="Text 4"/>
          <p:cNvSpPr txBox="1"/>
          <p:nvPr/>
        </p:nvSpPr>
        <p:spPr>
          <a:xfrm>
            <a:off x="743590" y="846872"/>
            <a:ext cx="10761971" cy="424444"/>
          </a:xfrm>
          <a:prstGeom prst="rect">
            <a:avLst/>
          </a:prstGeom>
          <a:noFill/>
          <a:ln/>
        </p:spPr>
        <p:txBody>
          <a:bodyPr wrap="none" lIns="0" tIns="0" rIns="0" bIns="0" rtlCol="0" anchor="t"/>
          <a:lstStyle/>
          <a:p>
            <a:pPr algn="l" indent="0" marL="0">
              <a:lnSpc>
                <a:spcPts val="3340"/>
              </a:lnSpc>
              <a:buNone/>
            </a:pPr>
            <a:r>
              <a:rPr lang="en-US" sz="3090" b="1" spc="-60" kern="0" dirty="0">
                <a:solidFill>
                  <a:srgbClr val="101A22"/>
                </a:solidFill>
                <a:latin typeface="Arial" pitchFamily="34" charset="0"/>
                <a:ea typeface="Arial" pitchFamily="34" charset="-122"/>
                <a:cs typeface="Arial" pitchFamily="34" charset="-120"/>
              </a:rPr>
              <a:t>Install and enable the OpenTelemetry PHP extension</a:t>
            </a:r>
            <a:endParaRPr lang="en-US" sz="3090" dirty="0"/>
          </a:p>
        </p:txBody>
      </p:sp>
      <p:sp>
        <p:nvSpPr>
          <p:cNvPr id="7" name="Text 5"/>
          <p:cNvSpPr txBox="1"/>
          <p:nvPr/>
        </p:nvSpPr>
        <p:spPr>
          <a:xfrm>
            <a:off x="743590" y="1472048"/>
            <a:ext cx="10761971" cy="1100660"/>
          </a:xfrm>
          <a:prstGeom prst="rect">
            <a:avLst/>
          </a:prstGeom>
          <a:noFill/>
          <a:ln/>
        </p:spPr>
        <p:txBody>
          <a:bodyPr wrap="square" lIns="0" tIns="0" rIns="0" bIns="0" rtlCol="0" anchor="t"/>
          <a:lstStyle/>
          <a:p>
            <a:pPr algn="l" indent="0" marL="0">
              <a:lnSpc>
                <a:spcPts val="2870"/>
              </a:lnSpc>
              <a:buNone/>
            </a:pPr>
            <a:r>
              <a:rPr lang="en-US" sz="1910" dirty="0">
                <a:solidFill>
                  <a:srgbClr val="5A6D7A"/>
                </a:solidFill>
                <a:latin typeface="Arial" pitchFamily="34" charset="0"/>
                <a:ea typeface="Arial" pitchFamily="34" charset="-122"/>
                <a:cs typeface="Arial" pitchFamily="34" charset="-120"/>
              </a:rPr>
              <a:t>PECL is the PHP site that publishes extensions. The command </a:t>
            </a:r>
            <a:pPr algn="l" indent="0" marL="0">
              <a:lnSpc>
                <a:spcPts val="2870"/>
              </a:lnSpc>
              <a:buNone/>
            </a:pPr>
            <a:r>
              <a:rPr lang="en-US" sz="1690" dirty="0">
                <a:solidFill>
                  <a:srgbClr val="5A6D7A"/>
                </a:solidFill>
                <a:highlight>
                  <a:srgbClr val="E1F0F7"/>
                </a:highlight>
                <a:latin typeface="Courier New" pitchFamily="34" charset="0"/>
                <a:ea typeface="Courier New" pitchFamily="34" charset="-122"/>
                <a:cs typeface="Courier New" pitchFamily="34" charset="-120"/>
              </a:rPr>
              <a:t>pecl install opentelemetry</a:t>
            </a:r>
            <a:pPr algn="l" indent="0" marL="0">
              <a:lnSpc>
                <a:spcPts val="2870"/>
              </a:lnSpc>
              <a:buNone/>
            </a:pPr>
            <a:r>
              <a:rPr lang="en-US" sz="1910" dirty="0">
                <a:solidFill>
                  <a:srgbClr val="5A6D7A"/>
                </a:solidFill>
                <a:latin typeface="Arial" pitchFamily="34" charset="0"/>
                <a:ea typeface="Arial" pitchFamily="34" charset="-122"/>
                <a:cs typeface="Arial" pitchFamily="34" charset="-120"/>
              </a:rPr>
              <a:t> downloads the extension and builds the file </a:t>
            </a:r>
            <a:pPr algn="l" indent="0" marL="0">
              <a:lnSpc>
                <a:spcPts val="2870"/>
              </a:lnSpc>
              <a:buNone/>
            </a:pPr>
            <a:r>
              <a:rPr lang="en-US" sz="1690" dirty="0">
                <a:solidFill>
                  <a:srgbClr val="5A6D7A"/>
                </a:solidFill>
                <a:highlight>
                  <a:srgbClr val="E1F0F7"/>
                </a:highlight>
                <a:latin typeface="Courier New" pitchFamily="34" charset="0"/>
                <a:ea typeface="Courier New" pitchFamily="34" charset="-122"/>
                <a:cs typeface="Courier New" pitchFamily="34" charset="-120"/>
              </a:rPr>
              <a:t>opentelemetry.so</a:t>
            </a:r>
            <a:pPr algn="l" indent="0" marL="0">
              <a:lnSpc>
                <a:spcPts val="2870"/>
              </a:lnSpc>
              <a:buNone/>
            </a:pPr>
            <a:r>
              <a:rPr lang="en-US" sz="1910" dirty="0">
                <a:solidFill>
                  <a:srgbClr val="5A6D7A"/>
                </a:solidFill>
                <a:latin typeface="Arial" pitchFamily="34" charset="0"/>
                <a:ea typeface="Arial" pitchFamily="34" charset="-122"/>
                <a:cs typeface="Arial" pitchFamily="34" charset="-120"/>
              </a:rPr>
              <a:t> for the PHP version on your server. A small php.ini file then tells PHP to load it.</a:t>
            </a:r>
            <a:endParaRPr lang="en-US" sz="1910" dirty="0"/>
          </a:p>
        </p:txBody>
      </p:sp>
      <p:sp>
        <p:nvSpPr>
          <p:cNvPr id="8" name="Text 6"/>
          <p:cNvSpPr txBox="1"/>
          <p:nvPr/>
        </p:nvSpPr>
        <p:spPr>
          <a:xfrm>
            <a:off x="743590" y="2854816"/>
            <a:ext cx="5222413" cy="179588"/>
          </a:xfrm>
          <a:prstGeom prst="rect">
            <a:avLst/>
          </a:prstGeom>
          <a:noFill/>
          <a:ln/>
        </p:spPr>
        <p:txBody>
          <a:bodyPr wrap="none" lIns="0" tIns="0" rIns="0" bIns="0" rtlCol="0" anchor="t"/>
          <a:lstStyle/>
          <a:p>
            <a:pPr algn="l" indent="0" marL="0">
              <a:lnSpc>
                <a:spcPts val="1410"/>
              </a:lnSpc>
              <a:buNone/>
            </a:pPr>
            <a:r>
              <a:rPr lang="en-US" sz="1180" b="1" dirty="0">
                <a:solidFill>
                  <a:srgbClr val="0B6E99"/>
                </a:solidFill>
                <a:latin typeface="Courier New" pitchFamily="34" charset="0"/>
                <a:ea typeface="Courier New" pitchFamily="34" charset="-122"/>
                <a:cs typeface="Courier New" pitchFamily="34" charset="-120"/>
              </a:rPr>
              <a:t>Ubuntu 24.04 LTS</a:t>
            </a:r>
            <a:endParaRPr lang="en-US" sz="1180" dirty="0"/>
          </a:p>
        </p:txBody>
      </p:sp>
      <p:sp>
        <p:nvSpPr>
          <p:cNvPr id="9" name="Text 7"/>
          <p:cNvSpPr txBox="1"/>
          <p:nvPr/>
        </p:nvSpPr>
        <p:spPr>
          <a:xfrm>
            <a:off x="911954" y="3245901"/>
            <a:ext cx="4885685" cy="1319363"/>
          </a:xfrm>
          <a:prstGeom prst="rect">
            <a:avLst/>
          </a:prstGeom>
          <a:noFill/>
          <a:ln/>
        </p:spPr>
        <p:txBody>
          <a:bodyPr wrap="square" lIns="0" tIns="0" rIns="0" bIns="0" rtlCol="0" anchor="t"/>
          <a:lstStyle/>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pecl install opentelemetry   </a:t>
            </a:r>
            <a:pPr algn="l" indent="0" marL="0">
              <a:lnSpc>
                <a:spcPts val="1480"/>
              </a:lnSpc>
              <a:buNone/>
            </a:pPr>
            <a:r>
              <a:rPr lang="en-US" sz="960" dirty="0">
                <a:solidFill>
                  <a:srgbClr val="86A5B4"/>
                </a:solidFill>
                <a:latin typeface="Courier New" pitchFamily="34" charset="0"/>
                <a:ea typeface="Courier New" pitchFamily="34" charset="-122"/>
                <a:cs typeface="Courier New" pitchFamily="34" charset="-120"/>
              </a:rPr>
              <a:t># compiles the C source with gcc</a:t>
            </a:r>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echo "extension=opentelemetry.so"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&gt; /etc/php/8.3/mods-available/opentelemetry.ini</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phpenmod opentelemetry</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systemctl restart php8.3-fpm</a:t>
            </a:r>
            <a:endParaRPr lang="en-US" sz="960" dirty="0"/>
          </a:p>
        </p:txBody>
      </p:sp>
      <p:sp>
        <p:nvSpPr>
          <p:cNvPr id="10" name="Text 8"/>
          <p:cNvSpPr txBox="1"/>
          <p:nvPr/>
        </p:nvSpPr>
        <p:spPr>
          <a:xfrm>
            <a:off x="6283147" y="2854816"/>
            <a:ext cx="5222413" cy="179588"/>
          </a:xfrm>
          <a:prstGeom prst="rect">
            <a:avLst/>
          </a:prstGeom>
          <a:noFill/>
          <a:ln/>
        </p:spPr>
        <p:txBody>
          <a:bodyPr wrap="none" lIns="0" tIns="0" rIns="0" bIns="0" rtlCol="0" anchor="t"/>
          <a:lstStyle/>
          <a:p>
            <a:pPr algn="l" indent="0" marL="0">
              <a:lnSpc>
                <a:spcPts val="1410"/>
              </a:lnSpc>
              <a:buNone/>
            </a:pPr>
            <a:r>
              <a:rPr lang="en-US" sz="1180" b="1" dirty="0">
                <a:solidFill>
                  <a:srgbClr val="0B6E99"/>
                </a:solidFill>
                <a:latin typeface="Courier New" pitchFamily="34" charset="0"/>
                <a:ea typeface="Courier New" pitchFamily="34" charset="-122"/>
                <a:cs typeface="Courier New" pitchFamily="34" charset="-120"/>
              </a:rPr>
              <a:t>RHEL 9 · Rocky 9</a:t>
            </a:r>
            <a:endParaRPr lang="en-US" sz="1180" dirty="0"/>
          </a:p>
        </p:txBody>
      </p:sp>
      <p:sp>
        <p:nvSpPr>
          <p:cNvPr id="11" name="Text 9"/>
          <p:cNvSpPr txBox="1"/>
          <p:nvPr/>
        </p:nvSpPr>
        <p:spPr>
          <a:xfrm>
            <a:off x="6451511" y="3245901"/>
            <a:ext cx="4885685" cy="1319363"/>
          </a:xfrm>
          <a:prstGeom prst="rect">
            <a:avLst/>
          </a:prstGeom>
          <a:noFill/>
          <a:ln/>
        </p:spPr>
        <p:txBody>
          <a:bodyPr wrap="square" lIns="0" tIns="0" rIns="0" bIns="0" rtlCol="0" anchor="t"/>
          <a:lstStyle/>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pecl install opentelemetry   </a:t>
            </a:r>
            <a:pPr algn="l" indent="0" marL="0">
              <a:lnSpc>
                <a:spcPts val="1480"/>
              </a:lnSpc>
              <a:buNone/>
            </a:pPr>
            <a:r>
              <a:rPr lang="en-US" sz="960" dirty="0">
                <a:solidFill>
                  <a:srgbClr val="86A5B4"/>
                </a:solidFill>
                <a:latin typeface="Courier New" pitchFamily="34" charset="0"/>
                <a:ea typeface="Courier New" pitchFamily="34" charset="-122"/>
                <a:cs typeface="Courier New" pitchFamily="34" charset="-120"/>
              </a:rPr>
              <a:t># same: compiles with gcc</a:t>
            </a:r>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echo "extension=opentelemetry.so"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&gt; /etc/php.d/40-opentelemetry.ini</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a:t>
            </a:r>
            <a:pPr algn="l" indent="0" marL="0">
              <a:lnSpc>
                <a:spcPts val="1480"/>
              </a:lnSpc>
              <a:buNone/>
            </a:pPr>
            <a:r>
              <a:rPr lang="en-US" sz="960" dirty="0">
                <a:solidFill>
                  <a:srgbClr val="86A5B4"/>
                </a:solidFill>
                <a:latin typeface="Courier New" pitchFamily="34" charset="0"/>
                <a:ea typeface="Courier New" pitchFamily="34" charset="-122"/>
                <a:cs typeface="Courier New" pitchFamily="34" charset="-120"/>
              </a:rPr>
              <a:t># no phpenmod — the drop-in is enough</a:t>
            </a:r>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 </a:t>
            </a:r>
            <a:endParaRPr lang="en-US" sz="960" dirty="0"/>
          </a:p>
          <a:p>
            <a:pPr algn="l" indent="0" marL="0">
              <a:lnSpc>
                <a:spcPts val="1480"/>
              </a:lnSpc>
              <a:buNone/>
            </a:pPr>
            <a:r>
              <a:rPr lang="en-US" sz="960" dirty="0">
                <a:solidFill>
                  <a:srgbClr val="E4EDF2"/>
                </a:solidFill>
                <a:latin typeface="Courier New" pitchFamily="34" charset="0"/>
                <a:ea typeface="Courier New" pitchFamily="34" charset="-122"/>
                <a:cs typeface="Courier New" pitchFamily="34" charset="-120"/>
              </a:rPr>
              <a:t>systemctl restart php-fpm</a:t>
            </a:r>
            <a:endParaRPr lang="en-US" sz="960" dirty="0"/>
          </a:p>
        </p:txBody>
      </p:sp>
      <p:sp>
        <p:nvSpPr>
          <p:cNvPr id="12" name="Text 10"/>
          <p:cNvSpPr txBox="1"/>
          <p:nvPr/>
        </p:nvSpPr>
        <p:spPr>
          <a:xfrm>
            <a:off x="743590" y="5033547"/>
            <a:ext cx="10761971" cy="732798"/>
          </a:xfrm>
          <a:prstGeom prst="rect">
            <a:avLst/>
          </a:prstGeom>
          <a:noFill/>
          <a:ln/>
        </p:spPr>
        <p:txBody>
          <a:bodyPr wrap="square" lIns="0" tIns="0" rIns="0" bIns="0" rtlCol="0" anchor="t"/>
          <a:lstStyle/>
          <a:p>
            <a:pPr algn="l" indent="0" marL="0">
              <a:lnSpc>
                <a:spcPts val="2870"/>
              </a:lnSpc>
              <a:buNone/>
            </a:pPr>
            <a:r>
              <a:rPr lang="en-US" sz="1910" dirty="0">
                <a:solidFill>
                  <a:srgbClr val="5A6D7A"/>
                </a:solidFill>
                <a:latin typeface="Arial" pitchFamily="34" charset="0"/>
                <a:ea typeface="Arial" pitchFamily="34" charset="-122"/>
                <a:cs typeface="Arial" pitchFamily="34" charset="-120"/>
              </a:rPr>
              <a:t>Run </a:t>
            </a:r>
            <a:pPr algn="l" indent="0" marL="0">
              <a:lnSpc>
                <a:spcPts val="2870"/>
              </a:lnSpc>
              <a:buNone/>
            </a:pPr>
            <a:r>
              <a:rPr lang="en-US" sz="1690" dirty="0">
                <a:solidFill>
                  <a:srgbClr val="5A6D7A"/>
                </a:solidFill>
                <a:highlight>
                  <a:srgbClr val="E1F0F7"/>
                </a:highlight>
                <a:latin typeface="Courier New" pitchFamily="34" charset="0"/>
                <a:ea typeface="Courier New" pitchFamily="34" charset="-122"/>
                <a:cs typeface="Courier New" pitchFamily="34" charset="-120"/>
              </a:rPr>
              <a:t>php --ri opentelemetry</a:t>
            </a:r>
            <a:pPr algn="l" indent="0" marL="0">
              <a:lnSpc>
                <a:spcPts val="2870"/>
              </a:lnSpc>
              <a:buNone/>
            </a:pPr>
            <a:r>
              <a:rPr lang="en-US" sz="1910" dirty="0">
                <a:solidFill>
                  <a:srgbClr val="5A6D7A"/>
                </a:solidFill>
                <a:latin typeface="Arial" pitchFamily="34" charset="0"/>
                <a:ea typeface="Arial" pitchFamily="34" charset="-122"/>
                <a:cs typeface="Arial" pitchFamily="34" charset="-120"/>
              </a:rPr>
              <a:t> to check the result. The output must contain </a:t>
            </a:r>
            <a:pPr algn="l" indent="0" marL="0">
              <a:lnSpc>
                <a:spcPts val="2870"/>
              </a:lnSpc>
              <a:buNone/>
            </a:pPr>
            <a:r>
              <a:rPr lang="en-US" sz="1910" b="1" dirty="0">
                <a:solidFill>
                  <a:srgbClr val="5A6D7A"/>
                </a:solidFill>
                <a:latin typeface="Arial" pitchFamily="34" charset="0"/>
                <a:ea typeface="Arial" pitchFamily="34" charset="-122"/>
                <a:cs typeface="Arial" pitchFamily="34" charset="-120"/>
              </a:rPr>
              <a:t>opentelemetry hooks =&gt; enabled</a:t>
            </a:r>
            <a:pPr algn="l" indent="0" marL="0">
              <a:lnSpc>
                <a:spcPts val="2870"/>
              </a:lnSpc>
              <a:buNone/>
            </a:pPr>
            <a:r>
              <a:rPr lang="en-US" sz="1910" dirty="0">
                <a:solidFill>
                  <a:srgbClr val="5A6D7A"/>
                </a:solidFill>
                <a:latin typeface="Arial" pitchFamily="34" charset="0"/>
                <a:ea typeface="Arial" pitchFamily="34" charset="-122"/>
                <a:cs typeface="Arial" pitchFamily="34" charset="-120"/>
              </a:rPr>
              <a:t>.</a:t>
            </a:r>
            <a:endParaRPr lang="en-US" sz="1910" dirty="0"/>
          </a:p>
        </p:txBody>
      </p:sp>
      <p:sp>
        <p:nvSpPr>
          <p:cNvPr id="13" name="Text 11"/>
          <p:cNvSpPr txBox="1"/>
          <p:nvPr/>
        </p:nvSpPr>
        <p:spPr>
          <a:xfrm>
            <a:off x="647700" y="6464435"/>
            <a:ext cx="948928" cy="145915"/>
          </a:xfrm>
          <a:prstGeom prst="rect">
            <a:avLst/>
          </a:prstGeom>
          <a:noFill/>
          <a:ln/>
        </p:spPr>
        <p:txBody>
          <a:bodyPr wrap="none" lIns="0" tIns="0" rIns="0" bIns="0" rtlCol="0" anchor="t"/>
          <a:lstStyle/>
          <a:p>
            <a:pPr algn="l" indent="0" marL="0">
              <a:lnSpc>
                <a:spcPts val="1150"/>
              </a:lnSpc>
              <a:buNone/>
            </a:pPr>
            <a:r>
              <a:rPr lang="en-US" sz="960" dirty="0">
                <a:solidFill>
                  <a:srgbClr val="8496A2"/>
                </a:solidFill>
                <a:latin typeface="Courier New" pitchFamily="34" charset="0"/>
                <a:ea typeface="Courier New" pitchFamily="34" charset="-122"/>
                <a:cs typeface="Courier New" pitchFamily="34" charset="-120"/>
              </a:rPr>
              <a:t>Walk-through</a:t>
            </a:r>
            <a:endParaRPr lang="en-US" sz="960" dirty="0"/>
          </a:p>
        </p:txBody>
      </p:sp>
      <p:sp>
        <p:nvSpPr>
          <p:cNvPr id="14" name="Text 12"/>
          <p:cNvSpPr txBox="1"/>
          <p:nvPr/>
        </p:nvSpPr>
        <p:spPr>
          <a:xfrm>
            <a:off x="11024146" y="6464435"/>
            <a:ext cx="577304" cy="145915"/>
          </a:xfrm>
          <a:prstGeom prst="rect">
            <a:avLst/>
          </a:prstGeom>
          <a:noFill/>
          <a:ln/>
        </p:spPr>
        <p:txBody>
          <a:bodyPr wrap="none" lIns="0" tIns="0" rIns="0" bIns="0" rtlCol="0" anchor="t"/>
          <a:lstStyle/>
          <a:p>
            <a:pPr algn="l" indent="0" marL="0">
              <a:lnSpc>
                <a:spcPts val="1150"/>
              </a:lnSpc>
              <a:buNone/>
            </a:pPr>
            <a:r>
              <a:rPr lang="en-US" sz="960" dirty="0">
                <a:solidFill>
                  <a:srgbClr val="8496A2"/>
                </a:solidFill>
                <a:latin typeface="Courier New" pitchFamily="34" charset="0"/>
                <a:ea typeface="Courier New" pitchFamily="34" charset="-122"/>
                <a:cs typeface="Courier New" pitchFamily="34" charset="-120"/>
              </a:rPr>
              <a:t>16 / 39</a:t>
            </a:r>
            <a:endParaRPr lang="en-US" sz="9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35666" y="2652018"/>
            <a:ext cx="5076406" cy="664726"/>
          </a:xfrm>
          <a:prstGeom prst="roundRect">
            <a:avLst>
              <a:gd name="adj" fmla="val 38043"/>
            </a:avLst>
          </a:prstGeom>
          <a:solidFill>
            <a:srgbClr val="0F2027"/>
          </a:solidFill>
          <a:ln/>
        </p:spPr>
      </p:sp>
      <p:sp>
        <p:nvSpPr>
          <p:cNvPr id="3" name="Shape 1"/>
          <p:cNvSpPr/>
          <p:nvPr/>
        </p:nvSpPr>
        <p:spPr>
          <a:xfrm>
            <a:off x="6279928" y="2652018"/>
            <a:ext cx="5076406" cy="1035168"/>
          </a:xfrm>
          <a:prstGeom prst="roundRect">
            <a:avLst>
              <a:gd name="adj" fmla="val 15687"/>
            </a:avLst>
          </a:prstGeom>
          <a:solidFill>
            <a:srgbClr val="0F2027"/>
          </a:solidFill>
          <a:ln/>
        </p:spPr>
      </p:sp>
      <p:sp>
        <p:nvSpPr>
          <p:cNvPr id="4" name="Shape 2"/>
          <p:cNvSpPr/>
          <p:nvPr/>
        </p:nvSpPr>
        <p:spPr>
          <a:xfrm>
            <a:off x="835666" y="4793627"/>
            <a:ext cx="10520667" cy="849948"/>
          </a:xfrm>
          <a:prstGeom prst="roundRect">
            <a:avLst>
              <a:gd name="adj" fmla="val 23269"/>
            </a:avLst>
          </a:prstGeom>
          <a:solidFill>
            <a:srgbClr val="0F2027"/>
          </a:solidFill>
          <a:ln/>
        </p:spPr>
      </p:sp>
      <p:sp>
        <p:nvSpPr>
          <p:cNvPr id="5" name="Shape 3"/>
          <p:cNvSpPr/>
          <p:nvPr/>
        </p:nvSpPr>
        <p:spPr>
          <a:xfrm>
            <a:off x="647700" y="6343650"/>
            <a:ext cx="10896600" cy="0"/>
          </a:xfrm>
          <a:prstGeom prst="line">
            <a:avLst/>
          </a:prstGeom>
          <a:noFill/>
          <a:ln w="8890">
            <a:solidFill>
              <a:srgbClr val="CBD7DF"/>
            </a:solidFill>
            <a:prstDash val="solid"/>
          </a:ln>
        </p:spPr>
      </p:sp>
      <p:sp>
        <p:nvSpPr>
          <p:cNvPr id="6" name="Text 4"/>
          <p:cNvSpPr txBox="1"/>
          <p:nvPr/>
        </p:nvSpPr>
        <p:spPr>
          <a:xfrm>
            <a:off x="835666" y="512489"/>
            <a:ext cx="10577817" cy="179330"/>
          </a:xfrm>
          <a:prstGeom prst="rect">
            <a:avLst/>
          </a:prstGeom>
          <a:noFill/>
          <a:ln/>
        </p:spPr>
        <p:txBody>
          <a:bodyPr wrap="none" lIns="0" tIns="0" rIns="0" bIns="0" rtlCol="0" anchor="t"/>
          <a:lstStyle/>
          <a:p>
            <a:pPr algn="l" indent="0" marL="0">
              <a:lnSpc>
                <a:spcPts val="1410"/>
              </a:lnSpc>
              <a:buNone/>
            </a:pPr>
            <a:r>
              <a:rPr lang="en-US" sz="940" spc="150" kern="0" dirty="0">
                <a:solidFill>
                  <a:srgbClr val="0B6E99"/>
                </a:solidFill>
                <a:latin typeface="Courier New" pitchFamily="34" charset="0"/>
                <a:ea typeface="Courier New" pitchFamily="34" charset="-122"/>
                <a:cs typeface="Courier New" pitchFamily="34" charset="-120"/>
              </a:rPr>
              <a:t>STEP 3 OF 9</a:t>
            </a:r>
            <a:endParaRPr lang="en-US" sz="940" dirty="0"/>
          </a:p>
        </p:txBody>
      </p:sp>
      <p:sp>
        <p:nvSpPr>
          <p:cNvPr id="7" name="Text 5"/>
          <p:cNvSpPr txBox="1"/>
          <p:nvPr/>
        </p:nvSpPr>
        <p:spPr>
          <a:xfrm>
            <a:off x="835666" y="841479"/>
            <a:ext cx="10577817" cy="357510"/>
          </a:xfrm>
          <a:prstGeom prst="rect">
            <a:avLst/>
          </a:prstGeom>
          <a:noFill/>
          <a:ln/>
        </p:spPr>
        <p:txBody>
          <a:bodyPr wrap="none" lIns="0" tIns="0" rIns="0" bIns="0" rtlCol="0" anchor="t"/>
          <a:lstStyle/>
          <a:p>
            <a:pPr algn="l" indent="0" marL="0">
              <a:lnSpc>
                <a:spcPts val="2810"/>
              </a:lnSpc>
              <a:buNone/>
            </a:pPr>
            <a:r>
              <a:rPr lang="en-US" sz="2610" b="1" spc="-50" kern="0" dirty="0">
                <a:solidFill>
                  <a:srgbClr val="101A22"/>
                </a:solidFill>
                <a:latin typeface="Arial" pitchFamily="34" charset="0"/>
                <a:ea typeface="Arial" pitchFamily="34" charset="-122"/>
                <a:cs typeface="Arial" pitchFamily="34" charset="-120"/>
              </a:rPr>
              <a:t>Install PHP Composer and the two OpenTelemetry PHP packages</a:t>
            </a:r>
            <a:endParaRPr lang="en-US" sz="2610" dirty="0"/>
          </a:p>
        </p:txBody>
      </p:sp>
      <p:sp>
        <p:nvSpPr>
          <p:cNvPr id="8" name="Text 6"/>
          <p:cNvSpPr txBox="1"/>
          <p:nvPr/>
        </p:nvSpPr>
        <p:spPr>
          <a:xfrm>
            <a:off x="835666" y="1396273"/>
            <a:ext cx="10577817" cy="717318"/>
          </a:xfrm>
          <a:prstGeom prst="rect">
            <a:avLst/>
          </a:prstGeom>
          <a:noFill/>
          <a:ln/>
        </p:spPr>
        <p:txBody>
          <a:bodyPr wrap="square" lIns="0" tIns="0" rIns="0" bIns="0" rtlCol="0" anchor="t"/>
          <a:lstStyle/>
          <a:p>
            <a:pPr algn="l" indent="0" marL="0">
              <a:lnSpc>
                <a:spcPts val="2820"/>
              </a:lnSpc>
              <a:buNone/>
            </a:pPr>
            <a:r>
              <a:rPr lang="en-US" sz="1880" dirty="0">
                <a:solidFill>
                  <a:srgbClr val="5A6D7A"/>
                </a:solidFill>
                <a:latin typeface="Arial" pitchFamily="34" charset="0"/>
                <a:ea typeface="Arial" pitchFamily="34" charset="-122"/>
                <a:cs typeface="Arial" pitchFamily="34" charset="-120"/>
              </a:rPr>
              <a:t>The OpenTelemetry PHP code comes as two packages. PHP Composer is the tool that downloads PHP packages. Install PHP Composer first.</a:t>
            </a:r>
            <a:endParaRPr lang="en-US" sz="1880" dirty="0"/>
          </a:p>
        </p:txBody>
      </p:sp>
      <p:sp>
        <p:nvSpPr>
          <p:cNvPr id="9" name="Text 7"/>
          <p:cNvSpPr txBox="1"/>
          <p:nvPr/>
        </p:nvSpPr>
        <p:spPr>
          <a:xfrm>
            <a:off x="835666" y="2390842"/>
            <a:ext cx="5133556" cy="176479"/>
          </a:xfrm>
          <a:prstGeom prst="rect">
            <a:avLst/>
          </a:prstGeom>
          <a:noFill/>
          <a:ln/>
        </p:spPr>
        <p:txBody>
          <a:bodyPr wrap="none" lIns="0" tIns="0" rIns="0" bIns="0" rtlCol="0" anchor="t"/>
          <a:lstStyle/>
          <a:p>
            <a:pPr algn="l" indent="0" marL="0">
              <a:lnSpc>
                <a:spcPts val="1390"/>
              </a:lnSpc>
              <a:buNone/>
            </a:pPr>
            <a:r>
              <a:rPr lang="en-US" sz="1160" b="1" dirty="0">
                <a:solidFill>
                  <a:srgbClr val="0B6E99"/>
                </a:solidFill>
                <a:latin typeface="Courier New" pitchFamily="34" charset="0"/>
                <a:ea typeface="Courier New" pitchFamily="34" charset="-122"/>
                <a:cs typeface="Courier New" pitchFamily="34" charset="-120"/>
              </a:rPr>
              <a:t>Ubuntu 24.04 LTS</a:t>
            </a:r>
            <a:endParaRPr lang="en-US" sz="1160" dirty="0"/>
          </a:p>
        </p:txBody>
      </p:sp>
      <p:sp>
        <p:nvSpPr>
          <p:cNvPr id="10" name="Text 8"/>
          <p:cNvSpPr txBox="1"/>
          <p:nvPr/>
        </p:nvSpPr>
        <p:spPr>
          <a:xfrm>
            <a:off x="1001116" y="2775186"/>
            <a:ext cx="4802657" cy="370594"/>
          </a:xfrm>
          <a:prstGeom prst="rect">
            <a:avLst/>
          </a:prstGeom>
          <a:noFill/>
          <a:ln/>
        </p:spPr>
        <p:txBody>
          <a:bodyPr wrap="square" lIns="0" tIns="0" rIns="0" bIns="0" rtlCol="0" anchor="t"/>
          <a:lstStyle/>
          <a:p>
            <a:pPr algn="l" indent="0" marL="0">
              <a:lnSpc>
                <a:spcPts val="1460"/>
              </a:lnSpc>
              <a:buNone/>
            </a:pPr>
            <a:r>
              <a:rPr lang="en-US" sz="940" dirty="0">
                <a:solidFill>
                  <a:srgbClr val="86A5B4"/>
                </a:solidFill>
                <a:latin typeface="Courier New" pitchFamily="34" charset="0"/>
                <a:ea typeface="Courier New" pitchFamily="34" charset="-122"/>
                <a:cs typeface="Courier New" pitchFamily="34" charset="-120"/>
              </a:rPr>
              <a:t># packaged, version 2.7</a:t>
            </a:r>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 </a:t>
            </a:r>
            <a:endParaRPr lang="en-US" sz="940" dirty="0"/>
          </a:p>
          <a:p>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apt install composer</a:t>
            </a:r>
            <a:endParaRPr lang="en-US" sz="940" dirty="0"/>
          </a:p>
        </p:txBody>
      </p:sp>
      <p:sp>
        <p:nvSpPr>
          <p:cNvPr id="11" name="Text 9"/>
          <p:cNvSpPr txBox="1"/>
          <p:nvPr/>
        </p:nvSpPr>
        <p:spPr>
          <a:xfrm>
            <a:off x="6279928" y="2390842"/>
            <a:ext cx="5133556" cy="176479"/>
          </a:xfrm>
          <a:prstGeom prst="rect">
            <a:avLst/>
          </a:prstGeom>
          <a:noFill/>
          <a:ln/>
        </p:spPr>
        <p:txBody>
          <a:bodyPr wrap="none" lIns="0" tIns="0" rIns="0" bIns="0" rtlCol="0" anchor="t"/>
          <a:lstStyle/>
          <a:p>
            <a:pPr algn="l" indent="0" marL="0">
              <a:lnSpc>
                <a:spcPts val="1390"/>
              </a:lnSpc>
              <a:buNone/>
            </a:pPr>
            <a:r>
              <a:rPr lang="en-US" sz="1160" b="1" dirty="0">
                <a:solidFill>
                  <a:srgbClr val="0B6E99"/>
                </a:solidFill>
                <a:latin typeface="Courier New" pitchFamily="34" charset="0"/>
                <a:ea typeface="Courier New" pitchFamily="34" charset="-122"/>
                <a:cs typeface="Courier New" pitchFamily="34" charset="-120"/>
              </a:rPr>
              <a:t>RHEL 9 · Rocky 9</a:t>
            </a:r>
            <a:endParaRPr lang="en-US" sz="1160" dirty="0"/>
          </a:p>
        </p:txBody>
      </p:sp>
      <p:sp>
        <p:nvSpPr>
          <p:cNvPr id="12" name="Text 10"/>
          <p:cNvSpPr txBox="1"/>
          <p:nvPr/>
        </p:nvSpPr>
        <p:spPr>
          <a:xfrm>
            <a:off x="6445377" y="2775186"/>
            <a:ext cx="4802657" cy="741036"/>
          </a:xfrm>
          <a:prstGeom prst="rect">
            <a:avLst/>
          </a:prstGeom>
          <a:noFill/>
          <a:ln/>
        </p:spPr>
        <p:txBody>
          <a:bodyPr wrap="square" lIns="0" tIns="0" rIns="0" bIns="0" rtlCol="0" anchor="t"/>
          <a:lstStyle/>
          <a:p>
            <a:pPr algn="l" indent="0" marL="0">
              <a:lnSpc>
                <a:spcPts val="1460"/>
              </a:lnSpc>
              <a:buNone/>
            </a:pPr>
            <a:r>
              <a:rPr lang="en-US" sz="940" dirty="0">
                <a:solidFill>
                  <a:srgbClr val="86A5B4"/>
                </a:solidFill>
                <a:latin typeface="Courier New" pitchFamily="34" charset="0"/>
                <a:ea typeface="Courier New" pitchFamily="34" charset="-122"/>
                <a:cs typeface="Courier New" pitchFamily="34" charset="-120"/>
              </a:rPr>
              <a:t># not in AppStream — use the installer</a:t>
            </a:r>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 </a:t>
            </a:r>
            <a:endParaRPr lang="en-US" sz="940" dirty="0"/>
          </a:p>
          <a:p>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curl -sS https://getcomposer.org/installer \</a:t>
            </a:r>
            <a:endParaRPr lang="en-US" sz="940" dirty="0"/>
          </a:p>
          <a:p>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  | php</a:t>
            </a:r>
            <a:endParaRPr lang="en-US" sz="940" dirty="0"/>
          </a:p>
          <a:p>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mv composer.phar /usr/local/bin/composer</a:t>
            </a:r>
            <a:endParaRPr lang="en-US" sz="940" dirty="0"/>
          </a:p>
        </p:txBody>
      </p:sp>
      <p:sp>
        <p:nvSpPr>
          <p:cNvPr id="13" name="Text 11"/>
          <p:cNvSpPr txBox="1"/>
          <p:nvPr/>
        </p:nvSpPr>
        <p:spPr>
          <a:xfrm>
            <a:off x="835666" y="3866078"/>
            <a:ext cx="10577817" cy="720192"/>
          </a:xfrm>
          <a:prstGeom prst="rect">
            <a:avLst/>
          </a:prstGeom>
          <a:noFill/>
          <a:ln/>
        </p:spPr>
        <p:txBody>
          <a:bodyPr wrap="square" lIns="0" tIns="0" rIns="0" bIns="0" rtlCol="0" anchor="t"/>
          <a:lstStyle/>
          <a:p>
            <a:pPr algn="l" indent="0" marL="0">
              <a:lnSpc>
                <a:spcPts val="2820"/>
              </a:lnSpc>
              <a:buNone/>
            </a:pPr>
            <a:r>
              <a:rPr lang="en-US" sz="1880" dirty="0">
                <a:solidFill>
                  <a:srgbClr val="5A6D7A"/>
                </a:solidFill>
                <a:latin typeface="Arial" pitchFamily="34" charset="0"/>
                <a:ea typeface="Arial" pitchFamily="34" charset="-122"/>
                <a:cs typeface="Arial" pitchFamily="34" charset="-120"/>
              </a:rPr>
              <a:t>Then run these two commands in the Moodle folder. They are the same on Ubuntu and on Red Hat. Each command downloads one package into the folder </a:t>
            </a:r>
            <a:pPr algn="l" indent="0" marL="0">
              <a:lnSpc>
                <a:spcPts val="2820"/>
              </a:lnSpc>
              <a:buNone/>
            </a:pPr>
            <a:r>
              <a:rPr lang="en-US" sz="1660" dirty="0">
                <a:solidFill>
                  <a:srgbClr val="5A6D7A"/>
                </a:solidFill>
                <a:highlight>
                  <a:srgbClr val="E1F0F7"/>
                </a:highlight>
                <a:latin typeface="Courier New" pitchFamily="34" charset="0"/>
                <a:ea typeface="Courier New" pitchFamily="34" charset="-122"/>
                <a:cs typeface="Courier New" pitchFamily="34" charset="-120"/>
              </a:rPr>
              <a:t>/var/www/moodle/vendor/</a:t>
            </a:r>
            <a:pPr algn="l" indent="0" marL="0">
              <a:lnSpc>
                <a:spcPts val="2820"/>
              </a:lnSpc>
              <a:buNone/>
            </a:pPr>
            <a:r>
              <a:rPr lang="en-US" sz="1880" dirty="0">
                <a:solidFill>
                  <a:srgbClr val="5A6D7A"/>
                </a:solidFill>
                <a:latin typeface="Arial" pitchFamily="34" charset="0"/>
                <a:ea typeface="Arial" pitchFamily="34" charset="-122"/>
                <a:cs typeface="Arial" pitchFamily="34" charset="-120"/>
              </a:rPr>
              <a:t>.</a:t>
            </a:r>
            <a:endParaRPr lang="en-US" sz="1880" dirty="0"/>
          </a:p>
        </p:txBody>
      </p:sp>
      <p:sp>
        <p:nvSpPr>
          <p:cNvPr id="14" name="Text 12"/>
          <p:cNvSpPr txBox="1"/>
          <p:nvPr/>
        </p:nvSpPr>
        <p:spPr>
          <a:xfrm>
            <a:off x="1001116" y="4916794"/>
            <a:ext cx="10246919" cy="555816"/>
          </a:xfrm>
          <a:prstGeom prst="rect">
            <a:avLst/>
          </a:prstGeom>
          <a:noFill/>
          <a:ln/>
        </p:spPr>
        <p:txBody>
          <a:bodyPr wrap="square" lIns="0" tIns="0" rIns="0" bIns="0" rtlCol="0" anchor="t"/>
          <a:lstStyle/>
          <a:p>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cd /var/www/moodle</a:t>
            </a:r>
            <a:endParaRPr lang="en-US" sz="940" dirty="0"/>
          </a:p>
          <a:p>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composer require moodlehq/moodle-package-otel   </a:t>
            </a:r>
            <a:pPr algn="l" indent="0" marL="0">
              <a:lnSpc>
                <a:spcPts val="1460"/>
              </a:lnSpc>
              <a:buNone/>
            </a:pPr>
            <a:r>
              <a:rPr lang="en-US" sz="940" dirty="0">
                <a:solidFill>
                  <a:srgbClr val="86A5B4"/>
                </a:solidFill>
                <a:latin typeface="Courier New" pitchFamily="34" charset="0"/>
                <a:ea typeface="Courier New" pitchFamily="34" charset="-122"/>
                <a:cs typeface="Courier New" pitchFamily="34" charset="-120"/>
              </a:rPr>
              <a:t># records the Moodle events and timings</a:t>
            </a:r>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 </a:t>
            </a:r>
            <a:endParaRPr lang="en-US" sz="940" dirty="0"/>
          </a:p>
          <a:p>
            <a:pPr algn="l" indent="0" marL="0">
              <a:lnSpc>
                <a:spcPts val="1460"/>
              </a:lnSpc>
              <a:buNone/>
            </a:pPr>
            <a:r>
              <a:rPr lang="en-US" sz="940" dirty="0">
                <a:solidFill>
                  <a:srgbClr val="E4EDF2"/>
                </a:solidFill>
                <a:latin typeface="Courier New" pitchFamily="34" charset="0"/>
                <a:ea typeface="Courier New" pitchFamily="34" charset="-122"/>
                <a:cs typeface="Courier New" pitchFamily="34" charset="-120"/>
              </a:rPr>
              <a:t>composer require open-telemetry/exporter-otlp   </a:t>
            </a:r>
            <a:pPr algn="l" indent="0" marL="0">
              <a:lnSpc>
                <a:spcPts val="1460"/>
              </a:lnSpc>
              <a:buNone/>
            </a:pPr>
            <a:r>
              <a:rPr lang="en-US" sz="940" dirty="0">
                <a:solidFill>
                  <a:srgbClr val="86A5B4"/>
                </a:solidFill>
                <a:latin typeface="Courier New" pitchFamily="34" charset="0"/>
                <a:ea typeface="Courier New" pitchFamily="34" charset="-122"/>
                <a:cs typeface="Courier New" pitchFamily="34" charset="-120"/>
              </a:rPr>
              <a:t># sends the records to the OpenTelemetry Collector</a:t>
            </a:r>
            <a:endParaRPr lang="en-US" sz="940" dirty="0"/>
          </a:p>
        </p:txBody>
      </p:sp>
      <p:sp>
        <p:nvSpPr>
          <p:cNvPr id="15" name="Text 13"/>
          <p:cNvSpPr txBox="1"/>
          <p:nvPr/>
        </p:nvSpPr>
        <p:spPr>
          <a:xfrm>
            <a:off x="647700" y="6464488"/>
            <a:ext cx="948928" cy="143389"/>
          </a:xfrm>
          <a:prstGeom prst="rect">
            <a:avLst/>
          </a:prstGeom>
          <a:noFill/>
          <a:ln/>
        </p:spPr>
        <p:txBody>
          <a:bodyPr wrap="none" lIns="0" tIns="0" rIns="0" bIns="0" rtlCol="0" anchor="t"/>
          <a:lstStyle/>
          <a:p>
            <a:pPr algn="l" indent="0" marL="0">
              <a:lnSpc>
                <a:spcPts val="1130"/>
              </a:lnSpc>
              <a:buNone/>
            </a:pPr>
            <a:r>
              <a:rPr lang="en-US" sz="940" dirty="0">
                <a:solidFill>
                  <a:srgbClr val="8496A2"/>
                </a:solidFill>
                <a:latin typeface="Courier New" pitchFamily="34" charset="0"/>
                <a:ea typeface="Courier New" pitchFamily="34" charset="-122"/>
                <a:cs typeface="Courier New" pitchFamily="34" charset="-120"/>
              </a:rPr>
              <a:t>Walk-through</a:t>
            </a:r>
            <a:endParaRPr lang="en-US" sz="940" dirty="0"/>
          </a:p>
        </p:txBody>
      </p:sp>
      <p:sp>
        <p:nvSpPr>
          <p:cNvPr id="16" name="Text 14"/>
          <p:cNvSpPr txBox="1"/>
          <p:nvPr/>
        </p:nvSpPr>
        <p:spPr>
          <a:xfrm>
            <a:off x="11024146" y="6464488"/>
            <a:ext cx="577304" cy="143389"/>
          </a:xfrm>
          <a:prstGeom prst="rect">
            <a:avLst/>
          </a:prstGeom>
          <a:noFill/>
          <a:ln/>
        </p:spPr>
        <p:txBody>
          <a:bodyPr wrap="none" lIns="0" tIns="0" rIns="0" bIns="0" rtlCol="0" anchor="t"/>
          <a:lstStyle/>
          <a:p>
            <a:pPr algn="l" indent="0" marL="0">
              <a:lnSpc>
                <a:spcPts val="1130"/>
              </a:lnSpc>
              <a:buNone/>
            </a:pPr>
            <a:r>
              <a:rPr lang="en-US" sz="940" dirty="0">
                <a:solidFill>
                  <a:srgbClr val="8496A2"/>
                </a:solidFill>
                <a:latin typeface="Courier New" pitchFamily="34" charset="0"/>
                <a:ea typeface="Courier New" pitchFamily="34" charset="-122"/>
                <a:cs typeface="Courier New" pitchFamily="34" charset="-120"/>
              </a:rPr>
              <a:t>17 / 39</a:t>
            </a:r>
            <a:endParaRPr lang="en-US" sz="9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2831306"/>
            <a:ext cx="10896600" cy="1455837"/>
          </a:xfrm>
          <a:prstGeom prst="roundRect">
            <a:avLst>
              <a:gd name="adj" fmla="val 8219"/>
            </a:avLst>
          </a:prstGeom>
          <a:solidFill>
            <a:srgbClr val="0F2027"/>
          </a:solidFill>
          <a:ln/>
        </p:spPr>
      </p:sp>
      <p:sp>
        <p:nvSpPr>
          <p:cNvPr id="3" name="Shape 1"/>
          <p:cNvSpPr/>
          <p:nvPr/>
        </p:nvSpPr>
        <p:spPr>
          <a:xfrm>
            <a:off x="647700" y="6343650"/>
            <a:ext cx="10896600" cy="0"/>
          </a:xfrm>
          <a:prstGeom prst="line">
            <a:avLst/>
          </a:prstGeom>
          <a:noFill/>
          <a:ln w="10160">
            <a:solidFill>
              <a:srgbClr val="CBD7DF"/>
            </a:solidFill>
            <a:prstDash val="solid"/>
          </a:ln>
        </p:spPr>
      </p:sp>
      <p:sp>
        <p:nvSpPr>
          <p:cNvPr id="4" name="Text 2"/>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STEP 4 OF 9</a:t>
            </a:r>
            <a:endParaRPr lang="en-US" sz="980" dirty="0"/>
          </a:p>
        </p:txBody>
      </p:sp>
      <p:sp>
        <p:nvSpPr>
          <p:cNvPr id="5" name="Text 3"/>
          <p:cNvSpPr txBox="1"/>
          <p:nvPr/>
        </p:nvSpPr>
        <p:spPr>
          <a:xfrm>
            <a:off x="647700" y="852488"/>
            <a:ext cx="10953750" cy="740569"/>
          </a:xfrm>
          <a:prstGeom prst="rect">
            <a:avLst/>
          </a:prstGeom>
          <a:noFill/>
          <a:ln/>
        </p:spPr>
        <p:txBody>
          <a:bodyPr wrap="square" lIns="0" tIns="0" rIns="0" bIns="0" rtlCol="0" anchor="t"/>
          <a:lstStyle/>
          <a:p>
            <a:pPr algn="l" indent="0" marL="0">
              <a:lnSpc>
                <a:spcPts val="2920"/>
              </a:lnSpc>
              <a:buNone/>
            </a:pPr>
            <a:r>
              <a:rPr lang="en-US" sz="2700" b="1" spc="-50" kern="0" dirty="0">
                <a:solidFill>
                  <a:srgbClr val="101A22"/>
                </a:solidFill>
                <a:latin typeface="Arial" pitchFamily="34" charset="0"/>
                <a:ea typeface="Arial" pitchFamily="34" charset="-122"/>
                <a:cs typeface="Arial" pitchFamily="34" charset="-120"/>
              </a:rPr>
              <a:t>These six environment variables configure the OpenTelemetry PHP libraries</a:t>
            </a:r>
            <a:endParaRPr lang="en-US" sz="2700" dirty="0"/>
          </a:p>
        </p:txBody>
      </p:sp>
      <p:sp>
        <p:nvSpPr>
          <p:cNvPr id="6" name="Text 4"/>
          <p:cNvSpPr txBox="1"/>
          <p:nvPr/>
        </p:nvSpPr>
        <p:spPr>
          <a:xfrm>
            <a:off x="647700" y="1797368"/>
            <a:ext cx="10953750" cy="742950"/>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The OpenTelemetry PHP code reads its settings from environment variables of the PHP process. These are the six.</a:t>
            </a:r>
            <a:endParaRPr lang="en-US" sz="1950" dirty="0"/>
          </a:p>
        </p:txBody>
      </p:sp>
      <p:sp>
        <p:nvSpPr>
          <p:cNvPr id="7" name="Text 5"/>
          <p:cNvSpPr txBox="1"/>
          <p:nvPr/>
        </p:nvSpPr>
        <p:spPr>
          <a:xfrm>
            <a:off x="819150" y="2958941"/>
            <a:ext cx="10610850" cy="1151037"/>
          </a:xfrm>
          <a:prstGeom prst="rect">
            <a:avLst/>
          </a:prstGeom>
          <a:noFill/>
          <a:ln/>
        </p:spPr>
        <p:txBody>
          <a:bodyPr wrap="square" lIns="0" tIns="0" rIns="0" bIns="0" rtlCol="0" anchor="t"/>
          <a:lstStyle/>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OTEL_PHP_AUTOLOAD_ENABLED=true                             </a:t>
            </a:r>
            <a:pPr algn="l" indent="0" marL="0">
              <a:lnSpc>
                <a:spcPts val="1510"/>
              </a:lnSpc>
              <a:buNone/>
            </a:pPr>
            <a:r>
              <a:rPr lang="en-US" sz="980" dirty="0">
                <a:solidFill>
                  <a:srgbClr val="86A5B4"/>
                </a:solidFill>
                <a:latin typeface="Courier New" pitchFamily="34" charset="0"/>
                <a:ea typeface="Courier New" pitchFamily="34" charset="-122"/>
                <a:cs typeface="Courier New" pitchFamily="34" charset="-120"/>
              </a:rPr>
              <a:t># switches the OpenTelemetry PHP code on</a:t>
            </a:r>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OTEL_EXPORTER_OTLP_ENDPOINT=http://localhost:4318          </a:t>
            </a:r>
            <a:pPr algn="l" indent="0" marL="0">
              <a:lnSpc>
                <a:spcPts val="1510"/>
              </a:lnSpc>
              <a:buNone/>
            </a:pPr>
            <a:r>
              <a:rPr lang="en-US" sz="980" dirty="0">
                <a:solidFill>
                  <a:srgbClr val="86A5B4"/>
                </a:solidFill>
                <a:latin typeface="Courier New" pitchFamily="34" charset="0"/>
                <a:ea typeface="Courier New" pitchFamily="34" charset="-122"/>
                <a:cs typeface="Courier New" pitchFamily="34" charset="-120"/>
              </a:rPr>
              <a:t># the address of the OpenTelemetry Collector</a:t>
            </a:r>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OTEL_EXPORTER_OTLP_PROTOCOL=http/protobuf                  </a:t>
            </a:r>
            <a:pPr algn="l" indent="0" marL="0">
              <a:lnSpc>
                <a:spcPts val="1510"/>
              </a:lnSpc>
              <a:buNone/>
            </a:pPr>
            <a:r>
              <a:rPr lang="en-US" sz="980" dirty="0">
                <a:solidFill>
                  <a:srgbClr val="86A5B4"/>
                </a:solidFill>
                <a:latin typeface="Courier New" pitchFamily="34" charset="0"/>
                <a:ea typeface="Courier New" pitchFamily="34" charset="-122"/>
                <a:cs typeface="Courier New" pitchFamily="34" charset="-120"/>
              </a:rPr>
              <a:t># the data format on the network</a:t>
            </a:r>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OTEL_TRACES_EXPORTER=otlp                                  </a:t>
            </a:r>
            <a:pPr algn="l" indent="0" marL="0">
              <a:lnSpc>
                <a:spcPts val="1510"/>
              </a:lnSpc>
              <a:buNone/>
            </a:pPr>
            <a:r>
              <a:rPr lang="en-US" sz="980" dirty="0">
                <a:solidFill>
                  <a:srgbClr val="86A5B4"/>
                </a:solidFill>
                <a:latin typeface="Courier New" pitchFamily="34" charset="0"/>
                <a:ea typeface="Courier New" pitchFamily="34" charset="-122"/>
                <a:cs typeface="Courier New" pitchFamily="34" charset="-120"/>
              </a:rPr>
              <a:t># sends the timings</a:t>
            </a:r>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OTEL_LOGS_EXPORTER=otlp                                    </a:t>
            </a:r>
            <a:pPr algn="l" indent="0" marL="0">
              <a:lnSpc>
                <a:spcPts val="1510"/>
              </a:lnSpc>
              <a:buNone/>
            </a:pPr>
            <a:r>
              <a:rPr lang="en-US" sz="980" dirty="0">
                <a:solidFill>
                  <a:srgbClr val="86A5B4"/>
                </a:solidFill>
                <a:latin typeface="Courier New" pitchFamily="34" charset="0"/>
                <a:ea typeface="Courier New" pitchFamily="34" charset="-122"/>
                <a:cs typeface="Courier New" pitchFamily="34" charset="-120"/>
              </a:rPr>
              <a:t># sends the events</a:t>
            </a:r>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OTEL_METRICS_EXPORTER=none                                 </a:t>
            </a:r>
            <a:pPr algn="l" indent="0" marL="0">
              <a:lnSpc>
                <a:spcPts val="1510"/>
              </a:lnSpc>
              <a:buNone/>
            </a:pPr>
            <a:r>
              <a:rPr lang="en-US" sz="980" dirty="0">
                <a:solidFill>
                  <a:srgbClr val="86A5B4"/>
                </a:solidFill>
                <a:latin typeface="Courier New" pitchFamily="34" charset="0"/>
                <a:ea typeface="Courier New" pitchFamily="34" charset="-122"/>
                <a:cs typeface="Courier New" pitchFamily="34" charset="-120"/>
              </a:rPr>
              <a:t># sends no metrics</a:t>
            </a:r>
            <a:endParaRPr lang="en-US" sz="980" dirty="0"/>
          </a:p>
        </p:txBody>
      </p:sp>
      <p:sp>
        <p:nvSpPr>
          <p:cNvPr id="8" name="Text 6"/>
          <p:cNvSpPr txBox="1"/>
          <p:nvPr/>
        </p:nvSpPr>
        <p:spPr>
          <a:xfrm>
            <a:off x="647700" y="4415254"/>
            <a:ext cx="10953750" cy="745927"/>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Moodle has no setting for these variables. They do not go into </a:t>
            </a:r>
            <a:pPr algn="l" indent="0" marL="0">
              <a:lnSpc>
                <a:spcPts val="2930"/>
              </a:lnSpc>
              <a:buNone/>
            </a:pPr>
            <a:r>
              <a:rPr lang="en-US" sz="1720" dirty="0">
                <a:solidFill>
                  <a:srgbClr val="5A6D7A"/>
                </a:solidFill>
                <a:highlight>
                  <a:srgbClr val="E1F0F7"/>
                </a:highlight>
                <a:latin typeface="Courier New" pitchFamily="34" charset="0"/>
                <a:ea typeface="Courier New" pitchFamily="34" charset="-122"/>
                <a:cs typeface="Courier New" pitchFamily="34" charset="-120"/>
              </a:rPr>
              <a:t>config.php</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and the Moodle admin pages do not show them.</a:t>
            </a:r>
            <a:endParaRPr lang="en-US" sz="1950" dirty="0"/>
          </a:p>
        </p:txBody>
      </p:sp>
      <p:sp>
        <p:nvSpPr>
          <p:cNvPr id="9" name="Text 7"/>
          <p:cNvSpPr txBox="1"/>
          <p:nvPr/>
        </p:nvSpPr>
        <p:spPr>
          <a:xfrm>
            <a:off x="647700" y="6464379"/>
            <a:ext cx="948928"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Walk-through</a:t>
            </a:r>
            <a:endParaRPr lang="en-US" sz="980" dirty="0"/>
          </a:p>
        </p:txBody>
      </p:sp>
      <p:sp>
        <p:nvSpPr>
          <p:cNvPr id="10" name="Text 8"/>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18 / 39</a:t>
            </a:r>
            <a:endParaRPr lang="en-US" sz="9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3023146"/>
            <a:ext cx="10896600" cy="880318"/>
          </a:xfrm>
          <a:prstGeom prst="roundRect">
            <a:avLst>
              <a:gd name="adj" fmla="val 22478"/>
            </a:avLst>
          </a:prstGeom>
          <a:solidFill>
            <a:srgbClr val="0F2027"/>
          </a:solidFill>
          <a:ln/>
        </p:spPr>
      </p:sp>
      <p:sp>
        <p:nvSpPr>
          <p:cNvPr id="3" name="Shape 1"/>
          <p:cNvSpPr/>
          <p:nvPr/>
        </p:nvSpPr>
        <p:spPr>
          <a:xfrm>
            <a:off x="647700" y="4575274"/>
            <a:ext cx="10896600" cy="880318"/>
          </a:xfrm>
          <a:prstGeom prst="roundRect">
            <a:avLst>
              <a:gd name="adj" fmla="val 22478"/>
            </a:avLst>
          </a:prstGeom>
          <a:solidFill>
            <a:srgbClr val="0F2027"/>
          </a:solidFill>
          <a:ln/>
        </p:spPr>
      </p:sp>
      <p:sp>
        <p:nvSpPr>
          <p:cNvPr id="4" name="Shape 2"/>
          <p:cNvSpPr/>
          <p:nvPr/>
        </p:nvSpPr>
        <p:spPr>
          <a:xfrm>
            <a:off x="647700" y="6343650"/>
            <a:ext cx="10896600" cy="0"/>
          </a:xfrm>
          <a:prstGeom prst="line">
            <a:avLst/>
          </a:prstGeom>
          <a:noFill/>
          <a:ln w="10160">
            <a:solidFill>
              <a:srgbClr val="CBD7DF"/>
            </a:solidFill>
            <a:prstDash val="solid"/>
          </a:ln>
        </p:spPr>
      </p:sp>
      <p:sp>
        <p:nvSpPr>
          <p:cNvPr id="5" name="Text 3"/>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STEP 5 OF 9</a:t>
            </a:r>
            <a:endParaRPr lang="en-US" sz="980" dirty="0"/>
          </a:p>
        </p:txBody>
      </p:sp>
      <p:sp>
        <p:nvSpPr>
          <p:cNvPr id="6" name="Text 4"/>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Write the six environment variables into two files</a:t>
            </a:r>
            <a:endParaRPr lang="en-US" sz="3150" dirty="0"/>
          </a:p>
        </p:txBody>
      </p:sp>
      <p:sp>
        <p:nvSpPr>
          <p:cNvPr id="7" name="Text 5"/>
          <p:cNvSpPr txBox="1"/>
          <p:nvPr/>
        </p:nvSpPr>
        <p:spPr>
          <a:xfrm>
            <a:off x="647700" y="1488847"/>
            <a:ext cx="10953750" cy="742950"/>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Moodle runs PHP in two places that matter here. PHP-FPM runs it for web requests, and cron runs it for the scheduled tasks. Each has its own environment, so the same six lines go into two files.</a:t>
            </a:r>
            <a:endParaRPr lang="en-US" sz="1950" dirty="0"/>
          </a:p>
        </p:txBody>
      </p:sp>
      <p:sp>
        <p:nvSpPr>
          <p:cNvPr id="8" name="Text 6"/>
          <p:cNvSpPr txBox="1"/>
          <p:nvPr/>
        </p:nvSpPr>
        <p:spPr>
          <a:xfrm>
            <a:off x="647700" y="2520806"/>
            <a:ext cx="10953750" cy="424160"/>
          </a:xfrm>
          <a:prstGeom prst="rect">
            <a:avLst/>
          </a:prstGeom>
          <a:noFill/>
          <a:ln/>
        </p:spPr>
        <p:txBody>
          <a:bodyPr wrap="square" lIns="0" tIns="0" rIns="0" bIns="0" rtlCol="0" anchor="t"/>
          <a:lstStyle/>
          <a:p>
            <a:pPr algn="l" indent="0" marL="0">
              <a:lnSpc>
                <a:spcPts val="1670"/>
              </a:lnSpc>
              <a:buNone/>
            </a:pPr>
            <a:r>
              <a:rPr lang="en-US" sz="1430" b="1" dirty="0">
                <a:solidFill>
                  <a:srgbClr val="101A22"/>
                </a:solidFill>
                <a:latin typeface="Arial" pitchFamily="34" charset="0"/>
                <a:ea typeface="Arial" pitchFamily="34" charset="-122"/>
                <a:cs typeface="Arial" pitchFamily="34" charset="-120"/>
              </a:rPr>
              <a:t>1 · For web requests, add the lines to the PHP-FPM pool file.</a:t>
            </a:r>
            <a:endParaRPr lang="en-US" sz="1430" dirty="0"/>
          </a:p>
          <a:p>
            <a:pPr algn="l" indent="0" marL="0">
              <a:lnSpc>
                <a:spcPts val="1670"/>
              </a:lnSpc>
              <a:buNone/>
            </a:pPr>
            <a:r>
              <a:rPr lang="en-US" sz="1050" dirty="0">
                <a:solidFill>
                  <a:srgbClr val="5A6D7A"/>
                </a:solidFill>
                <a:latin typeface="Courier New" pitchFamily="34" charset="0"/>
                <a:ea typeface="Courier New" pitchFamily="34" charset="-122"/>
                <a:cs typeface="Courier New" pitchFamily="34" charset="-120"/>
              </a:rPr>
              <a:t>Ubuntu </a:t>
            </a:r>
            <a:pPr algn="l" indent="0" marL="0">
              <a:lnSpc>
                <a:spcPts val="1670"/>
              </a:lnSpc>
              <a:buNone/>
            </a:pPr>
            <a:r>
              <a:rPr lang="en-US" sz="1050" dirty="0">
                <a:solidFill>
                  <a:srgbClr val="5A6D7A"/>
                </a:solidFill>
                <a:highlight>
                  <a:srgbClr val="E1F0F7"/>
                </a:highlight>
                <a:latin typeface="Courier New" pitchFamily="34" charset="0"/>
                <a:ea typeface="Courier New" pitchFamily="34" charset="-122"/>
                <a:cs typeface="Courier New" pitchFamily="34" charset="-120"/>
              </a:rPr>
              <a:t>/etc/php/8.3/fpm/pool.d/www.conf</a:t>
            </a:r>
            <a:pPr algn="l" indent="0" marL="0">
              <a:lnSpc>
                <a:spcPts val="1670"/>
              </a:lnSpc>
              <a:buNone/>
            </a:pPr>
            <a:r>
              <a:rPr lang="en-US" sz="1050" dirty="0">
                <a:solidFill>
                  <a:srgbClr val="5A6D7A"/>
                </a:solidFill>
                <a:latin typeface="Courier New" pitchFamily="34" charset="0"/>
                <a:ea typeface="Courier New" pitchFamily="34" charset="-122"/>
                <a:cs typeface="Courier New" pitchFamily="34" charset="-120"/>
              </a:rPr>
              <a:t> · RHEL </a:t>
            </a:r>
            <a:pPr algn="l" indent="0" marL="0">
              <a:lnSpc>
                <a:spcPts val="1670"/>
              </a:lnSpc>
              <a:buNone/>
            </a:pPr>
            <a:r>
              <a:rPr lang="en-US" sz="1050" dirty="0">
                <a:solidFill>
                  <a:srgbClr val="5A6D7A"/>
                </a:solidFill>
                <a:highlight>
                  <a:srgbClr val="E1F0F7"/>
                </a:highlight>
                <a:latin typeface="Courier New" pitchFamily="34" charset="0"/>
                <a:ea typeface="Courier New" pitchFamily="34" charset="-122"/>
                <a:cs typeface="Courier New" pitchFamily="34" charset="-120"/>
              </a:rPr>
              <a:t>/etc/php-fpm.d/www.conf</a:t>
            </a:r>
            <a:endParaRPr lang="en-US" sz="1430" dirty="0"/>
          </a:p>
        </p:txBody>
      </p:sp>
      <p:sp>
        <p:nvSpPr>
          <p:cNvPr id="9" name="Text 7"/>
          <p:cNvSpPr txBox="1"/>
          <p:nvPr/>
        </p:nvSpPr>
        <p:spPr>
          <a:xfrm>
            <a:off x="819150" y="3150781"/>
            <a:ext cx="10610850" cy="575518"/>
          </a:xfrm>
          <a:prstGeom prst="rect">
            <a:avLst/>
          </a:prstGeom>
          <a:noFill/>
          <a:ln/>
        </p:spPr>
        <p:txBody>
          <a:bodyPr wrap="square" lIns="0" tIns="0" rIns="0" bIns="0" rtlCol="0" anchor="t"/>
          <a:lstStyle/>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env[OTEL_PHP_AUTOLOAD_ENABLED] = true</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env[OTEL_EXPORTER_OTLP_ENDPOINT] = http://localhost:4318</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a:t>
            </a:r>
            <a:pPr algn="l" indent="0" marL="0">
              <a:lnSpc>
                <a:spcPts val="1510"/>
              </a:lnSpc>
              <a:buNone/>
            </a:pPr>
            <a:r>
              <a:rPr lang="en-US" sz="980" dirty="0">
                <a:solidFill>
                  <a:srgbClr val="86A5B4"/>
                </a:solidFill>
                <a:latin typeface="Courier New" pitchFamily="34" charset="0"/>
                <a:ea typeface="Courier New" pitchFamily="34" charset="-122"/>
                <a:cs typeface="Courier New" pitchFamily="34" charset="-120"/>
              </a:rPr>
              <a:t># add one env[] line for each of the six variables, then restart PHP-FPM</a:t>
            </a:r>
            <a:endParaRPr lang="en-US" sz="980" dirty="0"/>
          </a:p>
        </p:txBody>
      </p:sp>
      <p:sp>
        <p:nvSpPr>
          <p:cNvPr id="10" name="Text 8"/>
          <p:cNvSpPr txBox="1"/>
          <p:nvPr/>
        </p:nvSpPr>
        <p:spPr>
          <a:xfrm>
            <a:off x="647700" y="4072935"/>
            <a:ext cx="10953750" cy="424160"/>
          </a:xfrm>
          <a:prstGeom prst="rect">
            <a:avLst/>
          </a:prstGeom>
          <a:noFill/>
          <a:ln/>
        </p:spPr>
        <p:txBody>
          <a:bodyPr wrap="square" lIns="0" tIns="0" rIns="0" bIns="0" rtlCol="0" anchor="t"/>
          <a:lstStyle/>
          <a:p>
            <a:pPr algn="l" indent="0" marL="0">
              <a:lnSpc>
                <a:spcPts val="1670"/>
              </a:lnSpc>
              <a:buNone/>
            </a:pPr>
            <a:r>
              <a:rPr lang="en-US" sz="1430" b="1" dirty="0">
                <a:solidFill>
                  <a:srgbClr val="101A22"/>
                </a:solidFill>
                <a:latin typeface="Arial" pitchFamily="34" charset="0"/>
                <a:ea typeface="Arial" pitchFamily="34" charset="-122"/>
                <a:cs typeface="Arial" pitchFamily="34" charset="-120"/>
              </a:rPr>
              <a:t>2 · For Moodle cron, add the lines to the cron file that you already have, above the schedule line.</a:t>
            </a:r>
            <a:endParaRPr lang="en-US" sz="1430" dirty="0"/>
          </a:p>
          <a:p>
            <a:pPr algn="l" indent="0" marL="0">
              <a:lnSpc>
                <a:spcPts val="1670"/>
              </a:lnSpc>
              <a:buNone/>
            </a:pPr>
            <a:r>
              <a:rPr lang="en-US" sz="1050" dirty="0">
                <a:solidFill>
                  <a:srgbClr val="5A6D7A"/>
                </a:solidFill>
                <a:highlight>
                  <a:srgbClr val="E1F0F7"/>
                </a:highlight>
                <a:latin typeface="Courier New" pitchFamily="34" charset="0"/>
                <a:ea typeface="Courier New" pitchFamily="34" charset="-122"/>
                <a:cs typeface="Courier New" pitchFamily="34" charset="-120"/>
              </a:rPr>
              <a:t>/etc/cron.d/moodle</a:t>
            </a:r>
            <a:endParaRPr lang="en-US" sz="1430" dirty="0"/>
          </a:p>
        </p:txBody>
      </p:sp>
      <p:sp>
        <p:nvSpPr>
          <p:cNvPr id="11" name="Text 9"/>
          <p:cNvSpPr txBox="1"/>
          <p:nvPr/>
        </p:nvSpPr>
        <p:spPr>
          <a:xfrm>
            <a:off x="819150" y="4702909"/>
            <a:ext cx="10610850" cy="575518"/>
          </a:xfrm>
          <a:prstGeom prst="rect">
            <a:avLst/>
          </a:prstGeom>
          <a:noFill/>
          <a:ln/>
        </p:spPr>
        <p:txBody>
          <a:bodyPr wrap="square" lIns="0" tIns="0" rIns="0" bIns="0" rtlCol="0" anchor="t"/>
          <a:lstStyle/>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OTEL_PHP_AUTOLOAD_ENABLED=true</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OTEL_EXPORTER_OTLP_ENDPOINT=http://localhost:4318</a:t>
            </a:r>
            <a:endParaRPr lang="en-US" sz="980" dirty="0"/>
          </a:p>
          <a:p>
            <a:pPr algn="l" indent="0" marL="0">
              <a:lnSpc>
                <a:spcPts val="1510"/>
              </a:lnSpc>
              <a:buNone/>
            </a:pPr>
            <a:r>
              <a:rPr lang="en-US" sz="980" dirty="0">
                <a:solidFill>
                  <a:srgbClr val="E4EDF2"/>
                </a:solidFill>
                <a:latin typeface="Courier New" pitchFamily="34" charset="0"/>
                <a:ea typeface="Courier New" pitchFamily="34" charset="-122"/>
                <a:cs typeface="Courier New" pitchFamily="34" charset="-120"/>
              </a:rPr>
              <a:t>* * * * * www-data php /var/www/moodle/admin/cli/cron.php &gt;/dev/null   </a:t>
            </a:r>
            <a:pPr algn="l" indent="0" marL="0">
              <a:lnSpc>
                <a:spcPts val="1510"/>
              </a:lnSpc>
              <a:buNone/>
            </a:pPr>
            <a:r>
              <a:rPr lang="en-US" sz="980" dirty="0">
                <a:solidFill>
                  <a:srgbClr val="86A5B4"/>
                </a:solidFill>
                <a:latin typeface="Courier New" pitchFamily="34" charset="0"/>
                <a:ea typeface="Courier New" pitchFamily="34" charset="-122"/>
                <a:cs typeface="Courier New" pitchFamily="34" charset="-120"/>
              </a:rPr>
              <a:t># RHEL: apache</a:t>
            </a:r>
            <a:endParaRPr lang="en-US" sz="980" dirty="0"/>
          </a:p>
        </p:txBody>
      </p:sp>
      <p:sp>
        <p:nvSpPr>
          <p:cNvPr id="12" name="Text 10"/>
          <p:cNvSpPr txBox="1"/>
          <p:nvPr/>
        </p:nvSpPr>
        <p:spPr>
          <a:xfrm>
            <a:off x="647700" y="6464379"/>
            <a:ext cx="948928"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Walk-through</a:t>
            </a:r>
            <a:endParaRPr lang="en-US" sz="980" dirty="0"/>
          </a:p>
        </p:txBody>
      </p:sp>
      <p:sp>
        <p:nvSpPr>
          <p:cNvPr id="13" name="Text 11"/>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19 / 39</a:t>
            </a:r>
            <a:endParaRPr lang="en-US" sz="9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23585" y="3215437"/>
            <a:ext cx="4702050" cy="1301955"/>
          </a:xfrm>
          <a:prstGeom prst="roundRect">
            <a:avLst>
              <a:gd name="adj" fmla="val 9187"/>
            </a:avLst>
          </a:prstGeom>
          <a:solidFill>
            <a:srgbClr val="0F2027"/>
          </a:solidFill>
          <a:ln/>
        </p:spPr>
      </p:sp>
      <p:sp>
        <p:nvSpPr>
          <p:cNvPr id="3" name="Shape 1"/>
          <p:cNvSpPr/>
          <p:nvPr/>
        </p:nvSpPr>
        <p:spPr>
          <a:xfrm>
            <a:off x="6266364" y="3215437"/>
            <a:ext cx="4702050" cy="1301955"/>
          </a:xfrm>
          <a:prstGeom prst="roundRect">
            <a:avLst>
              <a:gd name="adj" fmla="val 9187"/>
            </a:avLst>
          </a:prstGeom>
          <a:solidFill>
            <a:srgbClr val="0F2027"/>
          </a:solidFill>
          <a:ln/>
        </p:spPr>
      </p:sp>
      <p:sp>
        <p:nvSpPr>
          <p:cNvPr id="4" name="Shape 2"/>
          <p:cNvSpPr/>
          <p:nvPr/>
        </p:nvSpPr>
        <p:spPr>
          <a:xfrm>
            <a:off x="647700" y="6343650"/>
            <a:ext cx="10896600" cy="0"/>
          </a:xfrm>
          <a:prstGeom prst="line">
            <a:avLst/>
          </a:prstGeom>
          <a:noFill/>
          <a:ln w="8890">
            <a:solidFill>
              <a:srgbClr val="CBD7DF"/>
            </a:solidFill>
            <a:prstDash val="solid"/>
          </a:ln>
        </p:spPr>
      </p:sp>
      <p:sp>
        <p:nvSpPr>
          <p:cNvPr id="5" name="Text 3"/>
          <p:cNvSpPr txBox="1"/>
          <p:nvPr/>
        </p:nvSpPr>
        <p:spPr>
          <a:xfrm>
            <a:off x="1223585" y="514028"/>
            <a:ext cx="9801978" cy="166105"/>
          </a:xfrm>
          <a:prstGeom prst="rect">
            <a:avLst/>
          </a:prstGeom>
          <a:noFill/>
          <a:ln/>
        </p:spPr>
        <p:txBody>
          <a:bodyPr wrap="none" lIns="0" tIns="0" rIns="0" bIns="0" rtlCol="0" anchor="t"/>
          <a:lstStyle/>
          <a:p>
            <a:pPr algn="l" indent="0" marL="0">
              <a:lnSpc>
                <a:spcPts val="1310"/>
              </a:lnSpc>
              <a:buNone/>
            </a:pPr>
            <a:r>
              <a:rPr lang="en-US" sz="870" spc="140" kern="0" dirty="0">
                <a:solidFill>
                  <a:srgbClr val="0B6E99"/>
                </a:solidFill>
                <a:latin typeface="Courier New" pitchFamily="34" charset="0"/>
                <a:ea typeface="Courier New" pitchFamily="34" charset="-122"/>
                <a:cs typeface="Courier New" pitchFamily="34" charset="-120"/>
              </a:rPr>
              <a:t>STEP 6 OF 9</a:t>
            </a:r>
            <a:endParaRPr lang="en-US" sz="870" dirty="0"/>
          </a:p>
        </p:txBody>
      </p:sp>
      <p:sp>
        <p:nvSpPr>
          <p:cNvPr id="6" name="Text 4"/>
          <p:cNvSpPr txBox="1"/>
          <p:nvPr/>
        </p:nvSpPr>
        <p:spPr>
          <a:xfrm>
            <a:off x="1223585" y="818760"/>
            <a:ext cx="9801978" cy="386381"/>
          </a:xfrm>
          <a:prstGeom prst="rect">
            <a:avLst/>
          </a:prstGeom>
          <a:noFill/>
          <a:ln/>
        </p:spPr>
        <p:txBody>
          <a:bodyPr wrap="none" lIns="0" tIns="0" rIns="0" bIns="0" rtlCol="0" anchor="t"/>
          <a:lstStyle/>
          <a:p>
            <a:pPr algn="l" indent="0" marL="0">
              <a:lnSpc>
                <a:spcPts val="3040"/>
              </a:lnSpc>
              <a:buNone/>
            </a:pPr>
            <a:r>
              <a:rPr lang="en-US" sz="2820" b="1" spc="-60" kern="0" dirty="0">
                <a:solidFill>
                  <a:srgbClr val="101A22"/>
                </a:solidFill>
                <a:latin typeface="Arial" pitchFamily="34" charset="0"/>
                <a:ea typeface="Arial" pitchFamily="34" charset="-122"/>
                <a:cs typeface="Arial" pitchFamily="34" charset="-120"/>
              </a:rPr>
              <a:t>Install the OpenTelemetry Collector</a:t>
            </a:r>
            <a:endParaRPr lang="en-US" sz="2820" dirty="0"/>
          </a:p>
        </p:txBody>
      </p:sp>
      <p:sp>
        <p:nvSpPr>
          <p:cNvPr id="7" name="Text 5"/>
          <p:cNvSpPr txBox="1"/>
          <p:nvPr/>
        </p:nvSpPr>
        <p:spPr>
          <a:xfrm>
            <a:off x="1223585" y="1387869"/>
            <a:ext cx="9801978" cy="1328840"/>
          </a:xfrm>
          <a:prstGeom prst="rect">
            <a:avLst/>
          </a:prstGeom>
          <a:noFill/>
          <a:ln/>
        </p:spPr>
        <p:txBody>
          <a:bodyPr wrap="square" lIns="0" tIns="0" rIns="0" bIns="0" rtlCol="0" anchor="t"/>
          <a:lstStyle/>
          <a:p>
            <a:pPr algn="l" indent="0" marL="0">
              <a:lnSpc>
                <a:spcPts val="2610"/>
              </a:lnSpc>
              <a:buNone/>
            </a:pPr>
            <a:r>
              <a:rPr lang="en-US" sz="1740" dirty="0">
                <a:solidFill>
                  <a:srgbClr val="5A6D7A"/>
                </a:solidFill>
                <a:latin typeface="Arial" pitchFamily="34" charset="0"/>
                <a:ea typeface="Arial" pitchFamily="34" charset="-122"/>
                <a:cs typeface="Arial" pitchFamily="34" charset="-120"/>
              </a:rPr>
              <a:t>The OpenTelemetry Collector runs as a service. It receives the records from Moodle and sends them to OpenSearch. These steps install it on the Moodle server, and it can also run on its own host. It is not in the standard Ubuntu and Red Hat repositories, so you download the .deb or .rpm package from GitHub. The releases page on GitHub shows the newest version.</a:t>
            </a:r>
            <a:endParaRPr lang="en-US" sz="1740" dirty="0"/>
          </a:p>
        </p:txBody>
      </p:sp>
      <p:sp>
        <p:nvSpPr>
          <p:cNvPr id="8" name="Text 6"/>
          <p:cNvSpPr txBox="1"/>
          <p:nvPr/>
        </p:nvSpPr>
        <p:spPr>
          <a:xfrm>
            <a:off x="1223585" y="2973521"/>
            <a:ext cx="4759200" cy="163495"/>
          </a:xfrm>
          <a:prstGeom prst="rect">
            <a:avLst/>
          </a:prstGeom>
          <a:noFill/>
          <a:ln/>
        </p:spPr>
        <p:txBody>
          <a:bodyPr wrap="none" lIns="0" tIns="0" rIns="0" bIns="0" rtlCol="0" anchor="t"/>
          <a:lstStyle/>
          <a:p>
            <a:pPr algn="l" indent="0" marL="0">
              <a:lnSpc>
                <a:spcPts val="1290"/>
              </a:lnSpc>
              <a:buNone/>
            </a:pPr>
            <a:r>
              <a:rPr lang="en-US" sz="1070" b="1" dirty="0">
                <a:solidFill>
                  <a:srgbClr val="0B6E99"/>
                </a:solidFill>
                <a:latin typeface="Courier New" pitchFamily="34" charset="0"/>
                <a:ea typeface="Courier New" pitchFamily="34" charset="-122"/>
                <a:cs typeface="Courier New" pitchFamily="34" charset="-120"/>
              </a:rPr>
              <a:t>Ubuntu 24.04 LTS</a:t>
            </a:r>
            <a:endParaRPr lang="en-US" sz="1070" dirty="0"/>
          </a:p>
        </p:txBody>
      </p:sp>
      <p:sp>
        <p:nvSpPr>
          <p:cNvPr id="9" name="Text 7"/>
          <p:cNvSpPr txBox="1"/>
          <p:nvPr/>
        </p:nvSpPr>
        <p:spPr>
          <a:xfrm>
            <a:off x="1376862" y="3329543"/>
            <a:ext cx="4452648" cy="1029464"/>
          </a:xfrm>
          <a:prstGeom prst="rect">
            <a:avLst/>
          </a:prstGeom>
          <a:noFill/>
          <a:ln/>
        </p:spPr>
        <p:txBody>
          <a:bodyPr wrap="square" lIns="0" tIns="0" rIns="0" bIns="0" rtlCol="0" anchor="t"/>
          <a:lstStyle/>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V=0.161.0   </a:t>
            </a:r>
            <a:pPr algn="l" indent="0" marL="0">
              <a:lnSpc>
                <a:spcPts val="1350"/>
              </a:lnSpc>
              <a:buNone/>
            </a:pPr>
            <a:r>
              <a:rPr lang="en-US" sz="870" dirty="0">
                <a:solidFill>
                  <a:srgbClr val="86A5B4"/>
                </a:solidFill>
                <a:latin typeface="Courier New" pitchFamily="34" charset="0"/>
                <a:ea typeface="Courier New" pitchFamily="34" charset="-122"/>
                <a:cs typeface="Courier New" pitchFamily="34" charset="-120"/>
              </a:rPr>
              <a:t># the version of the OpenTelemetry Collector</a:t>
            </a:r>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wget https://github.com/open-telemetry/\</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opentelemetry-collector-releases/releases/\</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download/v$V/otelcol-contrib_${V}_linux_amd64.deb</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dpkg -i otelcol-contrib_${V}_linux_amd64.deb</a:t>
            </a:r>
            <a:endParaRPr lang="en-US" sz="870" dirty="0"/>
          </a:p>
        </p:txBody>
      </p:sp>
      <p:sp>
        <p:nvSpPr>
          <p:cNvPr id="10" name="Text 8"/>
          <p:cNvSpPr txBox="1"/>
          <p:nvPr/>
        </p:nvSpPr>
        <p:spPr>
          <a:xfrm>
            <a:off x="6266364" y="2973521"/>
            <a:ext cx="4759200" cy="163495"/>
          </a:xfrm>
          <a:prstGeom prst="rect">
            <a:avLst/>
          </a:prstGeom>
          <a:noFill/>
          <a:ln/>
        </p:spPr>
        <p:txBody>
          <a:bodyPr wrap="none" lIns="0" tIns="0" rIns="0" bIns="0" rtlCol="0" anchor="t"/>
          <a:lstStyle/>
          <a:p>
            <a:pPr algn="l" indent="0" marL="0">
              <a:lnSpc>
                <a:spcPts val="1290"/>
              </a:lnSpc>
              <a:buNone/>
            </a:pPr>
            <a:r>
              <a:rPr lang="en-US" sz="1070" b="1" dirty="0">
                <a:solidFill>
                  <a:srgbClr val="0B6E99"/>
                </a:solidFill>
                <a:latin typeface="Courier New" pitchFamily="34" charset="0"/>
                <a:ea typeface="Courier New" pitchFamily="34" charset="-122"/>
                <a:cs typeface="Courier New" pitchFamily="34" charset="-120"/>
              </a:rPr>
              <a:t>RHEL 9 · Rocky 9</a:t>
            </a:r>
            <a:endParaRPr lang="en-US" sz="1070" dirty="0"/>
          </a:p>
        </p:txBody>
      </p:sp>
      <p:sp>
        <p:nvSpPr>
          <p:cNvPr id="11" name="Text 9"/>
          <p:cNvSpPr txBox="1"/>
          <p:nvPr/>
        </p:nvSpPr>
        <p:spPr>
          <a:xfrm>
            <a:off x="6419640" y="3329543"/>
            <a:ext cx="4452648" cy="1029464"/>
          </a:xfrm>
          <a:prstGeom prst="rect">
            <a:avLst/>
          </a:prstGeom>
          <a:noFill/>
          <a:ln/>
        </p:spPr>
        <p:txBody>
          <a:bodyPr wrap="square" lIns="0" tIns="0" rIns="0" bIns="0" rtlCol="0" anchor="t"/>
          <a:lstStyle/>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V=0.161.0   </a:t>
            </a:r>
            <a:pPr algn="l" indent="0" marL="0">
              <a:lnSpc>
                <a:spcPts val="1350"/>
              </a:lnSpc>
              <a:buNone/>
            </a:pPr>
            <a:r>
              <a:rPr lang="en-US" sz="870" dirty="0">
                <a:solidFill>
                  <a:srgbClr val="86A5B4"/>
                </a:solidFill>
                <a:latin typeface="Courier New" pitchFamily="34" charset="0"/>
                <a:ea typeface="Courier New" pitchFamily="34" charset="-122"/>
                <a:cs typeface="Courier New" pitchFamily="34" charset="-120"/>
              </a:rPr>
              <a:t># the version of the OpenTelemetry Collector</a:t>
            </a:r>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wget https://github.com/open-telemetry/\</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opentelemetry-collector-releases/releases/\</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download/v$V/otelcol-contrib_${V}_linux_amd64.rpm</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dnf install ./otelcol-contrib_${V}_linux_amd64.rpm</a:t>
            </a:r>
            <a:endParaRPr lang="en-US" sz="870" dirty="0"/>
          </a:p>
        </p:txBody>
      </p:sp>
      <p:sp>
        <p:nvSpPr>
          <p:cNvPr id="12" name="Text 10"/>
          <p:cNvSpPr txBox="1"/>
          <p:nvPr/>
        </p:nvSpPr>
        <p:spPr>
          <a:xfrm>
            <a:off x="1223585" y="4768266"/>
            <a:ext cx="9801978" cy="1001954"/>
          </a:xfrm>
          <a:prstGeom prst="rect">
            <a:avLst/>
          </a:prstGeom>
          <a:noFill/>
          <a:ln/>
        </p:spPr>
        <p:txBody>
          <a:bodyPr wrap="square" lIns="0" tIns="0" rIns="0" bIns="0" rtlCol="0" anchor="t"/>
          <a:lstStyle/>
          <a:p>
            <a:pPr algn="l" indent="0" marL="0">
              <a:lnSpc>
                <a:spcPts val="2610"/>
              </a:lnSpc>
              <a:buNone/>
            </a:pPr>
            <a:r>
              <a:rPr lang="en-US" sz="1740" dirty="0">
                <a:solidFill>
                  <a:srgbClr val="5A6D7A"/>
                </a:solidFill>
                <a:latin typeface="Arial" pitchFamily="34" charset="0"/>
                <a:ea typeface="Arial" pitchFamily="34" charset="-122"/>
                <a:cs typeface="Arial" pitchFamily="34" charset="-120"/>
              </a:rPr>
              <a:t>The package installs a systemd service with the name </a:t>
            </a:r>
            <a:pPr algn="l" indent="0" marL="0">
              <a:lnSpc>
                <a:spcPts val="2610"/>
              </a:lnSpc>
              <a:buNone/>
            </a:pPr>
            <a:r>
              <a:rPr lang="en-US" sz="1530" dirty="0">
                <a:solidFill>
                  <a:srgbClr val="5A6D7A"/>
                </a:solidFill>
                <a:highlight>
                  <a:srgbClr val="E1F0F7"/>
                </a:highlight>
                <a:latin typeface="Courier New" pitchFamily="34" charset="0"/>
                <a:ea typeface="Courier New" pitchFamily="34" charset="-122"/>
                <a:cs typeface="Courier New" pitchFamily="34" charset="-120"/>
              </a:rPr>
              <a:t>otelcol-contrib</a:t>
            </a:r>
            <a:pPr algn="l" indent="0" marL="0">
              <a:lnSpc>
                <a:spcPts val="2610"/>
              </a:lnSpc>
              <a:buNone/>
            </a:pPr>
            <a:r>
              <a:rPr lang="en-US" sz="1740" dirty="0">
                <a:solidFill>
                  <a:srgbClr val="5A6D7A"/>
                </a:solidFill>
                <a:latin typeface="Arial" pitchFamily="34" charset="0"/>
                <a:ea typeface="Arial" pitchFamily="34" charset="-122"/>
                <a:cs typeface="Arial" pitchFamily="34" charset="-120"/>
              </a:rPr>
              <a:t> and the configuration file </a:t>
            </a:r>
            <a:pPr algn="l" indent="0" marL="0">
              <a:lnSpc>
                <a:spcPts val="2610"/>
              </a:lnSpc>
              <a:buNone/>
            </a:pPr>
            <a:r>
              <a:rPr lang="en-US" sz="1530" dirty="0">
                <a:solidFill>
                  <a:srgbClr val="5A6D7A"/>
                </a:solidFill>
                <a:highlight>
                  <a:srgbClr val="E1F0F7"/>
                </a:highlight>
                <a:latin typeface="Courier New" pitchFamily="34" charset="0"/>
                <a:ea typeface="Courier New" pitchFamily="34" charset="-122"/>
                <a:cs typeface="Courier New" pitchFamily="34" charset="-120"/>
              </a:rPr>
              <a:t>/etc/otelcol-contrib/config.yaml</a:t>
            </a:r>
            <a:pPr algn="l" indent="0" marL="0">
              <a:lnSpc>
                <a:spcPts val="2610"/>
              </a:lnSpc>
              <a:buNone/>
            </a:pPr>
            <a:r>
              <a:rPr lang="en-US" sz="1740" dirty="0">
                <a:solidFill>
                  <a:srgbClr val="5A6D7A"/>
                </a:solidFill>
                <a:latin typeface="Arial" pitchFamily="34" charset="0"/>
                <a:ea typeface="Arial" pitchFamily="34" charset="-122"/>
                <a:cs typeface="Arial" pitchFamily="34" charset="-120"/>
              </a:rPr>
              <a:t>. The package starts the service, and the service listens on port 4318 for the records from Moodle.</a:t>
            </a:r>
            <a:endParaRPr lang="en-US" sz="1740" dirty="0"/>
          </a:p>
        </p:txBody>
      </p:sp>
      <p:sp>
        <p:nvSpPr>
          <p:cNvPr id="13" name="Text 11"/>
          <p:cNvSpPr txBox="1"/>
          <p:nvPr/>
        </p:nvSpPr>
        <p:spPr>
          <a:xfrm>
            <a:off x="647700" y="6464708"/>
            <a:ext cx="948928" cy="142875"/>
          </a:xfrm>
          <a:prstGeom prst="rect">
            <a:avLst/>
          </a:prstGeom>
          <a:noFill/>
          <a:ln/>
        </p:spPr>
        <p:txBody>
          <a:bodyPr wrap="none" lIns="0" tIns="0" rIns="0" bIns="0" rtlCol="0" anchor="t"/>
          <a:lstStyle/>
          <a:p>
            <a:pPr algn="l" indent="0" marL="0">
              <a:lnSpc>
                <a:spcPts val="1050"/>
              </a:lnSpc>
              <a:buNone/>
            </a:pPr>
            <a:r>
              <a:rPr lang="en-US" sz="870" dirty="0">
                <a:solidFill>
                  <a:srgbClr val="8496A2"/>
                </a:solidFill>
                <a:latin typeface="Courier New" pitchFamily="34" charset="0"/>
                <a:ea typeface="Courier New" pitchFamily="34" charset="-122"/>
                <a:cs typeface="Courier New" pitchFamily="34" charset="-120"/>
              </a:rPr>
              <a:t>Walk-through</a:t>
            </a:r>
            <a:endParaRPr lang="en-US" sz="870" dirty="0"/>
          </a:p>
        </p:txBody>
      </p:sp>
      <p:sp>
        <p:nvSpPr>
          <p:cNvPr id="14" name="Text 12"/>
          <p:cNvSpPr txBox="1"/>
          <p:nvPr/>
        </p:nvSpPr>
        <p:spPr>
          <a:xfrm>
            <a:off x="11024146" y="6464708"/>
            <a:ext cx="577304" cy="142875"/>
          </a:xfrm>
          <a:prstGeom prst="rect">
            <a:avLst/>
          </a:prstGeom>
          <a:noFill/>
          <a:ln/>
        </p:spPr>
        <p:txBody>
          <a:bodyPr wrap="none" lIns="0" tIns="0" rIns="0" bIns="0" rtlCol="0" anchor="t"/>
          <a:lstStyle/>
          <a:p>
            <a:pPr algn="l" indent="0" marL="0">
              <a:lnSpc>
                <a:spcPts val="1050"/>
              </a:lnSpc>
              <a:buNone/>
            </a:pPr>
            <a:r>
              <a:rPr lang="en-US" sz="870" dirty="0">
                <a:solidFill>
                  <a:srgbClr val="8496A2"/>
                </a:solidFill>
                <a:latin typeface="Courier New" pitchFamily="34" charset="0"/>
                <a:ea typeface="Courier New" pitchFamily="34" charset="-122"/>
                <a:cs typeface="Courier New" pitchFamily="34" charset="-120"/>
              </a:rPr>
              <a:t>20 / 39</a:t>
            </a:r>
            <a:endParaRPr lang="en-US" sz="87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8890">
            <a:solidFill>
              <a:srgbClr val="CBD7DF"/>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081929" y="2022363"/>
          <a:ext cx="10028141" cy="914400"/>
        </p:xfrm>
        <a:graphic>
          <a:graphicData uri="http://schemas.openxmlformats.org/drawingml/2006/table">
            <a:tbl>
              <a:tblPr/>
              <a:tblGrid>
                <a:gridCol w="2105860"/>
                <a:gridCol w="3409508"/>
                <a:gridCol w="4512773"/>
              </a:tblGrid>
              <a:tr h="355017">
                <a:tc>
                  <a:txBody>
                    <a:bodyPr/>
                    <a:lstStyle/>
                    <a:p>
                      <a:pPr algn="l" indent="0" marL="0">
                        <a:lnSpc>
                          <a:spcPts val="1160"/>
                        </a:lnSpc>
                        <a:buNone/>
                      </a:pPr>
                      <a:r>
                        <a:rPr lang="en-US" sz="970" b="1" spc="100" kern="0" dirty="0">
                          <a:solidFill>
                            <a:srgbClr val="5A6D7A"/>
                          </a:solidFill>
                          <a:latin typeface="Arial" pitchFamily="34" charset="0"/>
                          <a:ea typeface="Arial" pitchFamily="34" charset="-122"/>
                          <a:cs typeface="Arial" pitchFamily="34" charset="-120"/>
                        </a:rPr>
                        <a:t>WHAT</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160"/>
                        </a:lnSpc>
                        <a:buNone/>
                      </a:pPr>
                      <a:r>
                        <a:rPr lang="en-US" sz="970" b="1" spc="100" kern="0" dirty="0">
                          <a:solidFill>
                            <a:srgbClr val="5A6D7A"/>
                          </a:solidFill>
                          <a:latin typeface="Arial" pitchFamily="34" charset="0"/>
                          <a:ea typeface="Arial" pitchFamily="34" charset="-122"/>
                          <a:cs typeface="Arial" pitchFamily="34" charset="-120"/>
                        </a:rPr>
                        <a:t>WHERE YOU DO IT</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160"/>
                        </a:lnSpc>
                        <a:buNone/>
                      </a:pPr>
                      <a:r>
                        <a:rPr lang="en-US" sz="970" b="1" spc="100" kern="0" dirty="0">
                          <a:solidFill>
                            <a:srgbClr val="5A6D7A"/>
                          </a:solidFill>
                          <a:latin typeface="Arial" pitchFamily="34" charset="0"/>
                          <a:ea typeface="Arial" pitchFamily="34" charset="-122"/>
                          <a:cs typeface="Arial" pitchFamily="34" charset="-120"/>
                        </a:rPr>
                        <a:t>WHY</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1139561">
                <a:tc>
                  <a:txBody>
                    <a:bodyPr/>
                    <a:lstStyle/>
                    <a:p>
                      <a:pPr algn="l" indent="0" marL="0">
                        <a:lnSpc>
                          <a:spcPts val="1490"/>
                        </a:lnSpc>
                        <a:buNone/>
                      </a:pPr>
                      <a:r>
                        <a:rPr lang="en-US" sz="1240" b="1" dirty="0">
                          <a:solidFill>
                            <a:srgbClr val="101A22"/>
                          </a:solidFill>
                          <a:latin typeface="Arial" pitchFamily="34" charset="0"/>
                          <a:ea typeface="Arial" pitchFamily="34" charset="-122"/>
                          <a:cs typeface="Arial" pitchFamily="34" charset="-120"/>
                        </a:rPr>
                        <a:t>A user for the OpenTelemetry Collector</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90"/>
                        </a:lnSpc>
                        <a:buNone/>
                      </a:pPr>
                      <a:r>
                        <a:rPr lang="en-US" sz="1240" dirty="0">
                          <a:solidFill>
                            <a:srgbClr val="101A22"/>
                          </a:solidFill>
                          <a:latin typeface="Arial" pitchFamily="34" charset="0"/>
                          <a:ea typeface="Arial" pitchFamily="34" charset="-122"/>
                          <a:cs typeface="Arial" pitchFamily="34" charset="-120"/>
                        </a:rPr>
                        <a:t>OpenSearch Dashboards, Security, Internal users and Roles</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90"/>
                        </a:lnSpc>
                        <a:buNone/>
                      </a:pPr>
                      <a:r>
                        <a:rPr lang="en-US" sz="1240" dirty="0">
                          <a:solidFill>
                            <a:srgbClr val="101A22"/>
                          </a:solidFill>
                          <a:latin typeface="Arial" pitchFamily="34" charset="0"/>
                          <a:ea typeface="Arial" pitchFamily="34" charset="-122"/>
                          <a:cs typeface="Arial" pitchFamily="34" charset="-120"/>
                        </a:rPr>
                        <a:t>The OpenTelemetry Collector logs in as this user. The role needs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create_index</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 and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write</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 on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otel-v1-logs-*</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 and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otel-v1-apm-span-*</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 and the cluster permissions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cluster_manage_index_templates</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 and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indices:data/write/bulk</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587312">
                <a:tc>
                  <a:txBody>
                    <a:bodyPr/>
                    <a:lstStyle/>
                    <a:p>
                      <a:pPr algn="l" indent="0" marL="0">
                        <a:lnSpc>
                          <a:spcPts val="1490"/>
                        </a:lnSpc>
                        <a:buNone/>
                      </a:pPr>
                      <a:r>
                        <a:rPr lang="en-US" sz="1240" b="1" dirty="0">
                          <a:solidFill>
                            <a:srgbClr val="101A22"/>
                          </a:solidFill>
                          <a:latin typeface="Arial" pitchFamily="34" charset="0"/>
                          <a:ea typeface="Arial" pitchFamily="34" charset="-122"/>
                          <a:cs typeface="Arial" pitchFamily="34" charset="-120"/>
                        </a:rPr>
                        <a:t>An index template</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90"/>
                        </a:lnSpc>
                        <a:buNone/>
                      </a:pPr>
                      <a:r>
                        <a:rPr lang="en-US" sz="1240" dirty="0">
                          <a:solidFill>
                            <a:srgbClr val="101A22"/>
                          </a:solidFill>
                          <a:latin typeface="Arial" pitchFamily="34" charset="0"/>
                          <a:ea typeface="Arial" pitchFamily="34" charset="-122"/>
                          <a:cs typeface="Arial" pitchFamily="34" charset="-120"/>
                        </a:rPr>
                        <a:t>You do nothing. The OpenTelemetry Collector creates it at start.</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90"/>
                        </a:lnSpc>
                        <a:buNone/>
                      </a:pPr>
                      <a:r>
                        <a:rPr lang="en-US" sz="1240" dirty="0">
                          <a:solidFill>
                            <a:srgbClr val="101A22"/>
                          </a:solidFill>
                          <a:latin typeface="Arial" pitchFamily="34" charset="0"/>
                          <a:ea typeface="Arial" pitchFamily="34" charset="-122"/>
                          <a:cs typeface="Arial" pitchFamily="34" charset="-120"/>
                        </a:rPr>
                        <a:t>The template sets the field types of each new monthly index. It needs OpenTelemetry Collector 0.157.0 or newer.</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771396">
                <a:tc>
                  <a:txBody>
                    <a:bodyPr/>
                    <a:lstStyle/>
                    <a:p>
                      <a:pPr algn="l" indent="0" marL="0">
                        <a:lnSpc>
                          <a:spcPts val="1490"/>
                        </a:lnSpc>
                        <a:buNone/>
                      </a:pPr>
                      <a:r>
                        <a:rPr lang="en-US" sz="1240" b="1" dirty="0">
                          <a:solidFill>
                            <a:srgbClr val="101A22"/>
                          </a:solidFill>
                          <a:latin typeface="Arial" pitchFamily="34" charset="0"/>
                          <a:ea typeface="Arial" pitchFamily="34" charset="-122"/>
                          <a:cs typeface="Arial" pitchFamily="34" charset="-120"/>
                        </a:rPr>
                        <a:t>An index pattern</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90"/>
                        </a:lnSpc>
                        <a:buNone/>
                      </a:pPr>
                      <a:r>
                        <a:rPr lang="en-US" sz="1240" dirty="0">
                          <a:solidFill>
                            <a:srgbClr val="101A22"/>
                          </a:solidFill>
                          <a:latin typeface="Arial" pitchFamily="34" charset="0"/>
                          <a:ea typeface="Arial" pitchFamily="34" charset="-122"/>
                          <a:cs typeface="Arial" pitchFamily="34" charset="-120"/>
                        </a:rPr>
                        <a:t>Dashboards Management, Index patterns, Create. The pattern is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otel-v1-logs-*</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 and the time field is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time</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90"/>
                        </a:lnSpc>
                        <a:buNone/>
                      </a:pPr>
                      <a:r>
                        <a:rPr lang="en-US" sz="1240" dirty="0">
                          <a:solidFill>
                            <a:srgbClr val="101A22"/>
                          </a:solidFill>
                          <a:latin typeface="Arial" pitchFamily="34" charset="0"/>
                          <a:ea typeface="Arial" pitchFamily="34" charset="-122"/>
                          <a:cs typeface="Arial" pitchFamily="34" charset="-120"/>
                        </a:rPr>
                        <a:t>Discover is the search page of OpenSearch Dashboards. It shows no data without the pattern.</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929181">
                <a:tc>
                  <a:txBody>
                    <a:bodyPr/>
                    <a:lstStyle/>
                    <a:p>
                      <a:pPr algn="l" indent="0" marL="0">
                        <a:lnSpc>
                          <a:spcPts val="1490"/>
                        </a:lnSpc>
                        <a:buNone/>
                      </a:pPr>
                      <a:r>
                        <a:rPr lang="en-US" sz="1240" b="1" dirty="0">
                          <a:solidFill>
                            <a:srgbClr val="101A22"/>
                          </a:solidFill>
                          <a:latin typeface="Arial" pitchFamily="34" charset="0"/>
                          <a:ea typeface="Arial" pitchFamily="34" charset="-122"/>
                          <a:cs typeface="Arial" pitchFamily="34" charset="-120"/>
                        </a:rPr>
                        <a:t>A retention policy</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90"/>
                        </a:lnSpc>
                        <a:buNone/>
                      </a:pPr>
                      <a:r>
                        <a:rPr lang="en-US" sz="1240" dirty="0">
                          <a:solidFill>
                            <a:srgbClr val="101A22"/>
                          </a:solidFill>
                          <a:latin typeface="Arial" pitchFamily="34" charset="0"/>
                          <a:ea typeface="Arial" pitchFamily="34" charset="-122"/>
                          <a:cs typeface="Arial" pitchFamily="34" charset="-120"/>
                        </a:rPr>
                        <a:t>Index Management, State management policies, Create policy, with an ISM template for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otel-v1-logs-*</a:t>
                      </a:r>
                      <a:pPr algn="l" indent="0" marL="0">
                        <a:lnSpc>
                          <a:spcPts val="1490"/>
                        </a:lnSpc>
                        <a:buNone/>
                      </a:pPr>
                      <a:r>
                        <a:rPr lang="en-US" sz="1240" dirty="0">
                          <a:solidFill>
                            <a:srgbClr val="101A22"/>
                          </a:solidFill>
                          <a:latin typeface="Arial" pitchFamily="34" charset="0"/>
                          <a:ea typeface="Arial" pitchFamily="34" charset="-122"/>
                          <a:cs typeface="Arial" pitchFamily="34" charset="-120"/>
                        </a:rPr>
                        <a:t> and </a:t>
                      </a:r>
                      <a:pPr algn="l" indent="0" marL="0">
                        <a:lnSpc>
                          <a:spcPts val="1490"/>
                        </a:lnSpc>
                        <a:buNone/>
                      </a:pPr>
                      <a:r>
                        <a:rPr lang="en-US" sz="1090" dirty="0">
                          <a:solidFill>
                            <a:srgbClr val="101A22"/>
                          </a:solidFill>
                          <a:highlight>
                            <a:srgbClr val="E1F0F7"/>
                          </a:highlight>
                          <a:latin typeface="Courier New" pitchFamily="34" charset="0"/>
                          <a:ea typeface="Courier New" pitchFamily="34" charset="-122"/>
                          <a:cs typeface="Courier New" pitchFamily="34" charset="-120"/>
                        </a:rPr>
                        <a:t>otel-v1-apm-span-*</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90"/>
                        </a:lnSpc>
                        <a:buNone/>
                      </a:pPr>
                      <a:r>
                        <a:rPr lang="en-US" sz="1240" dirty="0">
                          <a:solidFill>
                            <a:srgbClr val="101A22"/>
                          </a:solidFill>
                          <a:latin typeface="Arial" pitchFamily="34" charset="0"/>
                          <a:ea typeface="Arial" pitchFamily="34" charset="-122"/>
                          <a:cs typeface="Arial" pitchFamily="34" charset="-120"/>
                        </a:rPr>
                        <a:t>ISM (Index State Management) deletes old indices on a schedule. The policy covers only the indices that come after it.</a:t>
                      </a:r>
                      <a:endParaRPr lang="en-US" sz="1200" dirty="0"/>
                    </a:p>
                  </a:txBody>
                  <a:tcPr marL="122682" marR="122682" marT="105156" marB="1051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bl>
          </a:graphicData>
        </a:graphic>
      </p:graphicFrame>
      <p:sp>
        <p:nvSpPr>
          <p:cNvPr id="4" name="Text 1"/>
          <p:cNvSpPr txBox="1"/>
          <p:nvPr/>
        </p:nvSpPr>
        <p:spPr>
          <a:xfrm>
            <a:off x="1081929" y="513464"/>
            <a:ext cx="10085291" cy="170934"/>
          </a:xfrm>
          <a:prstGeom prst="rect">
            <a:avLst/>
          </a:prstGeom>
          <a:noFill/>
          <a:ln/>
        </p:spPr>
        <p:txBody>
          <a:bodyPr wrap="none" lIns="0" tIns="0" rIns="0" bIns="0" rtlCol="0" anchor="t"/>
          <a:lstStyle/>
          <a:p>
            <a:pPr algn="l" indent="0" marL="0">
              <a:lnSpc>
                <a:spcPts val="1350"/>
              </a:lnSpc>
              <a:buNone/>
            </a:pPr>
            <a:r>
              <a:rPr lang="en-US" sz="900" spc="140" kern="0" dirty="0">
                <a:solidFill>
                  <a:srgbClr val="0B6E99"/>
                </a:solidFill>
                <a:latin typeface="Courier New" pitchFamily="34" charset="0"/>
                <a:ea typeface="Courier New" pitchFamily="34" charset="-122"/>
                <a:cs typeface="Courier New" pitchFamily="34" charset="-120"/>
              </a:rPr>
              <a:t>STEP 7 OF 9</a:t>
            </a:r>
            <a:endParaRPr lang="en-US" sz="900" dirty="0"/>
          </a:p>
        </p:txBody>
      </p:sp>
      <p:sp>
        <p:nvSpPr>
          <p:cNvPr id="5" name="Text 2"/>
          <p:cNvSpPr txBox="1"/>
          <p:nvPr/>
        </p:nvSpPr>
        <p:spPr>
          <a:xfrm>
            <a:off x="1081929" y="827056"/>
            <a:ext cx="10085291" cy="397614"/>
          </a:xfrm>
          <a:prstGeom prst="rect">
            <a:avLst/>
          </a:prstGeom>
          <a:noFill/>
          <a:ln/>
        </p:spPr>
        <p:txBody>
          <a:bodyPr wrap="none" lIns="0" tIns="0" rIns="0" bIns="0" rtlCol="0" anchor="t"/>
          <a:lstStyle/>
          <a:p>
            <a:pPr algn="l" indent="0" marL="0">
              <a:lnSpc>
                <a:spcPts val="3130"/>
              </a:lnSpc>
              <a:buNone/>
            </a:pPr>
            <a:r>
              <a:rPr lang="en-US" sz="2900" b="1" spc="-60" kern="0" dirty="0">
                <a:solidFill>
                  <a:srgbClr val="101A22"/>
                </a:solidFill>
                <a:latin typeface="Arial" pitchFamily="34" charset="0"/>
                <a:ea typeface="Arial" pitchFamily="34" charset="-122"/>
                <a:cs typeface="Arial" pitchFamily="34" charset="-120"/>
              </a:rPr>
              <a:t>Configure OpenSearch</a:t>
            </a:r>
            <a:endParaRPr lang="en-US" sz="2900" dirty="0"/>
          </a:p>
        </p:txBody>
      </p:sp>
      <p:sp>
        <p:nvSpPr>
          <p:cNvPr id="6" name="Text 3"/>
          <p:cNvSpPr txBox="1"/>
          <p:nvPr/>
        </p:nvSpPr>
        <p:spPr>
          <a:xfrm>
            <a:off x="1081929" y="1412711"/>
            <a:ext cx="10085291" cy="341869"/>
          </a:xfrm>
          <a:prstGeom prst="rect">
            <a:avLst/>
          </a:prstGeom>
          <a:noFill/>
          <a:ln/>
        </p:spPr>
        <p:txBody>
          <a:bodyPr wrap="none" lIns="0" tIns="0" rIns="0" bIns="0" rtlCol="0" anchor="t"/>
          <a:lstStyle/>
          <a:p>
            <a:pPr algn="l" indent="0" marL="0">
              <a:lnSpc>
                <a:spcPts val="2690"/>
              </a:lnSpc>
              <a:buNone/>
            </a:pPr>
            <a:r>
              <a:rPr lang="en-US" sz="1790" dirty="0">
                <a:solidFill>
                  <a:srgbClr val="5A6D7A"/>
                </a:solidFill>
                <a:latin typeface="Arial" pitchFamily="34" charset="0"/>
                <a:ea typeface="Arial" pitchFamily="34" charset="-122"/>
                <a:cs typeface="Arial" pitchFamily="34" charset="-120"/>
              </a:rPr>
              <a:t>OpenSearch needs four things before the first records arrive.</a:t>
            </a:r>
            <a:endParaRPr lang="en-US" sz="1790" dirty="0"/>
          </a:p>
        </p:txBody>
      </p:sp>
      <p:sp>
        <p:nvSpPr>
          <p:cNvPr id="7" name="Text 4"/>
          <p:cNvSpPr txBox="1"/>
          <p:nvPr/>
        </p:nvSpPr>
        <p:spPr>
          <a:xfrm>
            <a:off x="647700" y="6464627"/>
            <a:ext cx="948928" cy="142875"/>
          </a:xfrm>
          <a:prstGeom prst="rect">
            <a:avLst/>
          </a:prstGeom>
          <a:noFill/>
          <a:ln/>
        </p:spPr>
        <p:txBody>
          <a:bodyPr wrap="none" lIns="0" tIns="0" rIns="0" bIns="0" rtlCol="0" anchor="t"/>
          <a:lstStyle/>
          <a:p>
            <a:pPr algn="l" indent="0" marL="0">
              <a:lnSpc>
                <a:spcPts val="1080"/>
              </a:lnSpc>
              <a:buNone/>
            </a:pPr>
            <a:r>
              <a:rPr lang="en-US" sz="900" dirty="0">
                <a:solidFill>
                  <a:srgbClr val="8496A2"/>
                </a:solidFill>
                <a:latin typeface="Courier New" pitchFamily="34" charset="0"/>
                <a:ea typeface="Courier New" pitchFamily="34" charset="-122"/>
                <a:cs typeface="Courier New" pitchFamily="34" charset="-120"/>
              </a:rPr>
              <a:t>Walk-through</a:t>
            </a:r>
            <a:endParaRPr lang="en-US" sz="900" dirty="0"/>
          </a:p>
        </p:txBody>
      </p:sp>
      <p:sp>
        <p:nvSpPr>
          <p:cNvPr id="8" name="Text 5"/>
          <p:cNvSpPr txBox="1"/>
          <p:nvPr/>
        </p:nvSpPr>
        <p:spPr>
          <a:xfrm>
            <a:off x="11024146" y="6464627"/>
            <a:ext cx="577304" cy="142875"/>
          </a:xfrm>
          <a:prstGeom prst="rect">
            <a:avLst/>
          </a:prstGeom>
          <a:noFill/>
          <a:ln/>
        </p:spPr>
        <p:txBody>
          <a:bodyPr wrap="none" lIns="0" tIns="0" rIns="0" bIns="0" rtlCol="0" anchor="t"/>
          <a:lstStyle/>
          <a:p>
            <a:pPr algn="l" indent="0" marL="0">
              <a:lnSpc>
                <a:spcPts val="1080"/>
              </a:lnSpc>
              <a:buNone/>
            </a:pPr>
            <a:r>
              <a:rPr lang="en-US" sz="900" dirty="0">
                <a:solidFill>
                  <a:srgbClr val="8496A2"/>
                </a:solidFill>
                <a:latin typeface="Courier New" pitchFamily="34" charset="0"/>
                <a:ea typeface="Courier New" pitchFamily="34" charset="-122"/>
                <a:cs typeface="Courier New" pitchFamily="34" charset="-120"/>
              </a:rPr>
              <a:t>21 / 39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3332262"/>
            <a:ext cx="10896600" cy="2127647"/>
          </a:xfrm>
          <a:prstGeom prst="roundRect">
            <a:avLst>
              <a:gd name="adj" fmla="val 3848"/>
            </a:avLst>
          </a:prstGeom>
          <a:solidFill>
            <a:srgbClr val="0F2027"/>
          </a:solidFill>
          <a:ln/>
        </p:spPr>
      </p:sp>
      <p:sp>
        <p:nvSpPr>
          <p:cNvPr id="3" name="Shape 1"/>
          <p:cNvSpPr/>
          <p:nvPr/>
        </p:nvSpPr>
        <p:spPr>
          <a:xfrm>
            <a:off x="647700" y="6343650"/>
            <a:ext cx="10896600" cy="0"/>
          </a:xfrm>
          <a:prstGeom prst="line">
            <a:avLst/>
          </a:prstGeom>
          <a:noFill/>
          <a:ln w="10160">
            <a:solidFill>
              <a:srgbClr val="CBD7DF"/>
            </a:solidFill>
            <a:prstDash val="solid"/>
          </a:ln>
        </p:spPr>
      </p:sp>
      <p:sp>
        <p:nvSpPr>
          <p:cNvPr id="4" name="Text 2"/>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STEP 8 OF 9</a:t>
            </a:r>
            <a:endParaRPr lang="en-US" sz="980" dirty="0"/>
          </a:p>
        </p:txBody>
      </p:sp>
      <p:sp>
        <p:nvSpPr>
          <p:cNvPr id="5" name="Text 3"/>
          <p:cNvSpPr txBox="1"/>
          <p:nvPr/>
        </p:nvSpPr>
        <p:spPr>
          <a:xfrm>
            <a:off x="647700" y="852488"/>
            <a:ext cx="10953750" cy="864096"/>
          </a:xfrm>
          <a:prstGeom prst="rect">
            <a:avLst/>
          </a:prstGeom>
          <a:noFill/>
          <a:ln/>
        </p:spPr>
        <p:txBody>
          <a:bodyPr wrap="squar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Configure the OpenTelemetry Collector to receive the records</a:t>
            </a:r>
            <a:endParaRPr lang="en-US" sz="3150" dirty="0"/>
          </a:p>
        </p:txBody>
      </p:sp>
      <p:sp>
        <p:nvSpPr>
          <p:cNvPr id="6" name="Text 4"/>
          <p:cNvSpPr txBox="1"/>
          <p:nvPr/>
        </p:nvSpPr>
        <p:spPr>
          <a:xfrm>
            <a:off x="647700" y="1920895"/>
            <a:ext cx="10953750" cy="1120378"/>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The PHP package </a:t>
            </a:r>
            <a:pPr algn="l" indent="0" marL="0">
              <a:lnSpc>
                <a:spcPts val="2930"/>
              </a:lnSpc>
              <a:buNone/>
            </a:pPr>
            <a:r>
              <a:rPr lang="en-US" sz="1720" dirty="0">
                <a:solidFill>
                  <a:srgbClr val="5A6D7A"/>
                </a:solidFill>
                <a:highlight>
                  <a:srgbClr val="E1F0F7"/>
                </a:highlight>
                <a:latin typeface="Courier New" pitchFamily="34" charset="0"/>
                <a:ea typeface="Courier New" pitchFamily="34" charset="-122"/>
                <a:cs typeface="Courier New" pitchFamily="34" charset="-120"/>
              </a:rPr>
              <a:t>exporter-otlp</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sends the records from Moodle to </a:t>
            </a:r>
            <a:pPr algn="l" indent="0" marL="0">
              <a:lnSpc>
                <a:spcPts val="2930"/>
              </a:lnSpc>
              <a:buNone/>
            </a:pPr>
            <a:r>
              <a:rPr lang="en-US" sz="1720" dirty="0">
                <a:solidFill>
                  <a:srgbClr val="5A6D7A"/>
                </a:solidFill>
                <a:highlight>
                  <a:srgbClr val="E1F0F7"/>
                </a:highlight>
                <a:latin typeface="Courier New" pitchFamily="34" charset="0"/>
                <a:ea typeface="Courier New" pitchFamily="34" charset="-122"/>
                <a:cs typeface="Courier New" pitchFamily="34" charset="-120"/>
              </a:rPr>
              <a:t>http://localhost:4318</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In the file </a:t>
            </a:r>
            <a:pPr algn="l" indent="0" marL="0">
              <a:lnSpc>
                <a:spcPts val="2930"/>
              </a:lnSpc>
              <a:buNone/>
            </a:pPr>
            <a:r>
              <a:rPr lang="en-US" sz="1720" dirty="0">
                <a:solidFill>
                  <a:srgbClr val="5A6D7A"/>
                </a:solidFill>
                <a:highlight>
                  <a:srgbClr val="E1F0F7"/>
                </a:highlight>
                <a:latin typeface="Courier New" pitchFamily="34" charset="0"/>
                <a:ea typeface="Courier New" pitchFamily="34" charset="-122"/>
                <a:cs typeface="Courier New" pitchFamily="34" charset="-120"/>
              </a:rPr>
              <a:t>/etc/otelcol-contrib/config.yaml</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you configure the OpenTelemetry Collector to listen on that port.</a:t>
            </a:r>
            <a:endParaRPr lang="en-US" sz="1950" dirty="0"/>
          </a:p>
        </p:txBody>
      </p:sp>
      <p:sp>
        <p:nvSpPr>
          <p:cNvPr id="7" name="Text 5"/>
          <p:cNvSpPr txBox="1"/>
          <p:nvPr/>
        </p:nvSpPr>
        <p:spPr>
          <a:xfrm>
            <a:off x="857250" y="3482495"/>
            <a:ext cx="10534650" cy="1784747"/>
          </a:xfrm>
          <a:prstGeom prst="rect">
            <a:avLst/>
          </a:prstGeom>
          <a:noFill/>
          <a:ln/>
        </p:spPr>
        <p:txBody>
          <a:bodyPr wrap="square" lIns="0" tIns="0" rIns="0" bIns="0" rtlCol="0" anchor="t"/>
          <a:lstStyle/>
          <a:p>
            <a:pPr algn="l" indent="0" marL="0">
              <a:lnSpc>
                <a:spcPts val="1760"/>
              </a:lnSpc>
              <a:buNone/>
            </a:pPr>
            <a:r>
              <a:rPr lang="en-US" sz="1240" dirty="0">
                <a:solidFill>
                  <a:srgbClr val="6FC7EE"/>
                </a:solidFill>
                <a:latin typeface="Courier New" pitchFamily="34" charset="0"/>
                <a:ea typeface="Courier New" pitchFamily="34" charset="-122"/>
                <a:cs typeface="Courier New" pitchFamily="34" charset="-120"/>
              </a:rPr>
              <a:t>receivers:</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86A5B4"/>
                </a:solidFill>
                <a:latin typeface="Courier New" pitchFamily="34" charset="0"/>
                <a:ea typeface="Courier New" pitchFamily="34" charset="-122"/>
                <a:cs typeface="Courier New" pitchFamily="34" charset="-120"/>
              </a:rPr>
              <a:t># listens on port 4318 for the records from the PHP package</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endParaRPr lang="en-US" sz="1240" dirty="0"/>
          </a:p>
          <a:p>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6FC7EE"/>
                </a:solidFill>
                <a:latin typeface="Courier New" pitchFamily="34" charset="0"/>
                <a:ea typeface="Courier New" pitchFamily="34" charset="-122"/>
                <a:cs typeface="Courier New" pitchFamily="34" charset="-120"/>
              </a:rPr>
              <a:t>otlp:</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endParaRPr lang="en-US" sz="1240" dirty="0"/>
          </a:p>
          <a:p>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6FC7EE"/>
                </a:solidFill>
                <a:latin typeface="Courier New" pitchFamily="34" charset="0"/>
                <a:ea typeface="Courier New" pitchFamily="34" charset="-122"/>
                <a:cs typeface="Courier New" pitchFamily="34" charset="-120"/>
              </a:rPr>
              <a:t>protocols:</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endParaRPr lang="en-US" sz="1240" dirty="0"/>
          </a:p>
          <a:p>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6FC7EE"/>
                </a:solidFill>
                <a:latin typeface="Courier New" pitchFamily="34" charset="0"/>
                <a:ea typeface="Courier New" pitchFamily="34" charset="-122"/>
                <a:cs typeface="Courier New" pitchFamily="34" charset="-120"/>
              </a:rPr>
              <a:t>http:</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endParaRPr lang="en-US" sz="1240" dirty="0"/>
          </a:p>
          <a:p>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6FC7EE"/>
                </a:solidFill>
                <a:latin typeface="Courier New" pitchFamily="34" charset="0"/>
                <a:ea typeface="Courier New" pitchFamily="34" charset="-122"/>
                <a:cs typeface="Courier New" pitchFamily="34" charset="-120"/>
              </a:rPr>
              <a:t>endpoint:</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F0C070"/>
                </a:solidFill>
                <a:latin typeface="Courier New" pitchFamily="34" charset="0"/>
                <a:ea typeface="Courier New" pitchFamily="34" charset="-122"/>
                <a:cs typeface="Courier New" pitchFamily="34" charset="-120"/>
              </a:rPr>
              <a:t>localhost:4318</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endParaRPr lang="en-US" sz="1240" dirty="0"/>
          </a:p>
          <a:p>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6FC7EE"/>
                </a:solidFill>
                <a:latin typeface="Courier New" pitchFamily="34" charset="0"/>
                <a:ea typeface="Courier New" pitchFamily="34" charset="-122"/>
                <a:cs typeface="Courier New" pitchFamily="34" charset="-120"/>
              </a:rPr>
              <a:t>processors:</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86A5B4"/>
                </a:solidFill>
                <a:latin typeface="Courier New" pitchFamily="34" charset="0"/>
                <a:ea typeface="Courier New" pitchFamily="34" charset="-122"/>
                <a:cs typeface="Courier New" pitchFamily="34" charset="-120"/>
              </a:rPr>
              <a:t># sends the records in groups, one group every 5 seconds</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endParaRPr lang="en-US" sz="1240" dirty="0"/>
          </a:p>
          <a:p>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6FC7EE"/>
                </a:solidFill>
                <a:latin typeface="Courier New" pitchFamily="34" charset="0"/>
                <a:ea typeface="Courier New" pitchFamily="34" charset="-122"/>
                <a:cs typeface="Courier New" pitchFamily="34" charset="-120"/>
              </a:rPr>
              <a:t>batch:</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endParaRPr lang="en-US" sz="1240" dirty="0"/>
          </a:p>
          <a:p>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6FC7EE"/>
                </a:solidFill>
                <a:latin typeface="Courier New" pitchFamily="34" charset="0"/>
                <a:ea typeface="Courier New" pitchFamily="34" charset="-122"/>
                <a:cs typeface="Courier New" pitchFamily="34" charset="-120"/>
              </a:rPr>
              <a:t>timeout:</a:t>
            </a:r>
            <a:pPr algn="l" indent="0" marL="0">
              <a:lnSpc>
                <a:spcPts val="1760"/>
              </a:lnSpc>
              <a:buNone/>
            </a:pPr>
            <a:r>
              <a:rPr lang="en-US" sz="1240" dirty="0">
                <a:solidFill>
                  <a:srgbClr val="E4EDF2"/>
                </a:solidFill>
                <a:latin typeface="Courier New" pitchFamily="34" charset="0"/>
                <a:ea typeface="Courier New" pitchFamily="34" charset="-122"/>
                <a:cs typeface="Courier New" pitchFamily="34" charset="-120"/>
              </a:rPr>
              <a:t> </a:t>
            </a:r>
            <a:pPr algn="l" indent="0" marL="0">
              <a:lnSpc>
                <a:spcPts val="1760"/>
              </a:lnSpc>
              <a:buNone/>
            </a:pPr>
            <a:r>
              <a:rPr lang="en-US" sz="1240" dirty="0">
                <a:solidFill>
                  <a:srgbClr val="F0C070"/>
                </a:solidFill>
                <a:latin typeface="Courier New" pitchFamily="34" charset="0"/>
                <a:ea typeface="Courier New" pitchFamily="34" charset="-122"/>
                <a:cs typeface="Courier New" pitchFamily="34" charset="-120"/>
              </a:rPr>
              <a:t>5s</a:t>
            </a:r>
            <a:endParaRPr lang="en-US" sz="1240" dirty="0"/>
          </a:p>
        </p:txBody>
      </p:sp>
      <p:sp>
        <p:nvSpPr>
          <p:cNvPr id="8" name="Text 6"/>
          <p:cNvSpPr txBox="1"/>
          <p:nvPr/>
        </p:nvSpPr>
        <p:spPr>
          <a:xfrm>
            <a:off x="647700" y="6464379"/>
            <a:ext cx="948928"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Walk-through</a:t>
            </a:r>
            <a:endParaRPr lang="en-US" sz="980" dirty="0"/>
          </a:p>
        </p:txBody>
      </p:sp>
      <p:sp>
        <p:nvSpPr>
          <p:cNvPr id="9" name="Text 7"/>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22 / 39</a:t>
            </a:r>
            <a:endParaRPr lang="en-US" sz="9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63761" y="1491920"/>
            <a:ext cx="8464479" cy="3978939"/>
          </a:xfrm>
          <a:prstGeom prst="roundRect">
            <a:avLst>
              <a:gd name="adj" fmla="val 855"/>
            </a:avLst>
          </a:prstGeom>
          <a:solidFill>
            <a:srgbClr val="0F2027"/>
          </a:solidFill>
          <a:ln/>
        </p:spPr>
      </p:sp>
      <p:sp>
        <p:nvSpPr>
          <p:cNvPr id="3" name="Shape 1"/>
          <p:cNvSpPr/>
          <p:nvPr/>
        </p:nvSpPr>
        <p:spPr>
          <a:xfrm>
            <a:off x="647700" y="6343650"/>
            <a:ext cx="10896600" cy="0"/>
          </a:xfrm>
          <a:prstGeom prst="line">
            <a:avLst/>
          </a:prstGeom>
          <a:noFill/>
          <a:ln w="7620">
            <a:solidFill>
              <a:srgbClr val="CBD7DF"/>
            </a:solidFill>
            <a:prstDash val="solid"/>
          </a:ln>
        </p:spPr>
      </p:sp>
      <p:sp>
        <p:nvSpPr>
          <p:cNvPr id="4" name="Text 2"/>
          <p:cNvSpPr txBox="1"/>
          <p:nvPr/>
        </p:nvSpPr>
        <p:spPr>
          <a:xfrm>
            <a:off x="1863761" y="516563"/>
            <a:ext cx="8521629" cy="144318"/>
          </a:xfrm>
          <a:prstGeom prst="rect">
            <a:avLst/>
          </a:prstGeom>
          <a:noFill/>
          <a:ln/>
        </p:spPr>
        <p:txBody>
          <a:bodyPr wrap="none" lIns="0" tIns="0" rIns="0" bIns="0" rtlCol="0" anchor="t"/>
          <a:lstStyle/>
          <a:p>
            <a:pPr algn="l" indent="0" marL="0">
              <a:lnSpc>
                <a:spcPts val="1140"/>
              </a:lnSpc>
              <a:buNone/>
            </a:pPr>
            <a:r>
              <a:rPr lang="en-US" sz="760" spc="120" kern="0" dirty="0">
                <a:solidFill>
                  <a:srgbClr val="0B6E99"/>
                </a:solidFill>
                <a:latin typeface="Courier New" pitchFamily="34" charset="0"/>
                <a:ea typeface="Courier New" pitchFamily="34" charset="-122"/>
                <a:cs typeface="Courier New" pitchFamily="34" charset="-120"/>
              </a:rPr>
              <a:t>STEP 8 OF 9</a:t>
            </a:r>
            <a:endParaRPr lang="en-US" sz="760" dirty="0"/>
          </a:p>
        </p:txBody>
      </p:sp>
      <p:sp>
        <p:nvSpPr>
          <p:cNvPr id="5" name="Text 3"/>
          <p:cNvSpPr txBox="1"/>
          <p:nvPr/>
        </p:nvSpPr>
        <p:spPr>
          <a:xfrm>
            <a:off x="1863761" y="781267"/>
            <a:ext cx="8521629" cy="255776"/>
          </a:xfrm>
          <a:prstGeom prst="rect">
            <a:avLst/>
          </a:prstGeom>
          <a:noFill/>
          <a:ln/>
        </p:spPr>
        <p:txBody>
          <a:bodyPr wrap="none" lIns="0" tIns="0" rIns="0" bIns="0" rtlCol="0" anchor="t"/>
          <a:lstStyle/>
          <a:p>
            <a:pPr algn="l" indent="0" marL="0">
              <a:lnSpc>
                <a:spcPts val="2010"/>
              </a:lnSpc>
              <a:buNone/>
            </a:pPr>
            <a:r>
              <a:rPr lang="en-US" sz="1860" b="1" spc="-40" kern="0" dirty="0">
                <a:solidFill>
                  <a:srgbClr val="101A22"/>
                </a:solidFill>
                <a:latin typeface="Arial" pitchFamily="34" charset="0"/>
                <a:ea typeface="Arial" pitchFamily="34" charset="-122"/>
                <a:cs typeface="Arial" pitchFamily="34" charset="-120"/>
              </a:rPr>
              <a:t>Configure the OpenTelemetry Collector to send the records to OpenSearch</a:t>
            </a:r>
            <a:endParaRPr lang="en-US" sz="1860" dirty="0"/>
          </a:p>
        </p:txBody>
      </p:sp>
      <p:sp>
        <p:nvSpPr>
          <p:cNvPr id="6" name="Text 4"/>
          <p:cNvSpPr txBox="1"/>
          <p:nvPr/>
        </p:nvSpPr>
        <p:spPr>
          <a:xfrm>
            <a:off x="1863761" y="1128066"/>
            <a:ext cx="8521629" cy="233129"/>
          </a:xfrm>
          <a:prstGeom prst="rect">
            <a:avLst/>
          </a:prstGeom>
          <a:noFill/>
          <a:ln/>
        </p:spPr>
        <p:txBody>
          <a:bodyPr wrap="none" lIns="0" tIns="0" rIns="0" bIns="0" rtlCol="0" anchor="t"/>
          <a:lstStyle/>
          <a:p>
            <a:pPr algn="l" indent="0" marL="0">
              <a:lnSpc>
                <a:spcPts val="1840"/>
              </a:lnSpc>
              <a:buNone/>
            </a:pPr>
            <a:r>
              <a:rPr lang="en-US" sz="1220" dirty="0">
                <a:solidFill>
                  <a:srgbClr val="5A6D7A"/>
                </a:solidFill>
                <a:latin typeface="Arial" pitchFamily="34" charset="0"/>
                <a:ea typeface="Arial" pitchFamily="34" charset="-122"/>
                <a:cs typeface="Arial" pitchFamily="34" charset="-120"/>
              </a:rPr>
              <a:t>The OpenTelemetry Collector needs the login, the address of OpenSearch and the names of the indices.</a:t>
            </a:r>
            <a:endParaRPr lang="en-US" sz="1220" dirty="0"/>
          </a:p>
        </p:txBody>
      </p:sp>
      <p:sp>
        <p:nvSpPr>
          <p:cNvPr id="7" name="Text 5"/>
          <p:cNvSpPr txBox="1"/>
          <p:nvPr/>
        </p:nvSpPr>
        <p:spPr>
          <a:xfrm>
            <a:off x="2011779" y="1583876"/>
            <a:ext cx="8225592" cy="3771713"/>
          </a:xfrm>
          <a:prstGeom prst="rect">
            <a:avLst/>
          </a:prstGeom>
          <a:noFill/>
          <a:ln/>
        </p:spPr>
        <p:txBody>
          <a:bodyPr wrap="square" lIns="0" tIns="0" rIns="0" bIns="0" rtlCol="0" anchor="t"/>
          <a:lstStyle/>
          <a:p>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extensions: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the user name and the password for OpenSearch</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basicauth/opensearch:</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client_auth:</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username:</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otelcol</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password:</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DemoCollector2026!</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exporters: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sends the records to OpenSearch</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opensearch/moodle:</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http:</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endpoint:</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https://opensearch1:9200</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the address of your OpenSearch server</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auth:</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authenticator:</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basicauth/opensearch</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tls: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insecure_skip_verify:</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true</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does not check the certificate of OpenSearch</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logs_index:</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"otel-v1-logs-moodle"</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the name must start with otel-v1-logs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logs_index_time_format:</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"yyyy.MM"</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one new index each month</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traces_index:</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"otel-v1-apm-span"</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the trace pages read this name, keep it</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traces_index_time_format:</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"yyyy.MM"</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mapping:</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mode:</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F0C070"/>
                </a:solidFill>
                <a:latin typeface="Courier New" pitchFamily="34" charset="0"/>
                <a:ea typeface="Courier New" pitchFamily="34" charset="-122"/>
                <a:cs typeface="Courier New" pitchFamily="34" charset="-120"/>
              </a:rPr>
              <a:t>"otel-v1"</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manage_index_template:</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true</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creates the index template at start</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service:</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86A5B4"/>
                </a:solidFill>
                <a:latin typeface="Courier New" pitchFamily="34" charset="0"/>
                <a:ea typeface="Courier New" pitchFamily="34" charset="-122"/>
                <a:cs typeface="Courier New" pitchFamily="34" charset="-120"/>
              </a:rPr>
              <a:t># nothing runs without this section, it switches the parts on</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extensions: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[basicauth/opensearch]</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pipelines: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logs: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receivers: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[otlp],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processors: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[batch],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exporters: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[opensearch/moodle]}</a:t>
            </a:r>
            <a:endParaRPr lang="en-US" sz="870" dirty="0"/>
          </a:p>
          <a:p>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traces: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receivers: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[otlp],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processors: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[batch], </a:t>
            </a:r>
            <a:pPr algn="l" indent="0" marL="0">
              <a:lnSpc>
                <a:spcPts val="1190"/>
              </a:lnSpc>
              <a:buNone/>
            </a:pPr>
            <a:r>
              <a:rPr lang="en-US" sz="870" dirty="0">
                <a:solidFill>
                  <a:srgbClr val="6FC7EE"/>
                </a:solidFill>
                <a:latin typeface="Courier New" pitchFamily="34" charset="0"/>
                <a:ea typeface="Courier New" pitchFamily="34" charset="-122"/>
                <a:cs typeface="Courier New" pitchFamily="34" charset="-120"/>
              </a:rPr>
              <a:t>exporters:</a:t>
            </a:r>
            <a:pPr algn="l" indent="0" marL="0">
              <a:lnSpc>
                <a:spcPts val="1190"/>
              </a:lnSpc>
              <a:buNone/>
            </a:pPr>
            <a:r>
              <a:rPr lang="en-US" sz="870" dirty="0">
                <a:solidFill>
                  <a:srgbClr val="E4EDF2"/>
                </a:solidFill>
                <a:latin typeface="Courier New" pitchFamily="34" charset="0"/>
                <a:ea typeface="Courier New" pitchFamily="34" charset="-122"/>
                <a:cs typeface="Courier New" pitchFamily="34" charset="-120"/>
              </a:rPr>
              <a:t> [opensearch/moodle]}</a:t>
            </a:r>
            <a:endParaRPr lang="en-US" sz="870" dirty="0"/>
          </a:p>
        </p:txBody>
      </p:sp>
      <p:sp>
        <p:nvSpPr>
          <p:cNvPr id="8" name="Text 6"/>
          <p:cNvSpPr txBox="1"/>
          <p:nvPr/>
        </p:nvSpPr>
        <p:spPr>
          <a:xfrm>
            <a:off x="1863761" y="5547246"/>
            <a:ext cx="8521629" cy="234687"/>
          </a:xfrm>
          <a:prstGeom prst="rect">
            <a:avLst/>
          </a:prstGeom>
          <a:noFill/>
          <a:ln/>
        </p:spPr>
        <p:txBody>
          <a:bodyPr wrap="none" lIns="0" tIns="0" rIns="0" bIns="0" rtlCol="0" anchor="t"/>
          <a:lstStyle/>
          <a:p>
            <a:pPr algn="l" indent="0" marL="0">
              <a:lnSpc>
                <a:spcPts val="1840"/>
              </a:lnSpc>
              <a:buNone/>
            </a:pPr>
            <a:r>
              <a:rPr lang="en-US" sz="1220" dirty="0">
                <a:solidFill>
                  <a:srgbClr val="5A6D7A"/>
                </a:solidFill>
                <a:latin typeface="Arial" pitchFamily="34" charset="0"/>
                <a:ea typeface="Arial" pitchFamily="34" charset="-122"/>
                <a:cs typeface="Arial" pitchFamily="34" charset="-120"/>
              </a:rPr>
              <a:t>Restart the service with </a:t>
            </a:r>
            <a:pPr algn="l" indent="0" marL="0">
              <a:lnSpc>
                <a:spcPts val="1840"/>
              </a:lnSpc>
              <a:buNone/>
            </a:pPr>
            <a:r>
              <a:rPr lang="en-US" sz="1080" dirty="0">
                <a:solidFill>
                  <a:srgbClr val="5A6D7A"/>
                </a:solidFill>
                <a:highlight>
                  <a:srgbClr val="E1F0F7"/>
                </a:highlight>
                <a:latin typeface="Courier New" pitchFamily="34" charset="0"/>
                <a:ea typeface="Courier New" pitchFamily="34" charset="-122"/>
                <a:cs typeface="Courier New" pitchFamily="34" charset="-120"/>
              </a:rPr>
              <a:t>systemctl restart otelcol-contrib</a:t>
            </a:r>
            <a:pPr algn="l" indent="0" marL="0">
              <a:lnSpc>
                <a:spcPts val="1840"/>
              </a:lnSpc>
              <a:buNone/>
            </a:pPr>
            <a:r>
              <a:rPr lang="en-US" sz="1220" dirty="0">
                <a:solidFill>
                  <a:srgbClr val="5A6D7A"/>
                </a:solidFill>
                <a:latin typeface="Arial" pitchFamily="34" charset="0"/>
                <a:ea typeface="Arial" pitchFamily="34" charset="-122"/>
                <a:cs typeface="Arial" pitchFamily="34" charset="-120"/>
              </a:rPr>
              <a:t>. The OpenTelemetry Collector reads the file only at start.</a:t>
            </a:r>
            <a:endParaRPr lang="en-US" sz="1220" dirty="0"/>
          </a:p>
        </p:txBody>
      </p:sp>
      <p:sp>
        <p:nvSpPr>
          <p:cNvPr id="9" name="Text 7"/>
          <p:cNvSpPr txBox="1"/>
          <p:nvPr/>
        </p:nvSpPr>
        <p:spPr>
          <a:xfrm>
            <a:off x="647700" y="6465070"/>
            <a:ext cx="948928" cy="142875"/>
          </a:xfrm>
          <a:prstGeom prst="rect">
            <a:avLst/>
          </a:prstGeom>
          <a:noFill/>
          <a:ln/>
        </p:spPr>
        <p:txBody>
          <a:bodyPr wrap="none" lIns="0" tIns="0" rIns="0" bIns="0" rtlCol="0" anchor="t"/>
          <a:lstStyle/>
          <a:p>
            <a:pPr algn="l" indent="0" marL="0">
              <a:lnSpc>
                <a:spcPts val="910"/>
              </a:lnSpc>
              <a:buNone/>
            </a:pPr>
            <a:r>
              <a:rPr lang="en-US" sz="760" dirty="0">
                <a:solidFill>
                  <a:srgbClr val="8496A2"/>
                </a:solidFill>
                <a:latin typeface="Courier New" pitchFamily="34" charset="0"/>
                <a:ea typeface="Courier New" pitchFamily="34" charset="-122"/>
                <a:cs typeface="Courier New" pitchFamily="34" charset="-120"/>
              </a:rPr>
              <a:t>Walk-through</a:t>
            </a:r>
            <a:endParaRPr lang="en-US" sz="760" dirty="0"/>
          </a:p>
        </p:txBody>
      </p:sp>
      <p:sp>
        <p:nvSpPr>
          <p:cNvPr id="10" name="Text 8"/>
          <p:cNvSpPr txBox="1"/>
          <p:nvPr/>
        </p:nvSpPr>
        <p:spPr>
          <a:xfrm>
            <a:off x="11024146" y="6465070"/>
            <a:ext cx="577304" cy="142875"/>
          </a:xfrm>
          <a:prstGeom prst="rect">
            <a:avLst/>
          </a:prstGeom>
          <a:noFill/>
          <a:ln/>
        </p:spPr>
        <p:txBody>
          <a:bodyPr wrap="none" lIns="0" tIns="0" rIns="0" bIns="0" rtlCol="0" anchor="t"/>
          <a:lstStyle/>
          <a:p>
            <a:pPr algn="l" indent="0" marL="0">
              <a:lnSpc>
                <a:spcPts val="910"/>
              </a:lnSpc>
              <a:buNone/>
            </a:pPr>
            <a:r>
              <a:rPr lang="en-US" sz="760" dirty="0">
                <a:solidFill>
                  <a:srgbClr val="8496A2"/>
                </a:solidFill>
                <a:latin typeface="Courier New" pitchFamily="34" charset="0"/>
                <a:ea typeface="Courier New" pitchFamily="34" charset="-122"/>
                <a:cs typeface="Courier New" pitchFamily="34" charset="-120"/>
              </a:rPr>
              <a:t>23 / 39</a:t>
            </a:r>
            <a:endParaRPr lang="en-US" sz="7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1532186"/>
            <a:ext cx="10896600" cy="757238"/>
          </a:xfrm>
          <a:prstGeom prst="roundRect">
            <a:avLst>
              <a:gd name="adj" fmla="val 30379"/>
            </a:avLst>
          </a:prstGeom>
          <a:solidFill>
            <a:srgbClr val="0F2027"/>
          </a:solidFill>
          <a:ln/>
        </p:spPr>
      </p:sp>
      <p:sp>
        <p:nvSpPr>
          <p:cNvPr id="3" name="Shape 1"/>
          <p:cNvSpPr/>
          <p:nvPr/>
        </p:nvSpPr>
        <p:spPr>
          <a:xfrm>
            <a:off x="647700" y="3883075"/>
            <a:ext cx="10896600" cy="1171575"/>
          </a:xfrm>
          <a:prstGeom prst="roundRect">
            <a:avLst>
              <a:gd name="adj" fmla="val 12691"/>
            </a:avLst>
          </a:prstGeom>
          <a:solidFill>
            <a:srgbClr val="0F2027"/>
          </a:solidFill>
          <a:ln/>
        </p:spPr>
      </p:sp>
      <p:sp>
        <p:nvSpPr>
          <p:cNvPr id="4" name="Shape 2"/>
          <p:cNvSpPr/>
          <p:nvPr/>
        </p:nvSpPr>
        <p:spPr>
          <a:xfrm>
            <a:off x="647700" y="6343650"/>
            <a:ext cx="10896600" cy="0"/>
          </a:xfrm>
          <a:prstGeom prst="line">
            <a:avLst/>
          </a:prstGeom>
          <a:noFill/>
          <a:ln w="10160">
            <a:solidFill>
              <a:srgbClr val="CBD7DF"/>
            </a:solidFill>
            <a:prstDash val="solid"/>
          </a:ln>
        </p:spPr>
      </p:sp>
      <p:sp>
        <p:nvSpPr>
          <p:cNvPr id="5" name="Text 3"/>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STEP 9 OF 9</a:t>
            </a:r>
            <a:endParaRPr lang="en-US" sz="980" dirty="0"/>
          </a:p>
        </p:txBody>
      </p:sp>
      <p:sp>
        <p:nvSpPr>
          <p:cNvPr id="6" name="Text 4"/>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Check with curl that the events have arrived in OpenSearch</a:t>
            </a:r>
            <a:endParaRPr lang="en-US" sz="3150" dirty="0"/>
          </a:p>
        </p:txBody>
      </p:sp>
      <p:sp>
        <p:nvSpPr>
          <p:cNvPr id="7" name="Text 5"/>
          <p:cNvSpPr txBox="1"/>
          <p:nvPr/>
        </p:nvSpPr>
        <p:spPr>
          <a:xfrm>
            <a:off x="857250" y="1682204"/>
            <a:ext cx="10534650" cy="414338"/>
          </a:xfrm>
          <a:prstGeom prst="rect">
            <a:avLst/>
          </a:prstGeom>
          <a:noFill/>
          <a:ln/>
        </p:spPr>
        <p:txBody>
          <a:bodyPr wrap="square" lIns="0" tIns="0" rIns="0" bIns="0" rtlCol="0" anchor="t"/>
          <a:lstStyle/>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curl -sk -u admin </a:t>
            </a:r>
            <a:pPr algn="l" indent="0" marL="0">
              <a:lnSpc>
                <a:spcPts val="1630"/>
              </a:lnSpc>
              <a:buNone/>
            </a:pPr>
            <a:r>
              <a:rPr lang="en-US" sz="1130" dirty="0">
                <a:solidFill>
                  <a:srgbClr val="F0C070"/>
                </a:solidFill>
                <a:latin typeface="Courier New" pitchFamily="34" charset="0"/>
                <a:ea typeface="Courier New" pitchFamily="34" charset="-122"/>
                <a:cs typeface="Courier New" pitchFamily="34" charset="-120"/>
              </a:rPr>
              <a:t>"https://opensearch1:9200/otel-v1-logs-*/_count"</a:t>
            </a:r>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endParaRPr lang="en-US" sz="1130" dirty="0"/>
          </a:p>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{"count":3145,...}</a:t>
            </a:r>
            <a:endParaRPr lang="en-US" sz="1130" dirty="0"/>
          </a:p>
        </p:txBody>
      </p:sp>
      <p:sp>
        <p:nvSpPr>
          <p:cNvPr id="8" name="Text 6"/>
          <p:cNvSpPr txBox="1"/>
          <p:nvPr/>
        </p:nvSpPr>
        <p:spPr>
          <a:xfrm>
            <a:off x="647700" y="2417534"/>
            <a:ext cx="10953750" cy="745927"/>
          </a:xfrm>
          <a:prstGeom prst="rect">
            <a:avLst/>
          </a:prstGeom>
          <a:noFill/>
          <a:ln/>
        </p:spPr>
        <p:txBody>
          <a:bodyPr wrap="squar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The command asks for the admin password. The option </a:t>
            </a:r>
            <a:pPr algn="l" indent="0" marL="0">
              <a:lnSpc>
                <a:spcPts val="2930"/>
              </a:lnSpc>
              <a:buNone/>
            </a:pPr>
            <a:r>
              <a:rPr lang="en-US" sz="1720" dirty="0">
                <a:solidFill>
                  <a:srgbClr val="5A6D7A"/>
                </a:solidFill>
                <a:highlight>
                  <a:srgbClr val="E1F0F7"/>
                </a:highlight>
                <a:latin typeface="Courier New" pitchFamily="34" charset="0"/>
                <a:ea typeface="Courier New" pitchFamily="34" charset="-122"/>
                <a:cs typeface="Courier New" pitchFamily="34" charset="-120"/>
              </a:rPr>
              <a:t>-k</a:t>
            </a:r>
            <a:pPr algn="l" indent="0" marL="0">
              <a:lnSpc>
                <a:spcPts val="2930"/>
              </a:lnSpc>
              <a:buNone/>
            </a:pPr>
            <a:r>
              <a:rPr lang="en-US" sz="1950" dirty="0">
                <a:solidFill>
                  <a:srgbClr val="5A6D7A"/>
                </a:solidFill>
                <a:latin typeface="Arial" pitchFamily="34" charset="0"/>
                <a:ea typeface="Arial" pitchFamily="34" charset="-122"/>
                <a:cs typeface="Arial" pitchFamily="34" charset="-120"/>
              </a:rPr>
              <a:t> tells curl not to check the certificate of OpenSearch.</a:t>
            </a:r>
            <a:endParaRPr lang="en-US" sz="1950" dirty="0"/>
          </a:p>
        </p:txBody>
      </p:sp>
      <p:sp>
        <p:nvSpPr>
          <p:cNvPr id="9" name="Text 7"/>
          <p:cNvSpPr txBox="1"/>
          <p:nvPr/>
        </p:nvSpPr>
        <p:spPr>
          <a:xfrm>
            <a:off x="647700" y="3296811"/>
            <a:ext cx="10953750" cy="371475"/>
          </a:xfrm>
          <a:prstGeom prst="rect">
            <a:avLst/>
          </a:prstGeom>
          <a:noFill/>
          <a:ln/>
        </p:spPr>
        <p:txBody>
          <a:bodyPr wrap="non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If the count is 0, check these four places in this order, from OpenSearch back to PHP.</a:t>
            </a:r>
            <a:endParaRPr lang="en-US" sz="1950" dirty="0"/>
          </a:p>
        </p:txBody>
      </p:sp>
      <p:sp>
        <p:nvSpPr>
          <p:cNvPr id="10" name="Text 8"/>
          <p:cNvSpPr txBox="1"/>
          <p:nvPr/>
        </p:nvSpPr>
        <p:spPr>
          <a:xfrm>
            <a:off x="857250" y="4033093"/>
            <a:ext cx="10534650" cy="828675"/>
          </a:xfrm>
          <a:prstGeom prst="rect">
            <a:avLst/>
          </a:prstGeom>
          <a:noFill/>
          <a:ln/>
        </p:spPr>
        <p:txBody>
          <a:bodyPr wrap="square" lIns="0" tIns="0" rIns="0" bIns="0" rtlCol="0" anchor="t"/>
          <a:lstStyle/>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the index       </a:t>
            </a:r>
            <a:pPr algn="l" indent="0" marL="0">
              <a:lnSpc>
                <a:spcPts val="1630"/>
              </a:lnSpc>
              <a:buNone/>
            </a:pPr>
            <a:r>
              <a:rPr lang="en-US" sz="1130" dirty="0">
                <a:solidFill>
                  <a:srgbClr val="86A5B4"/>
                </a:solidFill>
                <a:latin typeface="Courier New" pitchFamily="34" charset="0"/>
                <a:ea typeface="Courier New" pitchFamily="34" charset="-122"/>
                <a:cs typeface="Courier New" pitchFamily="34" charset="-120"/>
              </a:rPr>
              <a:t>curl -sk -u admin "https://opensearch1:9200/_cat/indices/otel-*"</a:t>
            </a:r>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endParaRPr lang="en-US" sz="1130" dirty="0"/>
          </a:p>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the collector   </a:t>
            </a:r>
            <a:pPr algn="l" indent="0" marL="0">
              <a:lnSpc>
                <a:spcPts val="1630"/>
              </a:lnSpc>
              <a:buNone/>
            </a:pPr>
            <a:r>
              <a:rPr lang="en-US" sz="1130" dirty="0">
                <a:solidFill>
                  <a:srgbClr val="86A5B4"/>
                </a:solidFill>
                <a:latin typeface="Courier New" pitchFamily="34" charset="0"/>
                <a:ea typeface="Courier New" pitchFamily="34" charset="-122"/>
                <a:cs typeface="Courier New" pitchFamily="34" charset="-120"/>
              </a:rPr>
              <a:t>journalctl -u otelcol-contrib</a:t>
            </a:r>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endParaRPr lang="en-US" sz="1130" dirty="0"/>
          </a:p>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the variables   </a:t>
            </a:r>
            <a:pPr algn="l" indent="0" marL="0">
              <a:lnSpc>
                <a:spcPts val="1630"/>
              </a:lnSpc>
              <a:buNone/>
            </a:pPr>
            <a:r>
              <a:rPr lang="en-US" sz="1130" dirty="0">
                <a:solidFill>
                  <a:srgbClr val="86A5B4"/>
                </a:solidFill>
                <a:latin typeface="Courier New" pitchFamily="34" charset="0"/>
                <a:ea typeface="Courier New" pitchFamily="34" charset="-122"/>
                <a:cs typeface="Courier New" pitchFamily="34" charset="-120"/>
              </a:rPr>
              <a:t>grep OTEL_ /etc/php/8.3/fpm/pool.d/www.conf</a:t>
            </a:r>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 </a:t>
            </a:r>
            <a:endParaRPr lang="en-US" sz="1130" dirty="0"/>
          </a:p>
          <a:p>
            <a:pPr algn="l" indent="0" marL="0">
              <a:lnSpc>
                <a:spcPts val="1630"/>
              </a:lnSpc>
              <a:buNone/>
            </a:pPr>
            <a:r>
              <a:rPr lang="en-US" sz="1130" dirty="0">
                <a:solidFill>
                  <a:srgbClr val="E4EDF2"/>
                </a:solidFill>
                <a:latin typeface="Courier New" pitchFamily="34" charset="0"/>
                <a:ea typeface="Courier New" pitchFamily="34" charset="-122"/>
                <a:cs typeface="Courier New" pitchFamily="34" charset="-120"/>
              </a:rPr>
              <a:t>the extension   </a:t>
            </a:r>
            <a:pPr algn="l" indent="0" marL="0">
              <a:lnSpc>
                <a:spcPts val="1630"/>
              </a:lnSpc>
              <a:buNone/>
            </a:pPr>
            <a:r>
              <a:rPr lang="en-US" sz="1130" dirty="0">
                <a:solidFill>
                  <a:srgbClr val="86A5B4"/>
                </a:solidFill>
                <a:latin typeface="Courier New" pitchFamily="34" charset="0"/>
                <a:ea typeface="Courier New" pitchFamily="34" charset="-122"/>
                <a:cs typeface="Courier New" pitchFamily="34" charset="-120"/>
              </a:rPr>
              <a:t>php --ri opentelemetry</a:t>
            </a:r>
            <a:endParaRPr lang="en-US" sz="1130" dirty="0"/>
          </a:p>
        </p:txBody>
      </p:sp>
      <p:sp>
        <p:nvSpPr>
          <p:cNvPr id="11" name="Text 9"/>
          <p:cNvSpPr txBox="1"/>
          <p:nvPr/>
        </p:nvSpPr>
        <p:spPr>
          <a:xfrm>
            <a:off x="647700" y="6464379"/>
            <a:ext cx="948928"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Walk-through</a:t>
            </a:r>
            <a:endParaRPr lang="en-US" sz="980" dirty="0"/>
          </a:p>
        </p:txBody>
      </p:sp>
      <p:sp>
        <p:nvSpPr>
          <p:cNvPr id="12" name="Text 10"/>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24 / 39</a:t>
            </a:r>
            <a:endParaRPr lang="en-US" sz="9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01A22"/>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10160">
            <a:solidFill>
              <a:srgbClr val="2A3B47"/>
            </a:solidFill>
            <a:prstDash val="solid"/>
          </a:ln>
        </p:spPr>
      </p:sp>
      <p:sp>
        <p:nvSpPr>
          <p:cNvPr id="3" name="Text 1"/>
          <p:cNvSpPr txBox="1"/>
          <p:nvPr/>
        </p:nvSpPr>
        <p:spPr>
          <a:xfrm>
            <a:off x="647700" y="2757785"/>
            <a:ext cx="10953750" cy="1151930"/>
          </a:xfrm>
          <a:prstGeom prst="rect">
            <a:avLst/>
          </a:prstGeom>
          <a:noFill/>
          <a:ln/>
        </p:spPr>
        <p:txBody>
          <a:bodyPr wrap="square" lIns="0" tIns="0" rIns="0" bIns="0" rtlCol="0" anchor="t"/>
          <a:lstStyle/>
          <a:p>
            <a:pPr algn="l" indent="0" marL="0">
              <a:lnSpc>
                <a:spcPts val="4540"/>
              </a:lnSpc>
              <a:buNone/>
            </a:pPr>
            <a:r>
              <a:rPr lang="en-US" sz="4200" b="1" spc="-80" kern="0" dirty="0">
                <a:solidFill>
                  <a:srgbClr val="FFFFFF"/>
                </a:solidFill>
                <a:latin typeface="Arial" pitchFamily="34" charset="0"/>
                <a:ea typeface="Arial" pitchFamily="34" charset="-122"/>
                <a:cs typeface="Arial" pitchFamily="34" charset="-120"/>
              </a:rPr>
              <a:t>You can search the events in OpenSearch and draw charts from them</a:t>
            </a:r>
            <a:endParaRPr lang="en-US" sz="4200" dirty="0"/>
          </a:p>
        </p:txBody>
      </p:sp>
      <p:sp>
        <p:nvSpPr>
          <p:cNvPr id="4" name="Text 2"/>
          <p:cNvSpPr txBox="1"/>
          <p:nvPr/>
        </p:nvSpPr>
        <p:spPr>
          <a:xfrm>
            <a:off x="647700" y="6464379"/>
            <a:ext cx="948928"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What you get</a:t>
            </a:r>
            <a:endParaRPr lang="en-US" sz="980" dirty="0"/>
          </a:p>
        </p:txBody>
      </p:sp>
      <p:sp>
        <p:nvSpPr>
          <p:cNvPr id="5" name="Text 3"/>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25 / 39</a:t>
            </a:r>
            <a:endParaRPr lang="en-US" sz="9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265611"/>
            <a:ext cx="85725" cy="85725"/>
          </a:xfrm>
          <a:prstGeom prst="roundRect">
            <a:avLst>
              <a:gd name="adj" fmla="val 474074"/>
            </a:avLst>
          </a:prstGeom>
          <a:solidFill>
            <a:srgbClr val="0B6E99"/>
          </a:solidFill>
          <a:ln/>
        </p:spPr>
      </p:sp>
      <p:sp>
        <p:nvSpPr>
          <p:cNvPr id="3" name="Shape 1"/>
          <p:cNvSpPr/>
          <p:nvPr/>
        </p:nvSpPr>
        <p:spPr>
          <a:xfrm>
            <a:off x="685800" y="2705546"/>
            <a:ext cx="85725" cy="85725"/>
          </a:xfrm>
          <a:prstGeom prst="roundRect">
            <a:avLst>
              <a:gd name="adj" fmla="val 474074"/>
            </a:avLst>
          </a:prstGeom>
          <a:solidFill>
            <a:srgbClr val="0B6E99"/>
          </a:solidFill>
          <a:ln/>
        </p:spPr>
      </p:sp>
      <p:sp>
        <p:nvSpPr>
          <p:cNvPr id="4" name="Shape 2"/>
          <p:cNvSpPr/>
          <p:nvPr/>
        </p:nvSpPr>
        <p:spPr>
          <a:xfrm>
            <a:off x="685800" y="3145482"/>
            <a:ext cx="85725" cy="85725"/>
          </a:xfrm>
          <a:prstGeom prst="roundRect">
            <a:avLst>
              <a:gd name="adj" fmla="val 474074"/>
            </a:avLst>
          </a:prstGeom>
          <a:solidFill>
            <a:srgbClr val="0B6E99"/>
          </a:solidFill>
          <a:ln/>
        </p:spPr>
      </p:sp>
      <p:sp>
        <p:nvSpPr>
          <p:cNvPr id="5" name="Shape 3"/>
          <p:cNvSpPr/>
          <p:nvPr/>
        </p:nvSpPr>
        <p:spPr>
          <a:xfrm>
            <a:off x="685800" y="3585418"/>
            <a:ext cx="85725" cy="85725"/>
          </a:xfrm>
          <a:prstGeom prst="roundRect">
            <a:avLst>
              <a:gd name="adj" fmla="val 474074"/>
            </a:avLst>
          </a:prstGeom>
          <a:solidFill>
            <a:srgbClr val="0B6E99"/>
          </a:solidFill>
          <a:ln/>
        </p:spPr>
      </p:sp>
      <p:sp>
        <p:nvSpPr>
          <p:cNvPr id="6" name="Shape 4"/>
          <p:cNvSpPr/>
          <p:nvPr/>
        </p:nvSpPr>
        <p:spPr>
          <a:xfrm>
            <a:off x="685800" y="4025354"/>
            <a:ext cx="85725" cy="85725"/>
          </a:xfrm>
          <a:prstGeom prst="roundRect">
            <a:avLst>
              <a:gd name="adj" fmla="val 474074"/>
            </a:avLst>
          </a:prstGeom>
          <a:solidFill>
            <a:srgbClr val="0B6E99"/>
          </a:solidFill>
          <a:ln/>
        </p:spPr>
      </p:sp>
      <p:sp>
        <p:nvSpPr>
          <p:cNvPr id="7" name="Shape 5"/>
          <p:cNvSpPr/>
          <p:nvPr/>
        </p:nvSpPr>
        <p:spPr>
          <a:xfrm>
            <a:off x="647700" y="6343650"/>
            <a:ext cx="10896600" cy="0"/>
          </a:xfrm>
          <a:prstGeom prst="line">
            <a:avLst/>
          </a:prstGeom>
          <a:noFill/>
          <a:ln w="10160">
            <a:solidFill>
              <a:srgbClr val="CBD7DF"/>
            </a:solidFill>
            <a:prstDash val="solid"/>
          </a:ln>
        </p:spPr>
      </p:sp>
      <p:sp>
        <p:nvSpPr>
          <p:cNvPr id="8" name="Text 6"/>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WHAT YOU GET</a:t>
            </a:r>
            <a:endParaRPr lang="en-US" sz="980" dirty="0"/>
          </a:p>
        </p:txBody>
      </p:sp>
      <p:sp>
        <p:nvSpPr>
          <p:cNvPr id="9" name="Text 7"/>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OpenSearch receives every Moodle event</a:t>
            </a:r>
            <a:endParaRPr lang="en-US" sz="3150" dirty="0"/>
          </a:p>
        </p:txBody>
      </p:sp>
      <p:sp>
        <p:nvSpPr>
          <p:cNvPr id="10" name="Text 8"/>
          <p:cNvSpPr txBox="1"/>
          <p:nvPr/>
        </p:nvSpPr>
        <p:spPr>
          <a:xfrm>
            <a:off x="647700" y="1488847"/>
            <a:ext cx="10953750" cy="371475"/>
          </a:xfrm>
          <a:prstGeom prst="rect">
            <a:avLst/>
          </a:prstGeom>
          <a:noFill/>
          <a:ln/>
        </p:spPr>
        <p:txBody>
          <a:bodyPr wrap="none" lIns="0" tIns="0" rIns="0" bIns="0" rtlCol="0" anchor="t"/>
          <a:lstStyle/>
          <a:p>
            <a:pPr algn="l" indent="0" marL="0">
              <a:lnSpc>
                <a:spcPts val="2930"/>
              </a:lnSpc>
              <a:buNone/>
            </a:pPr>
            <a:r>
              <a:rPr lang="en-US" sz="1950" dirty="0">
                <a:solidFill>
                  <a:srgbClr val="5A6D7A"/>
                </a:solidFill>
                <a:latin typeface="Arial" pitchFamily="34" charset="0"/>
                <a:ea typeface="Arial" pitchFamily="34" charset="-122"/>
                <a:cs typeface="Arial" pitchFamily="34" charset="-120"/>
              </a:rPr>
              <a:t>Here are five examples of the events that Moodle records.</a:t>
            </a:r>
            <a:endParaRPr lang="en-US" sz="1950" dirty="0"/>
          </a:p>
        </p:txBody>
      </p:sp>
      <p:sp>
        <p:nvSpPr>
          <p:cNvPr id="11" name="Text 9"/>
          <p:cNvSpPr txBox="1"/>
          <p:nvPr/>
        </p:nvSpPr>
        <p:spPr>
          <a:xfrm>
            <a:off x="933450" y="2123926"/>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Moodle records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every login</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For a failed login, the record also has the user name that was tried.</a:t>
            </a:r>
            <a:endParaRPr lang="en-US" sz="1730" dirty="0"/>
          </a:p>
        </p:txBody>
      </p:sp>
      <p:sp>
        <p:nvSpPr>
          <p:cNvPr id="12" name="Text 10"/>
          <p:cNvSpPr txBox="1"/>
          <p:nvPr/>
        </p:nvSpPr>
        <p:spPr>
          <a:xfrm>
            <a:off x="933450" y="2563862"/>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Moodle records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every view of a course or an activity</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The record shows who viewed it.</a:t>
            </a:r>
            <a:endParaRPr lang="en-US" sz="1730" dirty="0"/>
          </a:p>
        </p:txBody>
      </p:sp>
      <p:sp>
        <p:nvSpPr>
          <p:cNvPr id="13" name="Text 11"/>
          <p:cNvSpPr txBox="1"/>
          <p:nvPr/>
        </p:nvSpPr>
        <p:spPr>
          <a:xfrm>
            <a:off x="933450" y="3003798"/>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Moodle records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every create, update and delete</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such as an enrolment, a grade or an upload.</a:t>
            </a:r>
            <a:endParaRPr lang="en-US" sz="1730" dirty="0"/>
          </a:p>
        </p:txBody>
      </p:sp>
      <p:sp>
        <p:nvSpPr>
          <p:cNvPr id="14" name="Text 12"/>
          <p:cNvSpPr txBox="1"/>
          <p:nvPr/>
        </p:nvSpPr>
        <p:spPr>
          <a:xfrm>
            <a:off x="933450" y="3443734"/>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Moodle records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every role change and every permission change</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and that gives you an audit trail.</a:t>
            </a:r>
            <a:endParaRPr lang="en-US" sz="1730" dirty="0"/>
          </a:p>
        </p:txBody>
      </p:sp>
      <p:sp>
        <p:nvSpPr>
          <p:cNvPr id="15" name="Text 13"/>
          <p:cNvSpPr txBox="1"/>
          <p:nvPr/>
        </p:nvSpPr>
        <p:spPr>
          <a:xfrm>
            <a:off x="933450" y="3883670"/>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Moodle records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some failures</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 such as an email that it could not send.</a:t>
            </a:r>
            <a:endParaRPr lang="en-US" sz="1730" dirty="0"/>
          </a:p>
        </p:txBody>
      </p:sp>
      <p:sp>
        <p:nvSpPr>
          <p:cNvPr id="16" name="Text 14"/>
          <p:cNvSpPr txBox="1"/>
          <p:nvPr/>
        </p:nvSpPr>
        <p:spPr>
          <a:xfrm>
            <a:off x="647700" y="6464379"/>
            <a:ext cx="948928"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What you get</a:t>
            </a:r>
            <a:endParaRPr lang="en-US" sz="980" dirty="0"/>
          </a:p>
        </p:txBody>
      </p:sp>
      <p:sp>
        <p:nvSpPr>
          <p:cNvPr id="17" name="Text 15"/>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26 / 39</a:t>
            </a:r>
            <a:endParaRPr lang="en-US" sz="9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02977" y="2105200"/>
            <a:ext cx="10586047" cy="936921"/>
          </a:xfrm>
          <a:prstGeom prst="roundRect">
            <a:avLst>
              <a:gd name="adj" fmla="val 19288"/>
            </a:avLst>
          </a:prstGeom>
          <a:solidFill>
            <a:srgbClr val="0F2027"/>
          </a:solidFill>
          <a:ln/>
        </p:spPr>
      </p:sp>
      <p:sp>
        <p:nvSpPr>
          <p:cNvPr id="3" name="Shape 1"/>
          <p:cNvSpPr/>
          <p:nvPr/>
        </p:nvSpPr>
        <p:spPr>
          <a:xfrm>
            <a:off x="802977" y="3699122"/>
            <a:ext cx="10586047" cy="1943243"/>
          </a:xfrm>
          <a:prstGeom prst="roundRect">
            <a:avLst>
              <a:gd name="adj" fmla="val 4484"/>
            </a:avLst>
          </a:prstGeom>
          <a:solidFill>
            <a:srgbClr val="0F2027"/>
          </a:solidFill>
          <a:ln/>
        </p:spPr>
      </p:sp>
      <p:sp>
        <p:nvSpPr>
          <p:cNvPr id="4" name="Shape 2"/>
          <p:cNvSpPr/>
          <p:nvPr/>
        </p:nvSpPr>
        <p:spPr>
          <a:xfrm>
            <a:off x="647700" y="6343650"/>
            <a:ext cx="10896600" cy="0"/>
          </a:xfrm>
          <a:prstGeom prst="line">
            <a:avLst/>
          </a:prstGeom>
          <a:noFill/>
          <a:ln w="8890">
            <a:solidFill>
              <a:srgbClr val="CBD7DF"/>
            </a:solidFill>
            <a:prstDash val="solid"/>
          </a:ln>
        </p:spPr>
      </p:sp>
      <p:sp>
        <p:nvSpPr>
          <p:cNvPr id="5" name="Text 3"/>
          <p:cNvSpPr txBox="1"/>
          <p:nvPr/>
        </p:nvSpPr>
        <p:spPr>
          <a:xfrm>
            <a:off x="802977" y="512337"/>
            <a:ext cx="10643197" cy="180537"/>
          </a:xfrm>
          <a:prstGeom prst="rect">
            <a:avLst/>
          </a:prstGeom>
          <a:noFill/>
          <a:ln/>
        </p:spPr>
        <p:txBody>
          <a:bodyPr wrap="none" lIns="0" tIns="0" rIns="0" bIns="0" rtlCol="0" anchor="t"/>
          <a:lstStyle/>
          <a:p>
            <a:pPr algn="l" indent="0" marL="0">
              <a:lnSpc>
                <a:spcPts val="1420"/>
              </a:lnSpc>
              <a:buNone/>
            </a:pPr>
            <a:r>
              <a:rPr lang="en-US" sz="950" spc="150" kern="0" dirty="0">
                <a:solidFill>
                  <a:srgbClr val="0B6E99"/>
                </a:solidFill>
                <a:latin typeface="Courier New" pitchFamily="34" charset="0"/>
                <a:ea typeface="Courier New" pitchFamily="34" charset="-122"/>
                <a:cs typeface="Courier New" pitchFamily="34" charset="-120"/>
              </a:rPr>
              <a:t>WHAT YOU GET</a:t>
            </a:r>
            <a:endParaRPr lang="en-US" sz="950" dirty="0"/>
          </a:p>
        </p:txBody>
      </p:sp>
      <p:sp>
        <p:nvSpPr>
          <p:cNvPr id="6" name="Text 4"/>
          <p:cNvSpPr txBox="1"/>
          <p:nvPr/>
        </p:nvSpPr>
        <p:spPr>
          <a:xfrm>
            <a:off x="802977" y="843394"/>
            <a:ext cx="10643197" cy="419956"/>
          </a:xfrm>
          <a:prstGeom prst="rect">
            <a:avLst/>
          </a:prstGeom>
          <a:noFill/>
          <a:ln/>
        </p:spPr>
        <p:txBody>
          <a:bodyPr wrap="none" lIns="0" tIns="0" rIns="0" bIns="0" rtlCol="0" anchor="t"/>
          <a:lstStyle/>
          <a:p>
            <a:pPr algn="l" indent="0" marL="0">
              <a:lnSpc>
                <a:spcPts val="3310"/>
              </a:lnSpc>
              <a:buNone/>
            </a:pPr>
            <a:r>
              <a:rPr lang="en-US" sz="3060" b="1" spc="-60" kern="0" dirty="0">
                <a:solidFill>
                  <a:srgbClr val="101A22"/>
                </a:solidFill>
                <a:latin typeface="Arial" pitchFamily="34" charset="0"/>
                <a:ea typeface="Arial" pitchFamily="34" charset="-122"/>
                <a:cs typeface="Arial" pitchFamily="34" charset="-120"/>
              </a:rPr>
              <a:t>A search shows the hour when failed logins spiked</a:t>
            </a:r>
            <a:endParaRPr lang="en-US" sz="3060" dirty="0"/>
          </a:p>
        </p:txBody>
      </p:sp>
      <p:sp>
        <p:nvSpPr>
          <p:cNvPr id="7" name="Text 5"/>
          <p:cNvSpPr txBox="1"/>
          <p:nvPr/>
        </p:nvSpPr>
        <p:spPr>
          <a:xfrm>
            <a:off x="802977" y="1461595"/>
            <a:ext cx="10643197" cy="361074"/>
          </a:xfrm>
          <a:prstGeom prst="rect">
            <a:avLst/>
          </a:prstGeom>
          <a:noFill/>
          <a:ln/>
        </p:spPr>
        <p:txBody>
          <a:bodyPr wrap="none" lIns="0" tIns="0" rIns="0" bIns="0" rtlCol="0" anchor="t"/>
          <a:lstStyle/>
          <a:p>
            <a:pPr algn="l" indent="0" marL="0">
              <a:lnSpc>
                <a:spcPts val="2840"/>
              </a:lnSpc>
              <a:buNone/>
            </a:pPr>
            <a:r>
              <a:rPr lang="en-US" sz="1900" dirty="0">
                <a:solidFill>
                  <a:srgbClr val="5A6D7A"/>
                </a:solidFill>
                <a:latin typeface="Arial" pitchFamily="34" charset="0"/>
                <a:ea typeface="Arial" pitchFamily="34" charset="-122"/>
                <a:cs typeface="Arial" pitchFamily="34" charset="-120"/>
              </a:rPr>
              <a:t>This search counts the failed logins in each hour.</a:t>
            </a:r>
            <a:endParaRPr lang="en-US" sz="1900" dirty="0"/>
          </a:p>
        </p:txBody>
      </p:sp>
      <p:sp>
        <p:nvSpPr>
          <p:cNvPr id="8" name="Text 6"/>
          <p:cNvSpPr txBox="1"/>
          <p:nvPr/>
        </p:nvSpPr>
        <p:spPr>
          <a:xfrm>
            <a:off x="1006659" y="2251018"/>
            <a:ext cx="10235832" cy="603622"/>
          </a:xfrm>
          <a:prstGeom prst="rect">
            <a:avLst/>
          </a:prstGeom>
          <a:noFill/>
          <a:ln/>
        </p:spPr>
        <p:txBody>
          <a:bodyPr wrap="square" lIns="0" tIns="0" rIns="0" bIns="0" rtlCol="0" anchor="t"/>
          <a:lstStyle/>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curl -sk -u admin "https://opensearch1:9200/otel-v1-logs-*/_search" -H 'Content-Type: application/json' \</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  -d '{"size":0,"query":{"term":{"attributes.event.data.eventname":"\\core\\event\\user_login_failed"}},</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       "aggs":{"per_hour":{"date_histogram":{"field":"time","fixed_interval":"1h"}}}}'</a:t>
            </a:r>
            <a:endParaRPr lang="en-US" sz="1090" dirty="0"/>
          </a:p>
        </p:txBody>
      </p:sp>
      <p:sp>
        <p:nvSpPr>
          <p:cNvPr id="9" name="Text 7"/>
          <p:cNvSpPr txBox="1"/>
          <p:nvPr/>
        </p:nvSpPr>
        <p:spPr>
          <a:xfrm>
            <a:off x="802977" y="3166559"/>
            <a:ext cx="10643197" cy="361074"/>
          </a:xfrm>
          <a:prstGeom prst="rect">
            <a:avLst/>
          </a:prstGeom>
          <a:noFill/>
          <a:ln/>
        </p:spPr>
        <p:txBody>
          <a:bodyPr wrap="none" lIns="0" tIns="0" rIns="0" bIns="0" rtlCol="0" anchor="t"/>
          <a:lstStyle/>
          <a:p>
            <a:pPr algn="l" indent="0" marL="0">
              <a:lnSpc>
                <a:spcPts val="2840"/>
              </a:lnSpc>
              <a:buNone/>
            </a:pPr>
            <a:r>
              <a:rPr lang="en-US" sz="1900" dirty="0">
                <a:solidFill>
                  <a:srgbClr val="5A6D7A"/>
                </a:solidFill>
                <a:latin typeface="Arial" pitchFamily="34" charset="0"/>
                <a:ea typeface="Arial" pitchFamily="34" charset="-122"/>
                <a:cs typeface="Arial" pitchFamily="34" charset="-120"/>
              </a:rPr>
              <a:t>Here is part of the result from the demo site, as a table. The times are UTC.</a:t>
            </a:r>
            <a:endParaRPr lang="en-US" sz="1900" dirty="0"/>
          </a:p>
        </p:txBody>
      </p:sp>
      <p:sp>
        <p:nvSpPr>
          <p:cNvPr id="10" name="Text 8"/>
          <p:cNvSpPr txBox="1"/>
          <p:nvPr/>
        </p:nvSpPr>
        <p:spPr>
          <a:xfrm>
            <a:off x="1006659" y="3844940"/>
            <a:ext cx="10235832" cy="1609944"/>
          </a:xfrm>
          <a:prstGeom prst="rect">
            <a:avLst/>
          </a:prstGeom>
          <a:noFill/>
          <a:ln/>
        </p:spPr>
        <p:txBody>
          <a:bodyPr wrap="square" lIns="0" tIns="0" rIns="0" bIns="0" rtlCol="0" anchor="t"/>
          <a:lstStyle/>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2026-09-02 20:00    0</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2026-09-02 21:00    2</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2026-09-02 22:00    0</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2026-09-02 23:00    0</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2026-09-03 00:00    0</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2026-09-03 01:00    0</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2026-09-03 02:00   45</a:t>
            </a:r>
            <a:endParaRPr lang="en-US" sz="1090" dirty="0"/>
          </a:p>
          <a:p>
            <a:pPr algn="l" indent="0" marL="0">
              <a:lnSpc>
                <a:spcPts val="1590"/>
              </a:lnSpc>
              <a:buNone/>
            </a:pPr>
            <a:r>
              <a:rPr lang="en-US" sz="1090" dirty="0">
                <a:solidFill>
                  <a:srgbClr val="E4EDF2"/>
                </a:solidFill>
                <a:latin typeface="Courier New" pitchFamily="34" charset="0"/>
                <a:ea typeface="Courier New" pitchFamily="34" charset="-122"/>
                <a:cs typeface="Courier New" pitchFamily="34" charset="-120"/>
              </a:rPr>
              <a:t>2026-09-03 03:00    0</a:t>
            </a:r>
            <a:endParaRPr lang="en-US" sz="1090" dirty="0"/>
          </a:p>
        </p:txBody>
      </p:sp>
      <p:sp>
        <p:nvSpPr>
          <p:cNvPr id="11" name="Text 9"/>
          <p:cNvSpPr txBox="1"/>
          <p:nvPr/>
        </p:nvSpPr>
        <p:spPr>
          <a:xfrm>
            <a:off x="647700" y="6464466"/>
            <a:ext cx="948928" cy="144429"/>
          </a:xfrm>
          <a:prstGeom prst="rect">
            <a:avLst/>
          </a:prstGeom>
          <a:noFill/>
          <a:ln/>
        </p:spPr>
        <p:txBody>
          <a:bodyPr wrap="none" lIns="0" tIns="0" rIns="0" bIns="0" rtlCol="0" anchor="t"/>
          <a:lstStyle/>
          <a:p>
            <a:pPr algn="l" indent="0" marL="0">
              <a:lnSpc>
                <a:spcPts val="1140"/>
              </a:lnSpc>
              <a:buNone/>
            </a:pPr>
            <a:r>
              <a:rPr lang="en-US" sz="950" dirty="0">
                <a:solidFill>
                  <a:srgbClr val="8496A2"/>
                </a:solidFill>
                <a:latin typeface="Courier New" pitchFamily="34" charset="0"/>
                <a:ea typeface="Courier New" pitchFamily="34" charset="-122"/>
                <a:cs typeface="Courier New" pitchFamily="34" charset="-120"/>
              </a:rPr>
              <a:t>What you get</a:t>
            </a:r>
            <a:endParaRPr lang="en-US" sz="950" dirty="0"/>
          </a:p>
        </p:txBody>
      </p:sp>
      <p:sp>
        <p:nvSpPr>
          <p:cNvPr id="12" name="Text 10"/>
          <p:cNvSpPr txBox="1"/>
          <p:nvPr/>
        </p:nvSpPr>
        <p:spPr>
          <a:xfrm>
            <a:off x="11024146" y="6464466"/>
            <a:ext cx="577304" cy="144429"/>
          </a:xfrm>
          <a:prstGeom prst="rect">
            <a:avLst/>
          </a:prstGeom>
          <a:noFill/>
          <a:ln/>
        </p:spPr>
        <p:txBody>
          <a:bodyPr wrap="none" lIns="0" tIns="0" rIns="0" bIns="0" rtlCol="0" anchor="t"/>
          <a:lstStyle/>
          <a:p>
            <a:pPr algn="l" indent="0" marL="0">
              <a:lnSpc>
                <a:spcPts val="1140"/>
              </a:lnSpc>
              <a:buNone/>
            </a:pPr>
            <a:r>
              <a:rPr lang="en-US" sz="950" dirty="0">
                <a:solidFill>
                  <a:srgbClr val="8496A2"/>
                </a:solidFill>
                <a:latin typeface="Courier New" pitchFamily="34" charset="0"/>
                <a:ea typeface="Courier New" pitchFamily="34" charset="-122"/>
                <a:cs typeface="Courier New" pitchFamily="34" charset="-120"/>
              </a:rPr>
              <a:t>27 / 39</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8890">
            <a:solidFill>
              <a:srgbClr val="CBD7DF"/>
            </a:solidFill>
            <a:prstDash val="solid"/>
          </a:ln>
        </p:spPr>
      </p:sp>
      <p:pic>
        <p:nvPicPr>
          <p:cNvPr id="3" name="Image 0" descr="OpenSearch Dashboards showing a dashboard named Moodle events with six panels over seven days: events per hour with a daytime pattern, logins per hour, failed logins per hour with one burst, totals of 3,143 events and 101 users seen, events per course, and a bar chart of event types.">    </p:cNvPr>
          <p:cNvPicPr>
            <a:picLocks noChangeAspect="1"/>
          </p:cNvPicPr>
          <p:nvPr/>
        </p:nvPicPr>
        <p:blipFill>
          <a:blip r:embed="rId1"/>
          <a:stretch>
            <a:fillRect/>
          </a:stretch>
        </p:blipFill>
        <p:spPr>
          <a:xfrm>
            <a:off x="1297137" y="2184975"/>
            <a:ext cx="9614505" cy="3624316"/>
          </a:xfrm>
          <a:prstGeom prst="rect">
            <a:avLst/>
          </a:prstGeom>
        </p:spPr>
      </p:pic>
      <p:sp>
        <p:nvSpPr>
          <p:cNvPr id="4" name="Text 1"/>
          <p:cNvSpPr txBox="1"/>
          <p:nvPr/>
        </p:nvSpPr>
        <p:spPr>
          <a:xfrm>
            <a:off x="1297137" y="514309"/>
            <a:ext cx="9654876" cy="163635"/>
          </a:xfrm>
          <a:prstGeom prst="rect">
            <a:avLst/>
          </a:prstGeom>
          <a:noFill/>
          <a:ln/>
        </p:spPr>
        <p:txBody>
          <a:bodyPr wrap="none" lIns="0" tIns="0" rIns="0" bIns="0" rtlCol="0" anchor="t"/>
          <a:lstStyle/>
          <a:p>
            <a:pPr algn="l" indent="0" marL="0">
              <a:lnSpc>
                <a:spcPts val="1290"/>
              </a:lnSpc>
              <a:buNone/>
            </a:pPr>
            <a:r>
              <a:rPr lang="en-US" sz="860" spc="140" kern="0" dirty="0">
                <a:solidFill>
                  <a:srgbClr val="0B6E99"/>
                </a:solidFill>
                <a:latin typeface="Courier New" pitchFamily="34" charset="0"/>
                <a:ea typeface="Courier New" pitchFamily="34" charset="-122"/>
                <a:cs typeface="Courier New" pitchFamily="34" charset="-120"/>
              </a:rPr>
              <a:t>WHAT YOU GET</a:t>
            </a:r>
            <a:endParaRPr lang="en-US" sz="860" dirty="0"/>
          </a:p>
        </p:txBody>
      </p:sp>
      <p:sp>
        <p:nvSpPr>
          <p:cNvPr id="5" name="Text 2"/>
          <p:cNvSpPr txBox="1"/>
          <p:nvPr/>
        </p:nvSpPr>
        <p:spPr>
          <a:xfrm>
            <a:off x="1297137" y="814452"/>
            <a:ext cx="9654876" cy="380640"/>
          </a:xfrm>
          <a:prstGeom prst="rect">
            <a:avLst/>
          </a:prstGeom>
          <a:noFill/>
          <a:ln/>
        </p:spPr>
        <p:txBody>
          <a:bodyPr wrap="none" lIns="0" tIns="0" rIns="0" bIns="0" rtlCol="0" anchor="t"/>
          <a:lstStyle/>
          <a:p>
            <a:pPr algn="l" indent="0" marL="0">
              <a:lnSpc>
                <a:spcPts val="3000"/>
              </a:lnSpc>
              <a:buNone/>
            </a:pPr>
            <a:r>
              <a:rPr lang="en-US" sz="2780" b="1" spc="-60" kern="0" dirty="0">
                <a:solidFill>
                  <a:srgbClr val="101A22"/>
                </a:solidFill>
                <a:latin typeface="Arial" pitchFamily="34" charset="0"/>
                <a:ea typeface="Arial" pitchFamily="34" charset="-122"/>
                <a:cs typeface="Arial" pitchFamily="34" charset="-120"/>
              </a:rPr>
              <a:t>OpenSearch Dashboards draws charts from the events</a:t>
            </a:r>
            <a:endParaRPr lang="en-US" sz="2780" dirty="0"/>
          </a:p>
        </p:txBody>
      </p:sp>
      <p:sp>
        <p:nvSpPr>
          <p:cNvPr id="6" name="Text 3"/>
          <p:cNvSpPr txBox="1"/>
          <p:nvPr/>
        </p:nvSpPr>
        <p:spPr>
          <a:xfrm>
            <a:off x="1297137" y="1374949"/>
            <a:ext cx="9654876" cy="654390"/>
          </a:xfrm>
          <a:prstGeom prst="rect">
            <a:avLst/>
          </a:prstGeom>
          <a:noFill/>
          <a:ln/>
        </p:spPr>
        <p:txBody>
          <a:bodyPr wrap="square" lIns="0" tIns="0" rIns="0" bIns="0" rtlCol="0" anchor="t"/>
          <a:lstStyle/>
          <a:p>
            <a:pPr algn="l" indent="0" marL="0">
              <a:lnSpc>
                <a:spcPts val="2580"/>
              </a:lnSpc>
              <a:buNone/>
            </a:pPr>
            <a:r>
              <a:rPr lang="en-US" sz="1720" dirty="0">
                <a:solidFill>
                  <a:srgbClr val="5A6D7A"/>
                </a:solidFill>
                <a:latin typeface="Arial" pitchFamily="34" charset="0"/>
                <a:ea typeface="Arial" pitchFamily="34" charset="-122"/>
                <a:cs typeface="Arial" pitchFamily="34" charset="-120"/>
              </a:rPr>
              <a:t>You build each chart once, and it updates when new events arrive. The picture shows six example charts with seven days of data from the demo site.</a:t>
            </a:r>
            <a:endParaRPr lang="en-US" sz="1720" dirty="0"/>
          </a:p>
        </p:txBody>
      </p:sp>
      <p:sp>
        <p:nvSpPr>
          <p:cNvPr id="7" name="Text 4"/>
          <p:cNvSpPr txBox="1"/>
          <p:nvPr/>
        </p:nvSpPr>
        <p:spPr>
          <a:xfrm>
            <a:off x="647700" y="6464748"/>
            <a:ext cx="948928" cy="142875"/>
          </a:xfrm>
          <a:prstGeom prst="rect">
            <a:avLst/>
          </a:prstGeom>
          <a:noFill/>
          <a:ln/>
        </p:spPr>
        <p:txBody>
          <a:bodyPr wrap="none" lIns="0" tIns="0" rIns="0" bIns="0" rtlCol="0" anchor="t"/>
          <a:lstStyle/>
          <a:p>
            <a:pPr algn="l" indent="0" marL="0">
              <a:lnSpc>
                <a:spcPts val="1030"/>
              </a:lnSpc>
              <a:buNone/>
            </a:pPr>
            <a:r>
              <a:rPr lang="en-US" sz="860" dirty="0">
                <a:solidFill>
                  <a:srgbClr val="8496A2"/>
                </a:solidFill>
                <a:latin typeface="Courier New" pitchFamily="34" charset="0"/>
                <a:ea typeface="Courier New" pitchFamily="34" charset="-122"/>
                <a:cs typeface="Courier New" pitchFamily="34" charset="-120"/>
              </a:rPr>
              <a:t>What you get</a:t>
            </a:r>
            <a:endParaRPr lang="en-US" sz="860" dirty="0"/>
          </a:p>
        </p:txBody>
      </p:sp>
      <p:sp>
        <p:nvSpPr>
          <p:cNvPr id="8" name="Text 5"/>
          <p:cNvSpPr txBox="1"/>
          <p:nvPr/>
        </p:nvSpPr>
        <p:spPr>
          <a:xfrm>
            <a:off x="11024146" y="6464748"/>
            <a:ext cx="577304" cy="142875"/>
          </a:xfrm>
          <a:prstGeom prst="rect">
            <a:avLst/>
          </a:prstGeom>
          <a:noFill/>
          <a:ln/>
        </p:spPr>
        <p:txBody>
          <a:bodyPr wrap="none" lIns="0" tIns="0" rIns="0" bIns="0" rtlCol="0" anchor="t"/>
          <a:lstStyle/>
          <a:p>
            <a:pPr algn="l" indent="0" marL="0">
              <a:lnSpc>
                <a:spcPts val="1030"/>
              </a:lnSpc>
              <a:buNone/>
            </a:pPr>
            <a:r>
              <a:rPr lang="en-US" sz="860" dirty="0">
                <a:solidFill>
                  <a:srgbClr val="8496A2"/>
                </a:solidFill>
                <a:latin typeface="Courier New" pitchFamily="34" charset="0"/>
                <a:ea typeface="Courier New" pitchFamily="34" charset="-122"/>
                <a:cs typeface="Courier New" pitchFamily="34" charset="-120"/>
              </a:rPr>
              <a:t>28 / 39</a:t>
            </a:r>
            <a:endParaRPr lang="en-US" sz="8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1A22"/>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10160">
            <a:solidFill>
              <a:srgbClr val="2A3B47"/>
            </a:solidFill>
            <a:prstDash val="solid"/>
          </a:ln>
        </p:spPr>
      </p:sp>
      <p:sp>
        <p:nvSpPr>
          <p:cNvPr id="3" name="Text 1"/>
          <p:cNvSpPr txBox="1"/>
          <p:nvPr/>
        </p:nvSpPr>
        <p:spPr>
          <a:xfrm>
            <a:off x="647700" y="2757785"/>
            <a:ext cx="10953750" cy="1151930"/>
          </a:xfrm>
          <a:prstGeom prst="rect">
            <a:avLst/>
          </a:prstGeom>
          <a:noFill/>
          <a:ln/>
        </p:spPr>
        <p:txBody>
          <a:bodyPr wrap="square" lIns="0" tIns="0" rIns="0" bIns="0" rtlCol="0" anchor="t"/>
          <a:lstStyle/>
          <a:p>
            <a:pPr algn="l" indent="0" marL="0">
              <a:lnSpc>
                <a:spcPts val="4540"/>
              </a:lnSpc>
              <a:buNone/>
            </a:pPr>
            <a:r>
              <a:rPr lang="en-US" sz="4200" b="1" spc="-80" kern="0" dirty="0">
                <a:solidFill>
                  <a:srgbClr val="FFFFFF"/>
                </a:solidFill>
                <a:latin typeface="Arial" pitchFamily="34" charset="0"/>
                <a:ea typeface="Arial" pitchFamily="34" charset="-122"/>
                <a:cs typeface="Arial" pitchFamily="34" charset="-120"/>
              </a:rPr>
              <a:t>Plan for personal data in the events and for too many indices</a:t>
            </a:r>
            <a:endParaRPr lang="en-US" sz="4200" dirty="0"/>
          </a:p>
        </p:txBody>
      </p:sp>
      <p:sp>
        <p:nvSpPr>
          <p:cNvPr id="4" name="Text 2"/>
          <p:cNvSpPr txBox="1"/>
          <p:nvPr/>
        </p:nvSpPr>
        <p:spPr>
          <a:xfrm>
            <a:off x="647700" y="6464379"/>
            <a:ext cx="651718"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Cautions</a:t>
            </a:r>
            <a:endParaRPr lang="en-US" sz="980" dirty="0"/>
          </a:p>
        </p:txBody>
      </p:sp>
      <p:sp>
        <p:nvSpPr>
          <p:cNvPr id="5" name="Text 3"/>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29 / 39</a:t>
            </a:r>
            <a:endParaRPr lang="en-US" sz="9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32420" y="1616332"/>
            <a:ext cx="83410" cy="83410"/>
          </a:xfrm>
          <a:prstGeom prst="roundRect">
            <a:avLst>
              <a:gd name="adj" fmla="val 487232"/>
            </a:avLst>
          </a:prstGeom>
          <a:solidFill>
            <a:srgbClr val="0B6E99"/>
          </a:solidFill>
          <a:ln/>
        </p:spPr>
      </p:sp>
      <p:sp>
        <p:nvSpPr>
          <p:cNvPr id="3" name="Shape 1"/>
          <p:cNvSpPr/>
          <p:nvPr/>
        </p:nvSpPr>
        <p:spPr>
          <a:xfrm>
            <a:off x="832420" y="2342623"/>
            <a:ext cx="83410" cy="83410"/>
          </a:xfrm>
          <a:prstGeom prst="roundRect">
            <a:avLst>
              <a:gd name="adj" fmla="val 487232"/>
            </a:avLst>
          </a:prstGeom>
          <a:solidFill>
            <a:srgbClr val="0B6E99"/>
          </a:solidFill>
          <a:ln/>
        </p:spPr>
      </p:sp>
      <p:sp>
        <p:nvSpPr>
          <p:cNvPr id="4" name="Shape 2"/>
          <p:cNvSpPr/>
          <p:nvPr/>
        </p:nvSpPr>
        <p:spPr>
          <a:xfrm>
            <a:off x="832420" y="3387029"/>
            <a:ext cx="83410" cy="83410"/>
          </a:xfrm>
          <a:prstGeom prst="roundRect">
            <a:avLst>
              <a:gd name="adj" fmla="val 487232"/>
            </a:avLst>
          </a:prstGeom>
          <a:solidFill>
            <a:srgbClr val="0B6E99"/>
          </a:solidFill>
          <a:ln/>
        </p:spPr>
      </p:sp>
      <p:sp>
        <p:nvSpPr>
          <p:cNvPr id="5" name="Shape 3"/>
          <p:cNvSpPr/>
          <p:nvPr/>
        </p:nvSpPr>
        <p:spPr>
          <a:xfrm>
            <a:off x="832420" y="4113320"/>
            <a:ext cx="83410" cy="83410"/>
          </a:xfrm>
          <a:prstGeom prst="roundRect">
            <a:avLst>
              <a:gd name="adj" fmla="val 487232"/>
            </a:avLst>
          </a:prstGeom>
          <a:solidFill>
            <a:srgbClr val="0B6E99"/>
          </a:solidFill>
          <a:ln/>
        </p:spPr>
      </p:sp>
      <p:sp>
        <p:nvSpPr>
          <p:cNvPr id="6" name="Shape 4"/>
          <p:cNvSpPr/>
          <p:nvPr/>
        </p:nvSpPr>
        <p:spPr>
          <a:xfrm>
            <a:off x="795349" y="4729700"/>
            <a:ext cx="10601302" cy="669821"/>
          </a:xfrm>
          <a:prstGeom prst="roundRect">
            <a:avLst>
              <a:gd name="adj" fmla="val 37777"/>
            </a:avLst>
          </a:prstGeom>
          <a:solidFill>
            <a:srgbClr val="0F2027"/>
          </a:solidFill>
          <a:ln/>
        </p:spPr>
      </p:sp>
      <p:sp>
        <p:nvSpPr>
          <p:cNvPr id="7" name="Shape 5"/>
          <p:cNvSpPr/>
          <p:nvPr/>
        </p:nvSpPr>
        <p:spPr>
          <a:xfrm>
            <a:off x="832420" y="5621938"/>
            <a:ext cx="83410" cy="83410"/>
          </a:xfrm>
          <a:prstGeom prst="roundRect">
            <a:avLst>
              <a:gd name="adj" fmla="val 487232"/>
            </a:avLst>
          </a:prstGeom>
          <a:solidFill>
            <a:srgbClr val="0B6E99"/>
          </a:solidFill>
          <a:ln/>
        </p:spPr>
      </p:sp>
      <p:sp>
        <p:nvSpPr>
          <p:cNvPr id="8" name="Shape 6"/>
          <p:cNvSpPr/>
          <p:nvPr/>
        </p:nvSpPr>
        <p:spPr>
          <a:xfrm>
            <a:off x="647700" y="6343650"/>
            <a:ext cx="10896600" cy="0"/>
          </a:xfrm>
          <a:prstGeom prst="line">
            <a:avLst/>
          </a:prstGeom>
          <a:noFill/>
          <a:ln w="8890">
            <a:solidFill>
              <a:srgbClr val="CBD7DF"/>
            </a:solidFill>
            <a:prstDash val="solid"/>
          </a:ln>
        </p:spPr>
      </p:sp>
      <p:sp>
        <p:nvSpPr>
          <p:cNvPr id="9" name="Text 7"/>
          <p:cNvSpPr txBox="1"/>
          <p:nvPr/>
        </p:nvSpPr>
        <p:spPr>
          <a:xfrm>
            <a:off x="795349" y="512316"/>
            <a:ext cx="10658452" cy="180723"/>
          </a:xfrm>
          <a:prstGeom prst="rect">
            <a:avLst/>
          </a:prstGeom>
          <a:noFill/>
          <a:ln/>
        </p:spPr>
        <p:txBody>
          <a:bodyPr wrap="none" lIns="0" tIns="0" rIns="0" bIns="0" rtlCol="0" anchor="t"/>
          <a:lstStyle/>
          <a:p>
            <a:pPr algn="l" indent="0" marL="0">
              <a:lnSpc>
                <a:spcPts val="1420"/>
              </a:lnSpc>
              <a:buNone/>
            </a:pPr>
            <a:r>
              <a:rPr lang="en-US" sz="950" spc="150" kern="0" dirty="0">
                <a:solidFill>
                  <a:srgbClr val="0B6E99"/>
                </a:solidFill>
                <a:latin typeface="Courier New" pitchFamily="34" charset="0"/>
                <a:ea typeface="Courier New" pitchFamily="34" charset="-122"/>
                <a:cs typeface="Courier New" pitchFamily="34" charset="-120"/>
              </a:rPr>
              <a:t>CAUTION 1</a:t>
            </a:r>
            <a:endParaRPr lang="en-US" sz="950" dirty="0"/>
          </a:p>
        </p:txBody>
      </p:sp>
      <p:sp>
        <p:nvSpPr>
          <p:cNvPr id="10" name="Text 8"/>
          <p:cNvSpPr txBox="1"/>
          <p:nvPr/>
        </p:nvSpPr>
        <p:spPr>
          <a:xfrm>
            <a:off x="795349" y="843840"/>
            <a:ext cx="10658452" cy="420389"/>
          </a:xfrm>
          <a:prstGeom prst="rect">
            <a:avLst/>
          </a:prstGeom>
          <a:noFill/>
          <a:ln/>
        </p:spPr>
        <p:txBody>
          <a:bodyPr wrap="none" lIns="0" tIns="0" rIns="0" bIns="0" rtlCol="0" anchor="t"/>
          <a:lstStyle/>
          <a:p>
            <a:pPr algn="l" indent="0" marL="0">
              <a:lnSpc>
                <a:spcPts val="3310"/>
              </a:lnSpc>
              <a:buNone/>
            </a:pPr>
            <a:r>
              <a:rPr lang="en-US" sz="3060" b="1" spc="-60" kern="0" dirty="0">
                <a:solidFill>
                  <a:srgbClr val="101A22"/>
                </a:solidFill>
                <a:latin typeface="Arial" pitchFamily="34" charset="0"/>
                <a:ea typeface="Arial" pitchFamily="34" charset="-122"/>
                <a:cs typeface="Arial" pitchFamily="34" charset="-120"/>
              </a:rPr>
              <a:t>Events can carry personal data</a:t>
            </a:r>
            <a:endParaRPr lang="en-US" sz="3060" dirty="0"/>
          </a:p>
        </p:txBody>
      </p:sp>
      <p:sp>
        <p:nvSpPr>
          <p:cNvPr id="11" name="Text 9"/>
          <p:cNvSpPr txBox="1"/>
          <p:nvPr/>
        </p:nvSpPr>
        <p:spPr>
          <a:xfrm>
            <a:off x="1073384" y="1478473"/>
            <a:ext cx="10380417" cy="596555"/>
          </a:xfrm>
          <a:prstGeom prst="rect">
            <a:avLst/>
          </a:prstGeom>
          <a:noFill/>
          <a:ln/>
        </p:spPr>
        <p:txBody>
          <a:bodyPr wrap="square" lIns="0" tIns="0" rIns="0" bIns="0" rtlCol="0" anchor="t"/>
          <a:lstStyle/>
          <a:p>
            <a:pPr algn="l" indent="0" marL="0">
              <a:lnSpc>
                <a:spcPts val="2350"/>
              </a:lnSpc>
              <a:buNone/>
            </a:pPr>
            <a:r>
              <a:rPr lang="en-US" sz="1680" dirty="0">
                <a:solidFill>
                  <a:srgbClr val="101A22"/>
                </a:solidFill>
                <a:latin typeface="Arial" pitchFamily="34" charset="0"/>
                <a:ea typeface="Arial" pitchFamily="34" charset="-122"/>
                <a:cs typeface="Arial" pitchFamily="34" charset="-120"/>
              </a:rPr>
              <a:t>By default an event identifies a user only </a:t>
            </a:r>
            <a:pPr algn="l" indent="0" marL="0">
              <a:lnSpc>
                <a:spcPts val="2350"/>
              </a:lnSpc>
              <a:buNone/>
            </a:pPr>
            <a:r>
              <a:rPr lang="en-US" sz="1680" b="1" dirty="0">
                <a:solidFill>
                  <a:srgbClr val="101A22"/>
                </a:solidFill>
                <a:latin typeface="Arial" pitchFamily="34" charset="0"/>
                <a:ea typeface="Arial" pitchFamily="34" charset="-122"/>
                <a:cs typeface="Arial" pitchFamily="34" charset="-120"/>
              </a:rPr>
              <a:t>by id</a:t>
            </a:r>
            <a:pPr algn="l" indent="0" marL="0">
              <a:lnSpc>
                <a:spcPts val="2350"/>
              </a:lnSpc>
              <a:buNone/>
            </a:pPr>
            <a:r>
              <a:rPr lang="en-US" sz="1680" dirty="0">
                <a:solidFill>
                  <a:srgbClr val="101A22"/>
                </a:solidFill>
                <a:latin typeface="Arial" pitchFamily="34" charset="0"/>
                <a:ea typeface="Arial" pitchFamily="34" charset="-122"/>
                <a:cs typeface="Arial" pitchFamily="34" charset="-120"/>
              </a:rPr>
              <a:t>, for example "the user with id '2'". A failed login also records the </a:t>
            </a:r>
            <a:pPr algn="l" indent="0" marL="0">
              <a:lnSpc>
                <a:spcPts val="2350"/>
              </a:lnSpc>
              <a:buNone/>
            </a:pPr>
            <a:r>
              <a:rPr lang="en-US" sz="1680" b="1" dirty="0">
                <a:solidFill>
                  <a:srgbClr val="101A22"/>
                </a:solidFill>
                <a:latin typeface="Arial" pitchFamily="34" charset="0"/>
                <a:ea typeface="Arial" pitchFamily="34" charset="-122"/>
                <a:cs typeface="Arial" pitchFamily="34" charset="-120"/>
              </a:rPr>
              <a:t>user name that was typed</a:t>
            </a:r>
            <a:pPr algn="l" indent="0" marL="0">
              <a:lnSpc>
                <a:spcPts val="2350"/>
              </a:lnSpc>
              <a:buNone/>
            </a:pPr>
            <a:r>
              <a:rPr lang="en-US" sz="1680" dirty="0">
                <a:solidFill>
                  <a:srgbClr val="101A22"/>
                </a:solidFill>
                <a:latin typeface="Arial" pitchFamily="34" charset="0"/>
                <a:ea typeface="Arial" pitchFamily="34" charset="-122"/>
                <a:cs typeface="Arial" pitchFamily="34" charset="-120"/>
              </a:rPr>
              <a:t>.</a:t>
            </a:r>
            <a:endParaRPr lang="en-US" sz="1680" dirty="0"/>
          </a:p>
        </p:txBody>
      </p:sp>
      <p:sp>
        <p:nvSpPr>
          <p:cNvPr id="12" name="Text 10"/>
          <p:cNvSpPr txBox="1"/>
          <p:nvPr/>
        </p:nvSpPr>
        <p:spPr>
          <a:xfrm>
            <a:off x="1073384" y="2204765"/>
            <a:ext cx="10380417" cy="914669"/>
          </a:xfrm>
          <a:prstGeom prst="rect">
            <a:avLst/>
          </a:prstGeom>
          <a:noFill/>
          <a:ln/>
        </p:spPr>
        <p:txBody>
          <a:bodyPr wrap="square" lIns="0" tIns="0" rIns="0" bIns="0" rtlCol="0" anchor="t"/>
          <a:lstStyle/>
          <a:p>
            <a:pPr algn="l" indent="0" marL="0">
              <a:lnSpc>
                <a:spcPts val="2350"/>
              </a:lnSpc>
              <a:buNone/>
            </a:pPr>
            <a:r>
              <a:rPr lang="en-US" sz="1680" dirty="0">
                <a:solidFill>
                  <a:srgbClr val="101A22"/>
                </a:solidFill>
                <a:latin typeface="Arial" pitchFamily="34" charset="0"/>
                <a:ea typeface="Arial" pitchFamily="34" charset="-122"/>
                <a:cs typeface="Arial" pitchFamily="34" charset="-120"/>
              </a:rPr>
              <a:t>Every email that Moodle fails to send is stored as an </a:t>
            </a:r>
            <a:pPr algn="l" indent="0" marL="0">
              <a:lnSpc>
                <a:spcPts val="2350"/>
              </a:lnSpc>
              <a:buNone/>
            </a:pPr>
            <a:r>
              <a:rPr lang="en-US" sz="1480" dirty="0">
                <a:solidFill>
                  <a:srgbClr val="101A22"/>
                </a:solidFill>
                <a:highlight>
                  <a:srgbClr val="E1F0F7"/>
                </a:highlight>
                <a:latin typeface="Courier New" pitchFamily="34" charset="0"/>
                <a:ea typeface="Courier New" pitchFamily="34" charset="-122"/>
                <a:cs typeface="Courier New" pitchFamily="34" charset="-120"/>
              </a:rPr>
              <a:t>email_failed</a:t>
            </a:r>
            <a:pPr algn="l" indent="0" marL="0">
              <a:lnSpc>
                <a:spcPts val="2350"/>
              </a:lnSpc>
              <a:buNone/>
            </a:pPr>
            <a:r>
              <a:rPr lang="en-US" sz="1680" dirty="0">
                <a:solidFill>
                  <a:srgbClr val="101A22"/>
                </a:solidFill>
                <a:latin typeface="Arial" pitchFamily="34" charset="0"/>
                <a:ea typeface="Arial" pitchFamily="34" charset="-122"/>
                <a:cs typeface="Arial" pitchFamily="34" charset="-120"/>
              </a:rPr>
              <a:t> event, with the </a:t>
            </a:r>
            <a:pPr algn="l" indent="0" marL="0">
              <a:lnSpc>
                <a:spcPts val="2350"/>
              </a:lnSpc>
              <a:buNone/>
            </a:pPr>
            <a:r>
              <a:rPr lang="en-US" sz="1680" b="1" dirty="0">
                <a:solidFill>
                  <a:srgbClr val="101A22"/>
                </a:solidFill>
                <a:latin typeface="Arial" pitchFamily="34" charset="0"/>
                <a:ea typeface="Arial" pitchFamily="34" charset="-122"/>
                <a:cs typeface="Arial" pitchFamily="34" charset="-120"/>
              </a:rPr>
              <a:t>full text of the email</a:t>
            </a:r>
            <a:pPr algn="l" indent="0" marL="0">
              <a:lnSpc>
                <a:spcPts val="2350"/>
              </a:lnSpc>
              <a:buNone/>
            </a:pPr>
            <a:r>
              <a:rPr lang="en-US" sz="1680" dirty="0">
                <a:solidFill>
                  <a:srgbClr val="101A22"/>
                </a:solidFill>
                <a:latin typeface="Arial" pitchFamily="34" charset="0"/>
                <a:ea typeface="Arial" pitchFamily="34" charset="-122"/>
                <a:cs typeface="Arial" pitchFamily="34" charset="-120"/>
              </a:rPr>
              <a:t>. Moodle's own new-device sign-in notice is such an email, and it contains the user's name, email address, IP address and browser.</a:t>
            </a:r>
            <a:endParaRPr lang="en-US" sz="1680" dirty="0"/>
          </a:p>
        </p:txBody>
      </p:sp>
      <p:sp>
        <p:nvSpPr>
          <p:cNvPr id="13" name="Text 11"/>
          <p:cNvSpPr txBox="1"/>
          <p:nvPr/>
        </p:nvSpPr>
        <p:spPr>
          <a:xfrm>
            <a:off x="1073384" y="3249170"/>
            <a:ext cx="10380417" cy="596555"/>
          </a:xfrm>
          <a:prstGeom prst="rect">
            <a:avLst/>
          </a:prstGeom>
          <a:noFill/>
          <a:ln/>
        </p:spPr>
        <p:txBody>
          <a:bodyPr wrap="square" lIns="0" tIns="0" rIns="0" bIns="0" rtlCol="0" anchor="t"/>
          <a:lstStyle/>
          <a:p>
            <a:pPr algn="l" indent="0" marL="0">
              <a:lnSpc>
                <a:spcPts val="2350"/>
              </a:lnSpc>
              <a:buNone/>
            </a:pPr>
            <a:r>
              <a:rPr lang="en-US" sz="1680" dirty="0">
                <a:solidFill>
                  <a:srgbClr val="101A22"/>
                </a:solidFill>
                <a:latin typeface="Arial" pitchFamily="34" charset="0"/>
                <a:ea typeface="Arial" pitchFamily="34" charset="-122"/>
                <a:cs typeface="Arial" pitchFamily="34" charset="-120"/>
              </a:rPr>
              <a:t>The index holds personal data as soon as one record identifies a person. The General Data Protection Regulation (GDPR) then applies to the index, not only to Moodle.</a:t>
            </a:r>
            <a:endParaRPr lang="en-US" sz="1680" dirty="0"/>
          </a:p>
        </p:txBody>
      </p:sp>
      <p:sp>
        <p:nvSpPr>
          <p:cNvPr id="14" name="Text 12"/>
          <p:cNvSpPr txBox="1"/>
          <p:nvPr/>
        </p:nvSpPr>
        <p:spPr>
          <a:xfrm>
            <a:off x="1073384" y="3975461"/>
            <a:ext cx="10380417" cy="616392"/>
          </a:xfrm>
          <a:prstGeom prst="rect">
            <a:avLst/>
          </a:prstGeom>
          <a:noFill/>
          <a:ln/>
        </p:spPr>
        <p:txBody>
          <a:bodyPr wrap="square" lIns="0" tIns="0" rIns="0" bIns="0" rtlCol="0" anchor="t"/>
          <a:lstStyle/>
          <a:p>
            <a:pPr algn="l" indent="0" marL="0">
              <a:lnSpc>
                <a:spcPts val="2350"/>
              </a:lnSpc>
              <a:buNone/>
            </a:pPr>
            <a:r>
              <a:rPr lang="en-US" sz="1680" dirty="0">
                <a:solidFill>
                  <a:srgbClr val="101A22"/>
                </a:solidFill>
                <a:latin typeface="Arial" pitchFamily="34" charset="0"/>
                <a:ea typeface="Arial" pitchFamily="34" charset="-122"/>
                <a:cs typeface="Arial" pitchFamily="34" charset="-120"/>
              </a:rPr>
              <a:t>Remove or hash such attributes in the </a:t>
            </a:r>
            <a:pPr algn="l" indent="0" marL="0">
              <a:lnSpc>
                <a:spcPts val="2350"/>
              </a:lnSpc>
              <a:buNone/>
            </a:pPr>
            <a:r>
              <a:rPr lang="en-US" sz="1680" b="1" dirty="0">
                <a:solidFill>
                  <a:srgbClr val="101A22"/>
                </a:solidFill>
                <a:latin typeface="Arial" pitchFamily="34" charset="0"/>
                <a:ea typeface="Arial" pitchFamily="34" charset="-122"/>
                <a:cs typeface="Arial" pitchFamily="34" charset="-120"/>
              </a:rPr>
              <a:t>OpenTelemetry Collector</a:t>
            </a:r>
            <a:pPr algn="l" indent="0" marL="0">
              <a:lnSpc>
                <a:spcPts val="2350"/>
              </a:lnSpc>
              <a:buNone/>
            </a:pPr>
            <a:r>
              <a:rPr lang="en-US" sz="1680" dirty="0">
                <a:solidFill>
                  <a:srgbClr val="101A22"/>
                </a:solidFill>
                <a:latin typeface="Arial" pitchFamily="34" charset="0"/>
                <a:ea typeface="Arial" pitchFamily="34" charset="-122"/>
                <a:cs typeface="Arial" pitchFamily="34" charset="-120"/>
              </a:rPr>
              <a:t>, before they reach OpenSearch. For example, this statement in a </a:t>
            </a:r>
            <a:pPr algn="l" indent="0" marL="0">
              <a:lnSpc>
                <a:spcPts val="2350"/>
              </a:lnSpc>
              <a:buNone/>
            </a:pPr>
            <a:r>
              <a:rPr lang="en-US" sz="1480" dirty="0">
                <a:solidFill>
                  <a:srgbClr val="101A22"/>
                </a:solidFill>
                <a:highlight>
                  <a:srgbClr val="E1F0F7"/>
                </a:highlight>
                <a:latin typeface="Courier New" pitchFamily="34" charset="0"/>
                <a:ea typeface="Courier New" pitchFamily="34" charset="-122"/>
                <a:cs typeface="Courier New" pitchFamily="34" charset="-120"/>
              </a:rPr>
              <a:t>transform</a:t>
            </a:r>
            <a:pPr algn="l" indent="0" marL="0">
              <a:lnSpc>
                <a:spcPts val="2350"/>
              </a:lnSpc>
              <a:buNone/>
            </a:pPr>
            <a:r>
              <a:rPr lang="en-US" sz="1680" dirty="0">
                <a:solidFill>
                  <a:srgbClr val="101A22"/>
                </a:solidFill>
                <a:latin typeface="Arial" pitchFamily="34" charset="0"/>
                <a:ea typeface="Arial" pitchFamily="34" charset="-122"/>
                <a:cs typeface="Arial" pitchFamily="34" charset="-120"/>
              </a:rPr>
              <a:t> processor deletes the email text:</a:t>
            </a:r>
            <a:endParaRPr lang="en-US" sz="1680" dirty="0"/>
          </a:p>
        </p:txBody>
      </p:sp>
      <p:sp>
        <p:nvSpPr>
          <p:cNvPr id="15" name="Text 13"/>
          <p:cNvSpPr txBox="1"/>
          <p:nvPr/>
        </p:nvSpPr>
        <p:spPr>
          <a:xfrm>
            <a:off x="962170" y="4853889"/>
            <a:ext cx="10324810" cy="373251"/>
          </a:xfrm>
          <a:prstGeom prst="rect">
            <a:avLst/>
          </a:prstGeom>
          <a:noFill/>
          <a:ln/>
        </p:spPr>
        <p:txBody>
          <a:bodyPr wrap="square" lIns="0" tIns="0" rIns="0" bIns="0" rtlCol="0" anchor="t"/>
          <a:lstStyle/>
          <a:p>
            <a:pPr algn="l" indent="0" marL="0">
              <a:lnSpc>
                <a:spcPts val="1470"/>
              </a:lnSpc>
              <a:buNone/>
            </a:pPr>
            <a:r>
              <a:rPr lang="en-US" sz="950" dirty="0">
                <a:solidFill>
                  <a:srgbClr val="E4EDF2"/>
                </a:solidFill>
                <a:latin typeface="Courier New" pitchFamily="34" charset="0"/>
                <a:ea typeface="Courier New" pitchFamily="34" charset="-122"/>
                <a:cs typeface="Courier New" pitchFamily="34" charset="-120"/>
              </a:rPr>
              <a:t>delete_key(log.attributes, "event.data.other")</a:t>
            </a:r>
            <a:endParaRPr lang="en-US" sz="950" dirty="0"/>
          </a:p>
          <a:p>
            <a:pPr algn="l" indent="0" marL="0">
              <a:lnSpc>
                <a:spcPts val="1470"/>
              </a:lnSpc>
              <a:buNone/>
            </a:pPr>
            <a:r>
              <a:rPr lang="en-US" sz="950" dirty="0">
                <a:solidFill>
                  <a:srgbClr val="E4EDF2"/>
                </a:solidFill>
                <a:latin typeface="Courier New" pitchFamily="34" charset="0"/>
                <a:ea typeface="Courier New" pitchFamily="34" charset="-122"/>
                <a:cs typeface="Courier New" pitchFamily="34" charset="-120"/>
              </a:rPr>
              <a:t>  where log.attributes["event.data.eventname"] == "\\core\\event\\email_failed"</a:t>
            </a:r>
            <a:endParaRPr lang="en-US" sz="950" dirty="0"/>
          </a:p>
        </p:txBody>
      </p:sp>
      <p:sp>
        <p:nvSpPr>
          <p:cNvPr id="16" name="Text 14"/>
          <p:cNvSpPr txBox="1"/>
          <p:nvPr/>
        </p:nvSpPr>
        <p:spPr>
          <a:xfrm>
            <a:off x="1073384" y="5484079"/>
            <a:ext cx="10380417" cy="298424"/>
          </a:xfrm>
          <a:prstGeom prst="rect">
            <a:avLst/>
          </a:prstGeom>
          <a:noFill/>
          <a:ln/>
        </p:spPr>
        <p:txBody>
          <a:bodyPr wrap="none" lIns="0" tIns="0" rIns="0" bIns="0" rtlCol="0" anchor="t"/>
          <a:lstStyle/>
          <a:p>
            <a:pPr algn="l" indent="0" marL="0">
              <a:lnSpc>
                <a:spcPts val="2350"/>
              </a:lnSpc>
              <a:buNone/>
            </a:pPr>
            <a:r>
              <a:rPr lang="en-US" sz="1680" dirty="0">
                <a:solidFill>
                  <a:srgbClr val="101A22"/>
                </a:solidFill>
                <a:latin typeface="Arial" pitchFamily="34" charset="0"/>
                <a:ea typeface="Arial" pitchFamily="34" charset="-122"/>
                <a:cs typeface="Arial" pitchFamily="34" charset="-120"/>
              </a:rPr>
              <a:t>Decide the retention period </a:t>
            </a:r>
            <a:pPr algn="l" indent="0" marL="0">
              <a:lnSpc>
                <a:spcPts val="2350"/>
              </a:lnSpc>
              <a:buNone/>
            </a:pPr>
            <a:r>
              <a:rPr lang="en-US" sz="1680" b="1" dirty="0">
                <a:solidFill>
                  <a:srgbClr val="101A22"/>
                </a:solidFill>
                <a:latin typeface="Arial" pitchFamily="34" charset="0"/>
                <a:ea typeface="Arial" pitchFamily="34" charset="-122"/>
                <a:cs typeface="Arial" pitchFamily="34" charset="-120"/>
              </a:rPr>
              <a:t>before</a:t>
            </a:r>
            <a:pPr algn="l" indent="0" marL="0">
              <a:lnSpc>
                <a:spcPts val="2350"/>
              </a:lnSpc>
              <a:buNone/>
            </a:pPr>
            <a:r>
              <a:rPr lang="en-US" sz="1680" dirty="0">
                <a:solidFill>
                  <a:srgbClr val="101A22"/>
                </a:solidFill>
                <a:latin typeface="Arial" pitchFamily="34" charset="0"/>
                <a:ea typeface="Arial" pitchFamily="34" charset="-122"/>
                <a:cs typeface="Arial" pitchFamily="34" charset="-120"/>
              </a:rPr>
              <a:t> you switch the sending on.</a:t>
            </a:r>
            <a:endParaRPr lang="en-US" sz="1680" dirty="0"/>
          </a:p>
        </p:txBody>
      </p:sp>
      <p:sp>
        <p:nvSpPr>
          <p:cNvPr id="17" name="Text 15"/>
          <p:cNvSpPr txBox="1"/>
          <p:nvPr/>
        </p:nvSpPr>
        <p:spPr>
          <a:xfrm>
            <a:off x="647700" y="6464463"/>
            <a:ext cx="651718" cy="144578"/>
          </a:xfrm>
          <a:prstGeom prst="rect">
            <a:avLst/>
          </a:prstGeom>
          <a:noFill/>
          <a:ln/>
        </p:spPr>
        <p:txBody>
          <a:bodyPr wrap="none" lIns="0" tIns="0" rIns="0" bIns="0" rtlCol="0" anchor="t"/>
          <a:lstStyle/>
          <a:p>
            <a:pPr algn="l" indent="0" marL="0">
              <a:lnSpc>
                <a:spcPts val="1140"/>
              </a:lnSpc>
              <a:buNone/>
            </a:pPr>
            <a:r>
              <a:rPr lang="en-US" sz="950" dirty="0">
                <a:solidFill>
                  <a:srgbClr val="8496A2"/>
                </a:solidFill>
                <a:latin typeface="Courier New" pitchFamily="34" charset="0"/>
                <a:ea typeface="Courier New" pitchFamily="34" charset="-122"/>
                <a:cs typeface="Courier New" pitchFamily="34" charset="-120"/>
              </a:rPr>
              <a:t>Cautions</a:t>
            </a:r>
            <a:endParaRPr lang="en-US" sz="950" dirty="0"/>
          </a:p>
        </p:txBody>
      </p:sp>
      <p:sp>
        <p:nvSpPr>
          <p:cNvPr id="18" name="Text 16"/>
          <p:cNvSpPr txBox="1"/>
          <p:nvPr/>
        </p:nvSpPr>
        <p:spPr>
          <a:xfrm>
            <a:off x="11024146" y="6464463"/>
            <a:ext cx="577304" cy="144578"/>
          </a:xfrm>
          <a:prstGeom prst="rect">
            <a:avLst/>
          </a:prstGeom>
          <a:noFill/>
          <a:ln/>
        </p:spPr>
        <p:txBody>
          <a:bodyPr wrap="none" lIns="0" tIns="0" rIns="0" bIns="0" rtlCol="0" anchor="t"/>
          <a:lstStyle/>
          <a:p>
            <a:pPr algn="l" indent="0" marL="0">
              <a:lnSpc>
                <a:spcPts val="1140"/>
              </a:lnSpc>
              <a:buNone/>
            </a:pPr>
            <a:r>
              <a:rPr lang="en-US" sz="950" dirty="0">
                <a:solidFill>
                  <a:srgbClr val="8496A2"/>
                </a:solidFill>
                <a:latin typeface="Courier New" pitchFamily="34" charset="0"/>
                <a:ea typeface="Courier New" pitchFamily="34" charset="-122"/>
                <a:cs typeface="Courier New" pitchFamily="34" charset="-120"/>
              </a:rPr>
              <a:t>30 / 39</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29732" y="2473937"/>
            <a:ext cx="8732536" cy="1248050"/>
          </a:xfrm>
          <a:prstGeom prst="roundRect">
            <a:avLst>
              <a:gd name="adj" fmla="val 10749"/>
            </a:avLst>
          </a:prstGeom>
          <a:solidFill>
            <a:srgbClr val="FBF0E2"/>
          </a:solidFill>
          <a:ln w="15240">
            <a:solidFill>
              <a:srgbClr val="E0BE93"/>
            </a:solidFill>
            <a:prstDash val="solid"/>
          </a:ln>
        </p:spPr>
      </p:sp>
      <p:sp>
        <p:nvSpPr>
          <p:cNvPr id="3" name="Shape 1"/>
          <p:cNvSpPr/>
          <p:nvPr/>
        </p:nvSpPr>
        <p:spPr>
          <a:xfrm>
            <a:off x="1760250" y="3950941"/>
            <a:ext cx="68666" cy="68666"/>
          </a:xfrm>
          <a:prstGeom prst="roundRect">
            <a:avLst>
              <a:gd name="adj" fmla="val 591850"/>
            </a:avLst>
          </a:prstGeom>
          <a:solidFill>
            <a:srgbClr val="8496A2"/>
          </a:solidFill>
          <a:ln/>
        </p:spPr>
      </p:sp>
      <p:sp>
        <p:nvSpPr>
          <p:cNvPr id="4" name="Shape 2"/>
          <p:cNvSpPr/>
          <p:nvPr/>
        </p:nvSpPr>
        <p:spPr>
          <a:xfrm>
            <a:off x="1760250" y="4549204"/>
            <a:ext cx="68666" cy="68666"/>
          </a:xfrm>
          <a:prstGeom prst="roundRect">
            <a:avLst>
              <a:gd name="adj" fmla="val 591850"/>
            </a:avLst>
          </a:prstGeom>
          <a:solidFill>
            <a:srgbClr val="8496A2"/>
          </a:solidFill>
          <a:ln/>
        </p:spPr>
      </p:sp>
      <p:sp>
        <p:nvSpPr>
          <p:cNvPr id="5" name="Shape 3"/>
          <p:cNvSpPr/>
          <p:nvPr/>
        </p:nvSpPr>
        <p:spPr>
          <a:xfrm>
            <a:off x="1760250" y="5409505"/>
            <a:ext cx="68666" cy="68666"/>
          </a:xfrm>
          <a:prstGeom prst="roundRect">
            <a:avLst>
              <a:gd name="adj" fmla="val 591850"/>
            </a:avLst>
          </a:prstGeom>
          <a:solidFill>
            <a:srgbClr val="8496A2"/>
          </a:solidFill>
          <a:ln/>
        </p:spPr>
      </p:sp>
      <p:sp>
        <p:nvSpPr>
          <p:cNvPr id="6" name="Shape 4"/>
          <p:cNvSpPr/>
          <p:nvPr/>
        </p:nvSpPr>
        <p:spPr>
          <a:xfrm>
            <a:off x="647700" y="6343650"/>
            <a:ext cx="10896600" cy="0"/>
          </a:xfrm>
          <a:prstGeom prst="line">
            <a:avLst/>
          </a:prstGeom>
          <a:noFill/>
          <a:ln w="7620">
            <a:solidFill>
              <a:srgbClr val="CBD7DF"/>
            </a:solidFill>
            <a:prstDash val="solid"/>
          </a:ln>
        </p:spPr>
      </p:sp>
      <p:sp>
        <p:nvSpPr>
          <p:cNvPr id="7" name="Text 5"/>
          <p:cNvSpPr txBox="1"/>
          <p:nvPr/>
        </p:nvSpPr>
        <p:spPr>
          <a:xfrm>
            <a:off x="1729732" y="516043"/>
            <a:ext cx="8789686" cy="148850"/>
          </a:xfrm>
          <a:prstGeom prst="rect">
            <a:avLst/>
          </a:prstGeom>
          <a:noFill/>
          <a:ln/>
        </p:spPr>
        <p:txBody>
          <a:bodyPr wrap="none" lIns="0" tIns="0" rIns="0" bIns="0" rtlCol="0" anchor="t"/>
          <a:lstStyle/>
          <a:p>
            <a:pPr algn="l" indent="0" marL="0">
              <a:lnSpc>
                <a:spcPts val="1170"/>
              </a:lnSpc>
              <a:buNone/>
            </a:pPr>
            <a:r>
              <a:rPr lang="en-US" sz="780" spc="120" kern="0" dirty="0">
                <a:solidFill>
                  <a:srgbClr val="0B6E99"/>
                </a:solidFill>
                <a:latin typeface="Courier New" pitchFamily="34" charset="0"/>
                <a:ea typeface="Courier New" pitchFamily="34" charset="-122"/>
                <a:cs typeface="Courier New" pitchFamily="34" charset="-120"/>
              </a:rPr>
              <a:t>CAUTION 2</a:t>
            </a:r>
            <a:endParaRPr lang="en-US" sz="780" dirty="0"/>
          </a:p>
        </p:txBody>
      </p:sp>
      <p:sp>
        <p:nvSpPr>
          <p:cNvPr id="8" name="Text 6"/>
          <p:cNvSpPr txBox="1"/>
          <p:nvPr/>
        </p:nvSpPr>
        <p:spPr>
          <a:xfrm>
            <a:off x="1729732" y="789117"/>
            <a:ext cx="8789686" cy="692487"/>
          </a:xfrm>
          <a:prstGeom prst="rect">
            <a:avLst/>
          </a:prstGeom>
          <a:noFill/>
          <a:ln/>
        </p:spPr>
        <p:txBody>
          <a:bodyPr wrap="square" lIns="0" tIns="0" rIns="0" bIns="0" rtlCol="0" anchor="t"/>
          <a:lstStyle/>
          <a:p>
            <a:pPr algn="l" indent="0" marL="0">
              <a:lnSpc>
                <a:spcPts val="2730"/>
              </a:lnSpc>
              <a:buNone/>
            </a:pPr>
            <a:r>
              <a:rPr lang="en-US" sz="2520" b="1" spc="-50" kern="0" dirty="0">
                <a:solidFill>
                  <a:srgbClr val="101A22"/>
                </a:solidFill>
                <a:latin typeface="Arial" pitchFamily="34" charset="0"/>
                <a:ea typeface="Arial" pitchFamily="34" charset="-122"/>
                <a:cs typeface="Arial" pitchFamily="34" charset="-120"/>
              </a:rPr>
              <a:t>OpenSearch stores every index in shards, and a server has a limit on shards</a:t>
            </a:r>
            <a:endParaRPr lang="en-US" sz="2520" dirty="0"/>
          </a:p>
        </p:txBody>
      </p:sp>
      <p:sp>
        <p:nvSpPr>
          <p:cNvPr id="9" name="Text 7"/>
          <p:cNvSpPr txBox="1"/>
          <p:nvPr/>
        </p:nvSpPr>
        <p:spPr>
          <a:xfrm>
            <a:off x="1729732" y="1645356"/>
            <a:ext cx="8789686" cy="595400"/>
          </a:xfrm>
          <a:prstGeom prst="rect">
            <a:avLst/>
          </a:prstGeom>
          <a:noFill/>
          <a:ln/>
        </p:spPr>
        <p:txBody>
          <a:bodyPr wrap="square" lIns="0" tIns="0" rIns="0" bIns="0" rtlCol="0" anchor="t"/>
          <a:lstStyle/>
          <a:p>
            <a:pPr algn="l" indent="0" marL="0">
              <a:lnSpc>
                <a:spcPts val="2340"/>
              </a:lnSpc>
              <a:buNone/>
            </a:pPr>
            <a:r>
              <a:rPr lang="en-US" sz="1560" dirty="0">
                <a:solidFill>
                  <a:srgbClr val="5A6D7A"/>
                </a:solidFill>
                <a:latin typeface="Arial" pitchFamily="34" charset="0"/>
                <a:ea typeface="Arial" pitchFamily="34" charset="-122"/>
                <a:cs typeface="Arial" pitchFamily="34" charset="-120"/>
              </a:rPr>
              <a:t>An index in OpenSearch is stored on disk as one or more pieces called shards. By default one data server accepts at most 1000 shards, and every new index counts against that limit.</a:t>
            </a:r>
            <a:endParaRPr lang="en-US" sz="1560" dirty="0"/>
          </a:p>
        </p:txBody>
      </p:sp>
      <p:sp>
        <p:nvSpPr>
          <p:cNvPr id="10" name="Text 8"/>
          <p:cNvSpPr txBox="1"/>
          <p:nvPr/>
        </p:nvSpPr>
        <p:spPr>
          <a:xfrm>
            <a:off x="1928199" y="2653704"/>
            <a:ext cx="8392753" cy="164798"/>
          </a:xfrm>
          <a:prstGeom prst="rect">
            <a:avLst/>
          </a:prstGeom>
          <a:noFill/>
          <a:ln/>
        </p:spPr>
        <p:txBody>
          <a:bodyPr wrap="none" lIns="0" tIns="0" rIns="0" bIns="0" rtlCol="0" anchor="t"/>
          <a:lstStyle/>
          <a:p>
            <a:pPr algn="l" indent="0" marL="0">
              <a:lnSpc>
                <a:spcPts val="1300"/>
              </a:lnSpc>
              <a:buNone/>
            </a:pPr>
            <a:r>
              <a:rPr lang="en-US" sz="1080" b="1" dirty="0">
                <a:solidFill>
                  <a:srgbClr val="A8500F"/>
                </a:solidFill>
                <a:latin typeface="Courier New" pitchFamily="34" charset="0"/>
                <a:ea typeface="Courier New" pitchFamily="34" charset="-122"/>
                <a:cs typeface="Courier New" pitchFamily="34" charset="-120"/>
              </a:rPr>
              <a:t>What happens without a retention policy</a:t>
            </a:r>
            <a:endParaRPr lang="en-US" sz="1080" dirty="0"/>
          </a:p>
        </p:txBody>
      </p:sp>
      <p:sp>
        <p:nvSpPr>
          <p:cNvPr id="11" name="Text 9"/>
          <p:cNvSpPr txBox="1"/>
          <p:nvPr/>
        </p:nvSpPr>
        <p:spPr>
          <a:xfrm>
            <a:off x="1928199" y="2860769"/>
            <a:ext cx="8392753" cy="652650"/>
          </a:xfrm>
          <a:prstGeom prst="rect">
            <a:avLst/>
          </a:prstGeom>
          <a:noFill/>
          <a:ln/>
        </p:spPr>
        <p:txBody>
          <a:bodyPr wrap="square" lIns="0" tIns="0" rIns="0" bIns="0" rtlCol="0" anchor="t"/>
          <a:lstStyle/>
          <a:p>
            <a:pPr algn="l" indent="0" marL="0">
              <a:lnSpc>
                <a:spcPts val="1710"/>
              </a:lnSpc>
              <a:buNone/>
            </a:pPr>
            <a:r>
              <a:rPr lang="en-US" sz="1140" dirty="0">
                <a:solidFill>
                  <a:srgbClr val="101A22"/>
                </a:solidFill>
                <a:latin typeface="Arial" pitchFamily="34" charset="0"/>
                <a:ea typeface="Arial" pitchFamily="34" charset="-122"/>
                <a:cs typeface="Arial" pitchFamily="34" charset="-120"/>
              </a:rPr>
              <a:t>By default each index has two shards, one primary and one copy. For example, five daily indices add ten shards per day, and they reach 1000 shards in 100 days. From then on OpenSearch cannot create the new day's indices, and it rejects every incoming record. Nothing alerts you by default.</a:t>
            </a:r>
            <a:endParaRPr lang="en-US" sz="1140" dirty="0"/>
          </a:p>
        </p:txBody>
      </p:sp>
      <p:sp>
        <p:nvSpPr>
          <p:cNvPr id="12" name="Text 10"/>
          <p:cNvSpPr txBox="1"/>
          <p:nvPr/>
        </p:nvSpPr>
        <p:spPr>
          <a:xfrm>
            <a:off x="1958618" y="3837452"/>
            <a:ext cx="8560800" cy="491396"/>
          </a:xfrm>
          <a:prstGeom prst="rect">
            <a:avLst/>
          </a:prstGeom>
          <a:noFill/>
          <a:ln/>
        </p:spPr>
        <p:txBody>
          <a:bodyPr wrap="square" lIns="0" tIns="0" rIns="0" bIns="0" rtlCol="0" anchor="t"/>
          <a:lstStyle/>
          <a:p>
            <a:pPr algn="l" indent="0" marL="0">
              <a:lnSpc>
                <a:spcPts val="1930"/>
              </a:lnSpc>
              <a:buNone/>
            </a:pPr>
            <a:r>
              <a:rPr lang="en-US" sz="1380" dirty="0">
                <a:solidFill>
                  <a:srgbClr val="101A22"/>
                </a:solidFill>
                <a:latin typeface="Arial" pitchFamily="34" charset="0"/>
                <a:ea typeface="Arial" pitchFamily="34" charset="-122"/>
                <a:cs typeface="Arial" pitchFamily="34" charset="-120"/>
              </a:rPr>
              <a:t>Very large shards are also a problem. The OpenSearch documentation recommends 10 to 50 GB per shard. Above that, searches slow down.</a:t>
            </a:r>
            <a:endParaRPr lang="en-US" sz="1380" dirty="0"/>
          </a:p>
        </p:txBody>
      </p:sp>
      <p:sp>
        <p:nvSpPr>
          <p:cNvPr id="13" name="Text 11"/>
          <p:cNvSpPr txBox="1"/>
          <p:nvPr/>
        </p:nvSpPr>
        <p:spPr>
          <a:xfrm>
            <a:off x="1958618" y="4435715"/>
            <a:ext cx="8560800" cy="753435"/>
          </a:xfrm>
          <a:prstGeom prst="rect">
            <a:avLst/>
          </a:prstGeom>
          <a:noFill/>
          <a:ln/>
        </p:spPr>
        <p:txBody>
          <a:bodyPr wrap="square" lIns="0" tIns="0" rIns="0" bIns="0" rtlCol="0" anchor="t"/>
          <a:lstStyle/>
          <a:p>
            <a:pPr algn="l" indent="0" marL="0">
              <a:lnSpc>
                <a:spcPts val="1930"/>
              </a:lnSpc>
              <a:buNone/>
            </a:pPr>
            <a:r>
              <a:rPr lang="en-US" sz="1380" dirty="0">
                <a:solidFill>
                  <a:srgbClr val="101A22"/>
                </a:solidFill>
                <a:latin typeface="Arial" pitchFamily="34" charset="0"/>
                <a:ea typeface="Arial" pitchFamily="34" charset="-122"/>
                <a:cs typeface="Arial" pitchFamily="34" charset="-120"/>
              </a:rPr>
              <a:t>Choose the index period so that one index stays in that range. One index per month, </a:t>
            </a:r>
            <a:pPr algn="l" indent="0" marL="0">
              <a:lnSpc>
                <a:spcPts val="1930"/>
              </a:lnSpc>
              <a:buNone/>
            </a:pPr>
            <a:r>
              <a:rPr lang="en-US" sz="1220" dirty="0">
                <a:solidFill>
                  <a:srgbClr val="101A22"/>
                </a:solidFill>
                <a:highlight>
                  <a:srgbClr val="E1F0F7"/>
                </a:highlight>
                <a:latin typeface="Courier New" pitchFamily="34" charset="0"/>
                <a:ea typeface="Courier New" pitchFamily="34" charset="-122"/>
                <a:cs typeface="Courier New" pitchFamily="34" charset="-120"/>
              </a:rPr>
              <a:t>logs_index_time_format: "yyyy.MM"</a:t>
            </a:r>
            <a:pPr algn="l" indent="0" marL="0">
              <a:lnSpc>
                <a:spcPts val="1930"/>
              </a:lnSpc>
              <a:buNone/>
            </a:pPr>
            <a:r>
              <a:rPr lang="en-US" sz="1380" dirty="0">
                <a:solidFill>
                  <a:srgbClr val="101A22"/>
                </a:solidFill>
                <a:latin typeface="Arial" pitchFamily="34" charset="0"/>
                <a:ea typeface="Arial" pitchFamily="34" charset="-122"/>
                <a:cs typeface="Arial" pitchFamily="34" charset="-120"/>
              </a:rPr>
              <a:t> in the OpenTelemetry Collector's configuration file, fits a site that writes up to a few million events a day.</a:t>
            </a:r>
            <a:endParaRPr lang="en-US" sz="1380" dirty="0"/>
          </a:p>
        </p:txBody>
      </p:sp>
      <p:sp>
        <p:nvSpPr>
          <p:cNvPr id="14" name="Text 12"/>
          <p:cNvSpPr txBox="1"/>
          <p:nvPr/>
        </p:nvSpPr>
        <p:spPr>
          <a:xfrm>
            <a:off x="1958618" y="5296016"/>
            <a:ext cx="8560800" cy="491396"/>
          </a:xfrm>
          <a:prstGeom prst="rect">
            <a:avLst/>
          </a:prstGeom>
          <a:noFill/>
          <a:ln/>
        </p:spPr>
        <p:txBody>
          <a:bodyPr wrap="square" lIns="0" tIns="0" rIns="0" bIns="0" rtlCol="0" anchor="t"/>
          <a:lstStyle/>
          <a:p>
            <a:pPr algn="l" indent="0" marL="0">
              <a:lnSpc>
                <a:spcPts val="1930"/>
              </a:lnSpc>
              <a:buNone/>
            </a:pPr>
            <a:r>
              <a:rPr lang="en-US" sz="1380" dirty="0">
                <a:solidFill>
                  <a:srgbClr val="101A22"/>
                </a:solidFill>
                <a:latin typeface="Arial" pitchFamily="34" charset="0"/>
                <a:ea typeface="Arial" pitchFamily="34" charset="-122"/>
                <a:cs typeface="Arial" pitchFamily="34" charset="-120"/>
              </a:rPr>
              <a:t>Create the retention policy in OpenSearch on the first day, so old indices are deleted and their shards are freed.</a:t>
            </a:r>
            <a:endParaRPr lang="en-US" sz="1380" dirty="0"/>
          </a:p>
        </p:txBody>
      </p:sp>
      <p:sp>
        <p:nvSpPr>
          <p:cNvPr id="15" name="Text 13"/>
          <p:cNvSpPr txBox="1"/>
          <p:nvPr/>
        </p:nvSpPr>
        <p:spPr>
          <a:xfrm>
            <a:off x="647700" y="6464995"/>
            <a:ext cx="651718" cy="142875"/>
          </a:xfrm>
          <a:prstGeom prst="rect">
            <a:avLst/>
          </a:prstGeom>
          <a:noFill/>
          <a:ln/>
        </p:spPr>
        <p:txBody>
          <a:bodyPr wrap="none" lIns="0" tIns="0" rIns="0" bIns="0" rtlCol="0" anchor="t"/>
          <a:lstStyle/>
          <a:p>
            <a:pPr algn="l" indent="0" marL="0">
              <a:lnSpc>
                <a:spcPts val="940"/>
              </a:lnSpc>
              <a:buNone/>
            </a:pPr>
            <a:r>
              <a:rPr lang="en-US" sz="780" dirty="0">
                <a:solidFill>
                  <a:srgbClr val="8496A2"/>
                </a:solidFill>
                <a:latin typeface="Courier New" pitchFamily="34" charset="0"/>
                <a:ea typeface="Courier New" pitchFamily="34" charset="-122"/>
                <a:cs typeface="Courier New" pitchFamily="34" charset="-120"/>
              </a:rPr>
              <a:t>Cautions</a:t>
            </a:r>
            <a:endParaRPr lang="en-US" sz="780" dirty="0"/>
          </a:p>
        </p:txBody>
      </p:sp>
      <p:sp>
        <p:nvSpPr>
          <p:cNvPr id="16" name="Text 14"/>
          <p:cNvSpPr txBox="1"/>
          <p:nvPr/>
        </p:nvSpPr>
        <p:spPr>
          <a:xfrm>
            <a:off x="11024146" y="6464995"/>
            <a:ext cx="577304" cy="142875"/>
          </a:xfrm>
          <a:prstGeom prst="rect">
            <a:avLst/>
          </a:prstGeom>
          <a:noFill/>
          <a:ln/>
        </p:spPr>
        <p:txBody>
          <a:bodyPr wrap="none" lIns="0" tIns="0" rIns="0" bIns="0" rtlCol="0" anchor="t"/>
          <a:lstStyle/>
          <a:p>
            <a:pPr algn="l" indent="0" marL="0">
              <a:lnSpc>
                <a:spcPts val="940"/>
              </a:lnSpc>
              <a:buNone/>
            </a:pPr>
            <a:r>
              <a:rPr lang="en-US" sz="780" dirty="0">
                <a:solidFill>
                  <a:srgbClr val="8496A2"/>
                </a:solidFill>
                <a:latin typeface="Courier New" pitchFamily="34" charset="0"/>
                <a:ea typeface="Courier New" pitchFamily="34" charset="-122"/>
                <a:cs typeface="Courier New" pitchFamily="34" charset="-120"/>
              </a:rPr>
              <a:t>31 / 39</a:t>
            </a:r>
            <a:endParaRPr lang="en-US" sz="7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01A22"/>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10160">
            <a:solidFill>
              <a:srgbClr val="2A3B47"/>
            </a:solidFill>
            <a:prstDash val="solid"/>
          </a:ln>
        </p:spPr>
      </p:sp>
      <p:sp>
        <p:nvSpPr>
          <p:cNvPr id="3" name="Text 1"/>
          <p:cNvSpPr txBox="1"/>
          <p:nvPr/>
        </p:nvSpPr>
        <p:spPr>
          <a:xfrm>
            <a:off x="647700" y="2469803"/>
            <a:ext cx="10953750" cy="1727895"/>
          </a:xfrm>
          <a:prstGeom prst="rect">
            <a:avLst/>
          </a:prstGeom>
          <a:noFill/>
          <a:ln/>
        </p:spPr>
        <p:txBody>
          <a:bodyPr wrap="square" lIns="0" tIns="0" rIns="0" bIns="0" rtlCol="0" anchor="t"/>
          <a:lstStyle/>
          <a:p>
            <a:pPr algn="l" indent="0" marL="0">
              <a:lnSpc>
                <a:spcPts val="4540"/>
              </a:lnSpc>
              <a:buNone/>
            </a:pPr>
            <a:r>
              <a:rPr lang="en-US" sz="4200" b="1" spc="-80" kern="0" dirty="0">
                <a:solidFill>
                  <a:srgbClr val="FFFFFF"/>
                </a:solidFill>
                <a:latin typeface="Arial" pitchFamily="34" charset="0"/>
                <a:ea typeface="Arial" pitchFamily="34" charset="-122"/>
                <a:cs typeface="Arial" pitchFamily="34" charset="-120"/>
              </a:rPr>
              <a:t>Moodle also sends timing data to OpenSearch through the same OpenTelemetry Collector</a:t>
            </a:r>
            <a:endParaRPr lang="en-US" sz="4200" dirty="0"/>
          </a:p>
        </p:txBody>
      </p:sp>
      <p:sp>
        <p:nvSpPr>
          <p:cNvPr id="4" name="Text 2"/>
          <p:cNvSpPr txBox="1"/>
          <p:nvPr/>
        </p:nvSpPr>
        <p:spPr>
          <a:xfrm>
            <a:off x="647700" y="6464379"/>
            <a:ext cx="874663"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Timing data</a:t>
            </a:r>
            <a:endParaRPr lang="en-US" sz="980" dirty="0"/>
          </a:p>
        </p:txBody>
      </p:sp>
      <p:sp>
        <p:nvSpPr>
          <p:cNvPr id="5" name="Text 3"/>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32 / 39</a:t>
            </a:r>
            <a:endParaRPr lang="en-US" sz="9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9385" y="4702808"/>
            <a:ext cx="9713230" cy="613710"/>
          </a:xfrm>
          <a:prstGeom prst="roundRect">
            <a:avLst>
              <a:gd name="adj" fmla="val 41208"/>
            </a:avLst>
          </a:prstGeom>
          <a:solidFill>
            <a:srgbClr val="0F2027"/>
          </a:solidFill>
          <a:ln/>
        </p:spPr>
      </p:sp>
      <p:sp>
        <p:nvSpPr>
          <p:cNvPr id="3" name="Shape 1"/>
          <p:cNvSpPr/>
          <p:nvPr/>
        </p:nvSpPr>
        <p:spPr>
          <a:xfrm>
            <a:off x="647700" y="6343650"/>
            <a:ext cx="10896600" cy="0"/>
          </a:xfrm>
          <a:prstGeom prst="line">
            <a:avLst/>
          </a:prstGeom>
          <a:noFill/>
          <a:ln w="8890">
            <a:solidFill>
              <a:srgbClr val="CBD7DF"/>
            </a:solidFill>
            <a:prstDash val="solid"/>
          </a:ln>
        </p:spPr>
      </p:sp>
      <p:pic>
        <p:nvPicPr>
          <p:cNvPr id="4" name="Image 0" descr="One trace with three spans. A timeline of one real login request from the demo site: the request span lasts 92.8 milliseconds, the login event span inside it lasts 2.5 milliseconds and starts 79 milliseconds after the request, and the step inside that span lasts 2.4 milliseconds.">    </p:cNvPr>
          <p:cNvPicPr>
            <a:picLocks noChangeAspect="1"/>
          </p:cNvPicPr>
          <p:nvPr/>
        </p:nvPicPr>
        <p:blipFill>
          <a:blip r:embed="rId1"/>
          <a:stretch>
            <a:fillRect/>
          </a:stretch>
        </p:blipFill>
        <p:spPr>
          <a:xfrm>
            <a:off x="1239385" y="2971657"/>
            <a:ext cx="9713230" cy="1646245"/>
          </a:xfrm>
          <a:prstGeom prst="rect">
            <a:avLst/>
          </a:prstGeom>
        </p:spPr>
      </p:pic>
      <p:sp>
        <p:nvSpPr>
          <p:cNvPr id="5" name="Text 2"/>
          <p:cNvSpPr txBox="1"/>
          <p:nvPr/>
        </p:nvSpPr>
        <p:spPr>
          <a:xfrm>
            <a:off x="1239385" y="514093"/>
            <a:ext cx="9770380" cy="165566"/>
          </a:xfrm>
          <a:prstGeom prst="rect">
            <a:avLst/>
          </a:prstGeom>
          <a:noFill/>
          <a:ln/>
        </p:spPr>
        <p:txBody>
          <a:bodyPr wrap="none" lIns="0" tIns="0" rIns="0" bIns="0" rtlCol="0" anchor="t"/>
          <a:lstStyle/>
          <a:p>
            <a:pPr algn="l" indent="0" marL="0">
              <a:lnSpc>
                <a:spcPts val="1300"/>
              </a:lnSpc>
              <a:buNone/>
            </a:pPr>
            <a:r>
              <a:rPr lang="en-US" sz="870" spc="140" kern="0" dirty="0">
                <a:solidFill>
                  <a:srgbClr val="0B6E99"/>
                </a:solidFill>
                <a:latin typeface="Courier New" pitchFamily="34" charset="0"/>
                <a:ea typeface="Courier New" pitchFamily="34" charset="-122"/>
                <a:cs typeface="Courier New" pitchFamily="34" charset="-120"/>
              </a:rPr>
              <a:t>TIMING DATA</a:t>
            </a:r>
            <a:endParaRPr lang="en-US" sz="870" dirty="0"/>
          </a:p>
        </p:txBody>
      </p:sp>
      <p:sp>
        <p:nvSpPr>
          <p:cNvPr id="6" name="Text 3"/>
          <p:cNvSpPr txBox="1"/>
          <p:nvPr/>
        </p:nvSpPr>
        <p:spPr>
          <a:xfrm>
            <a:off x="1239385" y="817835"/>
            <a:ext cx="9770380" cy="385128"/>
          </a:xfrm>
          <a:prstGeom prst="rect">
            <a:avLst/>
          </a:prstGeom>
          <a:noFill/>
          <a:ln/>
        </p:spPr>
        <p:txBody>
          <a:bodyPr wrap="none" lIns="0" tIns="0" rIns="0" bIns="0" rtlCol="0" anchor="t"/>
          <a:lstStyle/>
          <a:p>
            <a:pPr algn="l" indent="0" marL="0">
              <a:lnSpc>
                <a:spcPts val="3030"/>
              </a:lnSpc>
              <a:buNone/>
            </a:pPr>
            <a:r>
              <a:rPr lang="en-US" sz="2810" b="1" spc="-60" kern="0" dirty="0">
                <a:solidFill>
                  <a:srgbClr val="101A22"/>
                </a:solidFill>
                <a:latin typeface="Arial" pitchFamily="34" charset="0"/>
                <a:ea typeface="Arial" pitchFamily="34" charset="-122"/>
                <a:cs typeface="Arial" pitchFamily="34" charset="-120"/>
              </a:rPr>
              <a:t>Every request also records how long each of its steps took</a:t>
            </a:r>
            <a:endParaRPr lang="en-US" sz="2810" dirty="0"/>
          </a:p>
        </p:txBody>
      </p:sp>
      <p:sp>
        <p:nvSpPr>
          <p:cNvPr id="7" name="Text 4"/>
          <p:cNvSpPr txBox="1"/>
          <p:nvPr/>
        </p:nvSpPr>
        <p:spPr>
          <a:xfrm>
            <a:off x="1239385" y="1385103"/>
            <a:ext cx="9770380" cy="1327184"/>
          </a:xfrm>
          <a:prstGeom prst="rect">
            <a:avLst/>
          </a:prstGeom>
          <a:noFill/>
          <a:ln/>
        </p:spPr>
        <p:txBody>
          <a:bodyPr wrap="square" lIns="0" tIns="0" rIns="0" bIns="0" rtlCol="0" anchor="t"/>
          <a:lstStyle/>
          <a:p>
            <a:pPr algn="l" indent="0" marL="0">
              <a:lnSpc>
                <a:spcPts val="2610"/>
              </a:lnSpc>
              <a:buNone/>
            </a:pPr>
            <a:r>
              <a:rPr lang="en-US" sz="1740" dirty="0">
                <a:solidFill>
                  <a:srgbClr val="5A6D7A"/>
                </a:solidFill>
                <a:latin typeface="Arial" pitchFamily="34" charset="0"/>
                <a:ea typeface="Arial" pitchFamily="34" charset="-122"/>
                <a:cs typeface="Arial" pitchFamily="34" charset="-120"/>
              </a:rPr>
              <a:t>Every event record has two fields called </a:t>
            </a:r>
            <a:pPr algn="l" indent="0" marL="0">
              <a:lnSpc>
                <a:spcPts val="2610"/>
              </a:lnSpc>
              <a:buNone/>
            </a:pPr>
            <a:r>
              <a:rPr lang="en-US" sz="1530" dirty="0">
                <a:solidFill>
                  <a:srgbClr val="5A6D7A"/>
                </a:solidFill>
                <a:highlight>
                  <a:srgbClr val="E1F0F7"/>
                </a:highlight>
                <a:latin typeface="Courier New" pitchFamily="34" charset="0"/>
                <a:ea typeface="Courier New" pitchFamily="34" charset="-122"/>
                <a:cs typeface="Courier New" pitchFamily="34" charset="-120"/>
              </a:rPr>
              <a:t>traceId</a:t>
            </a:r>
            <a:pPr algn="l" indent="0" marL="0">
              <a:lnSpc>
                <a:spcPts val="2610"/>
              </a:lnSpc>
              <a:buNone/>
            </a:pPr>
            <a:r>
              <a:rPr lang="en-US" sz="1740" dirty="0">
                <a:solidFill>
                  <a:srgbClr val="5A6D7A"/>
                </a:solidFill>
                <a:latin typeface="Arial" pitchFamily="34" charset="0"/>
                <a:ea typeface="Arial" pitchFamily="34" charset="-122"/>
                <a:cs typeface="Arial" pitchFamily="34" charset="-120"/>
              </a:rPr>
              <a:t> and </a:t>
            </a:r>
            <a:pPr algn="l" indent="0" marL="0">
              <a:lnSpc>
                <a:spcPts val="2610"/>
              </a:lnSpc>
              <a:buNone/>
            </a:pPr>
            <a:r>
              <a:rPr lang="en-US" sz="1530" dirty="0">
                <a:solidFill>
                  <a:srgbClr val="5A6D7A"/>
                </a:solidFill>
                <a:highlight>
                  <a:srgbClr val="E1F0F7"/>
                </a:highlight>
                <a:latin typeface="Courier New" pitchFamily="34" charset="0"/>
                <a:ea typeface="Courier New" pitchFamily="34" charset="-122"/>
                <a:cs typeface="Courier New" pitchFamily="34" charset="-120"/>
              </a:rPr>
              <a:t>spanId</a:t>
            </a:r>
            <a:pPr algn="l" indent="0" marL="0">
              <a:lnSpc>
                <a:spcPts val="2610"/>
              </a:lnSpc>
              <a:buNone/>
            </a:pPr>
            <a:r>
              <a:rPr lang="en-US" sz="1740" dirty="0">
                <a:solidFill>
                  <a:srgbClr val="5A6D7A"/>
                </a:solidFill>
                <a:latin typeface="Arial" pitchFamily="34" charset="0"/>
                <a:ea typeface="Arial" pitchFamily="34" charset="-122"/>
                <a:cs typeface="Arial" pitchFamily="34" charset="-120"/>
              </a:rPr>
              <a:t>. They are there because the request that wrote the event also recorded how long each of its steps took. OpenTelemetry calls the timing of one request a </a:t>
            </a:r>
            <a:pPr algn="l" indent="0" marL="0">
              <a:lnSpc>
                <a:spcPts val="2610"/>
              </a:lnSpc>
              <a:buNone/>
            </a:pPr>
            <a:r>
              <a:rPr lang="en-US" sz="1740" b="1" dirty="0">
                <a:solidFill>
                  <a:srgbClr val="5A6D7A"/>
                </a:solidFill>
                <a:latin typeface="Arial" pitchFamily="34" charset="0"/>
                <a:ea typeface="Arial" pitchFamily="34" charset="-122"/>
                <a:cs typeface="Arial" pitchFamily="34" charset="-120"/>
              </a:rPr>
              <a:t>trace</a:t>
            </a:r>
            <a:pPr algn="l" indent="0" marL="0">
              <a:lnSpc>
                <a:spcPts val="2610"/>
              </a:lnSpc>
              <a:buNone/>
            </a:pPr>
            <a:r>
              <a:rPr lang="en-US" sz="1740" dirty="0">
                <a:solidFill>
                  <a:srgbClr val="5A6D7A"/>
                </a:solidFill>
                <a:latin typeface="Arial" pitchFamily="34" charset="0"/>
                <a:ea typeface="Arial" pitchFamily="34" charset="-122"/>
                <a:cs typeface="Arial" pitchFamily="34" charset="-120"/>
              </a:rPr>
              <a:t>. A trace is made of </a:t>
            </a:r>
            <a:pPr algn="l" indent="0" marL="0">
              <a:lnSpc>
                <a:spcPts val="2610"/>
              </a:lnSpc>
              <a:buNone/>
            </a:pPr>
            <a:r>
              <a:rPr lang="en-US" sz="1740" b="1" dirty="0">
                <a:solidFill>
                  <a:srgbClr val="5A6D7A"/>
                </a:solidFill>
                <a:latin typeface="Arial" pitchFamily="34" charset="0"/>
                <a:ea typeface="Arial" pitchFamily="34" charset="-122"/>
                <a:cs typeface="Arial" pitchFamily="34" charset="-120"/>
              </a:rPr>
              <a:t>spans</a:t>
            </a:r>
            <a:pPr algn="l" indent="0" marL="0">
              <a:lnSpc>
                <a:spcPts val="2610"/>
              </a:lnSpc>
              <a:buNone/>
            </a:pPr>
            <a:r>
              <a:rPr lang="en-US" sz="1740" dirty="0">
                <a:solidFill>
                  <a:srgbClr val="5A6D7A"/>
                </a:solidFill>
                <a:latin typeface="Arial" pitchFamily="34" charset="0"/>
                <a:ea typeface="Arial" pitchFamily="34" charset="-122"/>
                <a:cs typeface="Arial" pitchFamily="34" charset="-120"/>
              </a:rPr>
              <a:t>. A span is one step of the request, with a start time and a duration.</a:t>
            </a:r>
            <a:endParaRPr lang="en-US" sz="1740" dirty="0"/>
          </a:p>
        </p:txBody>
      </p:sp>
      <p:sp>
        <p:nvSpPr>
          <p:cNvPr id="8" name="Text 5"/>
          <p:cNvSpPr txBox="1"/>
          <p:nvPr/>
        </p:nvSpPr>
        <p:spPr>
          <a:xfrm>
            <a:off x="1392147" y="4816530"/>
            <a:ext cx="9464856" cy="342133"/>
          </a:xfrm>
          <a:prstGeom prst="rect">
            <a:avLst/>
          </a:prstGeom>
          <a:noFill/>
          <a:ln/>
        </p:spPr>
        <p:txBody>
          <a:bodyPr wrap="square" lIns="0" tIns="0" rIns="0" bIns="0" rtlCol="0" anchor="t"/>
          <a:lstStyle/>
          <a:p>
            <a:pPr algn="l" indent="0" marL="0">
              <a:lnSpc>
                <a:spcPts val="1350"/>
              </a:lnSpc>
              <a:buNone/>
            </a:pPr>
            <a:r>
              <a:rPr lang="en-US" sz="870" dirty="0">
                <a:solidFill>
                  <a:srgbClr val="86A5B4"/>
                </a:solidFill>
                <a:latin typeface="Courier New" pitchFamily="34" charset="0"/>
                <a:ea typeface="Courier New" pitchFamily="34" charset="-122"/>
                <a:cs typeface="Courier New" pitchFamily="34" charset="-120"/>
              </a:rPr>
              <a:t># part of the note on span 1, as stored in OpenSearch</a:t>
            </a:r>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 </a:t>
            </a:r>
            <a:endParaRPr lang="en-US" sz="870" dirty="0"/>
          </a:p>
          <a:p>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 </a:t>
            </a:r>
            <a:pPr algn="l" indent="0" marL="0">
              <a:lnSpc>
                <a:spcPts val="1350"/>
              </a:lnSpc>
              <a:buNone/>
            </a:pPr>
            <a:r>
              <a:rPr lang="en-US" sz="870" dirty="0">
                <a:solidFill>
                  <a:srgbClr val="6FC7EE"/>
                </a:solidFill>
                <a:latin typeface="Courier New" pitchFamily="34" charset="0"/>
                <a:ea typeface="Courier New" pitchFamily="34" charset="-122"/>
                <a:cs typeface="Courier New" pitchFamily="34" charset="-120"/>
              </a:rPr>
              <a:t>moodle.shutdown_handler</a:t>
            </a:r>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   dbtime </a:t>
            </a:r>
            <a:pPr algn="l" indent="0" marL="0">
              <a:lnSpc>
                <a:spcPts val="1350"/>
              </a:lnSpc>
              <a:buNone/>
            </a:pPr>
            <a:r>
              <a:rPr lang="en-US" sz="870" dirty="0">
                <a:solidFill>
                  <a:srgbClr val="F0C070"/>
                </a:solidFill>
                <a:latin typeface="Courier New" pitchFamily="34" charset="0"/>
                <a:ea typeface="Courier New" pitchFamily="34" charset="-122"/>
                <a:cs typeface="Courier New" pitchFamily="34" charset="-120"/>
              </a:rPr>
              <a:t>0.03228</a:t>
            </a:r>
            <a:pPr algn="l" indent="0" marL="0">
              <a:lnSpc>
                <a:spcPts val="1350"/>
              </a:lnSpc>
              <a:buNone/>
            </a:pPr>
            <a:r>
              <a:rPr lang="en-US" sz="870" dirty="0">
                <a:solidFill>
                  <a:srgbClr val="E4EDF2"/>
                </a:solidFill>
                <a:latin typeface="Courier New" pitchFamily="34" charset="0"/>
                <a:ea typeface="Courier New" pitchFamily="34" charset="-122"/>
                <a:cs typeface="Courier New" pitchFamily="34" charset="-120"/>
              </a:rPr>
              <a:t>   dbqueries </a:t>
            </a:r>
            <a:pPr algn="l" indent="0" marL="0">
              <a:lnSpc>
                <a:spcPts val="1350"/>
              </a:lnSpc>
              <a:buNone/>
            </a:pPr>
            <a:r>
              <a:rPr lang="en-US" sz="870" dirty="0">
                <a:solidFill>
                  <a:srgbClr val="F0C070"/>
                </a:solidFill>
                <a:latin typeface="Courier New" pitchFamily="34" charset="0"/>
                <a:ea typeface="Courier New" pitchFamily="34" charset="-122"/>
                <a:cs typeface="Courier New" pitchFamily="34" charset="-120"/>
              </a:rPr>
              <a:t>13/9</a:t>
            </a:r>
            <a:endParaRPr lang="en-US" sz="870" dirty="0"/>
          </a:p>
        </p:txBody>
      </p:sp>
      <p:sp>
        <p:nvSpPr>
          <p:cNvPr id="9" name="Text 6"/>
          <p:cNvSpPr txBox="1"/>
          <p:nvPr/>
        </p:nvSpPr>
        <p:spPr>
          <a:xfrm>
            <a:off x="1239385" y="5398453"/>
            <a:ext cx="9770380" cy="407548"/>
          </a:xfrm>
          <a:prstGeom prst="rect">
            <a:avLst/>
          </a:prstGeom>
          <a:noFill/>
          <a:ln/>
        </p:spPr>
        <p:txBody>
          <a:bodyPr wrap="square" lIns="0" tIns="0" rIns="0" bIns="0" rtlCol="0" anchor="t"/>
          <a:lstStyle/>
          <a:p>
            <a:pPr algn="l" indent="0" marL="0">
              <a:lnSpc>
                <a:spcPts val="1120"/>
              </a:lnSpc>
              <a:buNone/>
            </a:pPr>
            <a:r>
              <a:rPr lang="en-US" sz="940" dirty="0">
                <a:solidFill>
                  <a:srgbClr val="5A6D7A"/>
                </a:solidFill>
                <a:latin typeface="Courier New" pitchFamily="34" charset="0"/>
                <a:ea typeface="Courier New" pitchFamily="34" charset="-122"/>
                <a:cs typeface="Courier New" pitchFamily="34" charset="-120"/>
              </a:rPr>
              <a:t>One trace with three spans, from a real login request on the demo site. The first span is the whole request. The other two spans are steps inside it. Moodle adds the note in the box to the first span. </a:t>
            </a:r>
            <a:pPr algn="l" indent="0" marL="0">
              <a:lnSpc>
                <a:spcPts val="1120"/>
              </a:lnSpc>
              <a:buNone/>
            </a:pPr>
            <a:r>
              <a:rPr lang="en-US" sz="820" dirty="0">
                <a:solidFill>
                  <a:srgbClr val="5A6D7A"/>
                </a:solidFill>
                <a:highlight>
                  <a:srgbClr val="E1F0F7"/>
                </a:highlight>
                <a:latin typeface="Courier New" pitchFamily="34" charset="0"/>
                <a:ea typeface="Courier New" pitchFamily="34" charset="-122"/>
                <a:cs typeface="Courier New" pitchFamily="34" charset="-120"/>
              </a:rPr>
              <a:t>dbtime</a:t>
            </a:r>
            <a:pPr algn="l" indent="0" marL="0">
              <a:lnSpc>
                <a:spcPts val="1120"/>
              </a:lnSpc>
              <a:buNone/>
            </a:pPr>
            <a:r>
              <a:rPr lang="en-US" sz="940" dirty="0">
                <a:solidFill>
                  <a:srgbClr val="5A6D7A"/>
                </a:solidFill>
                <a:latin typeface="Courier New" pitchFamily="34" charset="0"/>
                <a:ea typeface="Courier New" pitchFamily="34" charset="-122"/>
                <a:cs typeface="Courier New" pitchFamily="34" charset="-120"/>
              </a:rPr>
              <a:t> is the database time in seconds, here 32 ms. </a:t>
            </a:r>
            <a:pPr algn="l" indent="0" marL="0">
              <a:lnSpc>
                <a:spcPts val="1120"/>
              </a:lnSpc>
              <a:buNone/>
            </a:pPr>
            <a:r>
              <a:rPr lang="en-US" sz="820" dirty="0">
                <a:solidFill>
                  <a:srgbClr val="5A6D7A"/>
                </a:solidFill>
                <a:highlight>
                  <a:srgbClr val="E1F0F7"/>
                </a:highlight>
                <a:latin typeface="Courier New" pitchFamily="34" charset="0"/>
                <a:ea typeface="Courier New" pitchFamily="34" charset="-122"/>
                <a:cs typeface="Courier New" pitchFamily="34" charset="-120"/>
              </a:rPr>
              <a:t>dbqueries</a:t>
            </a:r>
            <a:pPr algn="l" indent="0" marL="0">
              <a:lnSpc>
                <a:spcPts val="1120"/>
              </a:lnSpc>
              <a:buNone/>
            </a:pPr>
            <a:r>
              <a:rPr lang="en-US" sz="940" dirty="0">
                <a:solidFill>
                  <a:srgbClr val="5A6D7A"/>
                </a:solidFill>
                <a:latin typeface="Courier New" pitchFamily="34" charset="0"/>
                <a:ea typeface="Courier New" pitchFamily="34" charset="-122"/>
                <a:cs typeface="Courier New" pitchFamily="34" charset="-120"/>
              </a:rPr>
              <a:t> is reads/writes, here 13 reads and 9 writes.</a:t>
            </a:r>
            <a:endParaRPr lang="en-US" sz="940" dirty="0"/>
          </a:p>
        </p:txBody>
      </p:sp>
      <p:sp>
        <p:nvSpPr>
          <p:cNvPr id="10" name="Text 7"/>
          <p:cNvSpPr txBox="1"/>
          <p:nvPr/>
        </p:nvSpPr>
        <p:spPr>
          <a:xfrm>
            <a:off x="647700" y="6464717"/>
            <a:ext cx="874663" cy="142875"/>
          </a:xfrm>
          <a:prstGeom prst="rect">
            <a:avLst/>
          </a:prstGeom>
          <a:noFill/>
          <a:ln/>
        </p:spPr>
        <p:txBody>
          <a:bodyPr wrap="none" lIns="0" tIns="0" rIns="0" bIns="0" rtlCol="0" anchor="t"/>
          <a:lstStyle/>
          <a:p>
            <a:pPr algn="l" indent="0" marL="0">
              <a:lnSpc>
                <a:spcPts val="1040"/>
              </a:lnSpc>
              <a:buNone/>
            </a:pPr>
            <a:r>
              <a:rPr lang="en-US" sz="870" dirty="0">
                <a:solidFill>
                  <a:srgbClr val="8496A2"/>
                </a:solidFill>
                <a:latin typeface="Courier New" pitchFamily="34" charset="0"/>
                <a:ea typeface="Courier New" pitchFamily="34" charset="-122"/>
                <a:cs typeface="Courier New" pitchFamily="34" charset="-120"/>
              </a:rPr>
              <a:t>Timing data</a:t>
            </a:r>
            <a:endParaRPr lang="en-US" sz="870" dirty="0"/>
          </a:p>
        </p:txBody>
      </p:sp>
      <p:sp>
        <p:nvSpPr>
          <p:cNvPr id="11" name="Text 8"/>
          <p:cNvSpPr txBox="1"/>
          <p:nvPr/>
        </p:nvSpPr>
        <p:spPr>
          <a:xfrm>
            <a:off x="11024146" y="6464717"/>
            <a:ext cx="577304" cy="142875"/>
          </a:xfrm>
          <a:prstGeom prst="rect">
            <a:avLst/>
          </a:prstGeom>
          <a:noFill/>
          <a:ln/>
        </p:spPr>
        <p:txBody>
          <a:bodyPr wrap="none" lIns="0" tIns="0" rIns="0" bIns="0" rtlCol="0" anchor="t"/>
          <a:lstStyle/>
          <a:p>
            <a:pPr algn="l" indent="0" marL="0">
              <a:lnSpc>
                <a:spcPts val="1040"/>
              </a:lnSpc>
              <a:buNone/>
            </a:pPr>
            <a:r>
              <a:rPr lang="en-US" sz="870" dirty="0">
                <a:solidFill>
                  <a:srgbClr val="8496A2"/>
                </a:solidFill>
                <a:latin typeface="Courier New" pitchFamily="34" charset="0"/>
                <a:ea typeface="Courier New" pitchFamily="34" charset="-122"/>
                <a:cs typeface="Courier New" pitchFamily="34" charset="-120"/>
              </a:rPr>
              <a:t>33 / 39</a:t>
            </a:r>
            <a:endParaRPr lang="en-US" sz="87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124521"/>
            <a:ext cx="85725" cy="85725"/>
          </a:xfrm>
          <a:prstGeom prst="roundRect">
            <a:avLst>
              <a:gd name="adj" fmla="val 474074"/>
            </a:avLst>
          </a:prstGeom>
          <a:solidFill>
            <a:srgbClr val="0B6E99"/>
          </a:solidFill>
          <a:ln/>
        </p:spPr>
      </p:sp>
      <p:sp>
        <p:nvSpPr>
          <p:cNvPr id="3" name="Shape 1"/>
          <p:cNvSpPr/>
          <p:nvPr/>
        </p:nvSpPr>
        <p:spPr>
          <a:xfrm>
            <a:off x="685800" y="2564457"/>
            <a:ext cx="85725" cy="85725"/>
          </a:xfrm>
          <a:prstGeom prst="roundRect">
            <a:avLst>
              <a:gd name="adj" fmla="val 474074"/>
            </a:avLst>
          </a:prstGeom>
          <a:solidFill>
            <a:srgbClr val="0B6E99"/>
          </a:solidFill>
          <a:ln/>
        </p:spPr>
      </p:sp>
      <p:sp>
        <p:nvSpPr>
          <p:cNvPr id="4" name="Shape 2"/>
          <p:cNvSpPr/>
          <p:nvPr/>
        </p:nvSpPr>
        <p:spPr>
          <a:xfrm>
            <a:off x="685800" y="3004393"/>
            <a:ext cx="85725" cy="85725"/>
          </a:xfrm>
          <a:prstGeom prst="roundRect">
            <a:avLst>
              <a:gd name="adj" fmla="val 474074"/>
            </a:avLst>
          </a:prstGeom>
          <a:solidFill>
            <a:srgbClr val="0B6E99"/>
          </a:solidFill>
          <a:ln/>
        </p:spPr>
      </p:sp>
      <p:sp>
        <p:nvSpPr>
          <p:cNvPr id="5" name="Shape 3"/>
          <p:cNvSpPr/>
          <p:nvPr/>
        </p:nvSpPr>
        <p:spPr>
          <a:xfrm>
            <a:off x="647700" y="6343650"/>
            <a:ext cx="10896600" cy="0"/>
          </a:xfrm>
          <a:prstGeom prst="line">
            <a:avLst/>
          </a:prstGeom>
          <a:noFill/>
          <a:ln w="10160">
            <a:solidFill>
              <a:srgbClr val="CBD7DF"/>
            </a:solidFill>
            <a:prstDash val="solid"/>
          </a:ln>
        </p:spPr>
      </p:sp>
      <p:sp>
        <p:nvSpPr>
          <p:cNvPr id="6" name="Text 4"/>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TIMING DATA</a:t>
            </a:r>
            <a:endParaRPr lang="en-US" sz="980" dirty="0"/>
          </a:p>
        </p:txBody>
      </p:sp>
      <p:sp>
        <p:nvSpPr>
          <p:cNvPr id="7" name="Text 5"/>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The timing data shows where Moodle spends its time</a:t>
            </a:r>
            <a:endParaRPr lang="en-US" sz="3150" dirty="0"/>
          </a:p>
        </p:txBody>
      </p:sp>
      <p:sp>
        <p:nvSpPr>
          <p:cNvPr id="8" name="Text 6"/>
          <p:cNvSpPr txBox="1"/>
          <p:nvPr/>
        </p:nvSpPr>
        <p:spPr>
          <a:xfrm>
            <a:off x="647700" y="1504801"/>
            <a:ext cx="1095375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It answers these questions.</a:t>
            </a:r>
            <a:endParaRPr lang="en-US" sz="1730" dirty="0"/>
          </a:p>
        </p:txBody>
      </p:sp>
      <p:sp>
        <p:nvSpPr>
          <p:cNvPr id="9" name="Text 7"/>
          <p:cNvSpPr txBox="1"/>
          <p:nvPr/>
        </p:nvSpPr>
        <p:spPr>
          <a:xfrm>
            <a:off x="933450" y="1982837"/>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Which pages are slow, and how slow?</a:t>
            </a:r>
            <a:endParaRPr lang="en-US" sz="1730" dirty="0"/>
          </a:p>
        </p:txBody>
      </p:sp>
      <p:sp>
        <p:nvSpPr>
          <p:cNvPr id="10" name="Text 8"/>
          <p:cNvSpPr txBox="1"/>
          <p:nvPr/>
        </p:nvSpPr>
        <p:spPr>
          <a:xfrm>
            <a:off x="933450" y="2422773"/>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Which scheduled task ran for 40 minutes last night?</a:t>
            </a:r>
            <a:endParaRPr lang="en-US" sz="1730" dirty="0"/>
          </a:p>
        </p:txBody>
      </p:sp>
      <p:sp>
        <p:nvSpPr>
          <p:cNvPr id="11" name="Text 9"/>
          <p:cNvSpPr txBox="1"/>
          <p:nvPr/>
        </p:nvSpPr>
        <p:spPr>
          <a:xfrm>
            <a:off x="933450" y="2862709"/>
            <a:ext cx="1066800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How long did each Moodle event take inside a request?</a:t>
            </a:r>
            <a:endParaRPr lang="en-US" sz="1730" dirty="0"/>
          </a:p>
        </p:txBody>
      </p:sp>
      <p:sp>
        <p:nvSpPr>
          <p:cNvPr id="12" name="Text 10"/>
          <p:cNvSpPr txBox="1"/>
          <p:nvPr/>
        </p:nvSpPr>
        <p:spPr>
          <a:xfrm>
            <a:off x="647700" y="3416945"/>
            <a:ext cx="10953750" cy="613172"/>
          </a:xfrm>
          <a:prstGeom prst="rect">
            <a:avLst/>
          </a:prstGeom>
          <a:noFill/>
          <a:ln/>
        </p:spPr>
        <p:txBody>
          <a:bodyPr wrap="squar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A span has attributes, the same as an event. So you search spans the way you search events, and you can sort them by duration.</a:t>
            </a:r>
            <a:endParaRPr lang="en-US" sz="1730" dirty="0"/>
          </a:p>
        </p:txBody>
      </p:sp>
      <p:sp>
        <p:nvSpPr>
          <p:cNvPr id="13" name="Text 11"/>
          <p:cNvSpPr txBox="1"/>
          <p:nvPr/>
        </p:nvSpPr>
        <p:spPr>
          <a:xfrm>
            <a:off x="647700" y="4182517"/>
            <a:ext cx="10953750" cy="306705"/>
          </a:xfrm>
          <a:prstGeom prst="rect">
            <a:avLst/>
          </a:prstGeom>
          <a:noFill/>
          <a:ln/>
        </p:spPr>
        <p:txBody>
          <a:bodyPr wrap="none" lIns="0" tIns="0" rIns="0" bIns="0" rtlCol="0" anchor="t"/>
          <a:lstStyle/>
          <a:p>
            <a:pPr algn="l" indent="0" marL="0">
              <a:lnSpc>
                <a:spcPts val="2420"/>
              </a:lnSpc>
              <a:buNone/>
            </a:pPr>
            <a:r>
              <a:rPr lang="en-US" sz="1730" dirty="0">
                <a:solidFill>
                  <a:srgbClr val="101A22"/>
                </a:solidFill>
                <a:latin typeface="Arial" pitchFamily="34" charset="0"/>
                <a:ea typeface="Arial" pitchFamily="34" charset="-122"/>
                <a:cs typeface="Arial" pitchFamily="34" charset="-120"/>
              </a:rPr>
              <a:t>In OpenSearch Dashboards this data is usually viewed under </a:t>
            </a:r>
            <a:pPr algn="l" indent="0" marL="0">
              <a:lnSpc>
                <a:spcPts val="2420"/>
              </a:lnSpc>
              <a:buNone/>
            </a:pPr>
            <a:r>
              <a:rPr lang="en-US" sz="1730" b="1" dirty="0">
                <a:solidFill>
                  <a:srgbClr val="101A22"/>
                </a:solidFill>
                <a:latin typeface="Arial" pitchFamily="34" charset="0"/>
                <a:ea typeface="Arial" pitchFamily="34" charset="-122"/>
                <a:cs typeface="Arial" pitchFamily="34" charset="-120"/>
              </a:rPr>
              <a:t>Observability</a:t>
            </a:r>
            <a:pPr algn="l" indent="0" marL="0">
              <a:lnSpc>
                <a:spcPts val="2420"/>
              </a:lnSpc>
              <a:buNone/>
            </a:pPr>
            <a:r>
              <a:rPr lang="en-US" sz="1730" dirty="0">
                <a:solidFill>
                  <a:srgbClr val="101A22"/>
                </a:solidFill>
                <a:latin typeface="Arial" pitchFamily="34" charset="0"/>
                <a:ea typeface="Arial" pitchFamily="34" charset="-122"/>
                <a:cs typeface="Arial" pitchFamily="34" charset="-120"/>
              </a:rPr>
              <a:t>.</a:t>
            </a:r>
            <a:endParaRPr lang="en-US" sz="1730" dirty="0"/>
          </a:p>
        </p:txBody>
      </p:sp>
      <p:sp>
        <p:nvSpPr>
          <p:cNvPr id="14" name="Text 12"/>
          <p:cNvSpPr txBox="1"/>
          <p:nvPr/>
        </p:nvSpPr>
        <p:spPr>
          <a:xfrm>
            <a:off x="647700" y="6464379"/>
            <a:ext cx="874663"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Timing data</a:t>
            </a:r>
            <a:endParaRPr lang="en-US" sz="980" dirty="0"/>
          </a:p>
        </p:txBody>
      </p:sp>
      <p:sp>
        <p:nvSpPr>
          <p:cNvPr id="15" name="Text 13"/>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34 / 39</a:t>
            </a:r>
            <a:endParaRPr lang="en-US" sz="9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A22"/>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10160">
            <a:solidFill>
              <a:srgbClr val="2A3B47"/>
            </a:solidFill>
            <a:prstDash val="solid"/>
          </a:ln>
        </p:spPr>
      </p:sp>
      <p:sp>
        <p:nvSpPr>
          <p:cNvPr id="3" name="Text 1"/>
          <p:cNvSpPr txBox="1"/>
          <p:nvPr/>
        </p:nvSpPr>
        <p:spPr>
          <a:xfrm>
            <a:off x="647700" y="2864554"/>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6FC7EE"/>
                </a:solidFill>
                <a:latin typeface="Courier New" pitchFamily="34" charset="0"/>
                <a:ea typeface="Courier New" pitchFamily="34" charset="-122"/>
                <a:cs typeface="Courier New" pitchFamily="34" charset="-120"/>
              </a:rPr>
              <a:t>LIVE</a:t>
            </a:r>
            <a:endParaRPr lang="en-US" sz="980" dirty="0"/>
          </a:p>
        </p:txBody>
      </p:sp>
      <p:sp>
        <p:nvSpPr>
          <p:cNvPr id="4" name="Text 2"/>
          <p:cNvSpPr txBox="1"/>
          <p:nvPr/>
        </p:nvSpPr>
        <p:spPr>
          <a:xfrm>
            <a:off x="647700" y="3205311"/>
            <a:ext cx="10953750" cy="576072"/>
          </a:xfrm>
          <a:prstGeom prst="rect">
            <a:avLst/>
          </a:prstGeom>
          <a:noFill/>
          <a:ln/>
        </p:spPr>
        <p:txBody>
          <a:bodyPr wrap="none" lIns="0" tIns="0" rIns="0" bIns="0" rtlCol="0" anchor="t"/>
          <a:lstStyle/>
          <a:p>
            <a:pPr algn="l" indent="0" marL="0">
              <a:lnSpc>
                <a:spcPts val="4540"/>
              </a:lnSpc>
              <a:buNone/>
            </a:pPr>
            <a:r>
              <a:rPr lang="en-US" sz="4200" b="1" spc="-80" kern="0" dirty="0">
                <a:solidFill>
                  <a:srgbClr val="FFFFFF"/>
                </a:solidFill>
                <a:latin typeface="Arial" pitchFamily="34" charset="0"/>
                <a:ea typeface="Arial" pitchFamily="34" charset="-122"/>
                <a:cs typeface="Arial" pitchFamily="34" charset="-120"/>
              </a:rPr>
              <a:t>Now we look at a live system</a:t>
            </a:r>
            <a:endParaRPr lang="en-US" sz="4200" dirty="0"/>
          </a:p>
        </p:txBody>
      </p:sp>
      <p:sp>
        <p:nvSpPr>
          <p:cNvPr id="5" name="Text 3"/>
          <p:cNvSpPr txBox="1"/>
          <p:nvPr/>
        </p:nvSpPr>
        <p:spPr>
          <a:xfrm>
            <a:off x="647700" y="6464379"/>
            <a:ext cx="354509"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Demo</a:t>
            </a:r>
            <a:endParaRPr lang="en-US" sz="980" dirty="0"/>
          </a:p>
        </p:txBody>
      </p:sp>
      <p:sp>
        <p:nvSpPr>
          <p:cNvPr id="6" name="Text 4"/>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56707F"/>
                </a:solidFill>
                <a:latin typeface="Courier New" pitchFamily="34" charset="0"/>
                <a:ea typeface="Courier New" pitchFamily="34" charset="-122"/>
                <a:cs typeface="Courier New" pitchFamily="34" charset="-120"/>
              </a:rPr>
              <a:t>35 / 39</a:t>
            </a:r>
            <a:endParaRPr lang="en-US" sz="9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58751" y="2440704"/>
            <a:ext cx="9874500" cy="686209"/>
          </a:xfrm>
          <a:prstGeom prst="roundRect">
            <a:avLst>
              <a:gd name="adj" fmla="val 33516"/>
            </a:avLst>
          </a:prstGeom>
          <a:solidFill>
            <a:srgbClr val="0F2027"/>
          </a:solidFill>
          <a:ln/>
        </p:spPr>
      </p:sp>
      <p:sp>
        <p:nvSpPr>
          <p:cNvPr id="3" name="Shape 1"/>
          <p:cNvSpPr/>
          <p:nvPr/>
        </p:nvSpPr>
        <p:spPr>
          <a:xfrm>
            <a:off x="1193269" y="5068990"/>
            <a:ext cx="77667" cy="77667"/>
          </a:xfrm>
          <a:prstGeom prst="roundRect">
            <a:avLst>
              <a:gd name="adj" fmla="val 523260"/>
            </a:avLst>
          </a:prstGeom>
          <a:solidFill>
            <a:srgbClr val="0B6E99"/>
          </a:solidFill>
          <a:ln/>
        </p:spPr>
      </p:sp>
      <p:sp>
        <p:nvSpPr>
          <p:cNvPr id="4" name="Shape 2"/>
          <p:cNvSpPr/>
          <p:nvPr/>
        </p:nvSpPr>
        <p:spPr>
          <a:xfrm>
            <a:off x="1193269" y="5371094"/>
            <a:ext cx="77667" cy="77667"/>
          </a:xfrm>
          <a:prstGeom prst="roundRect">
            <a:avLst>
              <a:gd name="adj" fmla="val 523260"/>
            </a:avLst>
          </a:prstGeom>
          <a:solidFill>
            <a:srgbClr val="0B6E99"/>
          </a:solidFill>
          <a:ln/>
        </p:spPr>
      </p:sp>
      <p:sp>
        <p:nvSpPr>
          <p:cNvPr id="5" name="Shape 3"/>
          <p:cNvSpPr/>
          <p:nvPr/>
        </p:nvSpPr>
        <p:spPr>
          <a:xfrm>
            <a:off x="1193269" y="5679672"/>
            <a:ext cx="77667" cy="77667"/>
          </a:xfrm>
          <a:prstGeom prst="roundRect">
            <a:avLst>
              <a:gd name="adj" fmla="val 523260"/>
            </a:avLst>
          </a:prstGeom>
          <a:solidFill>
            <a:srgbClr val="0B6E99"/>
          </a:solidFill>
          <a:ln/>
        </p:spPr>
      </p:sp>
      <p:sp>
        <p:nvSpPr>
          <p:cNvPr id="6" name="Shape 4"/>
          <p:cNvSpPr/>
          <p:nvPr/>
        </p:nvSpPr>
        <p:spPr>
          <a:xfrm>
            <a:off x="647700" y="6343650"/>
            <a:ext cx="10896600" cy="0"/>
          </a:xfrm>
          <a:prstGeom prst="line">
            <a:avLst/>
          </a:prstGeom>
          <a:noFill/>
          <a:ln w="8890">
            <a:solidFill>
              <a:srgbClr val="CBD7DF"/>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1158751" y="3282280"/>
          <a:ext cx="9874500" cy="914400"/>
        </p:xfrm>
        <a:graphic>
          <a:graphicData uri="http://schemas.openxmlformats.org/drawingml/2006/table">
            <a:tbl>
              <a:tblPr/>
              <a:tblGrid>
                <a:gridCol w="2567348"/>
                <a:gridCol w="2962242"/>
                <a:gridCol w="4344909"/>
              </a:tblGrid>
              <a:tr h="349578">
                <a:tc>
                  <a:txBody>
                    <a:bodyPr/>
                    <a:lstStyle/>
                    <a:p>
                      <a:pPr algn="l" indent="0" marL="0">
                        <a:lnSpc>
                          <a:spcPts val="1140"/>
                        </a:lnSpc>
                        <a:buNone/>
                      </a:pPr>
                      <a:r>
                        <a:rPr lang="en-US" sz="950" b="1" spc="100" kern="0" dirty="0">
                          <a:solidFill>
                            <a:srgbClr val="5A6D7A"/>
                          </a:solidFill>
                          <a:latin typeface="Arial" pitchFamily="34" charset="0"/>
                          <a:ea typeface="Arial" pitchFamily="34" charset="-122"/>
                          <a:cs typeface="Arial" pitchFamily="34" charset="-120"/>
                        </a:rPr>
                        <a:t>WHAT</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140"/>
                        </a:lnSpc>
                        <a:buNone/>
                      </a:pPr>
                      <a:r>
                        <a:rPr lang="en-US" sz="950" b="1" spc="100" kern="0" dirty="0">
                          <a:solidFill>
                            <a:srgbClr val="5A6D7A"/>
                          </a:solidFill>
                          <a:latin typeface="Arial" pitchFamily="34" charset="0"/>
                          <a:ea typeface="Arial" pitchFamily="34" charset="-122"/>
                          <a:cs typeface="Arial" pitchFamily="34" charset="-120"/>
                        </a:rPr>
                        <a:t>WHERE</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140"/>
                        </a:lnSpc>
                        <a:buNone/>
                      </a:pPr>
                      <a:r>
                        <a:rPr lang="en-US" sz="950" b="1" spc="100" kern="0" dirty="0">
                          <a:solidFill>
                            <a:srgbClr val="5A6D7A"/>
                          </a:solidFill>
                          <a:latin typeface="Arial" pitchFamily="34" charset="0"/>
                          <a:ea typeface="Arial" pitchFamily="34" charset="-122"/>
                          <a:cs typeface="Arial" pitchFamily="34" charset="-120"/>
                        </a:rPr>
                        <a:t>LOGIN</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397051">
                <a:tc>
                  <a:txBody>
                    <a:bodyPr/>
                    <a:lstStyle/>
                    <a:p>
                      <a:pPr algn="l" indent="0" marL="0">
                        <a:lnSpc>
                          <a:spcPts val="1390"/>
                        </a:lnSpc>
                        <a:buNone/>
                      </a:pPr>
                      <a:r>
                        <a:rPr lang="en-US" sz="1160" dirty="0">
                          <a:solidFill>
                            <a:srgbClr val="0B6E99"/>
                          </a:solidFill>
                          <a:latin typeface="Courier New" pitchFamily="34" charset="0"/>
                          <a:ea typeface="Courier New" pitchFamily="34" charset="-122"/>
                          <a:cs typeface="Courier New" pitchFamily="34" charset="-120"/>
                        </a:rPr>
                        <a:t>Moodle</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390"/>
                        </a:lnSpc>
                        <a:buNone/>
                      </a:pPr>
                      <a:r>
                        <a:rPr lang="en-US" sz="1160" dirty="0">
                          <a:solidFill>
                            <a:srgbClr val="101A22"/>
                          </a:solidFill>
                          <a:latin typeface="Courier New" pitchFamily="34" charset="0"/>
                          <a:ea typeface="Courier New" pitchFamily="34" charset="-122"/>
                          <a:cs typeface="Courier New" pitchFamily="34" charset="-120"/>
                        </a:rPr>
                        <a:t>https://localhost</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70"/>
                        </a:lnSpc>
                        <a:buNone/>
                      </a:pPr>
                      <a:r>
                        <a:rPr lang="en-US" sz="1220" dirty="0">
                          <a:solidFill>
                            <a:srgbClr val="101A22"/>
                          </a:solidFill>
                          <a:latin typeface="Arial" pitchFamily="34" charset="0"/>
                          <a:ea typeface="Arial" pitchFamily="34" charset="-122"/>
                          <a:cs typeface="Arial" pitchFamily="34" charset="-120"/>
                        </a:rPr>
                        <a:t>admin / DemoAdmin2026!</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397052">
                <a:tc>
                  <a:txBody>
                    <a:bodyPr/>
                    <a:lstStyle/>
                    <a:p>
                      <a:pPr algn="l" indent="0" marL="0">
                        <a:lnSpc>
                          <a:spcPts val="1390"/>
                        </a:lnSpc>
                        <a:buNone/>
                      </a:pPr>
                      <a:r>
                        <a:rPr lang="en-US" sz="1160" dirty="0">
                          <a:solidFill>
                            <a:srgbClr val="0B6E99"/>
                          </a:solidFill>
                          <a:latin typeface="Courier New" pitchFamily="34" charset="0"/>
                          <a:ea typeface="Courier New" pitchFamily="34" charset="-122"/>
                          <a:cs typeface="Courier New" pitchFamily="34" charset="-120"/>
                        </a:rPr>
                        <a:t>OpenSearch Dashboards</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390"/>
                        </a:lnSpc>
                        <a:buNone/>
                      </a:pPr>
                      <a:r>
                        <a:rPr lang="en-US" sz="1160" dirty="0">
                          <a:solidFill>
                            <a:srgbClr val="101A22"/>
                          </a:solidFill>
                          <a:latin typeface="Courier New" pitchFamily="34" charset="0"/>
                          <a:ea typeface="Courier New" pitchFamily="34" charset="-122"/>
                          <a:cs typeface="Courier New" pitchFamily="34" charset="-120"/>
                        </a:rPr>
                        <a:t>https://localhost:5601</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70"/>
                        </a:lnSpc>
                        <a:buNone/>
                      </a:pPr>
                      <a:r>
                        <a:rPr lang="en-US" sz="1220" dirty="0">
                          <a:solidFill>
                            <a:srgbClr val="101A22"/>
                          </a:solidFill>
                          <a:latin typeface="Arial" pitchFamily="34" charset="0"/>
                          <a:ea typeface="Arial" pitchFamily="34" charset="-122"/>
                          <a:cs typeface="Arial" pitchFamily="34" charset="-120"/>
                        </a:rPr>
                        <a:t>admin / DemoSearch2026!</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r h="397052">
                <a:tc>
                  <a:txBody>
                    <a:bodyPr/>
                    <a:lstStyle/>
                    <a:p>
                      <a:pPr algn="l" indent="0" marL="0">
                        <a:lnSpc>
                          <a:spcPts val="1390"/>
                        </a:lnSpc>
                        <a:buNone/>
                      </a:pPr>
                      <a:r>
                        <a:rPr lang="en-US" sz="1160" dirty="0">
                          <a:solidFill>
                            <a:srgbClr val="0B6E99"/>
                          </a:solidFill>
                          <a:latin typeface="Courier New" pitchFamily="34" charset="0"/>
                          <a:ea typeface="Courier New" pitchFamily="34" charset="-122"/>
                          <a:cs typeface="Courier New" pitchFamily="34" charset="-120"/>
                        </a:rPr>
                        <a:t>OpenSearch</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390"/>
                        </a:lnSpc>
                        <a:buNone/>
                      </a:pPr>
                      <a:r>
                        <a:rPr lang="en-US" sz="1160" dirty="0">
                          <a:solidFill>
                            <a:srgbClr val="101A22"/>
                          </a:solidFill>
                          <a:latin typeface="Courier New" pitchFamily="34" charset="0"/>
                          <a:ea typeface="Courier New" pitchFamily="34" charset="-122"/>
                          <a:cs typeface="Courier New" pitchFamily="34" charset="-120"/>
                        </a:rPr>
                        <a:t>https://localhost:9200</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c>
                  <a:txBody>
                    <a:bodyPr/>
                    <a:lstStyle/>
                    <a:p>
                      <a:pPr algn="l" indent="0" marL="0">
                        <a:lnSpc>
                          <a:spcPts val="1470"/>
                        </a:lnSpc>
                        <a:buNone/>
                      </a:pPr>
                      <a:r>
                        <a:rPr lang="en-US" sz="1220" dirty="0">
                          <a:solidFill>
                            <a:srgbClr val="101A22"/>
                          </a:solidFill>
                          <a:latin typeface="Arial" pitchFamily="34" charset="0"/>
                          <a:ea typeface="Arial" pitchFamily="34" charset="-122"/>
                          <a:cs typeface="Arial" pitchFamily="34" charset="-120"/>
                        </a:rPr>
                        <a:t>admin / DemoSearch2026!</a:t>
                      </a:r>
                      <a:endParaRPr lang="en-US" sz="1200" dirty="0"/>
                    </a:p>
                  </a:txBody>
                  <a:tcPr marL="120815" marR="120815" marT="103556" marB="103556" anchor="t">
                    <a:lnL w="0" cap="flat" cmpd="sng" algn="ctr">
                      <a:noFill/>
                    </a:lnL>
                    <a:lnR w="0" cap="flat" cmpd="sng" algn="ctr">
                      <a:noFill/>
                    </a:lnR>
                    <a:lnT w="0" cap="flat" cmpd="sng" algn="ctr">
                      <a:noFill/>
                    </a:lnT>
                    <a:lnB w="8890" cap="flat" cmpd="sng" algn="ctr">
                      <a:solidFill>
                        <a:srgbClr val="CBD7DF"/>
                      </a:solidFill>
                      <a:prstDash val="solid"/>
                      <a:round/>
                      <a:headEnd type="none" w="med" len="med"/>
                      <a:tailEnd type="none" w="med" len="med"/>
                    </a:lnB>
                  </a:tcPr>
                </a:tc>
              </a:tr>
            </a:tbl>
          </a:graphicData>
        </a:graphic>
      </p:graphicFrame>
      <p:sp>
        <p:nvSpPr>
          <p:cNvPr id="8" name="Text 5"/>
          <p:cNvSpPr txBox="1"/>
          <p:nvPr/>
        </p:nvSpPr>
        <p:spPr>
          <a:xfrm>
            <a:off x="1158751" y="513768"/>
            <a:ext cx="9931650" cy="168315"/>
          </a:xfrm>
          <a:prstGeom prst="rect">
            <a:avLst/>
          </a:prstGeom>
          <a:noFill/>
          <a:ln/>
        </p:spPr>
        <p:txBody>
          <a:bodyPr wrap="none" lIns="0" tIns="0" rIns="0" bIns="0" rtlCol="0" anchor="t"/>
          <a:lstStyle/>
          <a:p>
            <a:pPr algn="l" indent="0" marL="0">
              <a:lnSpc>
                <a:spcPts val="1330"/>
              </a:lnSpc>
              <a:buNone/>
            </a:pPr>
            <a:r>
              <a:rPr lang="en-US" sz="880" spc="140" kern="0" dirty="0">
                <a:solidFill>
                  <a:srgbClr val="0B6E99"/>
                </a:solidFill>
                <a:latin typeface="Courier New" pitchFamily="34" charset="0"/>
                <a:ea typeface="Courier New" pitchFamily="34" charset="-122"/>
                <a:cs typeface="Courier New" pitchFamily="34" charset="-120"/>
              </a:rPr>
              <a:t>THE DEMO ENVIRONMENT</a:t>
            </a:r>
            <a:endParaRPr lang="en-US" sz="880" dirty="0"/>
          </a:p>
        </p:txBody>
      </p:sp>
      <p:sp>
        <p:nvSpPr>
          <p:cNvPr id="9" name="Text 6"/>
          <p:cNvSpPr txBox="1"/>
          <p:nvPr/>
        </p:nvSpPr>
        <p:spPr>
          <a:xfrm>
            <a:off x="1158751" y="822557"/>
            <a:ext cx="9931650" cy="783044"/>
          </a:xfrm>
          <a:prstGeom prst="rect">
            <a:avLst/>
          </a:prstGeom>
          <a:noFill/>
          <a:ln/>
        </p:spPr>
        <p:txBody>
          <a:bodyPr wrap="square" lIns="0" tIns="0" rIns="0" bIns="0" rtlCol="0" anchor="t"/>
          <a:lstStyle/>
          <a:p>
            <a:pPr algn="l" indent="0" marL="0">
              <a:lnSpc>
                <a:spcPts val="3080"/>
              </a:lnSpc>
              <a:buNone/>
            </a:pPr>
            <a:r>
              <a:rPr lang="en-US" sz="2850" b="1" spc="-60" kern="0" dirty="0">
                <a:solidFill>
                  <a:srgbClr val="101A22"/>
                </a:solidFill>
                <a:latin typeface="Arial" pitchFamily="34" charset="0"/>
                <a:ea typeface="Arial" pitchFamily="34" charset="-122"/>
                <a:cs typeface="Arial" pitchFamily="34" charset="-120"/>
              </a:rPr>
              <a:t>Start the demo environment on your computer with Docker Compose</a:t>
            </a:r>
            <a:endParaRPr lang="en-US" sz="2850" dirty="0"/>
          </a:p>
        </p:txBody>
      </p:sp>
      <p:sp>
        <p:nvSpPr>
          <p:cNvPr id="10" name="Text 7"/>
          <p:cNvSpPr txBox="1"/>
          <p:nvPr/>
        </p:nvSpPr>
        <p:spPr>
          <a:xfrm>
            <a:off x="1158751" y="1812762"/>
            <a:ext cx="9931650" cy="472578"/>
          </a:xfrm>
          <a:prstGeom prst="rect">
            <a:avLst/>
          </a:prstGeom>
          <a:noFill/>
          <a:ln/>
        </p:spPr>
        <p:txBody>
          <a:bodyPr wrap="square" lIns="0" tIns="0" rIns="0" bIns="0" rtlCol="0" anchor="t"/>
          <a:lstStyle/>
          <a:p>
            <a:pPr algn="l" indent="0" marL="0">
              <a:lnSpc>
                <a:spcPts val="1830"/>
              </a:lnSpc>
              <a:buNone/>
            </a:pPr>
            <a:r>
              <a:rPr lang="en-US" sz="1360" dirty="0">
                <a:solidFill>
                  <a:srgbClr val="101A22"/>
                </a:solidFill>
                <a:latin typeface="Arial" pitchFamily="34" charset="0"/>
                <a:ea typeface="Arial" pitchFamily="34" charset="-122"/>
                <a:cs typeface="Arial" pitchFamily="34" charset="-120"/>
              </a:rPr>
              <a:t>The folder </a:t>
            </a:r>
            <a:pPr algn="l" indent="0" marL="0">
              <a:lnSpc>
                <a:spcPts val="1830"/>
              </a:lnSpc>
              <a:buNone/>
            </a:pPr>
            <a:r>
              <a:rPr lang="en-US" sz="1200" dirty="0">
                <a:solidFill>
                  <a:srgbClr val="101A22"/>
                </a:solidFill>
                <a:highlight>
                  <a:srgbClr val="E1F0F7"/>
                </a:highlight>
                <a:latin typeface="Courier New" pitchFamily="34" charset="0"/>
                <a:ea typeface="Courier New" pitchFamily="34" charset="-122"/>
                <a:cs typeface="Courier New" pitchFamily="34" charset="-120"/>
              </a:rPr>
              <a:t>Moodle-Otel-Opensearch/</a:t>
            </a:r>
            <a:pPr algn="l" indent="0" marL="0">
              <a:lnSpc>
                <a:spcPts val="1830"/>
              </a:lnSpc>
              <a:buNone/>
            </a:pPr>
            <a:r>
              <a:rPr lang="en-US" sz="1360" dirty="0">
                <a:solidFill>
                  <a:srgbClr val="101A22"/>
                </a:solidFill>
                <a:latin typeface="Arial" pitchFamily="34" charset="0"/>
                <a:ea typeface="Arial" pitchFamily="34" charset="-122"/>
                <a:cs typeface="Arial" pitchFamily="34" charset="-120"/>
              </a:rPr>
              <a:t> at https://github.com/netsapiensis/MoodleMootNordic2026 has the demo files. Your computer needs Docker Compose v2 and about 3 GB of free memory. One command starts every container.</a:t>
            </a:r>
            <a:endParaRPr lang="en-US" sz="1360" dirty="0"/>
          </a:p>
        </p:txBody>
      </p:sp>
      <p:sp>
        <p:nvSpPr>
          <p:cNvPr id="11" name="Text 8"/>
          <p:cNvSpPr txBox="1"/>
          <p:nvPr/>
        </p:nvSpPr>
        <p:spPr>
          <a:xfrm>
            <a:off x="1348603" y="2576621"/>
            <a:ext cx="9551945" cy="375541"/>
          </a:xfrm>
          <a:prstGeom prst="rect">
            <a:avLst/>
          </a:prstGeom>
          <a:noFill/>
          <a:ln/>
        </p:spPr>
        <p:txBody>
          <a:bodyPr wrap="square" lIns="0" tIns="0" rIns="0" bIns="0" rtlCol="0" anchor="t"/>
          <a:lstStyle/>
          <a:p>
            <a:pPr algn="l" indent="0" marL="0">
              <a:lnSpc>
                <a:spcPts val="1480"/>
              </a:lnSpc>
              <a:buNone/>
            </a:pPr>
            <a:r>
              <a:rPr lang="en-US" sz="1020" dirty="0">
                <a:solidFill>
                  <a:srgbClr val="E4EDF2"/>
                </a:solidFill>
                <a:latin typeface="Courier New" pitchFamily="34" charset="0"/>
                <a:ea typeface="Courier New" pitchFamily="34" charset="-122"/>
                <a:cs typeface="Courier New" pitchFamily="34" charset="-120"/>
              </a:rPr>
              <a:t>cd Moodle-Otel-Opensearch/compose</a:t>
            </a:r>
            <a:endParaRPr lang="en-US" sz="1020" dirty="0"/>
          </a:p>
          <a:p>
            <a:pPr algn="l" indent="0" marL="0">
              <a:lnSpc>
                <a:spcPts val="1480"/>
              </a:lnSpc>
              <a:buNone/>
            </a:pPr>
            <a:r>
              <a:rPr lang="en-US" sz="1020" dirty="0">
                <a:solidFill>
                  <a:srgbClr val="E4EDF2"/>
                </a:solidFill>
                <a:latin typeface="Courier New" pitchFamily="34" charset="0"/>
                <a:ea typeface="Courier New" pitchFamily="34" charset="-122"/>
                <a:cs typeface="Courier New" pitchFamily="34" charset="-120"/>
              </a:rPr>
              <a:t>docker compose up --build        </a:t>
            </a:r>
            <a:pPr algn="l" indent="0" marL="0">
              <a:lnSpc>
                <a:spcPts val="1480"/>
              </a:lnSpc>
              <a:buNone/>
            </a:pPr>
            <a:r>
              <a:rPr lang="en-US" sz="1020" dirty="0">
                <a:solidFill>
                  <a:srgbClr val="86A5B4"/>
                </a:solidFill>
                <a:latin typeface="Courier New" pitchFamily="34" charset="0"/>
                <a:ea typeface="Courier New" pitchFamily="34" charset="-122"/>
                <a:cs typeface="Courier New" pitchFamily="34" charset="-120"/>
              </a:rPr>
              <a:t># the first run builds the Moodle image: 5–10 minutes</a:t>
            </a:r>
            <a:endParaRPr lang="en-US" sz="1020" dirty="0"/>
          </a:p>
        </p:txBody>
      </p:sp>
      <p:sp>
        <p:nvSpPr>
          <p:cNvPr id="12" name="Text 9"/>
          <p:cNvSpPr txBox="1"/>
          <p:nvPr/>
        </p:nvSpPr>
        <p:spPr>
          <a:xfrm>
            <a:off x="1417640" y="4948175"/>
            <a:ext cx="9672760" cy="233051"/>
          </a:xfrm>
          <a:prstGeom prst="rect">
            <a:avLst/>
          </a:prstGeom>
          <a:noFill/>
          <a:ln/>
        </p:spPr>
        <p:txBody>
          <a:bodyPr wrap="none" lIns="0" tIns="0" rIns="0" bIns="0" rtlCol="0" anchor="t"/>
          <a:lstStyle/>
          <a:p>
            <a:pPr algn="l" indent="0" marL="0">
              <a:lnSpc>
                <a:spcPts val="1830"/>
              </a:lnSpc>
              <a:buNone/>
            </a:pPr>
            <a:r>
              <a:rPr lang="en-US" sz="1360" dirty="0">
                <a:solidFill>
                  <a:srgbClr val="101A22"/>
                </a:solidFill>
                <a:latin typeface="Arial" pitchFamily="34" charset="0"/>
                <a:ea typeface="Arial" pitchFamily="34" charset="-122"/>
                <a:cs typeface="Arial" pitchFamily="34" charset="-120"/>
              </a:rPr>
              <a:t>The stack uses one self-signed certificate, so the browser warns once for each of the three addresses.</a:t>
            </a:r>
            <a:endParaRPr lang="en-US" sz="1360" dirty="0"/>
          </a:p>
        </p:txBody>
      </p:sp>
      <p:sp>
        <p:nvSpPr>
          <p:cNvPr id="13" name="Text 10"/>
          <p:cNvSpPr txBox="1"/>
          <p:nvPr/>
        </p:nvSpPr>
        <p:spPr>
          <a:xfrm>
            <a:off x="1417640" y="5250278"/>
            <a:ext cx="9672760" cy="239526"/>
          </a:xfrm>
          <a:prstGeom prst="rect">
            <a:avLst/>
          </a:prstGeom>
          <a:noFill/>
          <a:ln/>
        </p:spPr>
        <p:txBody>
          <a:bodyPr wrap="none" lIns="0" tIns="0" rIns="0" bIns="0" rtlCol="0" anchor="t"/>
          <a:lstStyle/>
          <a:p>
            <a:pPr algn="l" indent="0" marL="0">
              <a:lnSpc>
                <a:spcPts val="1830"/>
              </a:lnSpc>
              <a:buNone/>
            </a:pPr>
            <a:r>
              <a:rPr lang="en-US" sz="1360" dirty="0">
                <a:solidFill>
                  <a:srgbClr val="101A22"/>
                </a:solidFill>
                <a:latin typeface="Arial" pitchFamily="34" charset="0"/>
                <a:ea typeface="Arial" pitchFamily="34" charset="-122"/>
                <a:cs typeface="Arial" pitchFamily="34" charset="-120"/>
              </a:rPr>
              <a:t>The passwords are written as plain text in the files of the </a:t>
            </a:r>
            <a:pPr algn="l" indent="0" marL="0">
              <a:lnSpc>
                <a:spcPts val="1830"/>
              </a:lnSpc>
              <a:buNone/>
            </a:pPr>
            <a:r>
              <a:rPr lang="en-US" sz="1200" dirty="0">
                <a:solidFill>
                  <a:srgbClr val="101A22"/>
                </a:solidFill>
                <a:highlight>
                  <a:srgbClr val="E1F0F7"/>
                </a:highlight>
                <a:latin typeface="Courier New" pitchFamily="34" charset="0"/>
                <a:ea typeface="Courier New" pitchFamily="34" charset="-122"/>
                <a:cs typeface="Courier New" pitchFamily="34" charset="-120"/>
              </a:rPr>
              <a:t>compose/</a:t>
            </a:r>
            <a:pPr algn="l" indent="0" marL="0">
              <a:lnSpc>
                <a:spcPts val="1830"/>
              </a:lnSpc>
              <a:buNone/>
            </a:pPr>
            <a:r>
              <a:rPr lang="en-US" sz="1360" dirty="0">
                <a:solidFill>
                  <a:srgbClr val="101A22"/>
                </a:solidFill>
                <a:latin typeface="Arial" pitchFamily="34" charset="0"/>
                <a:ea typeface="Arial" pitchFamily="34" charset="-122"/>
                <a:cs typeface="Arial" pitchFamily="34" charset="-120"/>
              </a:rPr>
              <a:t> folder, and the ports are open on your computer only.</a:t>
            </a:r>
            <a:endParaRPr lang="en-US" sz="1360" dirty="0"/>
          </a:p>
        </p:txBody>
      </p:sp>
      <p:sp>
        <p:nvSpPr>
          <p:cNvPr id="14" name="Text 11"/>
          <p:cNvSpPr txBox="1"/>
          <p:nvPr/>
        </p:nvSpPr>
        <p:spPr>
          <a:xfrm>
            <a:off x="1417640" y="5558857"/>
            <a:ext cx="9672760" cy="233052"/>
          </a:xfrm>
          <a:prstGeom prst="rect">
            <a:avLst/>
          </a:prstGeom>
          <a:noFill/>
          <a:ln/>
        </p:spPr>
        <p:txBody>
          <a:bodyPr wrap="none" lIns="0" tIns="0" rIns="0" bIns="0" rtlCol="0" anchor="t"/>
          <a:lstStyle/>
          <a:p>
            <a:pPr algn="l" indent="0" marL="0">
              <a:lnSpc>
                <a:spcPts val="1830"/>
              </a:lnSpc>
              <a:buNone/>
            </a:pPr>
            <a:r>
              <a:rPr lang="en-US" sz="1360" dirty="0">
                <a:solidFill>
                  <a:srgbClr val="101A22"/>
                </a:solidFill>
                <a:latin typeface="Arial" pitchFamily="34" charset="0"/>
                <a:ea typeface="Arial" pitchFamily="34" charset="-122"/>
                <a:cs typeface="Arial" pitchFamily="34" charset="-120"/>
              </a:rPr>
              <a:t>The stack is for a demo. Change the passwords and the certificate before other machines can reach it.</a:t>
            </a:r>
            <a:endParaRPr lang="en-US" sz="1360" dirty="0"/>
          </a:p>
        </p:txBody>
      </p:sp>
      <p:sp>
        <p:nvSpPr>
          <p:cNvPr id="15" name="Text 12"/>
          <p:cNvSpPr txBox="1"/>
          <p:nvPr/>
        </p:nvSpPr>
        <p:spPr>
          <a:xfrm>
            <a:off x="647700" y="6464670"/>
            <a:ext cx="354509" cy="142875"/>
          </a:xfrm>
          <a:prstGeom prst="rect">
            <a:avLst/>
          </a:prstGeom>
          <a:noFill/>
          <a:ln/>
        </p:spPr>
        <p:txBody>
          <a:bodyPr wrap="none" lIns="0" tIns="0" rIns="0" bIns="0" rtlCol="0" anchor="t"/>
          <a:lstStyle/>
          <a:p>
            <a:pPr algn="l" indent="0" marL="0">
              <a:lnSpc>
                <a:spcPts val="1060"/>
              </a:lnSpc>
              <a:buNone/>
            </a:pPr>
            <a:r>
              <a:rPr lang="en-US" sz="880" dirty="0">
                <a:solidFill>
                  <a:srgbClr val="8496A2"/>
                </a:solidFill>
                <a:latin typeface="Courier New" pitchFamily="34" charset="0"/>
                <a:ea typeface="Courier New" pitchFamily="34" charset="-122"/>
                <a:cs typeface="Courier New" pitchFamily="34" charset="-120"/>
              </a:rPr>
              <a:t>Demo</a:t>
            </a:r>
            <a:endParaRPr lang="en-US" sz="880" dirty="0"/>
          </a:p>
        </p:txBody>
      </p:sp>
      <p:sp>
        <p:nvSpPr>
          <p:cNvPr id="16" name="Text 13"/>
          <p:cNvSpPr txBox="1"/>
          <p:nvPr/>
        </p:nvSpPr>
        <p:spPr>
          <a:xfrm>
            <a:off x="11024146" y="6464670"/>
            <a:ext cx="577304" cy="142875"/>
          </a:xfrm>
          <a:prstGeom prst="rect">
            <a:avLst/>
          </a:prstGeom>
          <a:noFill/>
          <a:ln/>
        </p:spPr>
        <p:txBody>
          <a:bodyPr wrap="none" lIns="0" tIns="0" rIns="0" bIns="0" rtlCol="0" anchor="t"/>
          <a:lstStyle/>
          <a:p>
            <a:pPr algn="l" indent="0" marL="0">
              <a:lnSpc>
                <a:spcPts val="1060"/>
              </a:lnSpc>
              <a:buNone/>
            </a:pPr>
            <a:r>
              <a:rPr lang="en-US" sz="880" dirty="0">
                <a:solidFill>
                  <a:srgbClr val="8496A2"/>
                </a:solidFill>
                <a:latin typeface="Courier New" pitchFamily="34" charset="0"/>
                <a:ea typeface="Courier New" pitchFamily="34" charset="-122"/>
                <a:cs typeface="Courier New" pitchFamily="34" charset="-120"/>
              </a:rPr>
              <a:t>36 / 39</a:t>
            </a:r>
            <a:endParaRPr lang="en-US" sz="8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6350">
            <a:solidFill>
              <a:srgbClr val="CBD7DF"/>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2114383" y="1263312"/>
          <a:ext cx="7963235" cy="914400"/>
        </p:xfrm>
        <a:graphic>
          <a:graphicData uri="http://schemas.openxmlformats.org/drawingml/2006/table">
            <a:tbl>
              <a:tblPr/>
              <a:tblGrid>
                <a:gridCol w="1686271"/>
                <a:gridCol w="2964460"/>
                <a:gridCol w="2675476"/>
                <a:gridCol w="637028"/>
              </a:tblGrid>
              <a:tr h="281915">
                <a:tc>
                  <a:txBody>
                    <a:bodyPr/>
                    <a:lstStyle/>
                    <a:p>
                      <a:pPr algn="l" indent="0" marL="0">
                        <a:lnSpc>
                          <a:spcPts val="920"/>
                        </a:lnSpc>
                        <a:buNone/>
                      </a:pPr>
                      <a:r>
                        <a:rPr lang="en-US" sz="770" b="1" spc="80" kern="0" dirty="0">
                          <a:solidFill>
                            <a:srgbClr val="5A6D7A"/>
                          </a:solidFill>
                          <a:latin typeface="Arial" pitchFamily="34" charset="0"/>
                          <a:ea typeface="Arial" pitchFamily="34" charset="-122"/>
                          <a:cs typeface="Arial" pitchFamily="34" charset="-120"/>
                        </a:rPr>
                        <a:t>CONTAINER</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920"/>
                        </a:lnSpc>
                        <a:buNone/>
                      </a:pPr>
                      <a:r>
                        <a:rPr lang="en-US" sz="770" b="1" spc="80" kern="0" dirty="0">
                          <a:solidFill>
                            <a:srgbClr val="5A6D7A"/>
                          </a:solidFill>
                          <a:latin typeface="Arial" pitchFamily="34" charset="0"/>
                          <a:ea typeface="Arial" pitchFamily="34" charset="-122"/>
                          <a:cs typeface="Arial" pitchFamily="34" charset="-120"/>
                        </a:rPr>
                        <a:t>IMAGE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920"/>
                        </a:lnSpc>
                        <a:buNone/>
                      </a:pPr>
                      <a:r>
                        <a:rPr lang="en-US" sz="770" b="1" spc="80" kern="0" dirty="0">
                          <a:solidFill>
                            <a:srgbClr val="5A6D7A"/>
                          </a:solidFill>
                          <a:latin typeface="Arial" pitchFamily="34" charset="0"/>
                          <a:ea typeface="Arial" pitchFamily="34" charset="-122"/>
                          <a:cs typeface="Arial" pitchFamily="34" charset="-120"/>
                        </a:rPr>
                        <a:t>WHAT IT DOES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920"/>
                        </a:lnSpc>
                        <a:buNone/>
                      </a:pPr>
                      <a:r>
                        <a:rPr lang="en-US" sz="770" b="1" spc="80" kern="0" dirty="0">
                          <a:solidFill>
                            <a:srgbClr val="5A6D7A"/>
                          </a:solidFill>
                          <a:latin typeface="Arial" pitchFamily="34" charset="0"/>
                          <a:ea typeface="Arial" pitchFamily="34" charset="-122"/>
                          <a:cs typeface="Arial" pitchFamily="34" charset="-120"/>
                        </a:rPr>
                        <a:t>RUNS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424613">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certs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alpine/openssl</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Writes the self-signed certificate to </a:t>
                      </a:r>
                      <a:pPr algn="l" indent="0" marL="0">
                        <a:lnSpc>
                          <a:spcPts val="1050"/>
                        </a:lnSpc>
                        <a:buNone/>
                      </a:pPr>
                      <a:r>
                        <a:rPr lang="en-US" sz="770" dirty="0">
                          <a:solidFill>
                            <a:srgbClr val="101A22"/>
                          </a:solidFill>
                          <a:highlight>
                            <a:srgbClr val="E1F0F7"/>
                          </a:highlight>
                          <a:latin typeface="Courier New" pitchFamily="34" charset="0"/>
                          <a:ea typeface="Courier New" pitchFamily="34" charset="-122"/>
                          <a:cs typeface="Courier New" pitchFamily="34" charset="-120"/>
                        </a:rPr>
                        <a:t>compose/certs/</a:t>
                      </a:r>
                      <a:pPr algn="l" indent="0" marL="0">
                        <a:lnSpc>
                          <a:spcPts val="1050"/>
                        </a:lnSpc>
                        <a:buNone/>
                      </a:pPr>
                      <a:r>
                        <a:rPr lang="en-US" sz="880" dirty="0">
                          <a:solidFill>
                            <a:srgbClr val="101A22"/>
                          </a:solidFill>
                          <a:latin typeface="Arial" pitchFamily="34" charset="0"/>
                          <a:ea typeface="Arial" pitchFamily="34" charset="-122"/>
                          <a:cs typeface="Arial" pitchFamily="34" charset="-120"/>
                        </a:rPr>
                        <a:t> on the first start.</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once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306278">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mariadb</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mariadb:11.4</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Holds the Moodle database.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always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424613">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opensearch</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opensearch:3.8.0</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Stores and searches the events and the timing data. https on port 9200.</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always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424613">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opensearch-init</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opensearch:3.8.0</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Creates the user and role the OpenTelemetry Collector logs in with.</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once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424613">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opensearch-dashboards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opensearch-dashboards:3.8.0</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Shows the screens Discover and Trace analytics. https on port 5601.</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always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424613">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dashboards-init</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opensearch:3.8.0</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Loads the dashboard "Moodle events" with six charts into OpenSearch Dashboards.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once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549909">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otelcol</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opentelemetry-collector-contrib:0.161.0</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Runs the OpenTelemetry Collector, which receives the events and the timing data from Moodle and sends them to OpenSearch.</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always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306278">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moodle-init</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built from </a:t>
                      </a:r>
                      <a:pPr algn="l" indent="0" marL="0">
                        <a:lnSpc>
                          <a:spcPts val="1120"/>
                        </a:lnSpc>
                        <a:buNone/>
                      </a:pPr>
                      <a:r>
                        <a:rPr lang="en-US" sz="820" dirty="0">
                          <a:solidFill>
                            <a:srgbClr val="101A22"/>
                          </a:solidFill>
                          <a:highlight>
                            <a:srgbClr val="E1F0F7"/>
                          </a:highlight>
                          <a:latin typeface="Courier New" pitchFamily="34" charset="0"/>
                          <a:ea typeface="Courier New" pitchFamily="34" charset="-122"/>
                          <a:cs typeface="Courier New" pitchFamily="34" charset="-120"/>
                        </a:rPr>
                        <a:t>docker/Dockerfile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Installs the Moodle database on the first start.</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once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549909">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moodle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the same built image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Runs Moodle 5.2 with the OpenTelemetry PHP extension and both PHP Composer packages. https on port 443.</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always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r h="424613">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moodle-cron</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120"/>
                        </a:lnSpc>
                        <a:buNone/>
                      </a:pPr>
                      <a:r>
                        <a:rPr lang="en-US" sz="930" dirty="0">
                          <a:solidFill>
                            <a:srgbClr val="101A22"/>
                          </a:solidFill>
                          <a:latin typeface="Courier New" pitchFamily="34" charset="0"/>
                          <a:ea typeface="Courier New" pitchFamily="34" charset="-122"/>
                          <a:cs typeface="Courier New" pitchFamily="34" charset="-120"/>
                        </a:rPr>
                        <a:t>the same built image</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Runs Moodle cron every minute, so the timing data of scheduled tasks exists too.</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c>
                  <a:txBody>
                    <a:bodyPr/>
                    <a:lstStyle/>
                    <a:p>
                      <a:pPr algn="l" indent="0" marL="0">
                        <a:lnSpc>
                          <a:spcPts val="1050"/>
                        </a:lnSpc>
                        <a:buNone/>
                      </a:pPr>
                      <a:r>
                        <a:rPr lang="en-US" sz="880" dirty="0">
                          <a:solidFill>
                            <a:srgbClr val="101A22"/>
                          </a:solidFill>
                          <a:latin typeface="Arial" pitchFamily="34" charset="0"/>
                          <a:ea typeface="Arial" pitchFamily="34" charset="-122"/>
                          <a:cs typeface="Arial" pitchFamily="34" charset="-120"/>
                        </a:rPr>
                        <a:t>always</a:t>
                      </a:r>
                      <a:endParaRPr lang="en-US" sz="1200" dirty="0"/>
                    </a:p>
                  </a:txBody>
                  <a:tcPr marL="97479" marR="97479" marT="83553" marB="83553" anchor="t">
                    <a:lnL w="0" cap="flat" cmpd="sng" algn="ctr">
                      <a:noFill/>
                    </a:lnL>
                    <a:lnR w="0" cap="flat" cmpd="sng" algn="ctr">
                      <a:noFill/>
                    </a:lnR>
                    <a:lnT w="0" cap="flat" cmpd="sng" algn="ctr">
                      <a:noFill/>
                    </a:lnT>
                    <a:lnB w="6350" cap="flat" cmpd="sng" algn="ctr">
                      <a:solidFill>
                        <a:srgbClr val="CBD7DF"/>
                      </a:solidFill>
                      <a:prstDash val="solid"/>
                      <a:round/>
                      <a:headEnd type="none" w="med" len="med"/>
                      <a:tailEnd type="none" w="med" len="med"/>
                    </a:lnB>
                  </a:tcPr>
                </a:tc>
              </a:tr>
            </a:tbl>
          </a:graphicData>
        </a:graphic>
      </p:graphicFrame>
      <p:sp>
        <p:nvSpPr>
          <p:cNvPr id="4" name="Text 1"/>
          <p:cNvSpPr txBox="1"/>
          <p:nvPr/>
        </p:nvSpPr>
        <p:spPr>
          <a:xfrm>
            <a:off x="2114383" y="517560"/>
            <a:ext cx="8020385" cy="135774"/>
          </a:xfrm>
          <a:prstGeom prst="rect">
            <a:avLst/>
          </a:prstGeom>
          <a:noFill/>
          <a:ln/>
        </p:spPr>
        <p:txBody>
          <a:bodyPr wrap="none" lIns="0" tIns="0" rIns="0" bIns="0" rtlCol="0" anchor="t"/>
          <a:lstStyle/>
          <a:p>
            <a:pPr algn="l" indent="0" marL="0">
              <a:lnSpc>
                <a:spcPts val="1070"/>
              </a:lnSpc>
              <a:buNone/>
            </a:pPr>
            <a:r>
              <a:rPr lang="en-US" sz="710" spc="110" kern="0" dirty="0">
                <a:solidFill>
                  <a:srgbClr val="0B6E99"/>
                </a:solidFill>
                <a:latin typeface="Courier New" pitchFamily="34" charset="0"/>
                <a:ea typeface="Courier New" pitchFamily="34" charset="-122"/>
                <a:cs typeface="Courier New" pitchFamily="34" charset="-120"/>
              </a:rPr>
              <a:t>THE DOCKER COMPOSE STACK</a:t>
            </a:r>
            <a:endParaRPr lang="en-US" sz="710" dirty="0"/>
          </a:p>
        </p:txBody>
      </p:sp>
      <p:sp>
        <p:nvSpPr>
          <p:cNvPr id="5" name="Text 2"/>
          <p:cNvSpPr txBox="1"/>
          <p:nvPr/>
        </p:nvSpPr>
        <p:spPr>
          <a:xfrm>
            <a:off x="2114383" y="766589"/>
            <a:ext cx="8020385" cy="315831"/>
          </a:xfrm>
          <a:prstGeom prst="rect">
            <a:avLst/>
          </a:prstGeom>
          <a:noFill/>
          <a:ln/>
        </p:spPr>
        <p:txBody>
          <a:bodyPr wrap="none" lIns="0" tIns="0" rIns="0" bIns="0" rtlCol="0" anchor="t"/>
          <a:lstStyle/>
          <a:p>
            <a:pPr algn="l" indent="0" marL="0">
              <a:lnSpc>
                <a:spcPts val="2490"/>
              </a:lnSpc>
              <a:buNone/>
            </a:pPr>
            <a:r>
              <a:rPr lang="en-US" sz="2300" b="1" spc="-50" kern="0" dirty="0">
                <a:solidFill>
                  <a:srgbClr val="101A22"/>
                </a:solidFill>
                <a:latin typeface="Arial" pitchFamily="34" charset="0"/>
                <a:ea typeface="Arial" pitchFamily="34" charset="-122"/>
                <a:cs typeface="Arial" pitchFamily="34" charset="-120"/>
              </a:rPr>
              <a:t>Docker Compose starts ten containers in this order</a:t>
            </a:r>
            <a:endParaRPr lang="en-US" sz="2300" dirty="0"/>
          </a:p>
        </p:txBody>
      </p:sp>
      <p:sp>
        <p:nvSpPr>
          <p:cNvPr id="6" name="Text 3"/>
          <p:cNvSpPr txBox="1"/>
          <p:nvPr/>
        </p:nvSpPr>
        <p:spPr>
          <a:xfrm>
            <a:off x="647700" y="6465212"/>
            <a:ext cx="354509" cy="142875"/>
          </a:xfrm>
          <a:prstGeom prst="rect">
            <a:avLst/>
          </a:prstGeom>
          <a:noFill/>
          <a:ln/>
        </p:spPr>
        <p:txBody>
          <a:bodyPr wrap="none" lIns="0" tIns="0" rIns="0" bIns="0" rtlCol="0" anchor="t"/>
          <a:lstStyle/>
          <a:p>
            <a:pPr algn="l" indent="0" marL="0">
              <a:lnSpc>
                <a:spcPts val="860"/>
              </a:lnSpc>
              <a:buNone/>
            </a:pPr>
            <a:r>
              <a:rPr lang="en-US" sz="710" dirty="0">
                <a:solidFill>
                  <a:srgbClr val="8496A2"/>
                </a:solidFill>
                <a:latin typeface="Courier New" pitchFamily="34" charset="0"/>
                <a:ea typeface="Courier New" pitchFamily="34" charset="-122"/>
                <a:cs typeface="Courier New" pitchFamily="34" charset="-120"/>
              </a:rPr>
              <a:t>Demo</a:t>
            </a:r>
            <a:endParaRPr lang="en-US" sz="710" dirty="0"/>
          </a:p>
        </p:txBody>
      </p:sp>
      <p:sp>
        <p:nvSpPr>
          <p:cNvPr id="7" name="Text 4"/>
          <p:cNvSpPr txBox="1"/>
          <p:nvPr/>
        </p:nvSpPr>
        <p:spPr>
          <a:xfrm>
            <a:off x="11024146" y="6465212"/>
            <a:ext cx="577304" cy="142875"/>
          </a:xfrm>
          <a:prstGeom prst="rect">
            <a:avLst/>
          </a:prstGeom>
          <a:noFill/>
          <a:ln/>
        </p:spPr>
        <p:txBody>
          <a:bodyPr wrap="none" lIns="0" tIns="0" rIns="0" bIns="0" rtlCol="0" anchor="t"/>
          <a:lstStyle/>
          <a:p>
            <a:pPr algn="l" indent="0" marL="0">
              <a:lnSpc>
                <a:spcPts val="860"/>
              </a:lnSpc>
              <a:buNone/>
            </a:pPr>
            <a:r>
              <a:rPr lang="en-US" sz="710" dirty="0">
                <a:solidFill>
                  <a:srgbClr val="8496A2"/>
                </a:solidFill>
                <a:latin typeface="Courier New" pitchFamily="34" charset="0"/>
                <a:ea typeface="Courier New" pitchFamily="34" charset="-122"/>
                <a:cs typeface="Courier New" pitchFamily="34" charset="-120"/>
              </a:rPr>
              <a:t>37 / 39</a:t>
            </a:r>
            <a:endParaRPr lang="en-US" sz="71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8890">
            <a:solidFill>
              <a:srgbClr val="CBD7DF"/>
            </a:solidFill>
            <a:prstDash val="solid"/>
          </a:ln>
        </p:spPr>
      </p:sp>
      <p:pic>
        <p:nvPicPr>
          <p:cNvPr id="3" name="Image 0" descr="OpenSearch Dashboards Discover on the otel-v1-logs-* index pattern, last seven days: a histogram of events per three hours with a daytime pattern, then a table of 3,143 results with the columns time, body, event name, user id, course id and crud; the first rows are a course module viewed and a logout.">    </p:cNvPr>
          <p:cNvPicPr>
            <a:picLocks noChangeAspect="1"/>
          </p:cNvPicPr>
          <p:nvPr/>
        </p:nvPicPr>
        <p:blipFill>
          <a:blip r:embed="rId1"/>
          <a:stretch>
            <a:fillRect/>
          </a:stretch>
        </p:blipFill>
        <p:spPr>
          <a:xfrm>
            <a:off x="959343" y="1475055"/>
            <a:ext cx="10291274" cy="4127230"/>
          </a:xfrm>
          <a:prstGeom prst="rect">
            <a:avLst/>
          </a:prstGeom>
        </p:spPr>
      </p:pic>
      <p:sp>
        <p:nvSpPr>
          <p:cNvPr id="4" name="Text 1"/>
          <p:cNvSpPr txBox="1"/>
          <p:nvPr/>
        </p:nvSpPr>
        <p:spPr>
          <a:xfrm>
            <a:off x="959343" y="512966"/>
            <a:ext cx="10330465" cy="175150"/>
          </a:xfrm>
          <a:prstGeom prst="rect">
            <a:avLst/>
          </a:prstGeom>
          <a:noFill/>
          <a:ln/>
        </p:spPr>
        <p:txBody>
          <a:bodyPr wrap="none" lIns="0" tIns="0" rIns="0" bIns="0" rtlCol="0" anchor="t"/>
          <a:lstStyle/>
          <a:p>
            <a:pPr algn="l" indent="0" marL="0">
              <a:lnSpc>
                <a:spcPts val="1380"/>
              </a:lnSpc>
              <a:buNone/>
            </a:pPr>
            <a:r>
              <a:rPr lang="en-US" sz="920" spc="150" kern="0" dirty="0">
                <a:solidFill>
                  <a:srgbClr val="0B6E99"/>
                </a:solidFill>
                <a:latin typeface="Courier New" pitchFamily="34" charset="0"/>
                <a:ea typeface="Courier New" pitchFamily="34" charset="-122"/>
                <a:cs typeface="Courier New" pitchFamily="34" charset="-120"/>
              </a:rPr>
              <a:t>DEMO · IN PICTURES</a:t>
            </a:r>
            <a:endParaRPr lang="en-US" sz="920" dirty="0"/>
          </a:p>
        </p:txBody>
      </p:sp>
      <p:sp>
        <p:nvSpPr>
          <p:cNvPr id="5" name="Text 2"/>
          <p:cNvSpPr txBox="1"/>
          <p:nvPr/>
        </p:nvSpPr>
        <p:spPr>
          <a:xfrm>
            <a:off x="959343" y="834236"/>
            <a:ext cx="10330465" cy="407427"/>
          </a:xfrm>
          <a:prstGeom prst="rect">
            <a:avLst/>
          </a:prstGeom>
          <a:noFill/>
          <a:ln/>
        </p:spPr>
        <p:txBody>
          <a:bodyPr wrap="none" lIns="0" tIns="0" rIns="0" bIns="0" rtlCol="0" anchor="t"/>
          <a:lstStyle/>
          <a:p>
            <a:pPr algn="l" indent="0" marL="0">
              <a:lnSpc>
                <a:spcPts val="3210"/>
              </a:lnSpc>
              <a:buNone/>
            </a:pPr>
            <a:r>
              <a:rPr lang="en-US" sz="2970" b="1" spc="-60" kern="0" dirty="0">
                <a:solidFill>
                  <a:srgbClr val="101A22"/>
                </a:solidFill>
                <a:latin typeface="Arial" pitchFamily="34" charset="0"/>
                <a:ea typeface="Arial" pitchFamily="34" charset="-122"/>
                <a:cs typeface="Arial" pitchFamily="34" charset="-120"/>
              </a:rPr>
              <a:t>Discover shows one row for each Moodle event</a:t>
            </a:r>
            <a:endParaRPr lang="en-US" sz="2970" dirty="0"/>
          </a:p>
        </p:txBody>
      </p:sp>
      <p:sp>
        <p:nvSpPr>
          <p:cNvPr id="6" name="Text 3"/>
          <p:cNvSpPr txBox="1"/>
          <p:nvPr/>
        </p:nvSpPr>
        <p:spPr>
          <a:xfrm>
            <a:off x="959343" y="5671207"/>
            <a:ext cx="10330465" cy="140120"/>
          </a:xfrm>
          <a:prstGeom prst="rect">
            <a:avLst/>
          </a:prstGeom>
          <a:noFill/>
          <a:ln/>
        </p:spPr>
        <p:txBody>
          <a:bodyPr wrap="none" lIns="0" tIns="0" rIns="0" bIns="0" rtlCol="0" anchor="t"/>
          <a:lstStyle/>
          <a:p>
            <a:pPr algn="l" indent="0" marL="0">
              <a:lnSpc>
                <a:spcPts val="1100"/>
              </a:lnSpc>
              <a:buNone/>
            </a:pPr>
            <a:r>
              <a:rPr lang="en-US" sz="920" dirty="0">
                <a:solidFill>
                  <a:srgbClr val="5A6D7A"/>
                </a:solidFill>
                <a:latin typeface="Courier New" pitchFamily="34" charset="0"/>
                <a:ea typeface="Courier New" pitchFamily="34" charset="-122"/>
                <a:cs typeface="Courier New" pitchFamily="34" charset="-120"/>
              </a:rPr>
              <a:t>The table shows the time, the body and four attributes of each event.</a:t>
            </a:r>
            <a:endParaRPr lang="en-US" sz="920" dirty="0"/>
          </a:p>
        </p:txBody>
      </p:sp>
      <p:sp>
        <p:nvSpPr>
          <p:cNvPr id="7" name="Text 4"/>
          <p:cNvSpPr txBox="1"/>
          <p:nvPr/>
        </p:nvSpPr>
        <p:spPr>
          <a:xfrm>
            <a:off x="647700" y="6464556"/>
            <a:ext cx="354509" cy="142875"/>
          </a:xfrm>
          <a:prstGeom prst="rect">
            <a:avLst/>
          </a:prstGeom>
          <a:noFill/>
          <a:ln/>
        </p:spPr>
        <p:txBody>
          <a:bodyPr wrap="none" lIns="0" tIns="0" rIns="0" bIns="0" rtlCol="0" anchor="t"/>
          <a:lstStyle/>
          <a:p>
            <a:pPr algn="l" indent="0" marL="0">
              <a:lnSpc>
                <a:spcPts val="1100"/>
              </a:lnSpc>
              <a:buNone/>
            </a:pPr>
            <a:r>
              <a:rPr lang="en-US" sz="920" dirty="0">
                <a:solidFill>
                  <a:srgbClr val="8496A2"/>
                </a:solidFill>
                <a:latin typeface="Courier New" pitchFamily="34" charset="0"/>
                <a:ea typeface="Courier New" pitchFamily="34" charset="-122"/>
                <a:cs typeface="Courier New" pitchFamily="34" charset="-120"/>
              </a:rPr>
              <a:t>Demo</a:t>
            </a:r>
            <a:endParaRPr lang="en-US" sz="920" dirty="0"/>
          </a:p>
        </p:txBody>
      </p:sp>
      <p:sp>
        <p:nvSpPr>
          <p:cNvPr id="8" name="Text 5"/>
          <p:cNvSpPr txBox="1"/>
          <p:nvPr/>
        </p:nvSpPr>
        <p:spPr>
          <a:xfrm>
            <a:off x="11024146" y="6464556"/>
            <a:ext cx="577304" cy="142875"/>
          </a:xfrm>
          <a:prstGeom prst="rect">
            <a:avLst/>
          </a:prstGeom>
          <a:noFill/>
          <a:ln/>
        </p:spPr>
        <p:txBody>
          <a:bodyPr wrap="none" lIns="0" tIns="0" rIns="0" bIns="0" rtlCol="0" anchor="t"/>
          <a:lstStyle/>
          <a:p>
            <a:pPr algn="l" indent="0" marL="0">
              <a:lnSpc>
                <a:spcPts val="1100"/>
              </a:lnSpc>
              <a:buNone/>
            </a:pPr>
            <a:r>
              <a:rPr lang="en-US" sz="920" dirty="0">
                <a:solidFill>
                  <a:srgbClr val="8496A2"/>
                </a:solidFill>
                <a:latin typeface="Courier New" pitchFamily="34" charset="0"/>
                <a:ea typeface="Courier New" pitchFamily="34" charset="-122"/>
                <a:cs typeface="Courier New" pitchFamily="34" charset="-120"/>
              </a:rPr>
              <a:t>38 / 39</a:t>
            </a:r>
            <a:endParaRPr lang="en-US" sz="9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7700" y="6343650"/>
            <a:ext cx="10896600" cy="0"/>
          </a:xfrm>
          <a:prstGeom prst="line">
            <a:avLst/>
          </a:prstGeom>
          <a:noFill/>
          <a:ln w="10160">
            <a:solidFill>
              <a:srgbClr val="CBD7DF"/>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7700" y="1532186"/>
          <a:ext cx="10896600" cy="914400"/>
        </p:xfrm>
        <a:graphic>
          <a:graphicData uri="http://schemas.openxmlformats.org/drawingml/2006/table">
            <a:tbl>
              <a:tblPr/>
              <a:tblGrid>
                <a:gridCol w="2113062"/>
                <a:gridCol w="8783538"/>
              </a:tblGrid>
              <a:tr h="452438">
                <a:tc>
                  <a:txBody>
                    <a:bodyPr/>
                    <a:lstStyle/>
                    <a:p>
                      <a:pPr algn="l" indent="0" marL="0">
                        <a:lnSpc>
                          <a:spcPts val="1530"/>
                        </a:lnSpc>
                        <a:buNone/>
                      </a:pPr>
                      <a:r>
                        <a:rPr lang="en-US" sz="1280" dirty="0">
                          <a:solidFill>
                            <a:srgbClr val="0B6E99"/>
                          </a:solidFill>
                          <a:latin typeface="Courier New" pitchFamily="34" charset="0"/>
                          <a:ea typeface="Courier New" pitchFamily="34" charset="-122"/>
                          <a:cs typeface="Courier New" pitchFamily="34" charset="-120"/>
                        </a:rPr>
                        <a:t>This talk</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c>
                  <a:txBody>
                    <a:bodyPr/>
                    <a:lstStyle/>
                    <a:p>
                      <a:pPr algn="l" indent="0" marL="0">
                        <a:lnSpc>
                          <a:spcPts val="1800"/>
                        </a:lnSpc>
                        <a:buNone/>
                      </a:pPr>
                      <a:r>
                        <a:rPr lang="en-US" sz="1500" dirty="0">
                          <a:solidFill>
                            <a:srgbClr val="101A22"/>
                          </a:solidFill>
                          <a:latin typeface="Arial" pitchFamily="34" charset="0"/>
                          <a:ea typeface="Arial" pitchFamily="34" charset="-122"/>
                          <a:cs typeface="Arial" pitchFamily="34" charset="-120"/>
                        </a:rPr>
                        <a:t>https://github.com/netsapiensis/MoodleMootNordic2026, in the folder Moodle-Otel-Opensearch</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r>
              <a:tr h="457200">
                <a:tc>
                  <a:txBody>
                    <a:bodyPr/>
                    <a:lstStyle/>
                    <a:p>
                      <a:pPr algn="l" indent="0" marL="0">
                        <a:lnSpc>
                          <a:spcPts val="1530"/>
                        </a:lnSpc>
                        <a:buNone/>
                      </a:pPr>
                      <a:r>
                        <a:rPr lang="en-US" sz="1280" dirty="0">
                          <a:solidFill>
                            <a:srgbClr val="0B6E99"/>
                          </a:solidFill>
                          <a:latin typeface="Courier New" pitchFamily="34" charset="0"/>
                          <a:ea typeface="Courier New" pitchFamily="34" charset="-122"/>
                          <a:cs typeface="Courier New" pitchFamily="34" charset="-120"/>
                        </a:rPr>
                        <a:t>Moodle</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c>
                  <a:txBody>
                    <a:bodyPr/>
                    <a:lstStyle/>
                    <a:p>
                      <a:pPr algn="l" indent="0" marL="0">
                        <a:lnSpc>
                          <a:spcPts val="1800"/>
                        </a:lnSpc>
                        <a:buNone/>
                      </a:pPr>
                      <a:r>
                        <a:rPr lang="en-US" sz="1500" dirty="0">
                          <a:solidFill>
                            <a:srgbClr val="101A22"/>
                          </a:solidFill>
                          <a:latin typeface="Arial" pitchFamily="34" charset="0"/>
                          <a:ea typeface="Arial" pitchFamily="34" charset="-122"/>
                          <a:cs typeface="Arial" pitchFamily="34" charset="-120"/>
                        </a:rPr>
                        <a:t>https://moodledev.io/docs/5.2/apis/telemetry</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r>
              <a:tr h="457200">
                <a:tc>
                  <a:txBody>
                    <a:bodyPr/>
                    <a:lstStyle/>
                    <a:p>
                      <a:pPr algn="l" indent="0" marL="0">
                        <a:lnSpc>
                          <a:spcPts val="1530"/>
                        </a:lnSpc>
                        <a:buNone/>
                      </a:pPr>
                      <a:r>
                        <a:rPr lang="en-US" sz="1280" dirty="0">
                          <a:solidFill>
                            <a:srgbClr val="0B6E99"/>
                          </a:solidFill>
                          <a:latin typeface="Courier New" pitchFamily="34" charset="0"/>
                          <a:ea typeface="Courier New" pitchFamily="34" charset="-122"/>
                          <a:cs typeface="Courier New" pitchFamily="34" charset="-120"/>
                        </a:rPr>
                        <a:t>Package</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c>
                  <a:txBody>
                    <a:bodyPr/>
                    <a:lstStyle/>
                    <a:p>
                      <a:pPr algn="l" indent="0" marL="0">
                        <a:lnSpc>
                          <a:spcPts val="1800"/>
                        </a:lnSpc>
                        <a:buNone/>
                      </a:pPr>
                      <a:r>
                        <a:rPr lang="en-US" sz="1500" dirty="0">
                          <a:solidFill>
                            <a:srgbClr val="101A22"/>
                          </a:solidFill>
                          <a:latin typeface="Arial" pitchFamily="34" charset="0"/>
                          <a:ea typeface="Arial" pitchFamily="34" charset="-122"/>
                          <a:cs typeface="Arial" pitchFamily="34" charset="-120"/>
                        </a:rPr>
                        <a:t>https://github.com/moodlehq/moodle-package-otel</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r>
              <a:tr h="457200">
                <a:tc>
                  <a:txBody>
                    <a:bodyPr/>
                    <a:lstStyle/>
                    <a:p>
                      <a:pPr algn="l" indent="0" marL="0">
                        <a:lnSpc>
                          <a:spcPts val="1530"/>
                        </a:lnSpc>
                        <a:buNone/>
                      </a:pPr>
                      <a:r>
                        <a:rPr lang="en-US" sz="1280" dirty="0">
                          <a:solidFill>
                            <a:srgbClr val="0B6E99"/>
                          </a:solidFill>
                          <a:latin typeface="Courier New" pitchFamily="34" charset="0"/>
                          <a:ea typeface="Courier New" pitchFamily="34" charset="-122"/>
                          <a:cs typeface="Courier New" pitchFamily="34" charset="-120"/>
                        </a:rPr>
                        <a:t>PHP extension</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c>
                  <a:txBody>
                    <a:bodyPr/>
                    <a:lstStyle/>
                    <a:p>
                      <a:pPr algn="l" indent="0" marL="0">
                        <a:lnSpc>
                          <a:spcPts val="1800"/>
                        </a:lnSpc>
                        <a:buNone/>
                      </a:pPr>
                      <a:r>
                        <a:rPr lang="en-US" sz="1500" dirty="0">
                          <a:solidFill>
                            <a:srgbClr val="101A22"/>
                          </a:solidFill>
                          <a:latin typeface="Arial" pitchFamily="34" charset="0"/>
                          <a:ea typeface="Arial" pitchFamily="34" charset="-122"/>
                          <a:cs typeface="Arial" pitchFamily="34" charset="-120"/>
                        </a:rPr>
                        <a:t>https://opentelemetry.io/docs/zero-code/php/</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r>
              <a:tr h="676275">
                <a:tc>
                  <a:txBody>
                    <a:bodyPr/>
                    <a:lstStyle/>
                    <a:p>
                      <a:pPr algn="l" indent="0" marL="0">
                        <a:lnSpc>
                          <a:spcPts val="1530"/>
                        </a:lnSpc>
                        <a:buNone/>
                      </a:pPr>
                      <a:r>
                        <a:rPr lang="en-US" sz="1280" dirty="0">
                          <a:solidFill>
                            <a:srgbClr val="0B6E99"/>
                          </a:solidFill>
                          <a:latin typeface="Courier New" pitchFamily="34" charset="0"/>
                          <a:ea typeface="Courier New" pitchFamily="34" charset="-122"/>
                          <a:cs typeface="Courier New" pitchFamily="34" charset="-120"/>
                        </a:rPr>
                        <a:t>OpenSearch exporter</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c>
                  <a:txBody>
                    <a:bodyPr/>
                    <a:lstStyle/>
                    <a:p>
                      <a:pPr algn="l" indent="0" marL="0">
                        <a:lnSpc>
                          <a:spcPts val="1800"/>
                        </a:lnSpc>
                        <a:buNone/>
                      </a:pPr>
                      <a:r>
                        <a:rPr lang="en-US" sz="1500" dirty="0">
                          <a:solidFill>
                            <a:srgbClr val="101A22"/>
                          </a:solidFill>
                          <a:latin typeface="Arial" pitchFamily="34" charset="0"/>
                          <a:ea typeface="Arial" pitchFamily="34" charset="-122"/>
                          <a:cs typeface="Arial" pitchFamily="34" charset="-120"/>
                        </a:rPr>
                        <a:t>https://github.com/open-telemetry/opentelemetry-collector-contrib, folder exporter/opensearchexporter</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r>
              <a:tr h="457200">
                <a:tc>
                  <a:txBody>
                    <a:bodyPr/>
                    <a:lstStyle/>
                    <a:p>
                      <a:pPr algn="l" indent="0" marL="0">
                        <a:lnSpc>
                          <a:spcPts val="1530"/>
                        </a:lnSpc>
                        <a:buNone/>
                      </a:pPr>
                      <a:r>
                        <a:rPr lang="en-US" sz="1280" dirty="0">
                          <a:solidFill>
                            <a:srgbClr val="0B6E99"/>
                          </a:solidFill>
                          <a:latin typeface="Courier New" pitchFamily="34" charset="0"/>
                          <a:ea typeface="Courier New" pitchFamily="34" charset="-122"/>
                          <a:cs typeface="Courier New" pitchFamily="34" charset="-120"/>
                        </a:rPr>
                        <a:t>OpenSearch</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c>
                  <a:txBody>
                    <a:bodyPr/>
                    <a:lstStyle/>
                    <a:p>
                      <a:pPr algn="l" indent="0" marL="0">
                        <a:lnSpc>
                          <a:spcPts val="1800"/>
                        </a:lnSpc>
                        <a:buNone/>
                      </a:pPr>
                      <a:r>
                        <a:rPr lang="en-US" sz="1500" dirty="0">
                          <a:solidFill>
                            <a:srgbClr val="101A22"/>
                          </a:solidFill>
                          <a:latin typeface="Arial" pitchFamily="34" charset="0"/>
                          <a:ea typeface="Arial" pitchFamily="34" charset="-122"/>
                          <a:cs typeface="Arial" pitchFamily="34" charset="-120"/>
                        </a:rPr>
                        <a:t>https://docs.opensearch.org — Discover, Index State Management, Trace Analytics</a:t>
                      </a:r>
                      <a:endParaRPr lang="en-US" sz="1200" dirty="0"/>
                    </a:p>
                  </a:txBody>
                  <a:tcPr marL="133350" marR="133350" marT="114300" marB="114300" anchor="t">
                    <a:lnL w="0" cap="flat" cmpd="sng" algn="ctr">
                      <a:noFill/>
                    </a:lnL>
                    <a:lnR w="0" cap="flat" cmpd="sng" algn="ctr">
                      <a:noFill/>
                    </a:lnR>
                    <a:lnT w="0" cap="flat" cmpd="sng" algn="ctr">
                      <a:noFill/>
                    </a:lnT>
                    <a:lnB w="10160" cap="flat" cmpd="sng" algn="ctr">
                      <a:solidFill>
                        <a:srgbClr val="CBD7DF"/>
                      </a:solidFill>
                      <a:prstDash val="solid"/>
                      <a:round/>
                      <a:headEnd type="none" w="med" len="med"/>
                      <a:tailEnd type="none" w="med" len="med"/>
                    </a:lnB>
                  </a:tcPr>
                </a:tc>
              </a:tr>
            </a:tbl>
          </a:graphicData>
        </a:graphic>
      </p:graphicFrame>
      <p:sp>
        <p:nvSpPr>
          <p:cNvPr id="4" name="Text 1"/>
          <p:cNvSpPr txBox="1"/>
          <p:nvPr/>
        </p:nvSpPr>
        <p:spPr>
          <a:xfrm>
            <a:off x="647700" y="511731"/>
            <a:ext cx="10953750" cy="185738"/>
          </a:xfrm>
          <a:prstGeom prst="rect">
            <a:avLst/>
          </a:prstGeom>
          <a:noFill/>
          <a:ln/>
        </p:spPr>
        <p:txBody>
          <a:bodyPr wrap="none" lIns="0" tIns="0" rIns="0" bIns="0" rtlCol="0" anchor="t"/>
          <a:lstStyle/>
          <a:p>
            <a:pPr algn="l" indent="0" marL="0">
              <a:lnSpc>
                <a:spcPts val="1460"/>
              </a:lnSpc>
              <a:buNone/>
            </a:pPr>
            <a:r>
              <a:rPr lang="en-US" sz="980" spc="160" kern="0" dirty="0">
                <a:solidFill>
                  <a:srgbClr val="0B6E99"/>
                </a:solidFill>
                <a:latin typeface="Courier New" pitchFamily="34" charset="0"/>
                <a:ea typeface="Courier New" pitchFamily="34" charset="-122"/>
                <a:cs typeface="Courier New" pitchFamily="34" charset="-120"/>
              </a:rPr>
              <a:t>QUESTIONS</a:t>
            </a:r>
            <a:endParaRPr lang="en-US" sz="980" dirty="0"/>
          </a:p>
        </p:txBody>
      </p:sp>
      <p:sp>
        <p:nvSpPr>
          <p:cNvPr id="5" name="Text 2"/>
          <p:cNvSpPr txBox="1"/>
          <p:nvPr/>
        </p:nvSpPr>
        <p:spPr>
          <a:xfrm>
            <a:off x="647700" y="852488"/>
            <a:ext cx="10953750" cy="432054"/>
          </a:xfrm>
          <a:prstGeom prst="rect">
            <a:avLst/>
          </a:prstGeom>
          <a:noFill/>
          <a:ln/>
        </p:spPr>
        <p:txBody>
          <a:bodyPr wrap="none" lIns="0" tIns="0" rIns="0" bIns="0" rtlCol="0" anchor="t"/>
          <a:lstStyle/>
          <a:p>
            <a:pPr algn="l" indent="0" marL="0">
              <a:lnSpc>
                <a:spcPts val="3400"/>
              </a:lnSpc>
              <a:buNone/>
            </a:pPr>
            <a:r>
              <a:rPr lang="en-US" sz="3150" b="1" spc="-60" kern="0" dirty="0">
                <a:solidFill>
                  <a:srgbClr val="101A22"/>
                </a:solidFill>
                <a:latin typeface="Arial" pitchFamily="34" charset="0"/>
                <a:ea typeface="Arial" pitchFamily="34" charset="-122"/>
                <a:cs typeface="Arial" pitchFamily="34" charset="-120"/>
              </a:rPr>
              <a:t>Read more at these six places</a:t>
            </a:r>
            <a:endParaRPr lang="en-US" sz="3150" dirty="0"/>
          </a:p>
        </p:txBody>
      </p:sp>
      <p:sp>
        <p:nvSpPr>
          <p:cNvPr id="6" name="Text 3"/>
          <p:cNvSpPr txBox="1"/>
          <p:nvPr/>
        </p:nvSpPr>
        <p:spPr>
          <a:xfrm>
            <a:off x="647700" y="4705439"/>
            <a:ext cx="10953750" cy="314325"/>
          </a:xfrm>
          <a:prstGeom prst="rect">
            <a:avLst/>
          </a:prstGeom>
          <a:noFill/>
          <a:ln/>
        </p:spPr>
        <p:txBody>
          <a:bodyPr wrap="none" lIns="0" tIns="0" rIns="0" bIns="0" rtlCol="0" anchor="t"/>
          <a:lstStyle/>
          <a:p>
            <a:pPr algn="l" indent="0" marL="0">
              <a:lnSpc>
                <a:spcPts val="2480"/>
              </a:lnSpc>
              <a:buNone/>
            </a:pPr>
            <a:r>
              <a:rPr lang="en-US" sz="1650" dirty="0">
                <a:solidFill>
                  <a:srgbClr val="5A6D7A"/>
                </a:solidFill>
                <a:latin typeface="Arial" pitchFamily="34" charset="0"/>
                <a:ea typeface="Arial" pitchFamily="34" charset="-122"/>
                <a:cs typeface="Arial" pitchFamily="34" charset="-120"/>
              </a:rPr>
              <a:t>Thank you.</a:t>
            </a:r>
            <a:endParaRPr lang="en-US" sz="1650" dirty="0"/>
          </a:p>
        </p:txBody>
      </p:sp>
      <p:sp>
        <p:nvSpPr>
          <p:cNvPr id="7" name="Text 4"/>
          <p:cNvSpPr txBox="1"/>
          <p:nvPr/>
        </p:nvSpPr>
        <p:spPr>
          <a:xfrm>
            <a:off x="647700" y="6464379"/>
            <a:ext cx="42877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Close</a:t>
            </a:r>
            <a:endParaRPr lang="en-US" sz="980" dirty="0"/>
          </a:p>
        </p:txBody>
      </p:sp>
      <p:sp>
        <p:nvSpPr>
          <p:cNvPr id="8" name="Text 5"/>
          <p:cNvSpPr txBox="1"/>
          <p:nvPr/>
        </p:nvSpPr>
        <p:spPr>
          <a:xfrm>
            <a:off x="11024146" y="6464379"/>
            <a:ext cx="577304" cy="148590"/>
          </a:xfrm>
          <a:prstGeom prst="rect">
            <a:avLst/>
          </a:prstGeom>
          <a:noFill/>
          <a:ln/>
        </p:spPr>
        <p:txBody>
          <a:bodyPr wrap="none" lIns="0" tIns="0" rIns="0" bIns="0" rtlCol="0" anchor="t"/>
          <a:lstStyle/>
          <a:p>
            <a:pPr algn="l" indent="0" marL="0">
              <a:lnSpc>
                <a:spcPts val="1170"/>
              </a:lnSpc>
              <a:buNone/>
            </a:pPr>
            <a:r>
              <a:rPr lang="en-US" sz="980" dirty="0">
                <a:solidFill>
                  <a:srgbClr val="8496A2"/>
                </a:solidFill>
                <a:latin typeface="Courier New" pitchFamily="34" charset="0"/>
                <a:ea typeface="Courier New" pitchFamily="34" charset="-122"/>
                <a:cs typeface="Courier New" pitchFamily="34" charset="-120"/>
              </a:rPr>
              <a:t>39 / 39</a:t>
            </a:r>
            <a:endParaRPr lang="en-US" sz="9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Moodle Events for Sysadmins</dc:title>
  <dc:subject>PptxGenJS Presentation</dc:subject>
  <dc:creator>PptxGenJS</dc:creator>
  <cp:lastModifiedBy>PptxGenJS</cp:lastModifiedBy>
  <cp:revision>1</cp:revision>
  <dcterms:created xsi:type="dcterms:W3CDTF">2026-09-27T20:17:25Z</dcterms:created>
  <dcterms:modified xsi:type="dcterms:W3CDTF">2026-09-27T20:17:25Z</dcterms:modified>
</cp:coreProperties>
</file>