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a:t>
            </a:r>
          </a:p>
          <a:p>
            <a:endParaRPr lang="en-US"/>
          </a:p>
          <a:p>
            <a:r>
              <a:rPr lang="en-US" dirty="0"/>
              <a:t>• Welcome.
</a:t>
            </a:r>
          </a:p>
          <a:p>
            <a:r>
              <a:rPr lang="en-US" dirty="0"/>
              <a:t>• This talk shows how to send Moodle's logs and timing data to OpenSearch with OpenTelemetry.
</a:t>
            </a:r>
          </a:p>
          <a:p>
            <a:r>
              <a:rPr lang="en-US" dirty="0"/>
              <a:t>• You need Moodle 5.2 for this.
</a:t>
            </a:r>
          </a:p>
          <a:p>
            <a:r>
              <a:rPr lang="en-US" dirty="0"/>
              <a:t>• The slides and all demo files are on GitHub, at the address on the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This is the plan for the next 50 minutes.
</a:t>
            </a:r>
          </a:p>
          <a:p>
            <a:r>
              <a:rPr lang="en-US" dirty="0"/>
              <a:t>• First, the Moodle log table and why it is not enough.
</a:t>
            </a:r>
          </a:p>
          <a:p>
            <a:r>
              <a:rPr lang="en-US" dirty="0"/>
              <a:t>• Then what Moodle, OpenTelemetry and OpenSearch each do.
</a:t>
            </a:r>
          </a:p>
          <a:p>
            <a:r>
              <a:rPr lang="en-US" dirty="0"/>
              <a:t>• Then how the three fit together, and the terms you need.
</a:t>
            </a:r>
          </a:p>
          <a:p>
            <a:r>
              <a:rPr lang="en-US" dirty="0"/>
              <a:t>• Installation is the longest part, about 13 minutes.
</a:t>
            </a:r>
          </a:p>
          <a:p>
            <a:r>
              <a:rPr lang="en-US" dirty="0"/>
              <a:t>• After that you see the results and two things to plan for.
</a:t>
            </a:r>
          </a:p>
          <a:p>
            <a:r>
              <a:rPr lang="en-US" dirty="0"/>
              <a:t>• At the end there is a short look at timing data and a live system.
</a:t>
            </a:r>
          </a:p>
          <a:p>
            <a:r>
              <a:rPr lang="en-US" dirty="0"/>
              <a:t>• All commands are on GitHub.</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These two records come from our demo site.
</a:t>
            </a:r>
          </a:p>
          <a:p>
            <a:r>
              <a:rPr lang="en-US" dirty="0"/>
              <a:t>• Moodle has logged every event like this for years.
</a:t>
            </a:r>
          </a:p>
          <a:p>
            <a:r>
              <a:rPr lang="en-US" dirty="0"/>
              <a:t>• Every event becomes one row in the table mdl_logstore_standard_log.
</a:t>
            </a:r>
          </a:p>
          <a:p>
            <a:r>
              <a:rPr lang="en-US" dirty="0"/>
              <a:t>• That table is in the same database that serves your pages.
</a:t>
            </a:r>
          </a:p>
          <a:p>
            <a:r>
              <a:rPr lang="en-US" dirty="0"/>
              <a:t>• On a big site it is one of the largest tables.
</a:t>
            </a:r>
          </a:p>
          <a:p>
            <a:r>
              <a:rPr lang="en-US" dirty="0"/>
              <a:t>• By default Moodle never deletes these rows.
</a:t>
            </a:r>
          </a:p>
          <a:p>
            <a:r>
              <a:rPr lang="en-US" dirty="0"/>
              <a:t>• So you either shorten the retention or pay for the storage.
</a:t>
            </a:r>
          </a:p>
          <a:p>
            <a:r>
              <a:rPr lang="en-US" dirty="0"/>
              <a:t>• The history has value, but the database is the most expensive place to keep it.
</a:t>
            </a:r>
          </a:p>
          <a:p>
            <a:r>
              <a:rPr lang="en-US" dirty="0"/>
              <a:t>• Every report on this table also runs on your production server.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These are questions that the core Moodle reports cannot answer.
</a:t>
            </a:r>
          </a:p>
          <a:p>
            <a:r>
              <a:rPr lang="en-US" dirty="0"/>
              <a:t>• How many logins per hour, this week against last week.
</a:t>
            </a:r>
          </a:p>
          <a:p>
            <a:r>
              <a:rPr lang="en-US" dirty="0"/>
              <a:t>• Which courses are used, and which nobody has opened.
</a:t>
            </a:r>
          </a:p>
          <a:p>
            <a:r>
              <a:rPr lang="en-US" dirty="0"/>
              <a:t>• What one user did across all courses last month.
</a:t>
            </a:r>
          </a:p>
          <a:p>
            <a:r>
              <a:rPr lang="en-US" dirty="0"/>
              <a:t>• Whether failed logins are rising right now.
</a:t>
            </a:r>
          </a:p>
          <a:p>
            <a:r>
              <a:rPr lang="en-US" dirty="0"/>
              <a:t>• OpenSearch answers all four.
</a:t>
            </a:r>
          </a:p>
          <a:p>
            <a:r>
              <a:rPr lang="en-US" dirty="0"/>
              <a:t>• I show two of them in the live demo.
</a:t>
            </a:r>
          </a:p>
          <a:p>
            <a:r>
              <a:rPr lang="en-US" dirty="0"/>
              <a:t>• The last question on the slide, why a page was slow, comes at the end with the timing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Moodle produces two kinds of records.
</a:t>
            </a:r>
          </a:p>
          <a:p>
            <a:r>
              <a:rPr lang="en-US" dirty="0"/>
              <a:t>• An event records what happened, like a failed login or a new course section.
</a:t>
            </a:r>
          </a:p>
          <a:p>
            <a:r>
              <a:rPr lang="en-US" dirty="0"/>
              <a:t>• These are the same events that go into the log table.
</a:t>
            </a:r>
          </a:p>
          <a:p>
            <a:r>
              <a:rPr lang="en-US" dirty="0"/>
              <a:t>• A timing records how long one run took.
</a:t>
            </a:r>
          </a:p>
          <a:p>
            <a:r>
              <a:rPr lang="en-US" dirty="0"/>
              <a:t>• That can be a web request, a CLI run, a scheduled task or a web service call.
</a:t>
            </a:r>
          </a:p>
          <a:p>
            <a:r>
              <a:rPr lang="en-US" dirty="0"/>
              <a:t>• One configuration sends both kinds.
</a:t>
            </a:r>
          </a:p>
          <a:p>
            <a:r>
              <a:rPr lang="en-US" dirty="0"/>
              <a:t>• Official OpenTelemetry support came in Moodle 5.2.
</a:t>
            </a:r>
          </a:p>
          <a:p>
            <a:r>
              <a:rPr lang="en-US" dirty="0"/>
              <a:t>• Older versions do not have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OpenTelemetry is a log shipper.
</a:t>
            </a:r>
          </a:p>
          <a:p>
            <a:r>
              <a:rPr lang="en-US" dirty="0"/>
              <a:t>• It takes the events and timings from Moodle and sends them to OpenSearch.
</a:t>
            </a:r>
          </a:p>
          <a:p>
            <a:r>
              <a:rPr lang="en-US" dirty="0"/>
              <a:t>• It is open source, Apache 2.0.
</a:t>
            </a:r>
          </a:p>
          <a:p>
            <a:r>
              <a:rPr lang="en-US" dirty="0"/>
              <a:t>• There is no single package called OpenTelemetry.
</a:t>
            </a:r>
          </a:p>
          <a:p>
            <a:r>
              <a:rPr lang="en-US" dirty="0"/>
              <a:t>• The project defines a record format and a network protocol called OTLP.
</a:t>
            </a:r>
          </a:p>
          <a:p>
            <a:r>
              <a:rPr lang="en-US" dirty="0"/>
              <a:t>• It also publishes programs and libraries for each language.
</a:t>
            </a:r>
          </a:p>
          <a:p>
            <a:r>
              <a:rPr lang="en-US" dirty="0"/>
              <a:t>• We use four of them.
</a:t>
            </a:r>
          </a:p>
          <a:p>
            <a:r>
              <a:rPr lang="en-US" dirty="0"/>
              <a:t>• The PHP extension hooks into running PHP code.
</a:t>
            </a:r>
          </a:p>
          <a:p>
            <a:r>
              <a:rPr lang="en-US" dirty="0"/>
              <a:t>• The SDK turns Moodle's data into records.
</a:t>
            </a:r>
          </a:p>
          <a:p>
            <a:r>
              <a:rPr lang="en-US" dirty="0"/>
              <a:t>• The exporter sends the records over the network.
</a:t>
            </a:r>
          </a:p>
          <a:p>
            <a:r>
              <a:rPr lang="en-US" dirty="0"/>
              <a:t>• The collector is a separate service that receives, filters and forwards them.
</a:t>
            </a:r>
          </a:p>
          <a:p>
            <a:r>
              <a:rPr lang="en-US" dirty="0"/>
              <a:t>• None of these four stores or shows data.
</a:t>
            </a:r>
          </a:p>
          <a:p>
            <a:r>
              <a:rPr lang="en-US" dirty="0"/>
              <a:t>• That is the job of OpenSearch.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OpenSearch is a search engine and document store.
</a:t>
            </a:r>
          </a:p>
          <a:p>
            <a:r>
              <a:rPr lang="en-US" dirty="0"/>
              <a:t>• It is a fork of Elasticsearch, with a web front end called OpenSearch Dashboards.
</a:t>
            </a:r>
          </a:p>
          <a:p>
            <a:r>
              <a:rPr lang="en-US" dirty="0"/>
              <a:t>• Every event becomes one document.
</a:t>
            </a:r>
          </a:p>
          <a:p>
            <a:r>
              <a:rPr lang="en-US" dirty="0"/>
              <a:t>• OpenSearch indexes every field when it writes the document.
</a:t>
            </a:r>
          </a:p>
          <a:p>
            <a:r>
              <a:rPr lang="en-US" dirty="0"/>
              <a:t>• So a search does not read all the data, the way grep does.
</a:t>
            </a:r>
          </a:p>
          <a:p>
            <a:r>
              <a:rPr lang="en-US" dirty="0"/>
              <a:t>• That is why a question like "which cron runs took over 30 seconds last month" is instant, even across millions of records.
</a:t>
            </a:r>
          </a:p>
          <a:p>
            <a:r>
              <a:rPr lang="en-US" dirty="0"/>
              <a:t>• It grows by adding servers.
</a:t>
            </a:r>
          </a:p>
          <a:p>
            <a:r>
              <a:rPr lang="en-US" dirty="0"/>
              <a:t>• An index is split into shards over several nodes, with copies for safety.
</a:t>
            </a:r>
          </a:p>
          <a:p>
            <a:r>
              <a:rPr lang="en-US" dirty="0"/>
              <a:t>• A retention policy deletes old indices on a schedule.
</a:t>
            </a:r>
          </a:p>
          <a:p>
            <a:r>
              <a:rPr lang="en-US" dirty="0"/>
              <a:t>• It also fits this setup well.
</a:t>
            </a:r>
          </a:p>
          <a:p>
            <a:r>
              <a:rPr lang="en-US" dirty="0"/>
              <a:t>• The collector has an OpenSearch exporter, and Dashboards has trace screens built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~2 min 30 s.
</a:t>
            </a:r>
          </a:p>
          <a:p>
            <a:endParaRPr lang="en-US"/>
          </a:p>
          <a:p>
            <a:r>
              <a:rPr lang="en-US" dirty="0"/>
              <a:t>• Next is the map of the whole setup.
</a:t>
            </a:r>
          </a:p>
          <a:p>
            <a:r>
              <a:rPr lang="en-US" dirty="0"/>
              <a:t>• Every installation step later refers to a number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There are six components.
</a:t>
            </a:r>
          </a:p>
          <a:p>
            <a:r>
              <a:rPr lang="en-US" dirty="0"/>
              <a:t>• Moodle does the work.
</a:t>
            </a:r>
          </a:p>
          <a:p>
            <a:r>
              <a:rPr lang="en-US" dirty="0"/>
              <a:t>• Components 2 to 5 are OpenTelemetry.
</a:t>
            </a:r>
          </a:p>
          <a:p>
            <a:r>
              <a:rPr lang="en-US" dirty="0"/>
              <a:t>• They record the data, measure it and carry it.
</a:t>
            </a:r>
          </a:p>
          <a:p>
            <a:r>
              <a:rPr lang="en-US" dirty="0"/>
              <a:t>• Component 6 is OpenSearch, which stores and searches.
</a:t>
            </a:r>
          </a:p>
          <a:p>
            <a:r>
              <a:rPr lang="en-US" dirty="0"/>
              <a:t>• None of components 2 to 5 comes with Moodle.
</a:t>
            </a:r>
          </a:p>
          <a:p>
            <a:r>
              <a:rPr lang="en-US" dirty="0"/>
              <a:t>• You install all four.
</a:t>
            </a:r>
          </a:p>
          <a:p>
            <a:r>
              <a:rPr lang="en-US" dirty="0"/>
              <a:t>• Component 2 is a PECL extension.
</a:t>
            </a:r>
          </a:p>
          <a:p>
            <a:r>
              <a:rPr lang="en-US" dirty="0"/>
              <a:t>• Components 3 and 4 are PHP Composer packages.
</a:t>
            </a:r>
          </a:p>
          <a:p>
            <a:r>
              <a:rPr lang="en-US" dirty="0"/>
              <a:t>• Component 5 is an operating system package.
</a:t>
            </a:r>
          </a:p>
          <a:p>
            <a:r>
              <a:rPr lang="en-US" dirty="0"/>
              <a:t>• Moodle 5.2 added one line of code that loads the Composer packages when they are present.
</a:t>
            </a:r>
          </a:p>
          <a:p>
            <a:r>
              <a:rPr lang="en-US" dirty="0"/>
              <a:t>• That line is the reason you need Moodle 5.2.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Components 1 to 4 run inside the PHP process that runs Moodle.
</a:t>
            </a:r>
          </a:p>
          <a:p>
            <a:r>
              <a:rPr lang="en-US" dirty="0"/>
              <a:t>• You install nothing on another server for them.
</a:t>
            </a:r>
          </a:p>
          <a:p>
            <a:r>
              <a:rPr lang="en-US" dirty="0"/>
              <a:t>• The collector runs on the Moodle web server as its own service.
</a:t>
            </a:r>
          </a:p>
          <a:p>
            <a:r>
              <a:rPr lang="en-US" dirty="0"/>
              <a:t>• PHP sends to it on localhost, port 4318.
</a:t>
            </a:r>
          </a:p>
          <a:p>
            <a:r>
              <a:rPr lang="en-US" dirty="0"/>
              <a:t>• So that port stays closed to the network.
</a:t>
            </a:r>
          </a:p>
          <a:p>
            <a:r>
              <a:rPr lang="en-US" dirty="0"/>
              <a:t>• You can also run one shared collector on its own server for all your web servers.
</a:t>
            </a:r>
          </a:p>
          <a:p>
            <a:r>
              <a:rPr lang="en-US" dirty="0"/>
              <a:t>• Then you point the endpoint variable at that server and open port 4318 there.
</a:t>
            </a:r>
          </a:p>
          <a:p>
            <a:r>
              <a:rPr lang="en-US" dirty="0"/>
              <a:t>• That gives you one place to filter personal data.
</a:t>
            </a:r>
          </a:p>
          <a:p>
            <a:r>
              <a:rPr lang="en-US" dirty="0"/>
              <a:t>• We run it that way.
</a:t>
            </a:r>
          </a:p>
          <a:p>
            <a:r>
              <a:rPr lang="en-US" dirty="0"/>
              <a:t>• OpenSearch always runs on its own server or cluster.
</a:t>
            </a:r>
          </a:p>
          <a:p>
            <a:r>
              <a:rPr lang="en-US" dirty="0"/>
              <a:t>• Many of you already have one.
</a:t>
            </a:r>
          </a:p>
          <a:p>
            <a:r>
              <a:rPr lang="en-US" dirty="0"/>
              <a:t>• The collector also works as a buffer.
</a:t>
            </a:r>
          </a:p>
          <a:p>
            <a:r>
              <a:rPr lang="en-US" dirty="0"/>
              <a:t>• PHP hands over the data in about a millisecond and goes back to the page.
</a:t>
            </a:r>
          </a:p>
          <a:p>
            <a:r>
              <a:rPr lang="en-US" dirty="0"/>
              <a:t>• When OpenSearch is slow or down, the collector holds the data.
</a:t>
            </a:r>
          </a:p>
          <a:p>
            <a:r>
              <a:rPr lang="en-US" dirty="0"/>
              <a:t>? If asked which to pick: a shared collector for a small site, and one per server for high traffic.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~6 min.
</a:t>
            </a:r>
          </a:p>
          <a:p>
            <a:endParaRPr lang="en-US"/>
          </a:p>
          <a:p>
            <a:r>
              <a:rPr lang="en-US" dirty="0"/>
              <a:t>• Nothing is installed yet.
</a:t>
            </a:r>
          </a:p>
          <a:p>
            <a:r>
              <a:rPr lang="en-US" dirty="0"/>
              <a:t>• Before the commands, you need a few terms.
</a:t>
            </a:r>
          </a:p>
          <a:p>
            <a:r>
              <a:rPr lang="en-US" dirty="0"/>
              <a:t>• They appear in the commands, in the collector file and in every search.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A log record is one Moodle event stored as one document.
</a:t>
            </a:r>
          </a:p>
          <a:p>
            <a:r>
              <a:rPr lang="en-US" dirty="0"/>
              <a:t>• It is the same event that Moodle writes to its log table.
</a:t>
            </a:r>
          </a:p>
          <a:p>
            <a:r>
              <a:rPr lang="en-US" dirty="0"/>
              <a:t>• Only the destination is new.
</a:t>
            </a:r>
          </a:p>
          <a:p>
            <a:r>
              <a:rPr lang="en-US" dirty="0"/>
              <a:t>• The record has a body, a time and a service name.
</a:t>
            </a:r>
          </a:p>
          <a:p>
            <a:r>
              <a:rPr lang="en-US" dirty="0"/>
              <a:t>• Nothing is parsed out of a text file.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Every record also has attributes, which are key and value pairs.
</a:t>
            </a:r>
          </a:p>
          <a:p>
            <a:r>
              <a:rPr lang="en-US" dirty="0"/>
              <a:t>• This record has seventeen.
</a:t>
            </a:r>
          </a:p>
          <a:p>
            <a:r>
              <a:rPr lang="en-US" dirty="0"/>
              <a:t>• Here you see seven.
</a:t>
            </a:r>
          </a:p>
          <a:p>
            <a:r>
              <a:rPr lang="en-US" dirty="0"/>
              <a:t>• Moodle builds the body sentence from the first three: userid, objecttable and contextinstanceid.
</a:t>
            </a:r>
          </a:p>
          <a:p>
            <a:r>
              <a:rPr lang="en-US" dirty="0"/>
              <a:t>• The crud attribute says if the event was a create, read, update or delete.
</a:t>
            </a:r>
          </a:p>
          <a:p>
            <a:r>
              <a:rPr lang="en-US" dirty="0"/>
              <a:t>• So its value is c, r, u or d.
</a:t>
            </a:r>
          </a:p>
          <a:p>
            <a:r>
              <a:rPr lang="en-US" dirty="0"/>
              <a:t>• PHP writes the attributes when the event fires.
</a:t>
            </a:r>
          </a:p>
          <a:p>
            <a:r>
              <a:rPr lang="en-US" dirty="0"/>
              <a:t>• They travel inside the record to the collector.
</a:t>
            </a:r>
          </a:p>
          <a:p>
            <a:r>
              <a:rPr lang="en-US" dirty="0"/>
              <a:t>• The collector is where you add, remove or hash attributes.
</a:t>
            </a:r>
          </a:p>
          <a:p>
            <a:r>
              <a:rPr lang="en-US" dirty="0"/>
              <a:t>• That is how you control personal data.
</a:t>
            </a:r>
          </a:p>
          <a:p>
            <a:r>
              <a:rPr lang="en-US" dirty="0"/>
              <a:t>• In OpenSearch every attribute has the prefix attributes.
</a:t>
            </a:r>
          </a:p>
          <a:p>
            <a:r>
              <a:rPr lang="en-US" dirty="0"/>
              <a:t>• A search needs that full name.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~13 min, nine steps.
</a:t>
            </a:r>
          </a:p>
          <a:p>
            <a:endParaRPr lang="en-US"/>
          </a:p>
          <a:p>
            <a:r>
              <a:rPr lang="en-US" dirty="0"/>
              <a:t>• The installation has nine steps.
</a:t>
            </a:r>
          </a:p>
          <a:p>
            <a:r>
              <a:rPr lang="en-US" dirty="0"/>
              <a:t>• Each slide is one step with the real commands, for Ubuntu and for Red Hat.
</a:t>
            </a:r>
          </a:p>
          <a:p>
            <a:r>
              <a:rPr lang="en-US" dirty="0"/>
              <a:t>• All commands are on GitHub.</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1 installs what you need to build the PHP extension.
</a:t>
            </a:r>
          </a:p>
          <a:p>
            <a:r>
              <a:rPr lang="en-US" dirty="0"/>
              <a:t>• You already have PHP 8.3 and PHP-FPM if you run Moodle 5.2.
</a:t>
            </a:r>
          </a:p>
          <a:p>
            <a:r>
              <a:rPr lang="en-US" dirty="0"/>
              <a:t>• You add the PHP header files, php-pear and a C compiler.
</a:t>
            </a:r>
          </a:p>
          <a:p>
            <a:r>
              <a:rPr lang="en-US" dirty="0"/>
              <a:t>• php-pear gives you the pecl command.
</a:t>
            </a:r>
          </a:p>
          <a:p>
            <a:r>
              <a:rPr lang="en-US" dirty="0"/>
              <a:t>• Without it, step 2 fails with "command not found".
</a:t>
            </a:r>
          </a:p>
          <a:p>
            <a:r>
              <a:rPr lang="en-US" dirty="0"/>
              <a:t>• The extension is built from source, so it needs the compiler.
</a:t>
            </a:r>
          </a:p>
          <a:p>
            <a:r>
              <a:rPr lang="en-US" dirty="0"/>
              <a:t>• On Red Hat, php-devel comes from the same module stream as your PHP.
</a:t>
            </a:r>
          </a:p>
          <a:p>
            <a:r>
              <a:rPr lang="en-US" dirty="0"/>
              <a:t>• So it always matches the PHP that Moodle uses.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2 builds and enables the extension.
</a:t>
            </a:r>
          </a:p>
          <a:p>
            <a:r>
              <a:rPr lang="en-US" dirty="0"/>
              <a:t>• pecl install downloads the source and compiles it.
</a:t>
            </a:r>
          </a:p>
          <a:p>
            <a:r>
              <a:rPr lang="en-US" dirty="0"/>
              <a:t>• That takes about a minute.
</a:t>
            </a:r>
          </a:p>
          <a:p>
            <a:r>
              <a:rPr lang="en-US" dirty="0"/>
              <a:t>• Then a small ini file tells PHP to load it.
</a:t>
            </a:r>
          </a:p>
          <a:p>
            <a:r>
              <a:rPr lang="en-US" dirty="0"/>
              <a:t>• Ubuntu puts the file in mods-available and enables it with phpenmod.
</a:t>
            </a:r>
          </a:p>
          <a:p>
            <a:r>
              <a:rPr lang="en-US" dirty="0"/>
              <a:t>• Red Hat only needs the file in /etc/php.d.
</a:t>
            </a:r>
          </a:p>
          <a:p>
            <a:r>
              <a:rPr lang="en-US" dirty="0"/>
              <a:t>• The number 40 in the name sets the load order.
</a:t>
            </a:r>
          </a:p>
          <a:p>
            <a:r>
              <a:rPr lang="en-US" dirty="0"/>
              <a:t>• Restart PHP-FPM, because it does not load the extension until you do.
</a:t>
            </a:r>
          </a:p>
          <a:p>
            <a:r>
              <a:rPr lang="en-US" dirty="0"/>
              <a:t>• The check at the bottom must show "opentelemetry hooks =&gt; enabled".
</a:t>
            </a:r>
          </a:p>
          <a:p>
            <a:r>
              <a:rPr lang="en-US" dirty="0"/>
              <a:t>• The extension is C code from PECL.
</a:t>
            </a:r>
          </a:p>
          <a:p>
            <a:r>
              <a:rPr lang="en-US" dirty="0"/>
              <a:t>• The packages in the next step are PHP code from Composer.
</a:t>
            </a:r>
          </a:p>
          <a:p>
            <a:r>
              <a:rPr lang="en-US" dirty="0"/>
              <a:t>• You need both.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3 installs Composer and two packages.
</a:t>
            </a:r>
          </a:p>
          <a:p>
            <a:r>
              <a:rPr lang="en-US" dirty="0"/>
              <a:t>• Moodle itself does not need Composer.
</a:t>
            </a:r>
          </a:p>
          <a:p>
            <a:r>
              <a:rPr lang="en-US" dirty="0"/>
              <a:t>• The OpenTelemetry PHP libraries are only published through Composer.
</a:t>
            </a:r>
          </a:p>
          <a:p>
            <a:r>
              <a:rPr lang="en-US" dirty="0"/>
              <a:t>• Ubuntu has a Composer package.
</a:t>
            </a:r>
          </a:p>
          <a:p>
            <a:r>
              <a:rPr lang="en-US" dirty="0"/>
              <a:t>• Red Hat and Rocky do not, so you use the official installer.
</a:t>
            </a:r>
          </a:p>
          <a:p>
            <a:r>
              <a:rPr lang="en-US" dirty="0"/>
              <a:t>• You run the two commands once, in the Moodle folder.
</a:t>
            </a:r>
          </a:p>
          <a:p>
            <a:r>
              <a:rPr lang="en-US" dirty="0"/>
              <a:t>• moodle-package-otel comes from Moodle HQ.
</a:t>
            </a:r>
          </a:p>
          <a:p>
            <a:r>
              <a:rPr lang="en-US" dirty="0"/>
              <a:t>• It knows which Moodle events to send and what to time.
</a:t>
            </a:r>
          </a:p>
          <a:p>
            <a:r>
              <a:rPr lang="en-US" dirty="0"/>
              <a:t>• exporter-otlp comes from OpenTelemetry.
</a:t>
            </a:r>
          </a:p>
          <a:p>
            <a:r>
              <a:rPr lang="en-US" dirty="0"/>
              <a:t>• It sends the records to the collector.
</a:t>
            </a:r>
          </a:p>
          <a:p>
            <a:r>
              <a:rPr lang="en-US" dirty="0"/>
              <a:t>• Composer writes only into vendor/ and does not touch Moodle core.
</a:t>
            </a:r>
          </a:p>
          <a:p>
            <a:r>
              <a:rPr lang="en-US" dirty="0"/>
              <a:t>• Run it as the user that owns the Moodle files, not as root.
</a:t>
            </a:r>
          </a:p>
          <a:p>
            <a:r>
              <a:rPr lang="en-US" dirty="0"/>
              <a:t>• Nothing is sent yet.
</a:t>
            </a:r>
          </a:p>
          <a:p>
            <a:r>
              <a:rPr lang="en-US" dirty="0"/>
              <a:t>• The variables in the next step switch it on.
</a:t>
            </a:r>
          </a:p>
          <a:p>
            <a:r>
              <a:rPr lang="en-US" dirty="0"/>
              <a:t>? If asked why Moodle 5.1 does not work: 5.2 loads vendor/autoload.php on every request. 5.1 loads it only inside its error handler.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4 is six environment variables.
</a:t>
            </a:r>
          </a:p>
          <a:p>
            <a:r>
              <a:rPr lang="en-US" dirty="0"/>
              <a:t>• They are standard OpenTelemetry variables, documented on opentelemetry.io.
</a:t>
            </a:r>
          </a:p>
          <a:p>
            <a:r>
              <a:rPr lang="en-US" dirty="0"/>
              <a:t>• The first one switches everything on.
</a:t>
            </a:r>
          </a:p>
          <a:p>
            <a:r>
              <a:rPr lang="en-US" dirty="0"/>
              <a:t>• If you forget it, nothing is sent and you get no error.
</a:t>
            </a:r>
          </a:p>
          <a:p>
            <a:r>
              <a:rPr lang="en-US" dirty="0"/>
              <a:t>• The endpoint is the collector's address.
</a:t>
            </a:r>
          </a:p>
          <a:p>
            <a:r>
              <a:rPr lang="en-US" dirty="0"/>
              <a:t>• The protocol is HTTP on port 4318.
</a:t>
            </a:r>
          </a:p>
          <a:p>
            <a:r>
              <a:rPr lang="en-US" dirty="0"/>
              <a:t>• The next two send the timings and the events.
</a:t>
            </a:r>
          </a:p>
          <a:p>
            <a:r>
              <a:rPr lang="en-US" dirty="0"/>
              <a:t>• The last one turns metrics off, because Moodle produces none.
</a:t>
            </a:r>
          </a:p>
          <a:p>
            <a:r>
              <a:rPr lang="en-US" dirty="0"/>
              <a:t>• These variables are not a Moodle setting.
</a:t>
            </a:r>
          </a:p>
          <a:p>
            <a:r>
              <a:rPr lang="en-US" dirty="0"/>
              <a:t>• They do not go in config.php and you will not find them in the admin pages.
</a:t>
            </a:r>
          </a:p>
          <a:p>
            <a:r>
              <a:rPr lang="en-US" dirty="0"/>
              <a:t>• gRPC on port 4317 also works, but it needs one more Composer package.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Step 5 puts the variables where PHP reads them.
</a:t>
            </a:r>
          </a:p>
          <a:p>
            <a:r>
              <a:rPr lang="en-US" dirty="0"/>
              <a:t>• PHP runs Moodle in two places, PHP-FPM for web requests and cron for scheduled tasks.
</a:t>
            </a:r>
          </a:p>
          <a:p>
            <a:r>
              <a:rPr lang="en-US" dirty="0"/>
              <a:t>• Each has its own environment.
</a:t>
            </a:r>
          </a:p>
          <a:p>
            <a:r>
              <a:rPr lang="en-US" dirty="0"/>
              <a:t>• PHP-FPM reads only its pool file, not your shell.
</a:t>
            </a:r>
          </a:p>
          <a:p>
            <a:r>
              <a:rPr lang="en-US" dirty="0"/>
              <a:t>• The pool file uses env[NAME] = value.
</a:t>
            </a:r>
          </a:p>
          <a:p>
            <a:r>
              <a:rPr lang="en-US" dirty="0"/>
              <a:t>• For cron, you add plain NAME=value lines above the schedule in your existing cron file.
</a:t>
            </a:r>
          </a:p>
          <a:p>
            <a:r>
              <a:rPr lang="en-US" dirty="0"/>
              <a:t>• If your cron runs from a systemd timer, use Environment= in the unit.
</a:t>
            </a:r>
          </a:p>
          <a:p>
            <a:r>
              <a:rPr lang="en-US" dirty="0"/>
              <a:t>• If one file is missing, you get web data but no cron data, or the other way round.
</a:t>
            </a:r>
          </a:p>
          <a:p>
            <a:r>
              <a:rPr lang="en-US" dirty="0"/>
              <a:t>• You get no error message.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Step 6 is done by whoever runs your OpenSearch.
</a:t>
            </a:r>
          </a:p>
          <a:p>
            <a:r>
              <a:rPr lang="en-US" dirty="0"/>
              <a:t>• First, a user for the collector.
</a:t>
            </a:r>
          </a:p>
          <a:p>
            <a:r>
              <a:rPr lang="en-US" dirty="0"/>
              <a:t>• It needs write and create_index on the two index patterns, and two cluster permissions.
</a:t>
            </a:r>
          </a:p>
          <a:p>
            <a:r>
              <a:rPr lang="en-US" dirty="0"/>
              <a:t>• Without the bulk permission, OpenSearch rejects every batch with 403.
</a:t>
            </a:r>
          </a:p>
          <a:p>
            <a:r>
              <a:rPr lang="en-US" dirty="0"/>
              <a:t>• Second, the index template.
</a:t>
            </a:r>
          </a:p>
          <a:p>
            <a:r>
              <a:rPr lang="en-US" dirty="0"/>
              <a:t>• The collector creates it at start, from version 0.157.0.
</a:t>
            </a:r>
          </a:p>
          <a:p>
            <a:r>
              <a:rPr lang="en-US" dirty="0"/>
              <a:t>• Third, an index pattern, so that Discover can show the data.
</a:t>
            </a:r>
          </a:p>
          <a:p>
            <a:r>
              <a:rPr lang="en-US" dirty="0"/>
              <a:t>• Create it in the Dashboards screen, because a pattern made through the API has no field list.
</a:t>
            </a:r>
          </a:p>
          <a:p>
            <a:r>
              <a:rPr lang="en-US" dirty="0"/>
              <a:t>• Fourth, a retention policy.
</a:t>
            </a:r>
          </a:p>
          <a:p>
            <a:r>
              <a:rPr lang="en-US" dirty="0"/>
              <a:t>• It only covers indices created after it, so create it on day one.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7 installs the collector.
</a:t>
            </a:r>
          </a:p>
          <a:p>
            <a:r>
              <a:rPr lang="en-US" dirty="0"/>
              <a:t>• It is not in the Ubuntu or Red Hat repositories, so you download the package from GitHub.
</a:t>
            </a:r>
          </a:p>
          <a:p>
            <a:r>
              <a:rPr lang="en-US" dirty="0"/>
              <a:t>• The version is in a variable, because the collector releases every few weeks and its settings change.
</a:t>
            </a:r>
          </a:p>
          <a:p>
            <a:r>
              <a:rPr lang="en-US" dirty="0"/>
              <a:t>• Take the contrib build.
</a:t>
            </a:r>
          </a:p>
          <a:p>
            <a:r>
              <a:rPr lang="en-US" dirty="0"/>
              <a:t>• Only contrib has the OpenSearch exporter.
</a:t>
            </a:r>
          </a:p>
          <a:p>
            <a:r>
              <a:rPr lang="en-US" dirty="0"/>
              <a:t>• The package starts the service at once with a default configuration.
</a:t>
            </a:r>
          </a:p>
          <a:p>
            <a:r>
              <a:rPr lang="en-US" dirty="0"/>
              <a:t>• That default file listens on many ports on all interfaces, and it writes every record to the system log.
</a:t>
            </a:r>
          </a:p>
          <a:p>
            <a:r>
              <a:rPr lang="en-US" dirty="0"/>
              <a:t>• Step 8 replaces the whole file, which closes those ports.
</a:t>
            </a:r>
          </a:p>
          <a:p>
            <a:r>
              <a:rPr lang="en-US" dirty="0"/>
              <a:t>• The collector is the only new service on the server.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t>
            </a:r>
          </a:p>
          <a:p>
            <a:endParaRPr lang="en-US"/>
          </a:p>
          <a:p>
            <a:r>
              <a:rPr lang="en-US" dirty="0"/>
              <a:t>• Step 8 is one configuration file, shown on two slides.
</a:t>
            </a:r>
          </a:p>
          <a:p>
            <a:r>
              <a:rPr lang="en-US" dirty="0"/>
              <a:t>• This first part takes the records in.
</a:t>
            </a:r>
          </a:p>
          <a:p>
            <a:r>
              <a:rPr lang="en-US" dirty="0"/>
              <a:t>• The receiver listens on localhost port 4318.
</a:t>
            </a:r>
          </a:p>
          <a:p>
            <a:r>
              <a:rPr lang="en-US" dirty="0"/>
              <a:t>• That is the address from the endpoint variable.
</a:t>
            </a:r>
          </a:p>
          <a:p>
            <a:r>
              <a:rPr lang="en-US" dirty="0"/>
              <a:t>• The batch processor collects records for five seconds and sends them as one group.
</a:t>
            </a:r>
          </a:p>
          <a:p>
            <a:r>
              <a:rPr lang="en-US" dirty="0"/>
              <a:t>• So a busy Moodle does not open one connection per event.
</a:t>
            </a:r>
          </a:p>
          <a:p>
            <a:r>
              <a:rPr lang="en-US" dirty="0"/>
              <a:t>• A shared collector on its own server listens on 0.0.0.0 instead and needs a firewall rule.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The second part sends the records to OpenSearch.
</a:t>
            </a:r>
          </a:p>
          <a:p>
            <a:r>
              <a:rPr lang="en-US" dirty="0"/>
              <a:t>• opensearch1 is the name of our OpenSearch server, so use your own.
</a:t>
            </a:r>
          </a:p>
          <a:p>
            <a:r>
              <a:rPr lang="en-US" dirty="0"/>
              <a:t>• The extensions block holds the login of the collector user from step 6.
</a:t>
            </a:r>
          </a:p>
          <a:p>
            <a:r>
              <a:rPr lang="en-US" dirty="0"/>
              <a:t>• insecure_skip_verify turns off the certificate check.
</a:t>
            </a:r>
          </a:p>
          <a:p>
            <a:r>
              <a:rPr lang="en-US" dirty="0"/>
              <a:t>• With a real certificate, remove that line.
</a:t>
            </a:r>
          </a:p>
          <a:p>
            <a:r>
              <a:rPr lang="en-US" dirty="0"/>
              <a:t>• The logs index name must start with otel-v1-logs.
</a:t>
            </a:r>
          </a:p>
          <a:p>
            <a:r>
              <a:rPr lang="en-US" dirty="0"/>
              <a:t>• Otherwise the index template does not apply, and OpenSearch guesses the field types.
</a:t>
            </a:r>
          </a:p>
          <a:p>
            <a:r>
              <a:rPr lang="en-US" dirty="0"/>
              <a:t>• The traces index keeps its default name, because the trace pages read only that name.
</a:t>
            </a:r>
          </a:p>
          <a:p>
            <a:r>
              <a:rPr lang="en-US" dirty="0"/>
              <a:t>• The time format gives one new index per month.
</a:t>
            </a:r>
          </a:p>
          <a:p>
            <a:r>
              <a:rPr lang="en-US" dirty="0"/>
              <a:t>• At the bottom, two pipelines use the same exporter, one for events and one for timings.
</a:t>
            </a:r>
          </a:p>
          <a:p>
            <a:r>
              <a:rPr lang="en-US" dirty="0"/>
              <a:t>• Without the traces pipeline, PHP logs a warning on every request.
</a:t>
            </a:r>
          </a:p>
          <a:p>
            <a:r>
              <a:rPr lang="en-US" dirty="0"/>
              <a:t>• This exporter is still marked alpha by its authors.
</a:t>
            </a:r>
          </a:p>
          <a:p>
            <a:r>
              <a:rPr lang="en-US" dirty="0"/>
              <a:t>• Restart the collector after every change to this file.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Step 9 checks the result.
</a:t>
            </a:r>
          </a:p>
          <a:p>
            <a:r>
              <a:rPr lang="en-US" dirty="0"/>
              <a:t>• This curl counts the records in the events index.
</a:t>
            </a:r>
          </a:p>
          <a:p>
            <a:r>
              <a:rPr lang="en-US" dirty="0"/>
              <a:t>• If the count is above 0, everything works.
</a:t>
            </a:r>
          </a:p>
          <a:p>
            <a:r>
              <a:rPr lang="en-US" dirty="0"/>
              <a:t>• If it is 0, check these four places in this order, from OpenSearch back to PHP.
</a:t>
            </a:r>
          </a:p>
          <a:p>
            <a:r>
              <a:rPr lang="en-US" dirty="0"/>
              <a:t>• The first place that looks right tells you the records stop just after it.
</a:t>
            </a:r>
          </a:p>
          <a:p>
            <a:r>
              <a:rPr lang="en-US" dirty="0"/>
              <a:t>• On Red Hat, the pool file is /etc/php-fpm.d/www.conf.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That was the installation.
</a:t>
            </a:r>
          </a:p>
          <a:p>
            <a:r>
              <a:rPr lang="en-US" dirty="0"/>
              <a:t>• Now you see what you get from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t>
            </a:r>
          </a:p>
          <a:p>
            <a:endParaRPr lang="en-US"/>
          </a:p>
          <a:p>
            <a:r>
              <a:rPr lang="en-US" dirty="0"/>
              <a:t>• These are the kinds of events that you get.
</a:t>
            </a:r>
          </a:p>
          <a:p>
            <a:r>
              <a:rPr lang="en-US" dirty="0"/>
              <a:t>• Every login, with the user name for a failed one.
</a:t>
            </a:r>
          </a:p>
          <a:p>
            <a:r>
              <a:rPr lang="en-US" dirty="0"/>
              <a:t>• Every view of a course or activity, with who viewed it.
</a:t>
            </a:r>
          </a:p>
          <a:p>
            <a:r>
              <a:rPr lang="en-US" dirty="0"/>
              <a:t>• Every create, update and delete.
</a:t>
            </a:r>
          </a:p>
          <a:p>
            <a:r>
              <a:rPr lang="en-US" dirty="0"/>
              <a:t>• Every role and permission change, which gives you an audit trail.
</a:t>
            </a:r>
          </a:p>
          <a:p>
            <a:r>
              <a:rPr lang="en-US" dirty="0"/>
              <a:t>• And some failures, like an email that could not be sent.
</a:t>
            </a:r>
          </a:p>
          <a:p>
            <a:r>
              <a:rPr lang="en-US" dirty="0"/>
              <a:t>• All of these were checked on the demo index.</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This search keeps only the failed logins and counts them per hour.
</a:t>
            </a:r>
          </a:p>
          <a:p>
            <a:r>
              <a:rPr lang="en-US" dirty="0"/>
              <a:t>• OpenSearch calls this a date histogram.
</a:t>
            </a:r>
          </a:p>
          <a:p>
            <a:r>
              <a:rPr lang="en-US" dirty="0"/>
              <a:t>• The table is the real result from the demo site.
</a:t>
            </a:r>
          </a:p>
          <a:p>
            <a:r>
              <a:rPr lang="en-US" dirty="0"/>
              <a:t>• You can see the spike of 45 failed logins at 02:00.
</a:t>
            </a:r>
          </a:p>
          <a:p>
            <a:r>
              <a:rPr lang="en-US" dirty="0"/>
              <a:t>• For "right now", add a time filter, for example the last 24 hours.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This is the demo dashboard in OpenSearch Dashboards.
</a:t>
            </a:r>
          </a:p>
          <a:p>
            <a:r>
              <a:rPr lang="en-US" dirty="0"/>
              <a:t>• It shows the last 30 minutes and refreshes every 10 seconds.
</a:t>
            </a:r>
          </a:p>
          <a:p>
            <a:r>
              <a:rPr lang="en-US" dirty="0"/>
              <a:t>• You build each chart once, and it updates by itself.
</a:t>
            </a:r>
          </a:p>
          <a:p>
            <a:r>
              <a:rPr lang="en-US" dirty="0"/>
              <a:t>• Here, the line of failed logins shows one minute with ten failures.
</a:t>
            </a:r>
          </a:p>
          <a:p>
            <a:r>
              <a:rPr lang="en-US" dirty="0"/>
              <a:t>• The table shows which user name was attacked.
</a:t>
            </a:r>
          </a:p>
          <a:p>
            <a:r>
              <a:rPr lang="en-US" dirty="0"/>
              <a:t>• The list at the bottom shows each click in Moodle as a new row.
</a:t>
            </a:r>
          </a:p>
          <a:p>
            <a:r>
              <a:rPr lang="en-US" dirty="0"/>
              <a:t>• Every chart uses the same records that the searches use.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There are two things you must plan for before you switch this on.
</a:t>
            </a:r>
          </a:p>
          <a:p>
            <a:r>
              <a:rPr lang="en-US" dirty="0"/>
              <a:t>• The first is personal data.
</a:t>
            </a:r>
          </a:p>
          <a:p>
            <a:r>
              <a:rPr lang="en-US" dirty="0"/>
              <a:t>• The second is the number of indices.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By default an event names a user only by id.
</a:t>
            </a:r>
          </a:p>
          <a:p>
            <a:r>
              <a:rPr lang="en-US" dirty="0"/>
              <a:t>• A failed login also records the user name that was typed.
</a:t>
            </a:r>
          </a:p>
          <a:p>
            <a:r>
              <a:rPr lang="en-US" dirty="0"/>
              <a:t>• Every email that Moodle fails to send is stored with its full text.
</a:t>
            </a:r>
          </a:p>
          <a:p>
            <a:r>
              <a:rPr lang="en-US" dirty="0"/>
              <a:t>• On our demo site that included a sign-in notice with the user's email, IP address and browser.
</a:t>
            </a:r>
          </a:p>
          <a:p>
            <a:r>
              <a:rPr lang="en-US" dirty="0"/>
              <a:t>• As soon as one record identifies a person, GDPR applies to the index.
</a:t>
            </a:r>
          </a:p>
          <a:p>
            <a:r>
              <a:rPr lang="en-US" dirty="0"/>
              <a:t>• Remove or hash these attributes in the collector, before they reach OpenSearch.
</a:t>
            </a:r>
          </a:p>
          <a:p>
            <a:r>
              <a:rPr lang="en-US" dirty="0"/>
              <a:t>• The statement on the slide deletes the email text.
</a:t>
            </a:r>
          </a:p>
          <a:p>
            <a:r>
              <a:rPr lang="en-US" dirty="0"/>
              <a:t>• One collector configuration then protects every site.
</a:t>
            </a:r>
          </a:p>
          <a:p>
            <a:r>
              <a:rPr lang="en-US" dirty="0"/>
              <a:t>• Decide the retention period before you start sending.</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OpenSearch stores each index as shards.
</a:t>
            </a:r>
          </a:p>
          <a:p>
            <a:r>
              <a:rPr lang="en-US" dirty="0"/>
              <a:t>• One data server accepts at most 1000 shards by default.
</a:t>
            </a:r>
          </a:p>
          <a:p>
            <a:r>
              <a:rPr lang="en-US" dirty="0"/>
              <a:t>• Each index has two shards, one primary and one copy.
</a:t>
            </a:r>
          </a:p>
          <a:p>
            <a:r>
              <a:rPr lang="en-US" dirty="0"/>
              <a:t>• Five daily indices add ten shards a day and reach the limit in 100 days.
</a:t>
            </a:r>
          </a:p>
          <a:p>
            <a:r>
              <a:rPr lang="en-US" dirty="0"/>
              <a:t>• After that, OpenSearch rejects all new records, and nothing alerts you.
</a:t>
            </a:r>
          </a:p>
          <a:p>
            <a:r>
              <a:rPr lang="en-US" dirty="0"/>
              <a:t>• You can raise the limit, but that only delays the problem.
</a:t>
            </a:r>
          </a:p>
          <a:p>
            <a:r>
              <a:rPr lang="en-US" dirty="0"/>
              <a:t>• Very large shards are also slow.
</a:t>
            </a:r>
          </a:p>
          <a:p>
            <a:r>
              <a:rPr lang="en-US" dirty="0"/>
              <a:t>• Use one index per month.
</a:t>
            </a:r>
          </a:p>
          <a:p>
            <a:r>
              <a:rPr lang="en-US" dirty="0"/>
              <a:t>• On the demo site one event uses about 290 bytes.
</a:t>
            </a:r>
          </a:p>
          <a:p>
            <a:r>
              <a:rPr lang="en-US" dirty="0"/>
              <a:t>• So a million events a day is about 9 GB a month.
</a:t>
            </a:r>
          </a:p>
          <a:p>
            <a:r>
              <a:rPr lang="en-US" dirty="0"/>
              <a:t>• Create the retention policy on the first day.
</a:t>
            </a:r>
          </a:p>
          <a:p>
            <a:r>
              <a:rPr lang="en-US" dirty="0"/>
              <a:t>? If asked about weekly indices: the exporter cannot name them.
</a:t>
            </a:r>
          </a:p>
          <a:p>
            <a:r>
              <a:rPr lang="en-US" dirty="0"/>
              <a:t>• For a fixed size, use an ISM rollover policy.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t>
            </a:r>
          </a:p>
          <a:p>
            <a:endParaRPr lang="en-US"/>
          </a:p>
          <a:p>
            <a:r>
              <a:rPr lang="en-US" dirty="0"/>
              <a:t>• Moodle also sends timing data.
</a:t>
            </a:r>
          </a:p>
          <a:p>
            <a:r>
              <a:rPr lang="en-US" dirty="0"/>
              <a:t>• It goes through the same collector into the same OpenSearch.
</a:t>
            </a:r>
          </a:p>
          <a:p>
            <a:r>
              <a:rPr lang="en-US" dirty="0"/>
              <a:t>• You install nothing new for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t>
            </a:r>
          </a:p>
          <a:p>
            <a:endParaRPr lang="en-US"/>
          </a:p>
          <a:p>
            <a:r>
              <a:rPr lang="en-US" dirty="0"/>
              <a:t>• Every event record has a traceId and a spanId.
</a:t>
            </a:r>
          </a:p>
          <a:p>
            <a:r>
              <a:rPr lang="en-US" dirty="0"/>
              <a:t>• They link the event to the timing of the request that wrote it.
</a:t>
            </a:r>
          </a:p>
          <a:p>
            <a:r>
              <a:rPr lang="en-US" dirty="0"/>
              <a:t>• A trace is the timing of one request, from start to end.
</a:t>
            </a:r>
          </a:p>
          <a:p>
            <a:r>
              <a:rPr lang="en-US" dirty="0"/>
              <a:t>• A span is one step inside it, with a start time and a duration.
</a:t>
            </a:r>
          </a:p>
          <a:p>
            <a:r>
              <a:rPr lang="en-US" dirty="0"/>
              <a:t>• A trace does not follow a user.
</a:t>
            </a:r>
          </a:p>
          <a:p>
            <a:r>
              <a:rPr lang="en-US" dirty="0"/>
              <a:t>• It ends when the request ends.
</a:t>
            </a:r>
          </a:p>
          <a:p>
            <a:r>
              <a:rPr lang="en-US" dirty="0"/>
              <a:t>• A cron run is also a trace.
</a:t>
            </a:r>
          </a:p>
          <a:p>
            <a:r>
              <a:rPr lang="en-US" dirty="0"/>
              <a:t>• This picture is a real login on the demo site.
</a:t>
            </a:r>
          </a:p>
          <a:p>
            <a:r>
              <a:rPr lang="en-US" dirty="0"/>
              <a:t>• The whole request took 92.8 ms.
</a:t>
            </a:r>
          </a:p>
          <a:p>
            <a:r>
              <a:rPr lang="en-US" dirty="0"/>
              <a:t>• The login event inside it took 2.5 ms.
</a:t>
            </a:r>
          </a:p>
          <a:p>
            <a:r>
              <a:rPr lang="en-US" dirty="0"/>
              <a:t>• Moodle adds a note to the first span.
</a:t>
            </a:r>
          </a:p>
          <a:p>
            <a:r>
              <a:rPr lang="en-US" dirty="0"/>
              <a:t>• It shows 32 ms of database time, 13 reads and 9 writes.
</a:t>
            </a:r>
          </a:p>
          <a:p>
            <a:r>
              <a:rPr lang="en-US" dirty="0"/>
              <a:t>• No span covers the rest of the time, so this trace does not show the slow step.</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t>
            </a:r>
          </a:p>
          <a:p>
            <a:endParaRPr lang="en-US"/>
          </a:p>
          <a:p>
            <a:r>
              <a:rPr lang="en-US" dirty="0"/>
              <a:t>• The timing data answers questions like these.
</a:t>
            </a:r>
          </a:p>
          <a:p>
            <a:r>
              <a:rPr lang="en-US" dirty="0"/>
              <a:t>• Which pages are slow.
</a:t>
            </a:r>
          </a:p>
          <a:p>
            <a:r>
              <a:rPr lang="en-US" dirty="0"/>
              <a:t>• Which scheduled task ran for 40 minutes last night.
</a:t>
            </a:r>
          </a:p>
          <a:p>
            <a:r>
              <a:rPr lang="en-US" dirty="0"/>
              <a:t>• How long each event took inside a request.
</a:t>
            </a:r>
          </a:p>
          <a:p>
            <a:r>
              <a:rPr lang="en-US" dirty="0"/>
              <a:t>• A span has attributes like an event, so you search it the same way and can sort by duration.
</a:t>
            </a:r>
          </a:p>
          <a:p>
            <a:r>
              <a:rPr lang="en-US" dirty="0"/>
              <a:t>• In Dashboards you find it under Observability.
</a:t>
            </a:r>
          </a:p>
          <a:p>
            <a:r>
              <a:rPr lang="en-US" dirty="0"/>
              <a:t>• Timing data deserves its own talk.
</a:t>
            </a:r>
          </a:p>
          <a:p>
            <a:r>
              <a:rPr lang="en-US" dirty="0"/>
              <a:t>? If asked why the Services page is empty: it needs a second index that only Data Prepper builds.
</a:t>
            </a:r>
          </a:p>
          <a:p>
            <a:r>
              <a:rPr lang="en-US" dirty="0"/>
              <a:t>? If asked about sampling: 10 % is a common start, not a Moodle measurement.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t>
            </a:r>
          </a:p>
          <a:p>
            <a:endParaRPr lang="en-US"/>
          </a:p>
          <a:p>
            <a:r>
              <a:rPr lang="en-US" dirty="0"/>
              <a:t>• Now the live system.
</a:t>
            </a:r>
          </a:p>
          <a:p>
            <a:r>
              <a:rPr lang="en-US" dirty="0"/>
              <a:t>• First, the indices: _cat/indices/otel-* shows the events index and the timing index.
</a:t>
            </a:r>
          </a:p>
          <a:p>
            <a:r>
              <a:rPr lang="en-US" dirty="0"/>
              <a:t>• Second, Discover on otel-v1-logs-moodle-*.
</a:t>
            </a:r>
          </a:p>
          <a:p>
            <a:r>
              <a:rPr lang="en-US" dirty="0"/>
              <a:t>• Each row is one Moodle event, and the chart on top shows the events over time.
</a:t>
            </a:r>
          </a:p>
          <a:p>
            <a:r>
              <a:rPr lang="en-US" dirty="0"/>
              <a:t>• Third, three searches: *user_login_failed*, then attributes.event.data.courseid: 2, then everything one user did.
</a:t>
            </a:r>
          </a:p>
          <a:p>
            <a:r>
              <a:rPr lang="en-US" dirty="0"/>
              <a:t>• Fourth, the timing: copy a traceId from an event and open it in Trace analytics.
</a:t>
            </a:r>
          </a:p>
          <a:p>
            <a:r>
              <a:rPr lang="en-US" dirty="0"/>
              <a:t>• That shows the timeline of one request.
</a:t>
            </a:r>
          </a:p>
          <a:p>
            <a:r>
              <a:rPr lang="en-US" dirty="0"/>
              <a:t>• With that we have answered two of the four questions from the start.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You can run all of this on your own computer.
</a:t>
            </a:r>
          </a:p>
          <a:p>
            <a:r>
              <a:rPr lang="en-US" dirty="0"/>
              <a:t>• The demo folder on GitHub has a Docker Compose stack.
</a:t>
            </a:r>
          </a:p>
          <a:p>
            <a:r>
              <a:rPr lang="en-US" dirty="0"/>
              <a:t>• It has the same six components, the same variables and a collector file like the one you saw.
</a:t>
            </a:r>
          </a:p>
          <a:p>
            <a:r>
              <a:rPr lang="en-US" dirty="0"/>
              <a:t>• One command starts it.
</a:t>
            </a:r>
          </a:p>
          <a:p>
            <a:r>
              <a:rPr lang="en-US" dirty="0"/>
              <a:t>• The first start builds the Moodle image and takes 5 to 10 minutes.
</a:t>
            </a:r>
          </a:p>
          <a:p>
            <a:r>
              <a:rPr lang="en-US" dirty="0"/>
              <a:t>• Everything runs on https with a self-signed certificate, so your browser warns once for each address.
</a:t>
            </a:r>
          </a:p>
          <a:p>
            <a:r>
              <a:rPr lang="en-US" dirty="0"/>
              <a:t>• On Linux, OpenSearch needs vm.max_map_count of at least 262144.
</a:t>
            </a:r>
          </a:p>
          <a:p>
            <a:r>
              <a:rPr lang="en-US" dirty="0"/>
              <a:t>• The passwords are in the files, so change them before other machines can reach it.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a:r>
          </a:p>
          <a:p>
            <a:endParaRPr lang="en-US"/>
          </a:p>
          <a:p>
            <a:r>
              <a:rPr lang="en-US" dirty="0"/>
              <a:t>• The stack starts ten containers in this order, and Docker Compose handles the order for you.
</a:t>
            </a:r>
          </a:p>
          <a:p>
            <a:r>
              <a:rPr lang="en-US" dirty="0"/>
              <a:t>• The certificate comes first, because OpenSearch needs it for https.
</a:t>
            </a:r>
          </a:p>
          <a:p>
            <a:r>
              <a:rPr lang="en-US" dirty="0"/>
              <a:t>• Then OpenSearch, and a job that creates the collector's user.
</a:t>
            </a:r>
          </a:p>
          <a:p>
            <a:r>
              <a:rPr lang="en-US" dirty="0"/>
              <a:t>• Then the collector, because Moodle sends to it from the first request.
</a:t>
            </a:r>
          </a:p>
          <a:p>
            <a:r>
              <a:rPr lang="en-US" dirty="0"/>
              <a:t>• Then the Moodle database install, and then Moodle and its cron.
</a:t>
            </a:r>
          </a:p>
          <a:p>
            <a:r>
              <a:rPr lang="en-US" dirty="0"/>
              <a:t>• The four containers marked "once" do their job on the first start and stop.
</a:t>
            </a:r>
          </a:p>
          <a:p>
            <a:r>
              <a:rPr lang="en-US" dirty="0"/>
              <a:t>• The Services page and the service map stay empty in this stack, because it has no Data Prepper.
</a:t>
            </a:r>
          </a:p>
          <a:p>
            <a:r>
              <a:rPr lang="en-US" dirty="0"/>
              <a:t>• The trace list and the timeline of each request work.</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a:t>
            </a:r>
          </a:p>
          <a:p>
            <a:endParaRPr lang="en-US"/>
          </a:p>
          <a:p>
            <a:r>
              <a:rPr lang="en-US" dirty="0"/>
              <a:t>• This is Discover on the events index, from the demo stack.
</a:t>
            </a:r>
          </a:p>
          <a:p>
            <a:r>
              <a:rPr lang="en-US" dirty="0"/>
              <a:t>• Each row is one Moodle event.
</a:t>
            </a:r>
          </a:p>
          <a:p>
            <a:r>
              <a:rPr lang="en-US" dirty="0"/>
              <a:t>• The columns are attributes, picked from the field list on the left.
</a:t>
            </a:r>
          </a:p>
          <a:p>
            <a:r>
              <a:rPr lang="en-US" dirty="0"/>
              <a:t>• The chart on top counts the events per 30 seconds.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a:t>
            </a:r>
          </a:p>
          <a:p>
            <a:endParaRPr lang="en-US"/>
          </a:p>
          <a:p>
            <a:r>
              <a:rPr lang="en-US" dirty="0"/>
              <a:t>• Thank you.
</a:t>
            </a:r>
          </a:p>
          <a:p>
            <a:r>
              <a:rPr lang="en-US" dirty="0"/>
              <a:t>• The links on the slide take you further.
</a:t>
            </a:r>
          </a:p>
          <a:p>
            <a:r>
              <a:rPr lang="en-US" dirty="0"/>
              <a:t>? If asked where to begin: install the PHP extension on a test server first.
</a:t>
            </a:r>
          </a:p>
          <a:p>
            <a:r>
              <a:rPr lang="en-US" dirty="0"/>
              <a:t>• It is the only step that compiles code.
</a:t>
            </a:r>
          </a:p>
          <a:p>
            <a:r>
              <a:rPr lang="en-US" dirty="0"/>
              <a:t>? If asked about overhead: use sampling, and measure on your own site.
</a:t>
            </a:r>
          </a:p>
          <a:p>
            <a:r>
              <a:rPr lang="en-US" dirty="0"/>
              <a:t>? If asked about PHP 8.4: the extension supports PHP 8 and newer.
</a:t>
            </a:r>
          </a:p>
          <a:p>
            <a:r>
              <a:rPr lang="en-US" dirty="0"/>
              <a:t>? If asked about Grafana: yes, it also speaks OTLP.
</a:t>
            </a:r>
          </a:p>
          <a:p>
            <a:r>
              <a:rPr lang="en-US" dirty="0"/>
              <a:t>• Only the collector exporter changes.
</a:t>
            </a:r>
          </a:p>
          <a:p>
            <a:r>
              <a:rPr lang="en-US" dirty="0"/>
              <a:t>? If asked about metrics: this package records none, and Moodle produces none.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7700" y="4824561"/>
            <a:ext cx="10896600" cy="695325"/>
          </a:xfrm>
          <a:prstGeom prst="roundRect">
            <a:avLst>
              <a:gd name="adj" fmla="val 28823"/>
            </a:avLst>
          </a:prstGeom>
          <a:solidFill>
            <a:srgbClr val="E1F0F7"/>
          </a:solidFill>
          <a:ln w="10160">
            <a:solidFill>
              <a:srgbClr val="0B6E99"/>
            </a:solidFill>
            <a:prstDash val="solid"/>
          </a:ln>
        </p:spPr>
      </p:sp>
      <p:sp>
        <p:nvSpPr>
          <p:cNvPr id="3" name="Text 1"/>
          <p:cNvSpPr txBox="1"/>
          <p:nvPr/>
        </p:nvSpPr>
        <p:spPr>
          <a:xfrm>
            <a:off x="647700" y="97354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MOODLE 5.2 · OPENTELEMETRY · OPENSEARCH</a:t>
            </a:r>
            <a:endParaRPr lang="en-US" sz="980" dirty="0"/>
          </a:p>
        </p:txBody>
      </p:sp>
      <p:sp>
        <p:nvSpPr>
          <p:cNvPr id="4" name="Text 2"/>
          <p:cNvSpPr txBox="1"/>
          <p:nvPr/>
        </p:nvSpPr>
        <p:spPr>
          <a:xfrm>
            <a:off x="647700" y="1314301"/>
            <a:ext cx="8109049" cy="1490960"/>
          </a:xfrm>
          <a:prstGeom prst="rect">
            <a:avLst/>
          </a:prstGeom>
          <a:noFill/>
          <a:ln/>
        </p:spPr>
        <p:txBody>
          <a:bodyPr wrap="square" lIns="0" tIns="0" rIns="0" bIns="0" rtlCol="0" anchor="t"/>
          <a:lstStyle/>
          <a:p>
            <a:pPr algn="l" indent="0" marL="0">
              <a:lnSpc>
                <a:spcPts val="5870"/>
              </a:lnSpc>
              <a:buNone/>
            </a:pPr>
            <a:r>
              <a:rPr lang="en-US" sz="5700" b="1" spc="-140" kern="0" dirty="0">
                <a:solidFill>
                  <a:srgbClr val="101A22"/>
                </a:solidFill>
                <a:latin typeface="Arial" pitchFamily="34" charset="0"/>
                <a:ea typeface="Arial" pitchFamily="34" charset="-122"/>
                <a:cs typeface="Arial" pitchFamily="34" charset="-120"/>
              </a:rPr>
              <a:t>What Is Your Moodle Doing?</a:t>
            </a:r>
            <a:endParaRPr lang="en-US" sz="5700" dirty="0"/>
          </a:p>
        </p:txBody>
      </p:sp>
      <p:sp>
        <p:nvSpPr>
          <p:cNvPr id="5" name="Text 3"/>
          <p:cNvSpPr txBox="1"/>
          <p:nvPr/>
        </p:nvSpPr>
        <p:spPr>
          <a:xfrm>
            <a:off x="647700" y="2971473"/>
            <a:ext cx="10953750" cy="148590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This presentation shows you how to send Moodle logs and timing data to OpenSearch using OpenTelemetry. In OpenSearch you can run searches to analyse the state of your Moodle site. Moodle 5.2 is the first Moodle version with official OpenTelemetry support. Older versions cannot use this setup.</a:t>
            </a:r>
            <a:endParaRPr lang="en-US" sz="1950" dirty="0"/>
          </a:p>
        </p:txBody>
      </p:sp>
      <p:sp>
        <p:nvSpPr>
          <p:cNvPr id="6" name="Text 4"/>
          <p:cNvSpPr txBox="1"/>
          <p:nvPr/>
        </p:nvSpPr>
        <p:spPr>
          <a:xfrm>
            <a:off x="809625" y="4900999"/>
            <a:ext cx="10629900" cy="485775"/>
          </a:xfrm>
          <a:prstGeom prst="rect">
            <a:avLst/>
          </a:prstGeom>
          <a:noFill/>
          <a:ln/>
        </p:spPr>
        <p:txBody>
          <a:bodyPr wrap="square" lIns="0" tIns="0" rIns="0" bIns="0" rtlCol="0" anchor="t"/>
          <a:lstStyle/>
          <a:p>
            <a:pPr algn="l" indent="0" marL="0">
              <a:lnSpc>
                <a:spcPts val="1910"/>
              </a:lnSpc>
              <a:buNone/>
            </a:pPr>
            <a:r>
              <a:rPr lang="en-US" sz="1280" dirty="0">
                <a:solidFill>
                  <a:srgbClr val="0B6E99"/>
                </a:solidFill>
                <a:latin typeface="Courier New" pitchFamily="34" charset="0"/>
                <a:ea typeface="Courier New" pitchFamily="34" charset="-122"/>
                <a:cs typeface="Courier New" pitchFamily="34" charset="-120"/>
              </a:rPr>
              <a:t>The slides and the demo files are at https://github.com/netsapiensis/MoodleMootNordic2026, in the folder Moodle-Otel-Opensearch.</a:t>
            </a:r>
            <a:endParaRPr lang="en-US" sz="1280" dirty="0"/>
          </a:p>
        </p:txBody>
      </p:sp>
      <p:sp>
        <p:nvSpPr>
          <p:cNvPr id="7" name="Text 5"/>
          <p:cNvSpPr txBox="1"/>
          <p:nvPr/>
        </p:nvSpPr>
        <p:spPr>
          <a:xfrm>
            <a:off x="647700" y="6464379"/>
            <a:ext cx="2212181"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50 minutes + 10 for questions</a:t>
            </a:r>
            <a:endParaRPr lang="en-US" sz="980" dirty="0"/>
          </a:p>
        </p:txBody>
      </p:sp>
      <p:sp>
        <p:nvSpPr>
          <p:cNvPr id="8" name="Text 6"/>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 / 39</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sp>
        <p:nvSpPr>
          <p:cNvPr id="3" name="Text 1"/>
          <p:cNvSpPr txBox="1"/>
          <p:nvPr/>
        </p:nvSpPr>
        <p:spPr>
          <a:xfrm>
            <a:off x="1010012" y="533400"/>
            <a:ext cx="10229124" cy="403317"/>
          </a:xfrm>
          <a:prstGeom prst="rect">
            <a:avLst/>
          </a:prstGeom>
          <a:noFill/>
          <a:ln/>
        </p:spPr>
        <p:txBody>
          <a:bodyPr wrap="none" lIns="0" tIns="0" rIns="0" bIns="0" rtlCol="0" anchor="t"/>
          <a:lstStyle/>
          <a:p>
            <a:pPr algn="l" indent="0" marL="0">
              <a:lnSpc>
                <a:spcPts val="3170"/>
              </a:lnSpc>
              <a:buNone/>
            </a:pPr>
            <a:r>
              <a:rPr lang="en-US" sz="2940" b="1" spc="-60" kern="0" dirty="0">
                <a:solidFill>
                  <a:srgbClr val="101A22"/>
                </a:solidFill>
                <a:latin typeface="Arial" pitchFamily="34" charset="0"/>
                <a:ea typeface="Arial" pitchFamily="34" charset="-122"/>
                <a:cs typeface="Arial" pitchFamily="34" charset="-120"/>
              </a:rPr>
              <a:t>Agenda</a:t>
            </a:r>
            <a:endParaRPr lang="en-US" sz="2940" dirty="0"/>
          </a:p>
        </p:txBody>
      </p:sp>
      <p:sp>
        <p:nvSpPr>
          <p:cNvPr id="4" name="Text 2"/>
          <p:cNvSpPr txBox="1"/>
          <p:nvPr/>
        </p:nvSpPr>
        <p:spPr>
          <a:xfrm>
            <a:off x="1401032" y="1140127"/>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The Moodle log table and its limits</a:t>
            </a:r>
            <a:endParaRPr lang="en-US" sz="1750" dirty="0"/>
          </a:p>
        </p:txBody>
      </p:sp>
      <p:sp>
        <p:nvSpPr>
          <p:cNvPr id="5" name="Text 3"/>
          <p:cNvSpPr txBox="1"/>
          <p:nvPr/>
        </p:nvSpPr>
        <p:spPr>
          <a:xfrm>
            <a:off x="1010012" y="1193472"/>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1</a:t>
            </a:r>
            <a:endParaRPr lang="en-US" sz="1190" dirty="0"/>
          </a:p>
        </p:txBody>
      </p:sp>
      <p:sp>
        <p:nvSpPr>
          <p:cNvPr id="6" name="Text 4"/>
          <p:cNvSpPr txBox="1"/>
          <p:nvPr/>
        </p:nvSpPr>
        <p:spPr>
          <a:xfrm>
            <a:off x="1401032" y="1735863"/>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What Moodle 5.2, OpenTelemetry and OpenSearch each do</a:t>
            </a:r>
            <a:endParaRPr lang="en-US" sz="1750" dirty="0"/>
          </a:p>
        </p:txBody>
      </p:sp>
      <p:sp>
        <p:nvSpPr>
          <p:cNvPr id="7" name="Text 5"/>
          <p:cNvSpPr txBox="1"/>
          <p:nvPr/>
        </p:nvSpPr>
        <p:spPr>
          <a:xfrm>
            <a:off x="1010012" y="1789208"/>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2</a:t>
            </a:r>
            <a:endParaRPr lang="en-US" sz="1190" dirty="0"/>
          </a:p>
        </p:txBody>
      </p:sp>
      <p:sp>
        <p:nvSpPr>
          <p:cNvPr id="8" name="Text 6"/>
          <p:cNvSpPr txBox="1"/>
          <p:nvPr/>
        </p:nvSpPr>
        <p:spPr>
          <a:xfrm>
            <a:off x="1401032" y="233159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How the three fit together, and where each component runs</a:t>
            </a:r>
            <a:endParaRPr lang="en-US" sz="1750" dirty="0"/>
          </a:p>
        </p:txBody>
      </p:sp>
      <p:sp>
        <p:nvSpPr>
          <p:cNvPr id="9" name="Text 7"/>
          <p:cNvSpPr txBox="1"/>
          <p:nvPr/>
        </p:nvSpPr>
        <p:spPr>
          <a:xfrm>
            <a:off x="1010012" y="2384944"/>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3</a:t>
            </a:r>
            <a:endParaRPr lang="en-US" sz="1190" dirty="0"/>
          </a:p>
        </p:txBody>
      </p:sp>
      <p:sp>
        <p:nvSpPr>
          <p:cNvPr id="10" name="Text 8"/>
          <p:cNvSpPr txBox="1"/>
          <p:nvPr/>
        </p:nvSpPr>
        <p:spPr>
          <a:xfrm>
            <a:off x="1401032" y="2927336"/>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Terms used in the commands and in the searches</a:t>
            </a:r>
            <a:endParaRPr lang="en-US" sz="1750" dirty="0"/>
          </a:p>
        </p:txBody>
      </p:sp>
      <p:sp>
        <p:nvSpPr>
          <p:cNvPr id="11" name="Text 9"/>
          <p:cNvSpPr txBox="1"/>
          <p:nvPr/>
        </p:nvSpPr>
        <p:spPr>
          <a:xfrm>
            <a:off x="1010012" y="2980681"/>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4</a:t>
            </a:r>
            <a:endParaRPr lang="en-US" sz="1190" dirty="0"/>
          </a:p>
        </p:txBody>
      </p:sp>
      <p:sp>
        <p:nvSpPr>
          <p:cNvPr id="12" name="Text 10"/>
          <p:cNvSpPr txBox="1"/>
          <p:nvPr/>
        </p:nvSpPr>
        <p:spPr>
          <a:xfrm>
            <a:off x="1401032" y="3523072"/>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Installation and configuration on Ubuntu and Red Hat</a:t>
            </a:r>
            <a:endParaRPr lang="en-US" sz="1750" dirty="0"/>
          </a:p>
        </p:txBody>
      </p:sp>
      <p:sp>
        <p:nvSpPr>
          <p:cNvPr id="13" name="Text 11"/>
          <p:cNvSpPr txBox="1"/>
          <p:nvPr/>
        </p:nvSpPr>
        <p:spPr>
          <a:xfrm>
            <a:off x="1010012" y="3576417"/>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5</a:t>
            </a:r>
            <a:endParaRPr lang="en-US" sz="1190" dirty="0"/>
          </a:p>
        </p:txBody>
      </p:sp>
      <p:sp>
        <p:nvSpPr>
          <p:cNvPr id="14" name="Text 12"/>
          <p:cNvSpPr txBox="1"/>
          <p:nvPr/>
        </p:nvSpPr>
        <p:spPr>
          <a:xfrm>
            <a:off x="1401032" y="411880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Searches and charts in OpenSearch</a:t>
            </a:r>
            <a:endParaRPr lang="en-US" sz="1750" dirty="0"/>
          </a:p>
        </p:txBody>
      </p:sp>
      <p:sp>
        <p:nvSpPr>
          <p:cNvPr id="15" name="Text 13"/>
          <p:cNvSpPr txBox="1"/>
          <p:nvPr/>
        </p:nvSpPr>
        <p:spPr>
          <a:xfrm>
            <a:off x="1010012" y="4172153"/>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6</a:t>
            </a:r>
            <a:endParaRPr lang="en-US" sz="1190" dirty="0"/>
          </a:p>
        </p:txBody>
      </p:sp>
      <p:sp>
        <p:nvSpPr>
          <p:cNvPr id="16" name="Text 14"/>
          <p:cNvSpPr txBox="1"/>
          <p:nvPr/>
        </p:nvSpPr>
        <p:spPr>
          <a:xfrm>
            <a:off x="1401032" y="4714545"/>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Plan for personal data in the events and for too many indices</a:t>
            </a:r>
            <a:endParaRPr lang="en-US" sz="1750" dirty="0"/>
          </a:p>
        </p:txBody>
      </p:sp>
      <p:sp>
        <p:nvSpPr>
          <p:cNvPr id="17" name="Text 15"/>
          <p:cNvSpPr txBox="1"/>
          <p:nvPr/>
        </p:nvSpPr>
        <p:spPr>
          <a:xfrm>
            <a:off x="1010012" y="4767890"/>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7</a:t>
            </a:r>
            <a:endParaRPr lang="en-US" sz="1190" dirty="0"/>
          </a:p>
        </p:txBody>
      </p:sp>
      <p:sp>
        <p:nvSpPr>
          <p:cNvPr id="18" name="Text 16"/>
          <p:cNvSpPr txBox="1"/>
          <p:nvPr/>
        </p:nvSpPr>
        <p:spPr>
          <a:xfrm>
            <a:off x="1401032" y="5310281"/>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A short look at timing data, and then a live system</a:t>
            </a:r>
            <a:endParaRPr lang="en-US" sz="1750" dirty="0"/>
          </a:p>
        </p:txBody>
      </p:sp>
      <p:sp>
        <p:nvSpPr>
          <p:cNvPr id="19" name="Text 17"/>
          <p:cNvSpPr txBox="1"/>
          <p:nvPr/>
        </p:nvSpPr>
        <p:spPr>
          <a:xfrm>
            <a:off x="1010012" y="5363626"/>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8</a:t>
            </a:r>
            <a:endParaRPr lang="en-US" sz="1190" dirty="0"/>
          </a:p>
        </p:txBody>
      </p:sp>
      <p:sp>
        <p:nvSpPr>
          <p:cNvPr id="20" name="Text 18"/>
          <p:cNvSpPr txBox="1"/>
          <p:nvPr/>
        </p:nvSpPr>
        <p:spPr>
          <a:xfrm>
            <a:off x="647700"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Agenda</a:t>
            </a:r>
            <a:endParaRPr lang="en-US" sz="910" dirty="0"/>
          </a:p>
        </p:txBody>
      </p:sp>
      <p:sp>
        <p:nvSpPr>
          <p:cNvPr id="21" name="Text 19"/>
          <p:cNvSpPr txBox="1"/>
          <p:nvPr/>
        </p:nvSpPr>
        <p:spPr>
          <a:xfrm>
            <a:off x="11098411"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2 / 39</a:t>
            </a:r>
            <a:endParaRPr lang="en-US" sz="9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1378744"/>
          </a:xfrm>
          <a:prstGeom prst="roundRect">
            <a:avLst>
              <a:gd name="adj" fmla="val 9164"/>
            </a:avLst>
          </a:prstGeom>
          <a:solidFill>
            <a:srgbClr val="0F2027"/>
          </a:solidFill>
          <a:ln/>
        </p:spPr>
      </p:sp>
      <p:sp>
        <p:nvSpPr>
          <p:cNvPr id="3" name="Shape 1"/>
          <p:cNvSpPr/>
          <p:nvPr/>
        </p:nvSpPr>
        <p:spPr>
          <a:xfrm>
            <a:off x="685800" y="3196679"/>
            <a:ext cx="85725" cy="85725"/>
          </a:xfrm>
          <a:prstGeom prst="roundRect">
            <a:avLst>
              <a:gd name="adj" fmla="val 474074"/>
            </a:avLst>
          </a:prstGeom>
          <a:solidFill>
            <a:srgbClr val="0B6E99"/>
          </a:solidFill>
          <a:ln/>
        </p:spPr>
      </p:sp>
      <p:sp>
        <p:nvSpPr>
          <p:cNvPr id="4" name="Shape 2"/>
          <p:cNvSpPr/>
          <p:nvPr/>
        </p:nvSpPr>
        <p:spPr>
          <a:xfrm>
            <a:off x="685800" y="3963591"/>
            <a:ext cx="85725" cy="85725"/>
          </a:xfrm>
          <a:prstGeom prst="roundRect">
            <a:avLst>
              <a:gd name="adj" fmla="val 474074"/>
            </a:avLst>
          </a:prstGeom>
          <a:solidFill>
            <a:srgbClr val="0B6E99"/>
          </a:solidFill>
          <a:ln/>
        </p:spPr>
      </p:sp>
      <p:sp>
        <p:nvSpPr>
          <p:cNvPr id="5" name="Shape 3"/>
          <p:cNvSpPr/>
          <p:nvPr/>
        </p:nvSpPr>
        <p:spPr>
          <a:xfrm>
            <a:off x="685800" y="4403527"/>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already logs every event</a:t>
            </a:r>
            <a:endParaRPr lang="en-US" sz="3150" dirty="0"/>
          </a:p>
        </p:txBody>
      </p:sp>
      <p:sp>
        <p:nvSpPr>
          <p:cNvPr id="9" name="Text 7"/>
          <p:cNvSpPr txBox="1"/>
          <p:nvPr/>
        </p:nvSpPr>
        <p:spPr>
          <a:xfrm>
            <a:off x="857250" y="1682204"/>
            <a:ext cx="10534650" cy="1035844"/>
          </a:xfrm>
          <a:prstGeom prst="rect">
            <a:avLst/>
          </a:prstGeom>
          <a:noFill/>
          <a:ln/>
        </p:spPr>
        <p:txBody>
          <a:bodyPr wrap="square" lIns="0" tIns="0" rIns="0" bIns="0" rtlCol="0" anchor="t"/>
          <a:lstStyle/>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"Login failed for user 'admin'. Most likely the</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password did not match (error ID '3')."</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endParaRPr lang="en-US" sz="1130" dirty="0"/>
          </a:p>
        </p:txBody>
      </p:sp>
      <p:sp>
        <p:nvSpPr>
          <p:cNvPr id="10" name="Text 8"/>
          <p:cNvSpPr txBox="1"/>
          <p:nvPr/>
        </p:nvSpPr>
        <p:spPr>
          <a:xfrm>
            <a:off x="933450" y="3054995"/>
            <a:ext cx="10668000" cy="633561"/>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Every click, every login and every failure becomes one row in </a:t>
            </a:r>
            <a:pPr algn="l" indent="0" marL="0">
              <a:lnSpc>
                <a:spcPts val="2420"/>
              </a:lnSpc>
              <a:buNone/>
            </a:pPr>
            <a:r>
              <a:rPr lang="en-US" sz="1520" dirty="0">
                <a:solidFill>
                  <a:srgbClr val="101A22"/>
                </a:solidFill>
                <a:highlight>
                  <a:srgbClr val="E1F0F7"/>
                </a:highlight>
                <a:latin typeface="Courier New" pitchFamily="34" charset="0"/>
                <a:ea typeface="Courier New" pitchFamily="34" charset="-122"/>
                <a:cs typeface="Courier New" pitchFamily="34" charset="-120"/>
              </a:rPr>
              <a:t>mdl_logstore_standard_log</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That table is in the same database that serves your pages, and it is usually one of the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largest tables you have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1" name="Text 9"/>
          <p:cNvSpPr txBox="1"/>
          <p:nvPr/>
        </p:nvSpPr>
        <p:spPr>
          <a:xfrm>
            <a:off x="933450" y="382190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Moodle's built-in reports, such as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Live 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use this table.</a:t>
            </a:r>
            <a:endParaRPr lang="en-US" sz="1730" dirty="0"/>
          </a:p>
        </p:txBody>
      </p:sp>
      <p:sp>
        <p:nvSpPr>
          <p:cNvPr id="12" name="Text 10"/>
          <p:cNvSpPr txBox="1"/>
          <p:nvPr/>
        </p:nvSpPr>
        <p:spPr>
          <a:xfrm>
            <a:off x="933450" y="426184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By default Moodle never deletes these rows, so the table grows for as long as the site runs.</a:t>
            </a:r>
            <a:endParaRPr lang="en-US" sz="1730" dirty="0"/>
          </a:p>
        </p:txBody>
      </p:sp>
      <p:sp>
        <p:nvSpPr>
          <p:cNvPr id="13" name="Text 11"/>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4" name="Text 12"/>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 / 39</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646486"/>
            <a:ext cx="85725" cy="85725"/>
          </a:xfrm>
          <a:prstGeom prst="roundRect">
            <a:avLst>
              <a:gd name="adj" fmla="val 474074"/>
            </a:avLst>
          </a:prstGeom>
          <a:solidFill>
            <a:srgbClr val="0B6E99"/>
          </a:solidFill>
          <a:ln/>
        </p:spPr>
      </p:sp>
      <p:sp>
        <p:nvSpPr>
          <p:cNvPr id="3" name="Shape 1"/>
          <p:cNvSpPr/>
          <p:nvPr/>
        </p:nvSpPr>
        <p:spPr>
          <a:xfrm>
            <a:off x="685800" y="2086421"/>
            <a:ext cx="85725" cy="85725"/>
          </a:xfrm>
          <a:prstGeom prst="roundRect">
            <a:avLst>
              <a:gd name="adj" fmla="val 474074"/>
            </a:avLst>
          </a:prstGeom>
          <a:solidFill>
            <a:srgbClr val="0B6E99"/>
          </a:solidFill>
          <a:ln/>
        </p:spPr>
      </p:sp>
      <p:sp>
        <p:nvSpPr>
          <p:cNvPr id="4" name="Shape 2"/>
          <p:cNvSpPr/>
          <p:nvPr/>
        </p:nvSpPr>
        <p:spPr>
          <a:xfrm>
            <a:off x="685800" y="2526357"/>
            <a:ext cx="85725" cy="85725"/>
          </a:xfrm>
          <a:prstGeom prst="roundRect">
            <a:avLst>
              <a:gd name="adj" fmla="val 474074"/>
            </a:avLst>
          </a:prstGeom>
          <a:solidFill>
            <a:srgbClr val="0B6E99"/>
          </a:solidFill>
          <a:ln/>
        </p:spPr>
      </p:sp>
      <p:sp>
        <p:nvSpPr>
          <p:cNvPr id="5" name="Shape 3"/>
          <p:cNvSpPr/>
          <p:nvPr/>
        </p:nvSpPr>
        <p:spPr>
          <a:xfrm>
            <a:off x="685800" y="2966293"/>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Questions the core Moodle reports cannot answer</a:t>
            </a:r>
            <a:endParaRPr lang="en-US" sz="3150" dirty="0"/>
          </a:p>
        </p:txBody>
      </p:sp>
      <p:sp>
        <p:nvSpPr>
          <p:cNvPr id="9" name="Text 7"/>
          <p:cNvSpPr txBox="1"/>
          <p:nvPr/>
        </p:nvSpPr>
        <p:spPr>
          <a:xfrm>
            <a:off x="933450" y="1504801"/>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many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logins per hour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were there this week and last week?</a:t>
            </a:r>
            <a:endParaRPr lang="en-US" sz="1730" dirty="0"/>
          </a:p>
        </p:txBody>
      </p:sp>
      <p:sp>
        <p:nvSpPr>
          <p:cNvPr id="10" name="Text 8"/>
          <p:cNvSpPr txBox="1"/>
          <p:nvPr/>
        </p:nvSpPr>
        <p:spPr>
          <a:xfrm>
            <a:off x="933450" y="19447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courses are actually used</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which has nobody opened since term start?</a:t>
            </a:r>
            <a:endParaRPr lang="en-US" sz="1730" dirty="0"/>
          </a:p>
        </p:txBody>
      </p:sp>
      <p:sp>
        <p:nvSpPr>
          <p:cNvPr id="11" name="Text 9"/>
          <p:cNvSpPr txBox="1"/>
          <p:nvPr/>
        </p:nvSpPr>
        <p:spPr>
          <a:xfrm>
            <a:off x="933450" y="23846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What did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this one user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do, across every course, last month?</a:t>
            </a:r>
            <a:endParaRPr lang="en-US" sz="1730" dirty="0"/>
          </a:p>
        </p:txBody>
      </p:sp>
      <p:sp>
        <p:nvSpPr>
          <p:cNvPr id="12" name="Text 10"/>
          <p:cNvSpPr txBox="1"/>
          <p:nvPr/>
        </p:nvSpPr>
        <p:spPr>
          <a:xfrm>
            <a:off x="933450" y="28246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Are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failed logins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spiking right now?</a:t>
            </a:r>
            <a:endParaRPr lang="en-US" sz="1730" dirty="0"/>
          </a:p>
        </p:txBody>
      </p:sp>
      <p:sp>
        <p:nvSpPr>
          <p:cNvPr id="13" name="Text 11"/>
          <p:cNvSpPr txBox="1"/>
          <p:nvPr/>
        </p:nvSpPr>
        <p:spPr>
          <a:xfrm>
            <a:off x="647700" y="3369558"/>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In OpenSearch you can answer each of these questions. One more question is why a page was slow. That question gets a short look at the end of this presentation.</a:t>
            </a:r>
            <a:endParaRPr lang="en-US" sz="1650" dirty="0"/>
          </a:p>
        </p:txBody>
      </p:sp>
      <p:sp>
        <p:nvSpPr>
          <p:cNvPr id="14" name="Text 12"/>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5" name="Text 1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4 / 39</a:t>
            </a:r>
            <a:endParaRPr lang="en-US" sz="9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5257800" cy="1540073"/>
          </a:xfrm>
          <a:prstGeom prst="roundRect">
            <a:avLst>
              <a:gd name="adj" fmla="val 8813"/>
            </a:avLst>
          </a:prstGeom>
          <a:solidFill>
            <a:srgbClr val="FFFFFF"/>
          </a:solidFill>
          <a:ln w="19050">
            <a:solidFill>
              <a:srgbClr val="0B6E99"/>
            </a:solidFill>
            <a:prstDash val="solid"/>
          </a:ln>
        </p:spPr>
      </p:sp>
      <p:sp>
        <p:nvSpPr>
          <p:cNvPr id="3" name="Shape 1"/>
          <p:cNvSpPr/>
          <p:nvPr/>
        </p:nvSpPr>
        <p:spPr>
          <a:xfrm>
            <a:off x="6286500" y="1532186"/>
            <a:ext cx="5257800" cy="1435298"/>
          </a:xfrm>
          <a:prstGeom prst="roundRect">
            <a:avLst>
              <a:gd name="adj" fmla="val 10147"/>
            </a:avLst>
          </a:prstGeom>
          <a:solidFill>
            <a:srgbClr val="FFFFFF"/>
          </a:solidFill>
          <a:ln w="19050">
            <a:solidFill>
              <a:srgbClr val="0B6E99"/>
            </a:solidFill>
            <a:prstDash val="solid"/>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SOFTWARE</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produces two kinds of records: events and timings</a:t>
            </a:r>
            <a:endParaRPr lang="en-US" sz="3150" dirty="0"/>
          </a:p>
        </p:txBody>
      </p:sp>
      <p:sp>
        <p:nvSpPr>
          <p:cNvPr id="7" name="Text 5"/>
          <p:cNvSpPr txBox="1"/>
          <p:nvPr/>
        </p:nvSpPr>
        <p:spPr>
          <a:xfrm>
            <a:off x="895350" y="1756499"/>
            <a:ext cx="4819650" cy="205740"/>
          </a:xfrm>
          <a:prstGeom prst="rect">
            <a:avLst/>
          </a:prstGeom>
          <a:noFill/>
          <a:ln/>
        </p:spPr>
        <p:txBody>
          <a:bodyPr wrap="none" lIns="0" tIns="0" rIns="0" bIns="0" rtlCol="0" anchor="t"/>
          <a:lstStyle/>
          <a:p>
            <a:pPr algn="l" indent="0" marL="0">
              <a:lnSpc>
                <a:spcPts val="1620"/>
              </a:lnSpc>
              <a:buNone/>
            </a:pPr>
            <a:r>
              <a:rPr lang="en-US" sz="1350" b="1" dirty="0">
                <a:solidFill>
                  <a:srgbClr val="0B6E99"/>
                </a:solidFill>
                <a:latin typeface="Courier New" pitchFamily="34" charset="0"/>
                <a:ea typeface="Courier New" pitchFamily="34" charset="-122"/>
                <a:cs typeface="Courier New" pitchFamily="34" charset="-120"/>
              </a:rPr>
              <a:t>An event records what happened in Moodle</a:t>
            </a:r>
            <a:endParaRPr lang="en-US" sz="1350" dirty="0"/>
          </a:p>
        </p:txBody>
      </p:sp>
      <p:sp>
        <p:nvSpPr>
          <p:cNvPr id="8" name="Text 6"/>
          <p:cNvSpPr txBox="1"/>
          <p:nvPr/>
        </p:nvSpPr>
        <p:spPr>
          <a:xfrm>
            <a:off x="895350" y="2020833"/>
            <a:ext cx="4819650" cy="797123"/>
          </a:xfrm>
          <a:prstGeom prst="rect">
            <a:avLst/>
          </a:prstGeom>
          <a:noFill/>
          <a:ln/>
        </p:spPr>
        <p:txBody>
          <a:bodyPr wrap="square" lIns="0" tIns="0" rIns="0" bIns="0" rtlCol="0" anchor="t"/>
          <a:lstStyle/>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user_login_failed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course_section_created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enrol_instance_created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capability_assigned</a:t>
            </a:r>
            <a:endParaRPr lang="en-US" sz="1010" dirty="0"/>
          </a:p>
        </p:txBody>
      </p:sp>
      <p:sp>
        <p:nvSpPr>
          <p:cNvPr id="9" name="Text 7"/>
          <p:cNvSpPr txBox="1"/>
          <p:nvPr/>
        </p:nvSpPr>
        <p:spPr>
          <a:xfrm>
            <a:off x="6534150" y="1760786"/>
            <a:ext cx="4819650" cy="381000"/>
          </a:xfrm>
          <a:prstGeom prst="rect">
            <a:avLst/>
          </a:prstGeom>
          <a:noFill/>
          <a:ln/>
        </p:spPr>
        <p:txBody>
          <a:bodyPr wrap="square" lIns="0" tIns="0" rIns="0" bIns="0" rtlCol="0" anchor="t"/>
          <a:lstStyle/>
          <a:p>
            <a:pPr algn="l" indent="0" marL="0">
              <a:lnSpc>
                <a:spcPts val="1500"/>
              </a:lnSpc>
              <a:buNone/>
            </a:pPr>
            <a:r>
              <a:rPr lang="en-US" sz="1350" b="1" dirty="0">
                <a:solidFill>
                  <a:srgbClr val="0B6E99"/>
                </a:solidFill>
                <a:latin typeface="Courier New" pitchFamily="34" charset="0"/>
                <a:ea typeface="Courier New" pitchFamily="34" charset="-122"/>
                <a:cs typeface="Courier New" pitchFamily="34" charset="-120"/>
              </a:rPr>
              <a:t>A timing records how long one run took (a short look at the end)</a:t>
            </a:r>
            <a:endParaRPr lang="en-US" sz="1350" dirty="0"/>
          </a:p>
        </p:txBody>
      </p:sp>
      <p:sp>
        <p:nvSpPr>
          <p:cNvPr id="10" name="Text 8"/>
          <p:cNvSpPr txBox="1"/>
          <p:nvPr/>
        </p:nvSpPr>
        <p:spPr>
          <a:xfrm>
            <a:off x="6534150" y="2204651"/>
            <a:ext cx="4819650" cy="501848"/>
          </a:xfrm>
          <a:prstGeom prst="rect">
            <a:avLst/>
          </a:prstGeom>
          <a:noFill/>
          <a:ln/>
        </p:spPr>
        <p:txBody>
          <a:bodyPr wrap="square" lIns="0" tIns="0" rIns="0" bIns="0" rtlCol="0" anchor="t"/>
          <a:lstStyle/>
          <a:p>
            <a:pPr algn="l" indent="0" marL="0">
              <a:lnSpc>
                <a:spcPts val="1980"/>
              </a:lnSpc>
              <a:buNone/>
            </a:pPr>
            <a:r>
              <a:rPr lang="en-US" sz="1280" dirty="0">
                <a:solidFill>
                  <a:srgbClr val="101A22"/>
                </a:solidFill>
                <a:latin typeface="Arial" pitchFamily="34" charset="0"/>
                <a:ea typeface="Arial" pitchFamily="34" charset="-122"/>
                <a:cs typeface="Arial" pitchFamily="34" charset="-120"/>
              </a:rPr>
              <a:t>Each web request, CLI run, scheduled task, adhoc task and web service call gets its own timing.</a:t>
            </a:r>
            <a:endParaRPr lang="en-US" sz="1280" dirty="0"/>
          </a:p>
        </p:txBody>
      </p:sp>
      <p:sp>
        <p:nvSpPr>
          <p:cNvPr id="11" name="Text 9"/>
          <p:cNvSpPr txBox="1"/>
          <p:nvPr/>
        </p:nvSpPr>
        <p:spPr>
          <a:xfrm>
            <a:off x="647700" y="3283238"/>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Moodle added official OpenTelemetry support in version 5.2. Moodle 5.1 and older versions do not have it.</a:t>
            </a:r>
            <a:endParaRPr lang="en-US" sz="1650" dirty="0"/>
          </a:p>
        </p:txBody>
      </p:sp>
      <p:sp>
        <p:nvSpPr>
          <p:cNvPr id="12" name="Text 10"/>
          <p:cNvSpPr txBox="1"/>
          <p:nvPr/>
        </p:nvSpPr>
        <p:spPr>
          <a:xfrm>
            <a:off x="647700" y="6464379"/>
            <a:ext cx="132040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Setting the scene</a:t>
            </a:r>
            <a:endParaRPr lang="en-US" sz="980" dirty="0"/>
          </a:p>
        </p:txBody>
      </p:sp>
      <p:sp>
        <p:nvSpPr>
          <p:cNvPr id="13" name="Text 1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 / 39</a:t>
            </a:r>
            <a:endParaRPr lang="en-US" sz="9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93122" y="5242494"/>
            <a:ext cx="2487597" cy="423753"/>
          </a:xfrm>
          <a:prstGeom prst="roundRect">
            <a:avLst>
              <a:gd name="adj" fmla="val 72717"/>
            </a:avLst>
          </a:prstGeom>
          <a:solidFill>
            <a:srgbClr val="E1F0F7"/>
          </a:solidFill>
          <a:ln w="8890">
            <a:solidFill>
              <a:srgbClr val="0B6E99"/>
            </a:solidFill>
            <a:prstDash val="solid"/>
          </a:ln>
        </p:spPr>
      </p:sp>
      <p:sp>
        <p:nvSpPr>
          <p:cNvPr id="3" name="Shape 1"/>
          <p:cNvSpPr/>
          <p:nvPr/>
        </p:nvSpPr>
        <p:spPr>
          <a:xfrm>
            <a:off x="647700" y="6343650"/>
            <a:ext cx="10896600" cy="0"/>
          </a:xfrm>
          <a:prstGeom prst="line">
            <a:avLst/>
          </a:prstGeom>
          <a:noFill/>
          <a:ln w="8890">
            <a:solidFill>
              <a:srgbClr val="CBD7D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93122" y="3128190"/>
          <a:ext cx="10205756" cy="914400"/>
        </p:xfrm>
        <a:graphic>
          <a:graphicData uri="http://schemas.openxmlformats.org/drawingml/2006/table">
            <a:tbl>
              <a:tblPr/>
              <a:tblGrid>
                <a:gridCol w="2343047"/>
                <a:gridCol w="7862709"/>
              </a:tblGrid>
              <a:tr h="40591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ext‑opentelemetry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extension — hooks into running PHP code without editing it</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SDK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PHP libraries — turn the Moodle data into records, in memory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exporter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library — encodes the records and sends them over the network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OpenTelemetry Collector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separate service — receives everything, filters it, forwards it to storage</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5" name="Text 2"/>
          <p:cNvSpPr txBox="1"/>
          <p:nvPr/>
        </p:nvSpPr>
        <p:spPr>
          <a:xfrm>
            <a:off x="993122" y="513096"/>
            <a:ext cx="10262906" cy="174036"/>
          </a:xfrm>
          <a:prstGeom prst="rect">
            <a:avLst/>
          </a:prstGeom>
          <a:noFill/>
          <a:ln/>
        </p:spPr>
        <p:txBody>
          <a:bodyPr wrap="none" lIns="0" tIns="0" rIns="0" bIns="0" rtlCol="0" anchor="t"/>
          <a:lstStyle/>
          <a:p>
            <a:pPr algn="l" indent="0" marL="0">
              <a:lnSpc>
                <a:spcPts val="1370"/>
              </a:lnSpc>
              <a:buNone/>
            </a:pPr>
            <a:r>
              <a:rPr lang="en-US" sz="910" spc="150" kern="0" dirty="0">
                <a:solidFill>
                  <a:srgbClr val="0B6E99"/>
                </a:solidFill>
                <a:latin typeface="Courier New" pitchFamily="34" charset="0"/>
                <a:ea typeface="Courier New" pitchFamily="34" charset="-122"/>
                <a:cs typeface="Courier New" pitchFamily="34" charset="-120"/>
              </a:rPr>
              <a:t>THE SOFTWARE</a:t>
            </a:r>
            <a:endParaRPr lang="en-US" sz="910" dirty="0"/>
          </a:p>
        </p:txBody>
      </p:sp>
      <p:sp>
        <p:nvSpPr>
          <p:cNvPr id="6" name="Text 3"/>
          <p:cNvSpPr txBox="1"/>
          <p:nvPr/>
        </p:nvSpPr>
        <p:spPr>
          <a:xfrm>
            <a:off x="993122" y="832257"/>
            <a:ext cx="10262906" cy="404835"/>
          </a:xfrm>
          <a:prstGeom prst="rect">
            <a:avLst/>
          </a:prstGeom>
          <a:noFill/>
          <a:ln/>
        </p:spPr>
        <p:txBody>
          <a:bodyPr wrap="none" lIns="0" tIns="0" rIns="0" bIns="0" rtlCol="0" anchor="t"/>
          <a:lstStyle/>
          <a:p>
            <a:pPr algn="l" indent="0" marL="0">
              <a:lnSpc>
                <a:spcPts val="3190"/>
              </a:lnSpc>
              <a:buNone/>
            </a:pPr>
            <a:r>
              <a:rPr lang="en-US" sz="2950" b="1" spc="-60" kern="0" dirty="0">
                <a:solidFill>
                  <a:srgbClr val="101A22"/>
                </a:solidFill>
                <a:latin typeface="Arial" pitchFamily="34" charset="0"/>
                <a:ea typeface="Arial" pitchFamily="34" charset="-122"/>
                <a:cs typeface="Arial" pitchFamily="34" charset="-120"/>
              </a:rPr>
              <a:t>OpenTelemetry sends the Moodle data to OpenSearch</a:t>
            </a:r>
            <a:endParaRPr lang="en-US" sz="2950" dirty="0"/>
          </a:p>
        </p:txBody>
      </p:sp>
      <p:sp>
        <p:nvSpPr>
          <p:cNvPr id="7" name="Text 4"/>
          <p:cNvSpPr txBox="1"/>
          <p:nvPr/>
        </p:nvSpPr>
        <p:spPr>
          <a:xfrm>
            <a:off x="993122" y="1428254"/>
            <a:ext cx="10262906" cy="695847"/>
          </a:xfrm>
          <a:prstGeom prst="rect">
            <a:avLst/>
          </a:prstGeom>
          <a:noFill/>
          <a:ln/>
        </p:spPr>
        <p:txBody>
          <a:bodyPr wrap="square" lIns="0" tIns="0" rIns="0" bIns="0" rtlCol="0" anchor="t"/>
          <a:lstStyle/>
          <a:p>
            <a:pPr algn="l" indent="0" marL="0">
              <a:lnSpc>
                <a:spcPts val="2740"/>
              </a:lnSpc>
              <a:buNone/>
            </a:pPr>
            <a:r>
              <a:rPr lang="en-US" sz="1830" dirty="0">
                <a:solidFill>
                  <a:srgbClr val="5A6D7A"/>
                </a:solidFill>
                <a:latin typeface="Arial" pitchFamily="34" charset="0"/>
                <a:ea typeface="Arial" pitchFamily="34" charset="-122"/>
                <a:cs typeface="Arial" pitchFamily="34" charset="-120"/>
              </a:rPr>
              <a:t>OpenTelemetry is a log shipper. It is open source under the Apache 2.0 license. It takes the data that Moodle produces, the events and the timings, and sends it to OpenSearch.</a:t>
            </a:r>
            <a:endParaRPr lang="en-US" sz="1830" dirty="0"/>
          </a:p>
        </p:txBody>
      </p:sp>
      <p:sp>
        <p:nvSpPr>
          <p:cNvPr id="8" name="Text 5"/>
          <p:cNvSpPr txBox="1"/>
          <p:nvPr/>
        </p:nvSpPr>
        <p:spPr>
          <a:xfrm>
            <a:off x="993122" y="2362298"/>
            <a:ext cx="10262906" cy="588794"/>
          </a:xfrm>
          <a:prstGeom prst="rect">
            <a:avLst/>
          </a:prstGeom>
          <a:noFill/>
          <a:ln/>
        </p:spPr>
        <p:txBody>
          <a:bodyPr wrap="square" lIns="0" tIns="0" rIns="0" bIns="0" rtlCol="0" anchor="t"/>
          <a:lstStyle/>
          <a:p>
            <a:pPr algn="l" indent="0" marL="0">
              <a:lnSpc>
                <a:spcPts val="2320"/>
              </a:lnSpc>
              <a:buNone/>
            </a:pPr>
            <a:r>
              <a:rPr lang="en-US" sz="1550" b="1" dirty="0">
                <a:solidFill>
                  <a:srgbClr val="101A22"/>
                </a:solidFill>
                <a:latin typeface="Arial" pitchFamily="34" charset="0"/>
                <a:ea typeface="Arial" pitchFamily="34" charset="-122"/>
                <a:cs typeface="Arial" pitchFamily="34" charset="-120"/>
              </a:rPr>
              <a:t>There is no package called OpenTelemetry.</a:t>
            </a:r>
            <a:pPr algn="l" indent="0" marL="0">
              <a:lnSpc>
                <a:spcPts val="2320"/>
              </a:lnSpc>
              <a:buNone/>
            </a:pPr>
            <a:r>
              <a:rPr lang="en-US" sz="1550" dirty="0">
                <a:solidFill>
                  <a:srgbClr val="101A22"/>
                </a:solidFill>
                <a:latin typeface="Arial" pitchFamily="34" charset="0"/>
                <a:ea typeface="Arial" pitchFamily="34" charset="-122"/>
                <a:cs typeface="Arial" pitchFamily="34" charset="-120"/>
              </a:rPr>
              <a:t> The OpenTelemetry project publishes separate programs and libraries. This talk uses these four:</a:t>
            </a:r>
            <a:endParaRPr lang="en-US" sz="1550" dirty="0"/>
          </a:p>
        </p:txBody>
      </p:sp>
      <p:sp>
        <p:nvSpPr>
          <p:cNvPr id="9" name="Text 6"/>
          <p:cNvSpPr txBox="1"/>
          <p:nvPr/>
        </p:nvSpPr>
        <p:spPr>
          <a:xfrm>
            <a:off x="993122" y="4824525"/>
            <a:ext cx="10262906" cy="294523"/>
          </a:xfrm>
          <a:prstGeom prst="rect">
            <a:avLst/>
          </a:prstGeom>
          <a:noFill/>
          <a:ln/>
        </p:spPr>
        <p:txBody>
          <a:bodyPr wrap="none" lIns="0" tIns="0" rIns="0" bIns="0" rtlCol="0" anchor="t"/>
          <a:lstStyle/>
          <a:p>
            <a:pPr algn="l" indent="0" marL="0">
              <a:lnSpc>
                <a:spcPts val="2320"/>
              </a:lnSpc>
              <a:buNone/>
            </a:pPr>
            <a:r>
              <a:rPr lang="en-US" sz="1550" dirty="0">
                <a:solidFill>
                  <a:srgbClr val="5A6D7A"/>
                </a:solidFill>
                <a:latin typeface="Arial" pitchFamily="34" charset="0"/>
                <a:ea typeface="Arial" pitchFamily="34" charset="-122"/>
                <a:cs typeface="Arial" pitchFamily="34" charset="-120"/>
              </a:rPr>
              <a:t>None of them stores data or displays it. That is OpenSearch's job.</a:t>
            </a:r>
            <a:endParaRPr lang="en-US" sz="1550" dirty="0"/>
          </a:p>
        </p:txBody>
      </p:sp>
      <p:sp>
        <p:nvSpPr>
          <p:cNvPr id="10" name="Text 7"/>
          <p:cNvSpPr txBox="1"/>
          <p:nvPr/>
        </p:nvSpPr>
        <p:spPr>
          <a:xfrm>
            <a:off x="1144846" y="5314116"/>
            <a:ext cx="2241300" cy="227586"/>
          </a:xfrm>
          <a:prstGeom prst="rect">
            <a:avLst/>
          </a:prstGeom>
          <a:noFill/>
          <a:ln/>
        </p:spPr>
        <p:txBody>
          <a:bodyPr wrap="none" lIns="0" tIns="0" rIns="0" bIns="0" rtlCol="0" anchor="t"/>
          <a:lstStyle/>
          <a:p>
            <a:pPr algn="l" indent="0" marL="0">
              <a:lnSpc>
                <a:spcPts val="1790"/>
              </a:lnSpc>
              <a:buNone/>
            </a:pPr>
            <a:r>
              <a:rPr lang="en-US" sz="1190" dirty="0">
                <a:solidFill>
                  <a:srgbClr val="0B6E99"/>
                </a:solidFill>
                <a:latin typeface="Courier New" pitchFamily="34" charset="0"/>
                <a:ea typeface="Courier New" pitchFamily="34" charset="-122"/>
                <a:cs typeface="Courier New" pitchFamily="34" charset="-120"/>
              </a:rPr>
              <a:t>https://opentelemetry.io</a:t>
            </a:r>
            <a:endParaRPr lang="en-US" sz="1190" dirty="0"/>
          </a:p>
        </p:txBody>
      </p:sp>
      <p:sp>
        <p:nvSpPr>
          <p:cNvPr id="11" name="Text 8"/>
          <p:cNvSpPr txBox="1"/>
          <p:nvPr/>
        </p:nvSpPr>
        <p:spPr>
          <a:xfrm>
            <a:off x="647700" y="6464574"/>
            <a:ext cx="1320403"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Setting the scene</a:t>
            </a:r>
            <a:endParaRPr lang="en-US" sz="910" dirty="0"/>
          </a:p>
        </p:txBody>
      </p:sp>
      <p:sp>
        <p:nvSpPr>
          <p:cNvPr id="12" name="Text 9"/>
          <p:cNvSpPr txBox="1"/>
          <p:nvPr/>
        </p:nvSpPr>
        <p:spPr>
          <a:xfrm>
            <a:off x="11098411" y="6464574"/>
            <a:ext cx="503039"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6 / 39</a:t>
            </a:r>
            <a:endParaRPr lang="en-US" sz="9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104907" y="3329030"/>
            <a:ext cx="63265" cy="63265"/>
          </a:xfrm>
          <a:prstGeom prst="roundRect">
            <a:avLst>
              <a:gd name="adj" fmla="val 642377"/>
            </a:avLst>
          </a:prstGeom>
          <a:solidFill>
            <a:srgbClr val="0B6E99"/>
          </a:solidFill>
          <a:ln/>
        </p:spPr>
      </p:sp>
      <p:sp>
        <p:nvSpPr>
          <p:cNvPr id="3" name="Shape 1"/>
          <p:cNvSpPr/>
          <p:nvPr/>
        </p:nvSpPr>
        <p:spPr>
          <a:xfrm>
            <a:off x="6264650" y="3329030"/>
            <a:ext cx="63265" cy="63265"/>
          </a:xfrm>
          <a:prstGeom prst="roundRect">
            <a:avLst>
              <a:gd name="adj" fmla="val 642377"/>
            </a:avLst>
          </a:prstGeom>
          <a:solidFill>
            <a:srgbClr val="0B6E99"/>
          </a:solidFill>
          <a:ln/>
        </p:spPr>
      </p:sp>
      <p:sp>
        <p:nvSpPr>
          <p:cNvPr id="4" name="Shape 2"/>
          <p:cNvSpPr/>
          <p:nvPr/>
        </p:nvSpPr>
        <p:spPr>
          <a:xfrm>
            <a:off x="2104907" y="4360182"/>
            <a:ext cx="63265" cy="63265"/>
          </a:xfrm>
          <a:prstGeom prst="roundRect">
            <a:avLst>
              <a:gd name="adj" fmla="val 642377"/>
            </a:avLst>
          </a:prstGeom>
          <a:solidFill>
            <a:srgbClr val="0B6E99"/>
          </a:solidFill>
          <a:ln/>
        </p:spPr>
      </p:sp>
      <p:sp>
        <p:nvSpPr>
          <p:cNvPr id="5" name="Shape 3"/>
          <p:cNvSpPr/>
          <p:nvPr/>
        </p:nvSpPr>
        <p:spPr>
          <a:xfrm>
            <a:off x="6264650" y="4360182"/>
            <a:ext cx="63265" cy="63265"/>
          </a:xfrm>
          <a:prstGeom prst="roundRect">
            <a:avLst>
              <a:gd name="adj" fmla="val 642377"/>
            </a:avLst>
          </a:prstGeom>
          <a:solidFill>
            <a:srgbClr val="0B6E99"/>
          </a:solidFill>
          <a:ln/>
        </p:spPr>
      </p:sp>
      <p:sp>
        <p:nvSpPr>
          <p:cNvPr id="6" name="Shape 4"/>
          <p:cNvSpPr/>
          <p:nvPr/>
        </p:nvSpPr>
        <p:spPr>
          <a:xfrm>
            <a:off x="2076789" y="5363194"/>
            <a:ext cx="1815935" cy="333763"/>
          </a:xfrm>
          <a:prstGeom prst="roundRect">
            <a:avLst>
              <a:gd name="adj" fmla="val 92321"/>
            </a:avLst>
          </a:prstGeom>
          <a:solidFill>
            <a:srgbClr val="E1F0F7"/>
          </a:solidFill>
          <a:ln w="7620">
            <a:solidFill>
              <a:srgbClr val="0B6E99"/>
            </a:solidFill>
            <a:prstDash val="solid"/>
          </a:ln>
        </p:spPr>
      </p:sp>
      <p:sp>
        <p:nvSpPr>
          <p:cNvPr id="7" name="Shape 5"/>
          <p:cNvSpPr/>
          <p:nvPr/>
        </p:nvSpPr>
        <p:spPr>
          <a:xfrm>
            <a:off x="647700" y="6343650"/>
            <a:ext cx="10896600" cy="0"/>
          </a:xfrm>
          <a:prstGeom prst="line">
            <a:avLst/>
          </a:prstGeom>
          <a:noFill/>
          <a:ln w="7620">
            <a:solidFill>
              <a:srgbClr val="CBD7DF"/>
            </a:solidFill>
            <a:prstDash val="solid"/>
          </a:ln>
        </p:spPr>
      </p:sp>
      <p:sp>
        <p:nvSpPr>
          <p:cNvPr id="8" name="Text 6"/>
          <p:cNvSpPr txBox="1"/>
          <p:nvPr/>
        </p:nvSpPr>
        <p:spPr>
          <a:xfrm>
            <a:off x="2076789" y="517408"/>
            <a:ext cx="8095571" cy="137074"/>
          </a:xfrm>
          <a:prstGeom prst="rect">
            <a:avLst/>
          </a:prstGeom>
          <a:noFill/>
          <a:ln/>
        </p:spPr>
        <p:txBody>
          <a:bodyPr wrap="none" lIns="0" tIns="0" rIns="0" bIns="0" rtlCol="0" anchor="t"/>
          <a:lstStyle/>
          <a:p>
            <a:pPr algn="l" indent="0" marL="0">
              <a:lnSpc>
                <a:spcPts val="1080"/>
              </a:lnSpc>
              <a:buNone/>
            </a:pPr>
            <a:r>
              <a:rPr lang="en-US" sz="720" spc="120" kern="0" dirty="0">
                <a:solidFill>
                  <a:srgbClr val="0B6E99"/>
                </a:solidFill>
                <a:latin typeface="Courier New" pitchFamily="34" charset="0"/>
                <a:ea typeface="Courier New" pitchFamily="34" charset="-122"/>
                <a:cs typeface="Courier New" pitchFamily="34" charset="-120"/>
              </a:rPr>
              <a:t>THE SOFTWARE</a:t>
            </a:r>
            <a:endParaRPr lang="en-US" sz="720" dirty="0"/>
          </a:p>
        </p:txBody>
      </p:sp>
      <p:sp>
        <p:nvSpPr>
          <p:cNvPr id="9" name="Text 7"/>
          <p:cNvSpPr txBox="1"/>
          <p:nvPr/>
        </p:nvSpPr>
        <p:spPr>
          <a:xfrm>
            <a:off x="2076789" y="768791"/>
            <a:ext cx="8095571" cy="318856"/>
          </a:xfrm>
          <a:prstGeom prst="rect">
            <a:avLst/>
          </a:prstGeom>
          <a:noFill/>
          <a:ln/>
        </p:spPr>
        <p:txBody>
          <a:bodyPr wrap="none" lIns="0" tIns="0" rIns="0" bIns="0" rtlCol="0" anchor="t"/>
          <a:lstStyle/>
          <a:p>
            <a:pPr algn="l" indent="0" marL="0">
              <a:lnSpc>
                <a:spcPts val="2510"/>
              </a:lnSpc>
              <a:buNone/>
            </a:pPr>
            <a:r>
              <a:rPr lang="en-US" sz="2320" b="1" spc="-50" kern="0" dirty="0">
                <a:solidFill>
                  <a:srgbClr val="101A22"/>
                </a:solidFill>
                <a:latin typeface="Arial" pitchFamily="34" charset="0"/>
                <a:ea typeface="Arial" pitchFamily="34" charset="-122"/>
                <a:cs typeface="Arial" pitchFamily="34" charset="-120"/>
              </a:rPr>
              <a:t>OpenSearch stores the events and searches them</a:t>
            </a:r>
            <a:endParaRPr lang="en-US" sz="2320" dirty="0"/>
          </a:p>
        </p:txBody>
      </p:sp>
      <p:sp>
        <p:nvSpPr>
          <p:cNvPr id="10" name="Text 8"/>
          <p:cNvSpPr txBox="1"/>
          <p:nvPr/>
        </p:nvSpPr>
        <p:spPr>
          <a:xfrm>
            <a:off x="2076789" y="1238220"/>
            <a:ext cx="8095571" cy="548074"/>
          </a:xfrm>
          <a:prstGeom prst="rect">
            <a:avLst/>
          </a:prstGeom>
          <a:noFill/>
          <a:ln/>
        </p:spPr>
        <p:txBody>
          <a:bodyPr wrap="square" lIns="0" tIns="0" rIns="0" bIns="0" rtlCol="0" anchor="t"/>
          <a:lstStyle/>
          <a:p>
            <a:pPr algn="l" indent="0" marL="0">
              <a:lnSpc>
                <a:spcPts val="2160"/>
              </a:lnSpc>
              <a:buNone/>
            </a:pPr>
            <a:r>
              <a:rPr lang="en-US" sz="1440" dirty="0">
                <a:solidFill>
                  <a:srgbClr val="5A6D7A"/>
                </a:solidFill>
                <a:latin typeface="Arial" pitchFamily="34" charset="0"/>
                <a:ea typeface="Arial" pitchFamily="34" charset="-122"/>
                <a:cs typeface="Arial" pitchFamily="34" charset="-120"/>
              </a:rPr>
              <a:t>OpenSearch is an open-source search engine and document store, forked from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Elasticsearch</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 with a web front end called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OpenSearch Dashboards</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a:t>
            </a:r>
            <a:endParaRPr lang="en-US" sz="1440" dirty="0"/>
          </a:p>
        </p:txBody>
      </p:sp>
      <p:sp>
        <p:nvSpPr>
          <p:cNvPr id="11" name="Text 9"/>
          <p:cNvSpPr txBox="1"/>
          <p:nvPr/>
        </p:nvSpPr>
        <p:spPr>
          <a:xfrm>
            <a:off x="2076789" y="1997806"/>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What it does</a:t>
            </a:r>
            <a:endParaRPr lang="en-US" sz="1000" dirty="0"/>
          </a:p>
        </p:txBody>
      </p:sp>
      <p:sp>
        <p:nvSpPr>
          <p:cNvPr id="12" name="Text 10"/>
          <p:cNvSpPr txBox="1"/>
          <p:nvPr/>
        </p:nvSpPr>
        <p:spPr>
          <a:xfrm>
            <a:off x="2076789" y="2191731"/>
            <a:ext cx="8095571" cy="695633"/>
          </a:xfrm>
          <a:prstGeom prst="rect">
            <a:avLst/>
          </a:prstGeom>
          <a:noFill/>
          <a:ln/>
        </p:spPr>
        <p:txBody>
          <a:bodyPr wrap="square" lIns="0" tIns="0" rIns="0" bIns="0" rtlCol="0" anchor="t"/>
          <a:lstStyle/>
          <a:p>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Indexes</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every event, and every timing, as one document, then answers questions about millions of them in milliseconds. OpenSearch Dashboards draws charts from them. </a:t>
            </a:r>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Indexing</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means every field — duration, task name, file path, line number — is written into a structure built for searching.</a:t>
            </a:r>
            <a:endParaRPr lang="en-US" sz="1220" dirty="0"/>
          </a:p>
        </p:txBody>
      </p:sp>
      <p:sp>
        <p:nvSpPr>
          <p:cNvPr id="13" name="Text 11"/>
          <p:cNvSpPr txBox="1"/>
          <p:nvPr/>
        </p:nvSpPr>
        <p:spPr>
          <a:xfrm>
            <a:off x="2076789" y="3023689"/>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Why choose OpenSearch</a:t>
            </a:r>
            <a:endParaRPr lang="en-US" sz="1000" dirty="0"/>
          </a:p>
        </p:txBody>
      </p:sp>
      <p:sp>
        <p:nvSpPr>
          <p:cNvPr id="14" name="Text 12"/>
          <p:cNvSpPr txBox="1"/>
          <p:nvPr/>
        </p:nvSpPr>
        <p:spPr>
          <a:xfrm>
            <a:off x="2287673"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Grows by adding servers.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An index is split into shards spread over the nodes of a cluster; a replica of each shard survives a lost node.</a:t>
            </a:r>
            <a:endParaRPr lang="en-US" sz="1270" dirty="0"/>
          </a:p>
        </p:txBody>
      </p:sp>
      <p:sp>
        <p:nvSpPr>
          <p:cNvPr id="15" name="Text 13"/>
          <p:cNvSpPr txBox="1"/>
          <p:nvPr/>
        </p:nvSpPr>
        <p:spPr>
          <a:xfrm>
            <a:off x="6447416"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Fast on large volumes.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search looks up the index instead of scanning every stored document, like the index at the back of a book, so it stays fast as the data grows.</a:t>
            </a:r>
            <a:endParaRPr lang="en-US" sz="1270" dirty="0"/>
          </a:p>
        </p:txBody>
      </p:sp>
      <p:sp>
        <p:nvSpPr>
          <p:cNvPr id="16" name="Text 14"/>
          <p:cNvSpPr txBox="1"/>
          <p:nvPr/>
        </p:nvSpPr>
        <p:spPr>
          <a:xfrm>
            <a:off x="2287673" y="4255619"/>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Speaks OpenTelemetry.</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The OpenTelemetry Collector ships an OpenSearch exporter; OpenSearch Dashboards has Trace analytics built in.</a:t>
            </a:r>
            <a:endParaRPr lang="en-US" sz="1270" dirty="0"/>
          </a:p>
        </p:txBody>
      </p:sp>
      <p:sp>
        <p:nvSpPr>
          <p:cNvPr id="17" name="Text 15"/>
          <p:cNvSpPr txBox="1"/>
          <p:nvPr/>
        </p:nvSpPr>
        <p:spPr>
          <a:xfrm>
            <a:off x="6447416" y="4255619"/>
            <a:ext cx="3724945" cy="960886"/>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Retention built in.</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policy deletes whole indices on schedule.</a:t>
            </a:r>
            <a:endParaRPr lang="en-US" sz="1270" dirty="0"/>
          </a:p>
        </p:txBody>
      </p:sp>
      <p:sp>
        <p:nvSpPr>
          <p:cNvPr id="18" name="Text 16"/>
          <p:cNvSpPr txBox="1"/>
          <p:nvPr/>
        </p:nvSpPr>
        <p:spPr>
          <a:xfrm>
            <a:off x="2196290" y="5419605"/>
            <a:ext cx="1634083" cy="179251"/>
          </a:xfrm>
          <a:prstGeom prst="rect">
            <a:avLst/>
          </a:prstGeom>
          <a:noFill/>
          <a:ln/>
        </p:spPr>
        <p:txBody>
          <a:bodyPr wrap="none" lIns="0" tIns="0" rIns="0" bIns="0" rtlCol="0" anchor="t"/>
          <a:lstStyle/>
          <a:p>
            <a:pPr algn="l" indent="0" marL="0">
              <a:lnSpc>
                <a:spcPts val="1410"/>
              </a:lnSpc>
              <a:buNone/>
            </a:pPr>
            <a:r>
              <a:rPr lang="en-US" sz="940" dirty="0">
                <a:solidFill>
                  <a:srgbClr val="0B6E99"/>
                </a:solidFill>
                <a:latin typeface="Courier New" pitchFamily="34" charset="0"/>
                <a:ea typeface="Courier New" pitchFamily="34" charset="-122"/>
                <a:cs typeface="Courier New" pitchFamily="34" charset="-120"/>
              </a:rPr>
              <a:t>https://opensearch.org</a:t>
            </a:r>
            <a:endParaRPr lang="en-US" sz="940" dirty="0"/>
          </a:p>
        </p:txBody>
      </p:sp>
      <p:sp>
        <p:nvSpPr>
          <p:cNvPr id="19" name="Text 17"/>
          <p:cNvSpPr txBox="1"/>
          <p:nvPr/>
        </p:nvSpPr>
        <p:spPr>
          <a:xfrm>
            <a:off x="647700" y="6465190"/>
            <a:ext cx="1320403"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Setting the scene</a:t>
            </a:r>
            <a:endParaRPr lang="en-US" sz="720" dirty="0"/>
          </a:p>
        </p:txBody>
      </p:sp>
      <p:sp>
        <p:nvSpPr>
          <p:cNvPr id="20" name="Text 18"/>
          <p:cNvSpPr txBox="1"/>
          <p:nvPr/>
        </p:nvSpPr>
        <p:spPr>
          <a:xfrm>
            <a:off x="11098411" y="6465190"/>
            <a:ext cx="503039"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7 / 39</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How do events travel from Moodle to OpenSearch?</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chain</a:t>
            </a:r>
            <a:endParaRPr lang="en-US" sz="980" dirty="0"/>
          </a:p>
        </p:txBody>
      </p:sp>
      <p:sp>
        <p:nvSpPr>
          <p:cNvPr id="5" name="Text 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8 / 39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466850" cy="1070521"/>
          </a:xfrm>
          <a:prstGeom prst="roundRect">
            <a:avLst>
              <a:gd name="adj" fmla="val 15200"/>
            </a:avLst>
          </a:prstGeom>
          <a:solidFill>
            <a:srgbClr val="FFFFFF"/>
          </a:solidFill>
          <a:ln w="19050">
            <a:solidFill>
              <a:srgbClr val="CBD7DF"/>
            </a:solidFill>
            <a:prstDash val="solid"/>
          </a:ln>
        </p:spPr>
      </p:sp>
      <p:sp>
        <p:nvSpPr>
          <p:cNvPr id="3" name="Shape 1"/>
          <p:cNvSpPr/>
          <p:nvPr/>
        </p:nvSpPr>
        <p:spPr>
          <a:xfrm>
            <a:off x="2533650" y="2522786"/>
            <a:ext cx="1466850" cy="1070521"/>
          </a:xfrm>
          <a:prstGeom prst="roundRect">
            <a:avLst>
              <a:gd name="adj" fmla="val 15200"/>
            </a:avLst>
          </a:prstGeom>
          <a:solidFill>
            <a:srgbClr val="E1F0F7"/>
          </a:solidFill>
          <a:ln w="19050">
            <a:solidFill>
              <a:srgbClr val="0B6E99"/>
            </a:solidFill>
            <a:prstDash val="solid"/>
          </a:ln>
        </p:spPr>
      </p:sp>
      <p:sp>
        <p:nvSpPr>
          <p:cNvPr id="4" name="Shape 2"/>
          <p:cNvSpPr/>
          <p:nvPr/>
        </p:nvSpPr>
        <p:spPr>
          <a:xfrm>
            <a:off x="4419600" y="2522786"/>
            <a:ext cx="1466850" cy="1070521"/>
          </a:xfrm>
          <a:prstGeom prst="roundRect">
            <a:avLst>
              <a:gd name="adj" fmla="val 15200"/>
            </a:avLst>
          </a:prstGeom>
          <a:solidFill>
            <a:srgbClr val="E1F0F7"/>
          </a:solidFill>
          <a:ln w="19050">
            <a:solidFill>
              <a:srgbClr val="0B6E99"/>
            </a:solidFill>
            <a:prstDash val="solid"/>
          </a:ln>
        </p:spPr>
      </p:sp>
      <p:sp>
        <p:nvSpPr>
          <p:cNvPr id="5" name="Shape 3"/>
          <p:cNvSpPr/>
          <p:nvPr/>
        </p:nvSpPr>
        <p:spPr>
          <a:xfrm>
            <a:off x="6305550" y="2522786"/>
            <a:ext cx="1466850" cy="1070521"/>
          </a:xfrm>
          <a:prstGeom prst="roundRect">
            <a:avLst>
              <a:gd name="adj" fmla="val 15200"/>
            </a:avLst>
          </a:prstGeom>
          <a:solidFill>
            <a:srgbClr val="E1F0F7"/>
          </a:solidFill>
          <a:ln w="19050">
            <a:solidFill>
              <a:srgbClr val="0B6E99"/>
            </a:solidFill>
            <a:prstDash val="solid"/>
          </a:ln>
        </p:spPr>
      </p:sp>
      <p:sp>
        <p:nvSpPr>
          <p:cNvPr id="6" name="Shape 4"/>
          <p:cNvSpPr/>
          <p:nvPr/>
        </p:nvSpPr>
        <p:spPr>
          <a:xfrm>
            <a:off x="8191500" y="2522786"/>
            <a:ext cx="1466850" cy="1070521"/>
          </a:xfrm>
          <a:prstGeom prst="roundRect">
            <a:avLst>
              <a:gd name="adj" fmla="val 15200"/>
            </a:avLst>
          </a:prstGeom>
          <a:solidFill>
            <a:srgbClr val="E1F0F7"/>
          </a:solidFill>
          <a:ln w="19050">
            <a:solidFill>
              <a:srgbClr val="0B6E99"/>
            </a:solidFill>
            <a:prstDash val="solid"/>
          </a:ln>
        </p:spPr>
      </p:sp>
      <p:sp>
        <p:nvSpPr>
          <p:cNvPr id="7" name="Shape 5"/>
          <p:cNvSpPr/>
          <p:nvPr/>
        </p:nvSpPr>
        <p:spPr>
          <a:xfrm>
            <a:off x="10077450" y="2522786"/>
            <a:ext cx="1466850" cy="1070521"/>
          </a:xfrm>
          <a:prstGeom prst="roundRect">
            <a:avLst>
              <a:gd name="adj" fmla="val 15200"/>
            </a:avLst>
          </a:prstGeom>
          <a:solidFill>
            <a:srgbClr val="0B6E99"/>
          </a:solidFill>
          <a:ln w="19050">
            <a:solidFill>
              <a:srgbClr val="0B6E99"/>
            </a:solidFill>
            <a:prstDash val="solid"/>
          </a:ln>
        </p:spPr>
      </p:sp>
      <p:sp>
        <p:nvSpPr>
          <p:cNvPr id="8" name="Shape 6"/>
          <p:cNvSpPr/>
          <p:nvPr/>
        </p:nvSpPr>
        <p:spPr>
          <a:xfrm>
            <a:off x="647700" y="3802856"/>
            <a:ext cx="1466701" cy="0"/>
          </a:xfrm>
          <a:prstGeom prst="line">
            <a:avLst/>
          </a:prstGeom>
          <a:noFill/>
          <a:ln w="19050">
            <a:solidFill>
              <a:srgbClr val="CBD7DF"/>
            </a:solidFill>
            <a:prstDash val="dash"/>
          </a:ln>
        </p:spPr>
      </p:sp>
      <p:sp>
        <p:nvSpPr>
          <p:cNvPr id="9" name="Shape 7"/>
          <p:cNvSpPr/>
          <p:nvPr/>
        </p:nvSpPr>
        <p:spPr>
          <a:xfrm>
            <a:off x="2724001" y="3802856"/>
            <a:ext cx="7124551" cy="0"/>
          </a:xfrm>
          <a:prstGeom prst="line">
            <a:avLst/>
          </a:prstGeom>
          <a:noFill/>
          <a:ln w="19050">
            <a:solidFill>
              <a:srgbClr val="0B6E99"/>
            </a:solidFill>
            <a:prstDash val="dash"/>
          </a:ln>
        </p:spPr>
      </p:sp>
      <p:sp>
        <p:nvSpPr>
          <p:cNvPr id="10" name="Shape 8"/>
          <p:cNvSpPr/>
          <p:nvPr/>
        </p:nvSpPr>
        <p:spPr>
          <a:xfrm>
            <a:off x="10458152" y="3802856"/>
            <a:ext cx="1086148" cy="0"/>
          </a:xfrm>
          <a:prstGeom prst="line">
            <a:avLst/>
          </a:prstGeom>
          <a:noFill/>
          <a:ln w="19050">
            <a:solidFill>
              <a:srgbClr val="0B6E99"/>
            </a:solidFill>
            <a:prstDash val="dash"/>
          </a:ln>
        </p:spPr>
      </p:sp>
      <p:sp>
        <p:nvSpPr>
          <p:cNvPr id="11" name="Shape 9"/>
          <p:cNvSpPr/>
          <p:nvPr/>
        </p:nvSpPr>
        <p:spPr>
          <a:xfrm>
            <a:off x="647700" y="6343650"/>
            <a:ext cx="10896600" cy="0"/>
          </a:xfrm>
          <a:prstGeom prst="line">
            <a:avLst/>
          </a:prstGeom>
          <a:noFill/>
          <a:ln w="10160">
            <a:solidFill>
              <a:srgbClr val="CBD7DF"/>
            </a:solidFill>
            <a:prstDash val="solid"/>
          </a:ln>
        </p:spPr>
      </p:sp>
      <p:sp>
        <p:nvSpPr>
          <p:cNvPr id="12" name="Text 10"/>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HOW THE THREE FIT TOGETHER</a:t>
            </a:r>
            <a:endParaRPr lang="en-US" sz="980" dirty="0"/>
          </a:p>
        </p:txBody>
      </p:sp>
      <p:sp>
        <p:nvSpPr>
          <p:cNvPr id="13" name="Text 11"/>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Why you need both OpenTelemetry and OpenSearch</a:t>
            </a:r>
            <a:endParaRPr lang="en-US" sz="3150" dirty="0"/>
          </a:p>
        </p:txBody>
      </p:sp>
      <p:sp>
        <p:nvSpPr>
          <p:cNvPr id="14" name="Text 12"/>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produces the data. OpenTelemetry records it and sends it. OpenSearch keeps it and searches it.</a:t>
            </a:r>
            <a:endParaRPr lang="en-US" sz="1950" dirty="0"/>
          </a:p>
        </p:txBody>
      </p:sp>
      <p:sp>
        <p:nvSpPr>
          <p:cNvPr id="15" name="Text 13"/>
          <p:cNvSpPr txBox="1"/>
          <p:nvPr/>
        </p:nvSpPr>
        <p:spPr>
          <a:xfrm>
            <a:off x="7524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1</a:t>
            </a:r>
            <a:endParaRPr lang="en-US" sz="900" dirty="0"/>
          </a:p>
        </p:txBody>
      </p:sp>
      <p:sp>
        <p:nvSpPr>
          <p:cNvPr id="16" name="Text 14"/>
          <p:cNvSpPr txBox="1"/>
          <p:nvPr/>
        </p:nvSpPr>
        <p:spPr>
          <a:xfrm>
            <a:off x="75247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5.2</a:t>
            </a:r>
            <a:endParaRPr lang="en-US" sz="1130" dirty="0"/>
          </a:p>
        </p:txBody>
      </p:sp>
      <p:sp>
        <p:nvSpPr>
          <p:cNvPr id="17" name="Text 15"/>
          <p:cNvSpPr txBox="1"/>
          <p:nvPr/>
        </p:nvSpPr>
        <p:spPr>
          <a:xfrm>
            <a:off x="75247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the source of the events and timings</a:t>
            </a:r>
            <a:endParaRPr lang="en-US" sz="980" dirty="0"/>
          </a:p>
        </p:txBody>
      </p:sp>
      <p:sp>
        <p:nvSpPr>
          <p:cNvPr id="18" name="Text 16"/>
          <p:cNvSpPr txBox="1"/>
          <p:nvPr/>
        </p:nvSpPr>
        <p:spPr>
          <a:xfrm>
            <a:off x="21145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19" name="Text 17"/>
          <p:cNvSpPr txBox="1"/>
          <p:nvPr/>
        </p:nvSpPr>
        <p:spPr>
          <a:xfrm>
            <a:off x="26384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2</a:t>
            </a:r>
            <a:endParaRPr lang="en-US" sz="900" dirty="0"/>
          </a:p>
        </p:txBody>
      </p:sp>
      <p:sp>
        <p:nvSpPr>
          <p:cNvPr id="20" name="Text 18"/>
          <p:cNvSpPr txBox="1"/>
          <p:nvPr/>
        </p:nvSpPr>
        <p:spPr>
          <a:xfrm>
            <a:off x="26384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PHP extension</a:t>
            </a:r>
            <a:endParaRPr lang="en-US" sz="1130" dirty="0"/>
          </a:p>
        </p:txBody>
      </p:sp>
      <p:sp>
        <p:nvSpPr>
          <p:cNvPr id="21" name="Text 19"/>
          <p:cNvSpPr txBox="1"/>
          <p:nvPr/>
        </p:nvSpPr>
        <p:spPr>
          <a:xfrm>
            <a:off x="263842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hooks into running PHP code</a:t>
            </a:r>
            <a:endParaRPr lang="en-US" sz="980" dirty="0"/>
          </a:p>
        </p:txBody>
      </p:sp>
      <p:sp>
        <p:nvSpPr>
          <p:cNvPr id="22" name="Text 20"/>
          <p:cNvSpPr txBox="1"/>
          <p:nvPr/>
        </p:nvSpPr>
        <p:spPr>
          <a:xfrm>
            <a:off x="40005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3" name="Text 21"/>
          <p:cNvSpPr txBox="1"/>
          <p:nvPr/>
        </p:nvSpPr>
        <p:spPr>
          <a:xfrm>
            <a:off x="45243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3</a:t>
            </a:r>
            <a:endParaRPr lang="en-US" sz="900" dirty="0"/>
          </a:p>
        </p:txBody>
      </p:sp>
      <p:sp>
        <p:nvSpPr>
          <p:cNvPr id="24" name="Text 22"/>
          <p:cNvSpPr txBox="1"/>
          <p:nvPr/>
        </p:nvSpPr>
        <p:spPr>
          <a:xfrm>
            <a:off x="45243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package</a:t>
            </a:r>
            <a:endParaRPr lang="en-US" sz="1130" dirty="0"/>
          </a:p>
        </p:txBody>
      </p:sp>
      <p:sp>
        <p:nvSpPr>
          <p:cNvPr id="25" name="Text 23"/>
          <p:cNvSpPr txBox="1"/>
          <p:nvPr/>
        </p:nvSpPr>
        <p:spPr>
          <a:xfrm>
            <a:off x="45243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knows what to time</a:t>
            </a:r>
            <a:endParaRPr lang="en-US" sz="980" dirty="0"/>
          </a:p>
        </p:txBody>
      </p:sp>
      <p:sp>
        <p:nvSpPr>
          <p:cNvPr id="26" name="Text 24"/>
          <p:cNvSpPr txBox="1"/>
          <p:nvPr/>
        </p:nvSpPr>
        <p:spPr>
          <a:xfrm>
            <a:off x="58864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7" name="Text 25"/>
          <p:cNvSpPr txBox="1"/>
          <p:nvPr/>
        </p:nvSpPr>
        <p:spPr>
          <a:xfrm>
            <a:off x="64103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4</a:t>
            </a:r>
            <a:endParaRPr lang="en-US" sz="900" dirty="0"/>
          </a:p>
        </p:txBody>
      </p:sp>
      <p:sp>
        <p:nvSpPr>
          <p:cNvPr id="28" name="Text 26"/>
          <p:cNvSpPr txBox="1"/>
          <p:nvPr/>
        </p:nvSpPr>
        <p:spPr>
          <a:xfrm>
            <a:off x="641032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sdk + exporter</a:t>
            </a:r>
            <a:endParaRPr lang="en-US" sz="1130" dirty="0"/>
          </a:p>
        </p:txBody>
      </p:sp>
      <p:sp>
        <p:nvSpPr>
          <p:cNvPr id="29" name="Text 27"/>
          <p:cNvSpPr txBox="1"/>
          <p:nvPr/>
        </p:nvSpPr>
        <p:spPr>
          <a:xfrm>
            <a:off x="641032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packs and sends</a:t>
            </a:r>
            <a:endParaRPr lang="en-US" sz="980" dirty="0"/>
          </a:p>
        </p:txBody>
      </p:sp>
      <p:sp>
        <p:nvSpPr>
          <p:cNvPr id="30" name="Text 28"/>
          <p:cNvSpPr txBox="1"/>
          <p:nvPr/>
        </p:nvSpPr>
        <p:spPr>
          <a:xfrm>
            <a:off x="77724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1" name="Text 29"/>
          <p:cNvSpPr txBox="1"/>
          <p:nvPr/>
        </p:nvSpPr>
        <p:spPr>
          <a:xfrm>
            <a:off x="82962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5</a:t>
            </a:r>
            <a:endParaRPr lang="en-US" sz="900" dirty="0"/>
          </a:p>
        </p:txBody>
      </p:sp>
      <p:sp>
        <p:nvSpPr>
          <p:cNvPr id="32" name="Text 30"/>
          <p:cNvSpPr txBox="1"/>
          <p:nvPr/>
        </p:nvSpPr>
        <p:spPr>
          <a:xfrm>
            <a:off x="82962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OpenTelemetry Collector</a:t>
            </a:r>
            <a:endParaRPr lang="en-US" sz="1130" dirty="0"/>
          </a:p>
        </p:txBody>
      </p:sp>
      <p:sp>
        <p:nvSpPr>
          <p:cNvPr id="33" name="Text 31"/>
          <p:cNvSpPr txBox="1"/>
          <p:nvPr/>
        </p:nvSpPr>
        <p:spPr>
          <a:xfrm>
            <a:off x="82962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receives, forwards</a:t>
            </a:r>
            <a:endParaRPr lang="en-US" sz="980" dirty="0"/>
          </a:p>
        </p:txBody>
      </p:sp>
      <p:sp>
        <p:nvSpPr>
          <p:cNvPr id="34" name="Text 32"/>
          <p:cNvSpPr txBox="1"/>
          <p:nvPr/>
        </p:nvSpPr>
        <p:spPr>
          <a:xfrm>
            <a:off x="96583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5" name="Text 33"/>
          <p:cNvSpPr txBox="1"/>
          <p:nvPr/>
        </p:nvSpPr>
        <p:spPr>
          <a:xfrm>
            <a:off x="101822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FFFFFF"/>
                </a:solidFill>
                <a:latin typeface="Courier New" pitchFamily="34" charset="0"/>
                <a:ea typeface="Courier New" pitchFamily="34" charset="-122"/>
                <a:cs typeface="Courier New" pitchFamily="34" charset="-120"/>
              </a:rPr>
              <a:t>6</a:t>
            </a:r>
            <a:endParaRPr lang="en-US" sz="900" dirty="0"/>
          </a:p>
        </p:txBody>
      </p:sp>
      <p:sp>
        <p:nvSpPr>
          <p:cNvPr id="36" name="Text 34"/>
          <p:cNvSpPr txBox="1"/>
          <p:nvPr/>
        </p:nvSpPr>
        <p:spPr>
          <a:xfrm>
            <a:off x="101822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FFFFFF"/>
                </a:solidFill>
                <a:latin typeface="Courier New" pitchFamily="34" charset="0"/>
                <a:ea typeface="Courier New" pitchFamily="34" charset="-122"/>
                <a:cs typeface="Courier New" pitchFamily="34" charset="-120"/>
              </a:rPr>
              <a:t>OpenSearch</a:t>
            </a:r>
            <a:endParaRPr lang="en-US" sz="1130" dirty="0"/>
          </a:p>
        </p:txBody>
      </p:sp>
      <p:sp>
        <p:nvSpPr>
          <p:cNvPr id="37" name="Text 35"/>
          <p:cNvSpPr txBox="1"/>
          <p:nvPr/>
        </p:nvSpPr>
        <p:spPr>
          <a:xfrm>
            <a:off x="10182225" y="3092142"/>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FFFFFF"/>
                </a:solidFill>
                <a:latin typeface="Arial" pitchFamily="34" charset="0"/>
                <a:ea typeface="Arial" pitchFamily="34" charset="-122"/>
                <a:cs typeface="Arial" pitchFamily="34" charset="-120"/>
              </a:rPr>
              <a:t>stores, searches</a:t>
            </a:r>
            <a:endParaRPr lang="en-US" sz="980" dirty="0"/>
          </a:p>
        </p:txBody>
      </p:sp>
      <p:sp>
        <p:nvSpPr>
          <p:cNvPr id="38" name="Text 36"/>
          <p:cNvSpPr txBox="1"/>
          <p:nvPr/>
        </p:nvSpPr>
        <p:spPr>
          <a:xfrm>
            <a:off x="619125" y="3895011"/>
            <a:ext cx="1523851" cy="438150"/>
          </a:xfrm>
          <a:prstGeom prst="rect">
            <a:avLst/>
          </a:prstGeom>
          <a:noFill/>
          <a:ln/>
        </p:spPr>
        <p:txBody>
          <a:bodyPr wrap="none" lIns="0" tIns="0" rIns="0" bIns="0" rtlCol="0" anchor="t"/>
          <a:lstStyle/>
          <a:p>
            <a:pPr algn="ctr" indent="0" marL="0">
              <a:lnSpc>
                <a:spcPts val="1170"/>
              </a:lnSpc>
              <a:buNone/>
            </a:pPr>
            <a:r>
              <a:rPr lang="en-US" sz="980" dirty="0">
                <a:solidFill>
                  <a:srgbClr val="5A6D7A"/>
                </a:solidFill>
                <a:latin typeface="Courier New" pitchFamily="34" charset="0"/>
                <a:ea typeface="Courier New" pitchFamily="34" charset="-122"/>
                <a:cs typeface="Courier New" pitchFamily="34" charset="-120"/>
              </a:rPr>
              <a:t>Moodle</a:t>
            </a:r>
            <a:endParaRPr lang="en-US" sz="980" dirty="0"/>
          </a:p>
        </p:txBody>
      </p:sp>
      <p:sp>
        <p:nvSpPr>
          <p:cNvPr id="39" name="Text 37"/>
          <p:cNvSpPr txBox="1"/>
          <p:nvPr/>
        </p:nvSpPr>
        <p:spPr>
          <a:xfrm>
            <a:off x="2695426" y="3895011"/>
            <a:ext cx="7181701" cy="438150"/>
          </a:xfrm>
          <a:prstGeom prst="rect">
            <a:avLst/>
          </a:prstGeom>
          <a:noFill/>
          <a:ln/>
        </p:spPr>
        <p:txBody>
          <a:bodyPr wrap="non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OpenTelemetry</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records and sends</a:t>
            </a:r>
            <a:endParaRPr lang="en-US" sz="980" dirty="0"/>
          </a:p>
        </p:txBody>
      </p:sp>
      <p:sp>
        <p:nvSpPr>
          <p:cNvPr id="40" name="Text 38"/>
          <p:cNvSpPr txBox="1"/>
          <p:nvPr/>
        </p:nvSpPr>
        <p:spPr>
          <a:xfrm>
            <a:off x="10429577" y="3895011"/>
            <a:ext cx="1143298" cy="438150"/>
          </a:xfrm>
          <a:prstGeom prst="rect">
            <a:avLst/>
          </a:prstGeom>
          <a:noFill/>
          <a:ln/>
        </p:spPr>
        <p:txBody>
          <a:bodyPr wrap="squar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OpenSearch</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stores and searches</a:t>
            </a:r>
            <a:endParaRPr lang="en-US" sz="980" dirty="0"/>
          </a:p>
        </p:txBody>
      </p:sp>
      <p:sp>
        <p:nvSpPr>
          <p:cNvPr id="41" name="Text 39"/>
          <p:cNvSpPr txBox="1"/>
          <p:nvPr/>
        </p:nvSpPr>
        <p:spPr>
          <a:xfrm>
            <a:off x="647700" y="4585335"/>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101A22"/>
                </a:solidFill>
                <a:latin typeface="Arial" pitchFamily="34" charset="0"/>
                <a:ea typeface="Arial" pitchFamily="34" charset="-122"/>
                <a:cs typeface="Arial" pitchFamily="34" charset="-120"/>
              </a:rPr>
              <a:t>Four of the six components are OpenTelemetry — and </a:t>
            </a:r>
            <a:pPr algn="l" indent="0" marL="0">
              <a:lnSpc>
                <a:spcPts val="2480"/>
              </a:lnSpc>
              <a:buNone/>
            </a:pPr>
            <a:r>
              <a:rPr lang="en-US" sz="1650" b="1" dirty="0">
                <a:solidFill>
                  <a:srgbClr val="101A22"/>
                </a:solidFill>
                <a:latin typeface="Arial" pitchFamily="34" charset="0"/>
                <a:ea typeface="Arial" pitchFamily="34" charset="-122"/>
                <a:cs typeface="Arial" pitchFamily="34" charset="-120"/>
              </a:rPr>
              <a:t>none of them ships with Moodle</a:t>
            </a:r>
            <a:pPr algn="l" indent="0" marL="0">
              <a:lnSpc>
                <a:spcPts val="2480"/>
              </a:lnSpc>
              <a:buNone/>
            </a:pPr>
            <a:r>
              <a:rPr lang="en-US" sz="1650" dirty="0">
                <a:solidFill>
                  <a:srgbClr val="101A22"/>
                </a:solidFill>
                <a:latin typeface="Arial" pitchFamily="34" charset="0"/>
                <a:ea typeface="Arial" pitchFamily="34" charset="-122"/>
                <a:cs typeface="Arial" pitchFamily="34" charset="-120"/>
              </a:rPr>
              <a:t>: you install all four separately. Moodle 5.2's only contribution is that it loads them once they are in place.</a:t>
            </a:r>
            <a:endParaRPr lang="en-US" sz="1650" dirty="0"/>
          </a:p>
        </p:txBody>
      </p:sp>
      <p:sp>
        <p:nvSpPr>
          <p:cNvPr id="42" name="Text 40"/>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43" name="Text 4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9 / 39</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pic>
        <p:nvPicPr>
          <p:cNvPr id="3" name="Image 0" descr="Placement diagram: components one to four run inside one PHP process on the Moodle web server; the OpenTelemetry Collector runs on that same server as a separate service, reached at localhost port 4318; OpenSearch is always a separate machine, reached on port 9200. A shared collector on its own host is the other option.">    </p:cNvPr>
          <p:cNvPicPr>
            <a:picLocks noChangeAspect="1"/>
          </p:cNvPicPr>
          <p:nvPr/>
        </p:nvPicPr>
        <p:blipFill>
          <a:blip r:embed="rId1"/>
          <a:stretch>
            <a:fillRect/>
          </a:stretch>
        </p:blipFill>
        <p:spPr>
          <a:xfrm>
            <a:off x="647700" y="1532186"/>
            <a:ext cx="10896600" cy="3682157"/>
          </a:xfrm>
          <a:prstGeom prst="rect">
            <a:avLst/>
          </a:prstGeom>
        </p:spPr>
      </p:pic>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PIPELINE · WHERE IT ALL RUNS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Where does each component run?</a:t>
            </a:r>
            <a:endParaRPr lang="en-US" sz="3150" dirty="0"/>
          </a:p>
        </p:txBody>
      </p:sp>
      <p:sp>
        <p:nvSpPr>
          <p:cNvPr id="6" name="Text 3"/>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7"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10 / 39</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These terms appear in the commands and in the searches</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terms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11 / 39</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0896600" cy="1171575"/>
          </a:xfrm>
          <a:prstGeom prst="roundRect">
            <a:avLst>
              <a:gd name="adj" fmla="val 12691"/>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TERM</a:t>
            </a:r>
            <a:endParaRPr lang="en-US" sz="980" dirty="0"/>
          </a:p>
        </p:txBody>
      </p:sp>
      <p:sp>
        <p:nvSpPr>
          <p:cNvPr id="5" name="Text 3"/>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Log record: one Moodle event stored as one document</a:t>
            </a:r>
            <a:endParaRPr lang="en-US" sz="3150" dirty="0"/>
          </a:p>
        </p:txBody>
      </p:sp>
      <p:sp>
        <p:nvSpPr>
          <p:cNvPr id="6" name="Text 4"/>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When anything happens in Moodle, it emits an </a:t>
            </a:r>
            <a:pPr algn="l" indent="0" marL="0">
              <a:lnSpc>
                <a:spcPts val="2930"/>
              </a:lnSpc>
              <a:buNone/>
            </a:pPr>
            <a:r>
              <a:rPr lang="en-US" sz="1950" b="1" dirty="0">
                <a:solidFill>
                  <a:srgbClr val="5A6D7A"/>
                </a:solidFill>
                <a:latin typeface="Arial" pitchFamily="34" charset="0"/>
                <a:ea typeface="Arial" pitchFamily="34" charset="-122"/>
                <a:cs typeface="Arial" pitchFamily="34" charset="-120"/>
              </a:rPr>
              <a:t>event</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Shipped to OpenSearch, each event becomes one document.</a:t>
            </a:r>
            <a:endParaRPr lang="en-US" sz="1950" dirty="0"/>
          </a:p>
        </p:txBody>
      </p:sp>
      <p:sp>
        <p:nvSpPr>
          <p:cNvPr id="7" name="Text 5"/>
          <p:cNvSpPr txBox="1"/>
          <p:nvPr/>
        </p:nvSpPr>
        <p:spPr>
          <a:xfrm>
            <a:off x="857250" y="2672804"/>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body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time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2026-08-23T21:30:58Z</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service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moodlelms</a:t>
            </a:r>
            <a:endParaRPr lang="en-US" sz="1130" dirty="0"/>
          </a:p>
        </p:txBody>
      </p:sp>
      <p:sp>
        <p:nvSpPr>
          <p:cNvPr id="8" name="Text 6"/>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terms</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12 / 39</a:t>
            </a:r>
            <a:endParaRPr lang="en-US" sz="9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7597" y="2858234"/>
            <a:ext cx="10716806" cy="2782248"/>
          </a:xfrm>
          <a:prstGeom prst="roundRect">
            <a:avLst>
              <a:gd name="adj" fmla="val 2214"/>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sp>
        <p:nvSpPr>
          <p:cNvPr id="4" name="Text 2"/>
          <p:cNvSpPr txBox="1"/>
          <p:nvPr/>
        </p:nvSpPr>
        <p:spPr>
          <a:xfrm>
            <a:off x="737597" y="512077"/>
            <a:ext cx="10773956" cy="182766"/>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TERM</a:t>
            </a:r>
            <a:endParaRPr lang="en-US" sz="960" dirty="0"/>
          </a:p>
        </p:txBody>
      </p:sp>
      <p:sp>
        <p:nvSpPr>
          <p:cNvPr id="5" name="Text 3"/>
          <p:cNvSpPr txBox="1"/>
          <p:nvPr/>
        </p:nvSpPr>
        <p:spPr>
          <a:xfrm>
            <a:off x="737597" y="847223"/>
            <a:ext cx="10773956" cy="425141"/>
          </a:xfrm>
          <a:prstGeom prst="rect">
            <a:avLst/>
          </a:prstGeom>
          <a:noFill/>
          <a:ln/>
        </p:spPr>
        <p:txBody>
          <a:bodyPr wrap="none" lIns="0" tIns="0" rIns="0" bIns="0" rtlCol="0" anchor="t"/>
          <a:lstStyle/>
          <a:p>
            <a:pPr algn="l" indent="0" marL="0">
              <a:lnSpc>
                <a:spcPts val="3350"/>
              </a:lnSpc>
              <a:buNone/>
            </a:pPr>
            <a:r>
              <a:rPr lang="en-US" sz="3100" b="1" spc="-60" kern="0" dirty="0">
                <a:solidFill>
                  <a:srgbClr val="101A22"/>
                </a:solidFill>
                <a:latin typeface="Arial" pitchFamily="34" charset="0"/>
                <a:ea typeface="Arial" pitchFamily="34" charset="-122"/>
                <a:cs typeface="Arial" pitchFamily="34" charset="-120"/>
              </a:rPr>
              <a:t>Attributes: the key = value pairs on a log record</a:t>
            </a:r>
            <a:endParaRPr lang="en-US" sz="3100" dirty="0"/>
          </a:p>
        </p:txBody>
      </p:sp>
      <p:sp>
        <p:nvSpPr>
          <p:cNvPr id="6" name="Text 4"/>
          <p:cNvSpPr txBox="1"/>
          <p:nvPr/>
        </p:nvSpPr>
        <p:spPr>
          <a:xfrm>
            <a:off x="737597" y="1473060"/>
            <a:ext cx="10773956" cy="1098964"/>
          </a:xfrm>
          <a:prstGeom prst="rect">
            <a:avLst/>
          </a:prstGeom>
          <a:noFill/>
          <a:ln/>
        </p:spPr>
        <p:txBody>
          <a:bodyPr wrap="square" lIns="0" tIns="0" rIns="0" bIns="0" rtlCol="0" anchor="t"/>
          <a:lstStyle/>
          <a:p>
            <a:pPr algn="l" indent="0" marL="0">
              <a:lnSpc>
                <a:spcPts val="2880"/>
              </a:lnSpc>
              <a:buNone/>
            </a:pPr>
            <a:r>
              <a:rPr lang="en-US" sz="1920" dirty="0">
                <a:solidFill>
                  <a:srgbClr val="5A6D7A"/>
                </a:solidFill>
                <a:latin typeface="Arial" pitchFamily="34" charset="0"/>
                <a:ea typeface="Arial" pitchFamily="34" charset="-122"/>
                <a:cs typeface="Arial" pitchFamily="34" charset="-120"/>
              </a:rPr>
              <a:t>Every record carries a list of </a:t>
            </a:r>
            <a:pPr algn="l" indent="0" marL="0">
              <a:lnSpc>
                <a:spcPts val="2880"/>
              </a:lnSpc>
              <a:buNone/>
            </a:pPr>
            <a:r>
              <a:rPr lang="en-US" sz="1920" b="1" dirty="0">
                <a:solidFill>
                  <a:srgbClr val="5A6D7A"/>
                </a:solidFill>
                <a:latin typeface="Arial" pitchFamily="34" charset="0"/>
                <a:ea typeface="Arial" pitchFamily="34" charset="-122"/>
                <a:cs typeface="Arial" pitchFamily="34" charset="-120"/>
              </a:rPr>
              <a:t>key = value</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pairs, its attributes. OpenSearch stores each one as a searchable field under the prefix </a:t>
            </a:r>
            <a:pPr algn="l" indent="0" marL="0">
              <a:lnSpc>
                <a:spcPts val="288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attributes.</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This is the same log record with seven of its seventeen attributes. The body sentence is built from the first three.</a:t>
            </a:r>
            <a:endParaRPr lang="en-US" sz="1920" dirty="0"/>
          </a:p>
        </p:txBody>
      </p:sp>
      <p:sp>
        <p:nvSpPr>
          <p:cNvPr id="7" name="Text 5"/>
          <p:cNvSpPr txBox="1"/>
          <p:nvPr/>
        </p:nvSpPr>
        <p:spPr>
          <a:xfrm>
            <a:off x="943794" y="3005852"/>
            <a:ext cx="10361562" cy="2444834"/>
          </a:xfrm>
          <a:prstGeom prst="rect">
            <a:avLst/>
          </a:prstGeom>
          <a:noFill/>
          <a:ln/>
        </p:spPr>
        <p:txBody>
          <a:bodyPr wrap="square" lIns="0" tIns="0" rIns="0" bIns="0" rtlCol="0" anchor="t"/>
          <a:lstStyle/>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body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10" dirty="0"/>
          </a:p>
          <a:p>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time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2026-08-23T21:30:58Z</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service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moodlelms</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attributes.event.data.userid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user with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attributes.event.data.objecttable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assign</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'assign' activity</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attributes.event.data.contextinstanceid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attributes.event.data.action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attributes.event.data.eventname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\mod_assign\event\course_module_viewed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attributes.event.data.crud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r</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attributes.event.data.courseid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endParaRPr lang="en-US" sz="1110" dirty="0"/>
          </a:p>
        </p:txBody>
      </p:sp>
      <p:sp>
        <p:nvSpPr>
          <p:cNvPr id="8" name="Text 6"/>
          <p:cNvSpPr txBox="1"/>
          <p:nvPr/>
        </p:nvSpPr>
        <p:spPr>
          <a:xfrm>
            <a:off x="647700" y="6464429"/>
            <a:ext cx="72598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The terms</a:t>
            </a:r>
            <a:endParaRPr lang="en-US" sz="960" dirty="0"/>
          </a:p>
        </p:txBody>
      </p:sp>
      <p:sp>
        <p:nvSpPr>
          <p:cNvPr id="9" name="Text 7"/>
          <p:cNvSpPr txBox="1"/>
          <p:nvPr/>
        </p:nvSpPr>
        <p:spPr>
          <a:xfrm>
            <a:off x="11024146" y="6464429"/>
            <a:ext cx="57730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13 / 39</a:t>
            </a:r>
            <a:endParaRPr lang="en-US" sz="9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1233636"/>
            <a:ext cx="5567958" cy="1019175"/>
          </a:xfrm>
          <a:prstGeom prst="roundRect">
            <a:avLst>
              <a:gd name="adj" fmla="val 16770"/>
            </a:avLst>
          </a:prstGeom>
          <a:ln w="10160">
            <a:solidFill>
              <a:srgbClr val="3D5566"/>
            </a:solidFill>
            <a:prstDash val="solid"/>
          </a:ln>
        </p:spPr>
      </p:sp>
      <p:sp>
        <p:nvSpPr>
          <p:cNvPr id="3" name="Shape 1"/>
          <p:cNvSpPr/>
          <p:nvPr/>
        </p:nvSpPr>
        <p:spPr>
          <a:xfrm>
            <a:off x="647700" y="2386161"/>
            <a:ext cx="5567958" cy="1704975"/>
          </a:xfrm>
          <a:prstGeom prst="roundRect">
            <a:avLst>
              <a:gd name="adj" fmla="val 5992"/>
            </a:avLst>
          </a:prstGeom>
          <a:ln w="10160">
            <a:solidFill>
              <a:srgbClr val="3D5566"/>
            </a:solidFill>
            <a:prstDash val="solid"/>
          </a:ln>
        </p:spPr>
      </p:sp>
      <p:sp>
        <p:nvSpPr>
          <p:cNvPr id="4" name="Shape 2"/>
          <p:cNvSpPr/>
          <p:nvPr/>
        </p:nvSpPr>
        <p:spPr>
          <a:xfrm>
            <a:off x="6482358" y="1233636"/>
            <a:ext cx="5061942" cy="735806"/>
          </a:xfrm>
          <a:prstGeom prst="roundRect">
            <a:avLst>
              <a:gd name="adj" fmla="val 32174"/>
            </a:avLst>
          </a:prstGeom>
          <a:ln w="10160">
            <a:solidFill>
              <a:srgbClr val="3D5566"/>
            </a:solidFill>
            <a:prstDash val="solid"/>
          </a:ln>
        </p:spPr>
      </p:sp>
      <p:sp>
        <p:nvSpPr>
          <p:cNvPr id="5" name="Shape 3"/>
          <p:cNvSpPr/>
          <p:nvPr/>
        </p:nvSpPr>
        <p:spPr>
          <a:xfrm>
            <a:off x="6482358" y="2102793"/>
            <a:ext cx="5061942" cy="1235869"/>
          </a:xfrm>
          <a:prstGeom prst="roundRect">
            <a:avLst>
              <a:gd name="adj" fmla="val 11405"/>
            </a:avLst>
          </a:prstGeom>
          <a:ln w="10160">
            <a:solidFill>
              <a:srgbClr val="3D5566"/>
            </a:solidFill>
            <a:prstDash val="solid"/>
          </a:ln>
        </p:spPr>
      </p:sp>
      <p:sp>
        <p:nvSpPr>
          <p:cNvPr id="6" name="Shape 4"/>
          <p:cNvSpPr/>
          <p:nvPr/>
        </p:nvSpPr>
        <p:spPr>
          <a:xfrm>
            <a:off x="6482358" y="3472011"/>
            <a:ext cx="5061942" cy="735806"/>
          </a:xfrm>
          <a:prstGeom prst="roundRect">
            <a:avLst>
              <a:gd name="adj" fmla="val 32174"/>
            </a:avLst>
          </a:prstGeom>
          <a:ln w="10160">
            <a:solidFill>
              <a:srgbClr val="3D5566"/>
            </a:solidFill>
            <a:prstDash val="solid"/>
          </a:ln>
        </p:spPr>
      </p:sp>
      <p:sp>
        <p:nvSpPr>
          <p:cNvPr id="7" name="Shape 5"/>
          <p:cNvSpPr/>
          <p:nvPr/>
        </p:nvSpPr>
        <p:spPr>
          <a:xfrm>
            <a:off x="647700" y="6343650"/>
            <a:ext cx="10896600" cy="0"/>
          </a:xfrm>
          <a:prstGeom prst="line">
            <a:avLst/>
          </a:prstGeom>
          <a:noFill/>
          <a:ln w="10160">
            <a:solidFill>
              <a:srgbClr val="2A3B47"/>
            </a:solidFill>
            <a:prstDash val="solid"/>
          </a:ln>
        </p:spPr>
      </p:sp>
      <p:sp>
        <p:nvSpPr>
          <p:cNvPr id="8" name="Text 6"/>
          <p:cNvSpPr txBox="1"/>
          <p:nvPr/>
        </p:nvSpPr>
        <p:spPr>
          <a:xfrm>
            <a:off x="647700" y="533400"/>
            <a:ext cx="10953750" cy="452628"/>
          </a:xfrm>
          <a:prstGeom prst="rect">
            <a:avLst/>
          </a:prstGeom>
          <a:noFill/>
          <a:ln/>
        </p:spPr>
        <p:txBody>
          <a:bodyPr wrap="none" lIns="0" tIns="0" rIns="0" bIns="0" rtlCol="0" anchor="t"/>
          <a:lstStyle/>
          <a:p>
            <a:pPr algn="l" indent="0" marL="0">
              <a:lnSpc>
                <a:spcPts val="3560"/>
              </a:lnSpc>
              <a:buNone/>
            </a:pPr>
            <a:r>
              <a:rPr lang="en-US" sz="3300" b="1" spc="-70" kern="0" dirty="0">
                <a:solidFill>
                  <a:srgbClr val="FFFFFF"/>
                </a:solidFill>
                <a:latin typeface="Arial" pitchFamily="34" charset="0"/>
                <a:ea typeface="Arial" pitchFamily="34" charset="-122"/>
                <a:cs typeface="Arial" pitchFamily="34" charset="-120"/>
              </a:rPr>
              <a:t>We install and configure the components in nine steps</a:t>
            </a:r>
            <a:endParaRPr lang="en-US" sz="3300" dirty="0"/>
          </a:p>
        </p:txBody>
      </p:sp>
      <p:sp>
        <p:nvSpPr>
          <p:cNvPr id="9" name="Text 7"/>
          <p:cNvSpPr txBox="1"/>
          <p:nvPr/>
        </p:nvSpPr>
        <p:spPr>
          <a:xfrm>
            <a:off x="809625" y="1335792"/>
            <a:ext cx="5301258"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2 · THE PHP EXTENSION</a:t>
            </a:r>
            <a:endParaRPr lang="en-US" sz="980" dirty="0"/>
          </a:p>
        </p:txBody>
      </p:sp>
      <p:sp>
        <p:nvSpPr>
          <p:cNvPr id="10" name="Text 8"/>
          <p:cNvSpPr txBox="1"/>
          <p:nvPr/>
        </p:nvSpPr>
        <p:spPr>
          <a:xfrm>
            <a:off x="1133475" y="1606897"/>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C compiler, the PHP header files and pecl</a:t>
            </a:r>
            <a:endParaRPr lang="en-US" sz="1310" dirty="0"/>
          </a:p>
        </p:txBody>
      </p:sp>
      <p:sp>
        <p:nvSpPr>
          <p:cNvPr id="11" name="Text 9"/>
          <p:cNvSpPr txBox="1"/>
          <p:nvPr/>
        </p:nvSpPr>
        <p:spPr>
          <a:xfrm>
            <a:off x="1133475" y="1890266"/>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and enable the OpenTelemetry PHP extension</a:t>
            </a:r>
            <a:endParaRPr lang="en-US" sz="1310" dirty="0"/>
          </a:p>
        </p:txBody>
      </p:sp>
      <p:sp>
        <p:nvSpPr>
          <p:cNvPr id="12" name="Text 10"/>
          <p:cNvSpPr txBox="1"/>
          <p:nvPr/>
        </p:nvSpPr>
        <p:spPr>
          <a:xfrm>
            <a:off x="809625" y="2488317"/>
            <a:ext cx="5301258" cy="371475"/>
          </a:xfrm>
          <a:prstGeom prst="rect">
            <a:avLst/>
          </a:prstGeom>
          <a:noFill/>
          <a:ln/>
        </p:spPr>
        <p:txBody>
          <a:bodyPr wrap="squar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COMPONENTS 3 AND 4 · THE MOODLE PACKAGE, THE SDK AND THE EXPORTER</a:t>
            </a:r>
            <a:endParaRPr lang="en-US" sz="980" dirty="0"/>
          </a:p>
        </p:txBody>
      </p:sp>
      <p:sp>
        <p:nvSpPr>
          <p:cNvPr id="13" name="Text 11"/>
          <p:cNvSpPr txBox="1"/>
          <p:nvPr/>
        </p:nvSpPr>
        <p:spPr>
          <a:xfrm>
            <a:off x="1133475" y="2945160"/>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PHP Composer and the two OpenTelemetry PHP packages</a:t>
            </a:r>
            <a:endParaRPr lang="en-US" sz="1310" dirty="0"/>
          </a:p>
        </p:txBody>
      </p:sp>
      <p:sp>
        <p:nvSpPr>
          <p:cNvPr id="14" name="Text 12"/>
          <p:cNvSpPr txBox="1"/>
          <p:nvPr/>
        </p:nvSpPr>
        <p:spPr>
          <a:xfrm>
            <a:off x="1133475" y="3228529"/>
            <a:ext cx="4977408"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Six environment variables configure the OpenTelemetry PHP libraries</a:t>
            </a:r>
            <a:endParaRPr lang="en-US" sz="1310" dirty="0"/>
          </a:p>
        </p:txBody>
      </p:sp>
      <p:sp>
        <p:nvSpPr>
          <p:cNvPr id="15" name="Text 13"/>
          <p:cNvSpPr txBox="1"/>
          <p:nvPr/>
        </p:nvSpPr>
        <p:spPr>
          <a:xfrm>
            <a:off x="1133475" y="3728591"/>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Write the six environment variables into two files</a:t>
            </a:r>
            <a:endParaRPr lang="en-US" sz="1310" dirty="0"/>
          </a:p>
        </p:txBody>
      </p:sp>
      <p:sp>
        <p:nvSpPr>
          <p:cNvPr id="16" name="Text 14"/>
          <p:cNvSpPr txBox="1"/>
          <p:nvPr/>
        </p:nvSpPr>
        <p:spPr>
          <a:xfrm>
            <a:off x="6644283" y="1335792"/>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6 · OPENSEARCH</a:t>
            </a:r>
            <a:endParaRPr lang="en-US" sz="980" dirty="0"/>
          </a:p>
        </p:txBody>
      </p:sp>
      <p:sp>
        <p:nvSpPr>
          <p:cNvPr id="17" name="Text 15"/>
          <p:cNvSpPr txBox="1"/>
          <p:nvPr/>
        </p:nvSpPr>
        <p:spPr>
          <a:xfrm>
            <a:off x="6968133" y="1606897"/>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OpenSearch</a:t>
            </a:r>
            <a:endParaRPr lang="en-US" sz="1310" dirty="0"/>
          </a:p>
        </p:txBody>
      </p:sp>
      <p:sp>
        <p:nvSpPr>
          <p:cNvPr id="18" name="Text 16"/>
          <p:cNvSpPr txBox="1"/>
          <p:nvPr/>
        </p:nvSpPr>
        <p:spPr>
          <a:xfrm>
            <a:off x="6644283" y="2204948"/>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5 · THE OPENTELEMETRY COLLECTOR</a:t>
            </a:r>
            <a:endParaRPr lang="en-US" sz="980" dirty="0"/>
          </a:p>
        </p:txBody>
      </p:sp>
      <p:sp>
        <p:nvSpPr>
          <p:cNvPr id="19" name="Text 17"/>
          <p:cNvSpPr txBox="1"/>
          <p:nvPr/>
        </p:nvSpPr>
        <p:spPr>
          <a:xfrm>
            <a:off x="6968133" y="2476054"/>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OpenTelemetry Collector</a:t>
            </a:r>
            <a:endParaRPr lang="en-US" sz="1310" dirty="0"/>
          </a:p>
        </p:txBody>
      </p:sp>
      <p:sp>
        <p:nvSpPr>
          <p:cNvPr id="20" name="Text 18"/>
          <p:cNvSpPr txBox="1"/>
          <p:nvPr/>
        </p:nvSpPr>
        <p:spPr>
          <a:xfrm>
            <a:off x="6968133" y="2759422"/>
            <a:ext cx="4471392"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the OpenTelemetry Collector to receive and send the records</a:t>
            </a:r>
            <a:endParaRPr lang="en-US" sz="1310" dirty="0"/>
          </a:p>
        </p:txBody>
      </p:sp>
      <p:sp>
        <p:nvSpPr>
          <p:cNvPr id="21" name="Text 19"/>
          <p:cNvSpPr txBox="1"/>
          <p:nvPr/>
        </p:nvSpPr>
        <p:spPr>
          <a:xfrm>
            <a:off x="6644283" y="3574167"/>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THE CHECK</a:t>
            </a:r>
            <a:endParaRPr lang="en-US" sz="980" dirty="0"/>
          </a:p>
        </p:txBody>
      </p:sp>
      <p:sp>
        <p:nvSpPr>
          <p:cNvPr id="22" name="Text 20"/>
          <p:cNvSpPr txBox="1"/>
          <p:nvPr/>
        </p:nvSpPr>
        <p:spPr>
          <a:xfrm>
            <a:off x="6968133" y="3845272"/>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Check with curl that the events have arrived in OpenSearch</a:t>
            </a:r>
            <a:endParaRPr lang="en-US" sz="1310" dirty="0"/>
          </a:p>
        </p:txBody>
      </p:sp>
      <p:sp>
        <p:nvSpPr>
          <p:cNvPr id="23" name="Text 21"/>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Walk-through</a:t>
            </a:r>
            <a:endParaRPr lang="en-US" sz="980" dirty="0"/>
          </a:p>
        </p:txBody>
      </p:sp>
      <p:sp>
        <p:nvSpPr>
          <p:cNvPr id="24" name="Text 22"/>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14 / 39</a:t>
            </a:r>
            <a:endParaRPr lang="en-US" sz="980" dirty="0"/>
          </a:p>
        </p:txBody>
      </p:sp>
      <p:sp>
        <p:nvSpPr>
          <p:cNvPr id="25" name="Text 23"/>
          <p:cNvSpPr txBox="1"/>
          <p:nvPr/>
        </p:nvSpPr>
        <p:spPr>
          <a:xfrm>
            <a:off x="771525"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1.</a:t>
            </a:r>
            <a:endParaRPr lang="en-US" sz="1050" dirty="0"/>
          </a:p>
        </p:txBody>
      </p:sp>
      <p:sp>
        <p:nvSpPr>
          <p:cNvPr id="26" name="Text 24"/>
          <p:cNvSpPr txBox="1"/>
          <p:nvPr/>
        </p:nvSpPr>
        <p:spPr>
          <a:xfrm>
            <a:off x="771525" y="1902768"/>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2.</a:t>
            </a:r>
            <a:endParaRPr lang="en-US" sz="1050" dirty="0"/>
          </a:p>
        </p:txBody>
      </p:sp>
      <p:sp>
        <p:nvSpPr>
          <p:cNvPr id="27" name="Text 25"/>
          <p:cNvSpPr txBox="1"/>
          <p:nvPr/>
        </p:nvSpPr>
        <p:spPr>
          <a:xfrm>
            <a:off x="771525" y="2957661"/>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3.</a:t>
            </a:r>
            <a:endParaRPr lang="en-US" sz="1050" dirty="0"/>
          </a:p>
        </p:txBody>
      </p:sp>
      <p:sp>
        <p:nvSpPr>
          <p:cNvPr id="28" name="Text 26"/>
          <p:cNvSpPr txBox="1"/>
          <p:nvPr/>
        </p:nvSpPr>
        <p:spPr>
          <a:xfrm>
            <a:off x="771525" y="3241030"/>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4.</a:t>
            </a:r>
            <a:endParaRPr lang="en-US" sz="1050" dirty="0"/>
          </a:p>
        </p:txBody>
      </p:sp>
      <p:sp>
        <p:nvSpPr>
          <p:cNvPr id="29" name="Text 27"/>
          <p:cNvSpPr txBox="1"/>
          <p:nvPr/>
        </p:nvSpPr>
        <p:spPr>
          <a:xfrm>
            <a:off x="771525" y="3741093"/>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5.</a:t>
            </a:r>
            <a:endParaRPr lang="en-US" sz="1050" dirty="0"/>
          </a:p>
        </p:txBody>
      </p:sp>
      <p:sp>
        <p:nvSpPr>
          <p:cNvPr id="30" name="Text 28"/>
          <p:cNvSpPr txBox="1"/>
          <p:nvPr/>
        </p:nvSpPr>
        <p:spPr>
          <a:xfrm>
            <a:off x="6606183"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6.</a:t>
            </a:r>
            <a:endParaRPr lang="en-US" sz="1050" dirty="0"/>
          </a:p>
        </p:txBody>
      </p:sp>
      <p:sp>
        <p:nvSpPr>
          <p:cNvPr id="31" name="Text 29"/>
          <p:cNvSpPr txBox="1"/>
          <p:nvPr/>
        </p:nvSpPr>
        <p:spPr>
          <a:xfrm>
            <a:off x="6606183" y="2488555"/>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7.</a:t>
            </a:r>
            <a:endParaRPr lang="en-US" sz="1050" dirty="0"/>
          </a:p>
        </p:txBody>
      </p:sp>
      <p:sp>
        <p:nvSpPr>
          <p:cNvPr id="32" name="Text 30"/>
          <p:cNvSpPr txBox="1"/>
          <p:nvPr/>
        </p:nvSpPr>
        <p:spPr>
          <a:xfrm>
            <a:off x="6606183" y="277192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8.</a:t>
            </a:r>
            <a:endParaRPr lang="en-US" sz="1050" dirty="0"/>
          </a:p>
        </p:txBody>
      </p:sp>
      <p:sp>
        <p:nvSpPr>
          <p:cNvPr id="33" name="Text 31"/>
          <p:cNvSpPr txBox="1"/>
          <p:nvPr/>
        </p:nvSpPr>
        <p:spPr>
          <a:xfrm>
            <a:off x="6606183" y="385777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795439"/>
            <a:ext cx="5257800" cy="688479"/>
          </a:xfrm>
          <a:prstGeom prst="roundRect">
            <a:avLst>
              <a:gd name="adj" fmla="val 36749"/>
            </a:avLst>
          </a:prstGeom>
          <a:solidFill>
            <a:srgbClr val="0F2027"/>
          </a:solidFill>
          <a:ln/>
        </p:spPr>
      </p:sp>
      <p:sp>
        <p:nvSpPr>
          <p:cNvPr id="3" name="Shape 1"/>
          <p:cNvSpPr/>
          <p:nvPr/>
        </p:nvSpPr>
        <p:spPr>
          <a:xfrm>
            <a:off x="6286500" y="2795439"/>
            <a:ext cx="5257800" cy="688479"/>
          </a:xfrm>
          <a:prstGeom prst="roundRect">
            <a:avLst>
              <a:gd name="adj" fmla="val 36749"/>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1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Install the C compiler, the PHP header files and pecl</a:t>
            </a:r>
            <a:endParaRPr lang="en-US" sz="3150" dirty="0"/>
          </a:p>
        </p:txBody>
      </p:sp>
      <p:sp>
        <p:nvSpPr>
          <p:cNvPr id="7" name="Text 5"/>
          <p:cNvSpPr txBox="1"/>
          <p:nvPr/>
        </p:nvSpPr>
        <p:spPr>
          <a:xfrm>
            <a:off x="647700" y="1488847"/>
            <a:ext cx="10953750" cy="748903"/>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To install the OpenTelemetry PHP extension, the server needs the PHP header files,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 and a C compiler. The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php-pear</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provides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a:t>
            </a:r>
            <a:endParaRPr lang="en-US" sz="1950" dirty="0"/>
          </a:p>
        </p:txBody>
      </p:sp>
      <p:sp>
        <p:nvSpPr>
          <p:cNvPr id="8" name="Text 6"/>
          <p:cNvSpPr txBox="1"/>
          <p:nvPr/>
        </p:nvSpPr>
        <p:spPr>
          <a:xfrm>
            <a:off x="6477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Ubuntu 24.04 LTS</a:t>
            </a:r>
            <a:endParaRPr lang="en-US" sz="1200" dirty="0"/>
          </a:p>
        </p:txBody>
      </p:sp>
      <p:sp>
        <p:nvSpPr>
          <p:cNvPr id="9" name="Text 7"/>
          <p:cNvSpPr txBox="1"/>
          <p:nvPr/>
        </p:nvSpPr>
        <p:spPr>
          <a:xfrm>
            <a:off x="8191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apt install php8.3-dev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0" name="Text 8"/>
          <p:cNvSpPr txBox="1"/>
          <p:nvPr/>
        </p:nvSpPr>
        <p:spPr>
          <a:xfrm>
            <a:off x="62865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RHEL 9 · Rocky 9</a:t>
            </a:r>
            <a:endParaRPr lang="en-US" sz="1200" dirty="0"/>
          </a:p>
        </p:txBody>
      </p:sp>
      <p:sp>
        <p:nvSpPr>
          <p:cNvPr id="11" name="Text 9"/>
          <p:cNvSpPr txBox="1"/>
          <p:nvPr/>
        </p:nvSpPr>
        <p:spPr>
          <a:xfrm>
            <a:off x="64579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dnf install php-devel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15 / 39</a:t>
            </a:r>
            <a:endParaRPr lang="en-US" sz="9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3590" y="3120564"/>
            <a:ext cx="5165263" cy="1618677"/>
          </a:xfrm>
          <a:prstGeom prst="roundRect">
            <a:avLst>
              <a:gd name="adj" fmla="val 6529"/>
            </a:avLst>
          </a:prstGeom>
          <a:solidFill>
            <a:srgbClr val="0F2027"/>
          </a:solidFill>
          <a:ln/>
        </p:spPr>
      </p:sp>
      <p:sp>
        <p:nvSpPr>
          <p:cNvPr id="3" name="Shape 1"/>
          <p:cNvSpPr/>
          <p:nvPr/>
        </p:nvSpPr>
        <p:spPr>
          <a:xfrm>
            <a:off x="6283147" y="3120564"/>
            <a:ext cx="5165263" cy="1618677"/>
          </a:xfrm>
          <a:prstGeom prst="roundRect">
            <a:avLst>
              <a:gd name="adj" fmla="val 6529"/>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743590" y="512121"/>
            <a:ext cx="10761971" cy="182469"/>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STEP 2 OF 9</a:t>
            </a:r>
            <a:endParaRPr lang="en-US" sz="960" dirty="0"/>
          </a:p>
        </p:txBody>
      </p:sp>
      <p:sp>
        <p:nvSpPr>
          <p:cNvPr id="6" name="Text 4"/>
          <p:cNvSpPr txBox="1"/>
          <p:nvPr/>
        </p:nvSpPr>
        <p:spPr>
          <a:xfrm>
            <a:off x="743590" y="846872"/>
            <a:ext cx="10761971" cy="424444"/>
          </a:xfrm>
          <a:prstGeom prst="rect">
            <a:avLst/>
          </a:prstGeom>
          <a:noFill/>
          <a:ln/>
        </p:spPr>
        <p:txBody>
          <a:bodyPr wrap="none" lIns="0" tIns="0" rIns="0" bIns="0" rtlCol="0" anchor="t"/>
          <a:lstStyle/>
          <a:p>
            <a:pPr algn="l" indent="0" marL="0">
              <a:lnSpc>
                <a:spcPts val="3340"/>
              </a:lnSpc>
              <a:buNone/>
            </a:pPr>
            <a:r>
              <a:rPr lang="en-US" sz="3090" b="1" spc="-60" kern="0" dirty="0">
                <a:solidFill>
                  <a:srgbClr val="101A22"/>
                </a:solidFill>
                <a:latin typeface="Arial" pitchFamily="34" charset="0"/>
                <a:ea typeface="Arial" pitchFamily="34" charset="-122"/>
                <a:cs typeface="Arial" pitchFamily="34" charset="-120"/>
              </a:rPr>
              <a:t>Install and enable the OpenTelemetry PHP extension</a:t>
            </a:r>
            <a:endParaRPr lang="en-US" sz="3090" dirty="0"/>
          </a:p>
        </p:txBody>
      </p:sp>
      <p:sp>
        <p:nvSpPr>
          <p:cNvPr id="7" name="Text 5"/>
          <p:cNvSpPr txBox="1"/>
          <p:nvPr/>
        </p:nvSpPr>
        <p:spPr>
          <a:xfrm>
            <a:off x="743590" y="1472048"/>
            <a:ext cx="10761971" cy="1100660"/>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PECL is the PHP site that publishes extensions. The command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pecl install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downloads the extension and builds the file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opentelemetry.so</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for the PHP version on your server. A small php.ini file then tells PHP to load it.</a:t>
            </a:r>
            <a:endParaRPr lang="en-US" sz="1910" dirty="0"/>
          </a:p>
        </p:txBody>
      </p:sp>
      <p:sp>
        <p:nvSpPr>
          <p:cNvPr id="8" name="Text 6"/>
          <p:cNvSpPr txBox="1"/>
          <p:nvPr/>
        </p:nvSpPr>
        <p:spPr>
          <a:xfrm>
            <a:off x="743590"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Ubuntu 24.04 LTS</a:t>
            </a:r>
            <a:endParaRPr lang="en-US" sz="1180" dirty="0"/>
          </a:p>
        </p:txBody>
      </p:sp>
      <p:sp>
        <p:nvSpPr>
          <p:cNvPr id="9" name="Text 7"/>
          <p:cNvSpPr txBox="1"/>
          <p:nvPr/>
        </p:nvSpPr>
        <p:spPr>
          <a:xfrm>
            <a:off x="911954"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compiles the C source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/etc/php/8.3/mods-available/opentelemetry.ini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phpenmod opentelemetry</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php8.3-fpm</a:t>
            </a:r>
            <a:endParaRPr lang="en-US" sz="960" dirty="0"/>
          </a:p>
        </p:txBody>
      </p:sp>
      <p:sp>
        <p:nvSpPr>
          <p:cNvPr id="10" name="Text 8"/>
          <p:cNvSpPr txBox="1"/>
          <p:nvPr/>
        </p:nvSpPr>
        <p:spPr>
          <a:xfrm>
            <a:off x="6283147"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RHEL 9 · Rocky 9</a:t>
            </a:r>
            <a:endParaRPr lang="en-US" sz="1180" dirty="0"/>
          </a:p>
        </p:txBody>
      </p:sp>
      <p:sp>
        <p:nvSpPr>
          <p:cNvPr id="11" name="Text 9"/>
          <p:cNvSpPr txBox="1"/>
          <p:nvPr/>
        </p:nvSpPr>
        <p:spPr>
          <a:xfrm>
            <a:off x="6451511"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same: compiles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/etc/php.d/40-opentelemetry.ini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no phpenmod — the drop-in is enough</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php-fpm</a:t>
            </a:r>
            <a:endParaRPr lang="en-US" sz="960" dirty="0"/>
          </a:p>
        </p:txBody>
      </p:sp>
      <p:sp>
        <p:nvSpPr>
          <p:cNvPr id="12" name="Text 10"/>
          <p:cNvSpPr txBox="1"/>
          <p:nvPr/>
        </p:nvSpPr>
        <p:spPr>
          <a:xfrm>
            <a:off x="743590" y="5033547"/>
            <a:ext cx="10761971" cy="732798"/>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Run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php --ri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to check the result. The output must contain </a:t>
            </a:r>
            <a:pPr algn="l" indent="0" marL="0">
              <a:lnSpc>
                <a:spcPts val="2870"/>
              </a:lnSpc>
              <a:buNone/>
            </a:pPr>
            <a:r>
              <a:rPr lang="en-US" sz="1910" b="1" dirty="0">
                <a:solidFill>
                  <a:srgbClr val="5A6D7A"/>
                </a:solidFill>
                <a:latin typeface="Arial" pitchFamily="34" charset="0"/>
                <a:ea typeface="Arial" pitchFamily="34" charset="-122"/>
                <a:cs typeface="Arial" pitchFamily="34" charset="-120"/>
              </a:rPr>
              <a:t>opentelemetry hooks =&gt; enabled</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a:t>
            </a:r>
            <a:endParaRPr lang="en-US" sz="1910" dirty="0"/>
          </a:p>
        </p:txBody>
      </p:sp>
      <p:sp>
        <p:nvSpPr>
          <p:cNvPr id="13" name="Text 11"/>
          <p:cNvSpPr txBox="1"/>
          <p:nvPr/>
        </p:nvSpPr>
        <p:spPr>
          <a:xfrm>
            <a:off x="647700" y="6464435"/>
            <a:ext cx="948928"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Walk-through</a:t>
            </a:r>
            <a:endParaRPr lang="en-US" sz="960" dirty="0"/>
          </a:p>
        </p:txBody>
      </p:sp>
      <p:sp>
        <p:nvSpPr>
          <p:cNvPr id="14" name="Text 12"/>
          <p:cNvSpPr txBox="1"/>
          <p:nvPr/>
        </p:nvSpPr>
        <p:spPr>
          <a:xfrm>
            <a:off x="11024146" y="6464435"/>
            <a:ext cx="577304"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16 / 39</a:t>
            </a:r>
            <a:endParaRPr lang="en-US" sz="9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5666" y="2652018"/>
            <a:ext cx="5076406" cy="664726"/>
          </a:xfrm>
          <a:prstGeom prst="roundRect">
            <a:avLst>
              <a:gd name="adj" fmla="val 38043"/>
            </a:avLst>
          </a:prstGeom>
          <a:solidFill>
            <a:srgbClr val="0F2027"/>
          </a:solidFill>
          <a:ln/>
        </p:spPr>
      </p:sp>
      <p:sp>
        <p:nvSpPr>
          <p:cNvPr id="3" name="Shape 1"/>
          <p:cNvSpPr/>
          <p:nvPr/>
        </p:nvSpPr>
        <p:spPr>
          <a:xfrm>
            <a:off x="6279928" y="2652018"/>
            <a:ext cx="5076406" cy="1035168"/>
          </a:xfrm>
          <a:prstGeom prst="roundRect">
            <a:avLst>
              <a:gd name="adj" fmla="val 15687"/>
            </a:avLst>
          </a:prstGeom>
          <a:solidFill>
            <a:srgbClr val="0F2027"/>
          </a:solidFill>
          <a:ln/>
        </p:spPr>
      </p:sp>
      <p:sp>
        <p:nvSpPr>
          <p:cNvPr id="4" name="Shape 2"/>
          <p:cNvSpPr/>
          <p:nvPr/>
        </p:nvSpPr>
        <p:spPr>
          <a:xfrm>
            <a:off x="835666" y="4793627"/>
            <a:ext cx="10520667" cy="849948"/>
          </a:xfrm>
          <a:prstGeom prst="roundRect">
            <a:avLst>
              <a:gd name="adj" fmla="val 23269"/>
            </a:avLst>
          </a:prstGeom>
          <a:solidFill>
            <a:srgbClr val="0F2027"/>
          </a:solidFill>
          <a:ln/>
        </p:spPr>
      </p:sp>
      <p:sp>
        <p:nvSpPr>
          <p:cNvPr id="5" name="Shape 3"/>
          <p:cNvSpPr/>
          <p:nvPr/>
        </p:nvSpPr>
        <p:spPr>
          <a:xfrm>
            <a:off x="647700" y="6343650"/>
            <a:ext cx="10896600" cy="0"/>
          </a:xfrm>
          <a:prstGeom prst="line">
            <a:avLst/>
          </a:prstGeom>
          <a:noFill/>
          <a:ln w="8890">
            <a:solidFill>
              <a:srgbClr val="CBD7DF"/>
            </a:solidFill>
            <a:prstDash val="solid"/>
          </a:ln>
        </p:spPr>
      </p:sp>
      <p:sp>
        <p:nvSpPr>
          <p:cNvPr id="6" name="Text 4"/>
          <p:cNvSpPr txBox="1"/>
          <p:nvPr/>
        </p:nvSpPr>
        <p:spPr>
          <a:xfrm>
            <a:off x="835666" y="512489"/>
            <a:ext cx="10577817" cy="179330"/>
          </a:xfrm>
          <a:prstGeom prst="rect">
            <a:avLst/>
          </a:prstGeom>
          <a:noFill/>
          <a:ln/>
        </p:spPr>
        <p:txBody>
          <a:bodyPr wrap="none" lIns="0" tIns="0" rIns="0" bIns="0" rtlCol="0" anchor="t"/>
          <a:lstStyle/>
          <a:p>
            <a:pPr algn="l" indent="0" marL="0">
              <a:lnSpc>
                <a:spcPts val="1410"/>
              </a:lnSpc>
              <a:buNone/>
            </a:pPr>
            <a:r>
              <a:rPr lang="en-US" sz="940" spc="150" kern="0" dirty="0">
                <a:solidFill>
                  <a:srgbClr val="0B6E99"/>
                </a:solidFill>
                <a:latin typeface="Courier New" pitchFamily="34" charset="0"/>
                <a:ea typeface="Courier New" pitchFamily="34" charset="-122"/>
                <a:cs typeface="Courier New" pitchFamily="34" charset="-120"/>
              </a:rPr>
              <a:t>STEP 3 OF 9</a:t>
            </a:r>
            <a:endParaRPr lang="en-US" sz="940" dirty="0"/>
          </a:p>
        </p:txBody>
      </p:sp>
      <p:sp>
        <p:nvSpPr>
          <p:cNvPr id="7" name="Text 5"/>
          <p:cNvSpPr txBox="1"/>
          <p:nvPr/>
        </p:nvSpPr>
        <p:spPr>
          <a:xfrm>
            <a:off x="835666" y="841479"/>
            <a:ext cx="10577817" cy="357510"/>
          </a:xfrm>
          <a:prstGeom prst="rect">
            <a:avLst/>
          </a:prstGeom>
          <a:noFill/>
          <a:ln/>
        </p:spPr>
        <p:txBody>
          <a:bodyPr wrap="none" lIns="0" tIns="0" rIns="0" bIns="0" rtlCol="0" anchor="t"/>
          <a:lstStyle/>
          <a:p>
            <a:pPr algn="l" indent="0" marL="0">
              <a:lnSpc>
                <a:spcPts val="2810"/>
              </a:lnSpc>
              <a:buNone/>
            </a:pPr>
            <a:r>
              <a:rPr lang="en-US" sz="2610" b="1" spc="-50" kern="0" dirty="0">
                <a:solidFill>
                  <a:srgbClr val="101A22"/>
                </a:solidFill>
                <a:latin typeface="Arial" pitchFamily="34" charset="0"/>
                <a:ea typeface="Arial" pitchFamily="34" charset="-122"/>
                <a:cs typeface="Arial" pitchFamily="34" charset="-120"/>
              </a:rPr>
              <a:t>Install PHP Composer and the two OpenTelemetry PHP packages</a:t>
            </a:r>
            <a:endParaRPr lang="en-US" sz="2610" dirty="0"/>
          </a:p>
        </p:txBody>
      </p:sp>
      <p:sp>
        <p:nvSpPr>
          <p:cNvPr id="8" name="Text 6"/>
          <p:cNvSpPr txBox="1"/>
          <p:nvPr/>
        </p:nvSpPr>
        <p:spPr>
          <a:xfrm>
            <a:off x="835666" y="1396273"/>
            <a:ext cx="10577817" cy="717318"/>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 OpenTelemetry PHP code comes as two packages. PHP Composer is the tool that downloads PHP packages. Install PHP Composer first.</a:t>
            </a:r>
            <a:endParaRPr lang="en-US" sz="1880" dirty="0"/>
          </a:p>
        </p:txBody>
      </p:sp>
      <p:sp>
        <p:nvSpPr>
          <p:cNvPr id="9" name="Text 7"/>
          <p:cNvSpPr txBox="1"/>
          <p:nvPr/>
        </p:nvSpPr>
        <p:spPr>
          <a:xfrm>
            <a:off x="835666"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Ubuntu 24.04 LTS</a:t>
            </a:r>
            <a:endParaRPr lang="en-US" sz="1160" dirty="0"/>
          </a:p>
        </p:txBody>
      </p:sp>
      <p:sp>
        <p:nvSpPr>
          <p:cNvPr id="10" name="Text 8"/>
          <p:cNvSpPr txBox="1"/>
          <p:nvPr/>
        </p:nvSpPr>
        <p:spPr>
          <a:xfrm>
            <a:off x="1001116" y="2775186"/>
            <a:ext cx="4802657" cy="370594"/>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packaged, version 2.7</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apt install composer</a:t>
            </a:r>
            <a:endParaRPr lang="en-US" sz="940" dirty="0"/>
          </a:p>
        </p:txBody>
      </p:sp>
      <p:sp>
        <p:nvSpPr>
          <p:cNvPr id="11" name="Text 9"/>
          <p:cNvSpPr txBox="1"/>
          <p:nvPr/>
        </p:nvSpPr>
        <p:spPr>
          <a:xfrm>
            <a:off x="6279928"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RHEL 9 · Rocky 9</a:t>
            </a:r>
            <a:endParaRPr lang="en-US" sz="1160" dirty="0"/>
          </a:p>
        </p:txBody>
      </p:sp>
      <p:sp>
        <p:nvSpPr>
          <p:cNvPr id="12" name="Text 10"/>
          <p:cNvSpPr txBox="1"/>
          <p:nvPr/>
        </p:nvSpPr>
        <p:spPr>
          <a:xfrm>
            <a:off x="6445377" y="2775186"/>
            <a:ext cx="4802657" cy="741036"/>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not in AppStream — use the installer</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curl -sS https://getcomposer.org/installer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 php</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mv composer.phar /usr/local/bin/composer</a:t>
            </a:r>
            <a:endParaRPr lang="en-US" sz="940" dirty="0"/>
          </a:p>
        </p:txBody>
      </p:sp>
      <p:sp>
        <p:nvSpPr>
          <p:cNvPr id="13" name="Text 11"/>
          <p:cNvSpPr txBox="1"/>
          <p:nvPr/>
        </p:nvSpPr>
        <p:spPr>
          <a:xfrm>
            <a:off x="835666" y="3866078"/>
            <a:ext cx="10577817" cy="720192"/>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Then run these two commands in the Moodle folder. They are the same on Ubuntu and on Red Hat. Each command downloads one package into the folder </a:t>
            </a:r>
            <a:pPr algn="l" indent="0" marL="0">
              <a:lnSpc>
                <a:spcPts val="2820"/>
              </a:lnSpc>
              <a:buNone/>
            </a:pPr>
            <a:r>
              <a:rPr lang="en-US" sz="1660" dirty="0">
                <a:solidFill>
                  <a:srgbClr val="5A6D7A"/>
                </a:solidFill>
                <a:highlight>
                  <a:srgbClr val="E1F0F7"/>
                </a:highlight>
                <a:latin typeface="Courier New" pitchFamily="34" charset="0"/>
                <a:ea typeface="Courier New" pitchFamily="34" charset="-122"/>
                <a:cs typeface="Courier New" pitchFamily="34" charset="-120"/>
              </a:rPr>
              <a:t>/var/www/moodle/vendor/</a:t>
            </a:r>
            <a:pPr algn="l" indent="0" marL="0">
              <a:lnSpc>
                <a:spcPts val="2820"/>
              </a:lnSpc>
              <a:buNone/>
            </a:pPr>
            <a:r>
              <a:rPr lang="en-US" sz="1880" dirty="0">
                <a:solidFill>
                  <a:srgbClr val="5A6D7A"/>
                </a:solidFill>
                <a:latin typeface="Arial" pitchFamily="34" charset="0"/>
                <a:ea typeface="Arial" pitchFamily="34" charset="-122"/>
                <a:cs typeface="Arial" pitchFamily="34" charset="-120"/>
              </a:rPr>
              <a:t>.</a:t>
            </a:r>
            <a:endParaRPr lang="en-US" sz="1880" dirty="0"/>
          </a:p>
        </p:txBody>
      </p:sp>
      <p:sp>
        <p:nvSpPr>
          <p:cNvPr id="14" name="Text 12"/>
          <p:cNvSpPr txBox="1"/>
          <p:nvPr/>
        </p:nvSpPr>
        <p:spPr>
          <a:xfrm>
            <a:off x="1001116" y="4916794"/>
            <a:ext cx="10246919" cy="555816"/>
          </a:xfrm>
          <a:prstGeom prst="rect">
            <a:avLst/>
          </a:prstGeom>
          <a:noFill/>
          <a:ln/>
        </p:spPr>
        <p:txBody>
          <a:bodyPr wrap="square" lIns="0" tIns="0" rIns="0" bIns="0" rtlCol="0" anchor="t"/>
          <a:lstStyle/>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cd /var/www/moodle</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moodlehq/moodle-package-otel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records the Moodle events and timings</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open-telemetry/exporter-otlp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sends the records to the OpenTelemetry Collector</a:t>
            </a:r>
            <a:endParaRPr lang="en-US" sz="940" dirty="0"/>
          </a:p>
        </p:txBody>
      </p:sp>
      <p:sp>
        <p:nvSpPr>
          <p:cNvPr id="15" name="Text 13"/>
          <p:cNvSpPr txBox="1"/>
          <p:nvPr/>
        </p:nvSpPr>
        <p:spPr>
          <a:xfrm>
            <a:off x="647700" y="6464488"/>
            <a:ext cx="948928"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Walk-through</a:t>
            </a:r>
            <a:endParaRPr lang="en-US" sz="940" dirty="0"/>
          </a:p>
        </p:txBody>
      </p:sp>
      <p:sp>
        <p:nvSpPr>
          <p:cNvPr id="16" name="Text 14"/>
          <p:cNvSpPr txBox="1"/>
          <p:nvPr/>
        </p:nvSpPr>
        <p:spPr>
          <a:xfrm>
            <a:off x="11024146" y="6464488"/>
            <a:ext cx="577304"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17 / 39</a:t>
            </a:r>
            <a:endParaRPr lang="en-US" sz="9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461022"/>
            <a:ext cx="10896600" cy="1455837"/>
          </a:xfrm>
          <a:prstGeom prst="roundRect">
            <a:avLst>
              <a:gd name="adj" fmla="val 8219"/>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4 OF 9</a:t>
            </a:r>
            <a:endParaRPr lang="en-US" sz="980" dirty="0"/>
          </a:p>
        </p:txBody>
      </p:sp>
      <p:sp>
        <p:nvSpPr>
          <p:cNvPr id="5" name="Text 3"/>
          <p:cNvSpPr txBox="1"/>
          <p:nvPr/>
        </p:nvSpPr>
        <p:spPr>
          <a:xfrm>
            <a:off x="647700" y="852488"/>
            <a:ext cx="10953750" cy="370332"/>
          </a:xfrm>
          <a:prstGeom prst="rect">
            <a:avLst/>
          </a:prstGeom>
          <a:noFill/>
          <a:ln/>
        </p:spPr>
        <p:txBody>
          <a:bodyPr wrap="none" lIns="0" tIns="0" rIns="0" bIns="0" rtlCol="0" anchor="t"/>
          <a:lstStyle/>
          <a:p>
            <a:pPr algn="l" indent="0" marL="0">
              <a:lnSpc>
                <a:spcPts val="2920"/>
              </a:lnSpc>
              <a:buNone/>
            </a:pPr>
            <a:r>
              <a:rPr lang="en-US" sz="2700" b="1" spc="-50" kern="0" dirty="0">
                <a:solidFill>
                  <a:srgbClr val="101A22"/>
                </a:solidFill>
                <a:latin typeface="Arial" pitchFamily="34" charset="0"/>
                <a:ea typeface="Arial" pitchFamily="34" charset="-122"/>
                <a:cs typeface="Arial" pitchFamily="34" charset="-120"/>
              </a:rPr>
              <a:t>Six environment variables configure the OpenTelemetry PHP libraries</a:t>
            </a:r>
            <a:endParaRPr lang="en-US" sz="2700" dirty="0"/>
          </a:p>
        </p:txBody>
      </p:sp>
      <p:sp>
        <p:nvSpPr>
          <p:cNvPr id="6" name="Text 4"/>
          <p:cNvSpPr txBox="1"/>
          <p:nvPr/>
        </p:nvSpPr>
        <p:spPr>
          <a:xfrm>
            <a:off x="647700" y="1427083"/>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OpenTelemetry PHP code reads its settings from environment variables of the PHP process. These are the six.</a:t>
            </a:r>
            <a:endParaRPr lang="en-US" sz="1950" dirty="0"/>
          </a:p>
        </p:txBody>
      </p:sp>
      <p:sp>
        <p:nvSpPr>
          <p:cNvPr id="7" name="Text 5"/>
          <p:cNvSpPr txBox="1"/>
          <p:nvPr/>
        </p:nvSpPr>
        <p:spPr>
          <a:xfrm>
            <a:off x="819150" y="2588657"/>
            <a:ext cx="10610850" cy="1151037"/>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switches the OpenTelemetry PHP code on</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address of the OpenTelemetry Collector</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OTEL_EXPORTER_OTLP_PROTOCOL=http/protobuf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data format on the network</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OTEL_TRACES_EXPORTER=otlp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timings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OTEL_LOGS_EXPORTER=otlp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events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OTEL_METRICS_EXPORTER=none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no metrics</a:t>
            </a:r>
            <a:endParaRPr lang="en-US" sz="980" dirty="0"/>
          </a:p>
        </p:txBody>
      </p:sp>
      <p:sp>
        <p:nvSpPr>
          <p:cNvPr id="8" name="Text 6"/>
          <p:cNvSpPr txBox="1"/>
          <p:nvPr/>
        </p:nvSpPr>
        <p:spPr>
          <a:xfrm>
            <a:off x="647700" y="4044970"/>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has no setting for these variables. They do not go into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config.php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and the Moodle admin pages do not show them.</a:t>
            </a:r>
            <a:endParaRPr lang="en-US" sz="1950" dirty="0"/>
          </a:p>
        </p:txBody>
      </p:sp>
      <p:sp>
        <p:nvSpPr>
          <p:cNvPr id="9" name="Text 7"/>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0" name="Text 8"/>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18 / 39</a:t>
            </a:r>
            <a:endParaRPr lang="en-US" sz="9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023146"/>
            <a:ext cx="10896600" cy="880318"/>
          </a:xfrm>
          <a:prstGeom prst="roundRect">
            <a:avLst>
              <a:gd name="adj" fmla="val 22478"/>
            </a:avLst>
          </a:prstGeom>
          <a:solidFill>
            <a:srgbClr val="0F2027"/>
          </a:solidFill>
          <a:ln/>
        </p:spPr>
      </p:sp>
      <p:sp>
        <p:nvSpPr>
          <p:cNvPr id="3" name="Shape 1"/>
          <p:cNvSpPr/>
          <p:nvPr/>
        </p:nvSpPr>
        <p:spPr>
          <a:xfrm>
            <a:off x="647700" y="4575274"/>
            <a:ext cx="10896600" cy="880318"/>
          </a:xfrm>
          <a:prstGeom prst="roundRect">
            <a:avLst>
              <a:gd name="adj" fmla="val 22478"/>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5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Write the six environment variables into two files</a:t>
            </a:r>
            <a:endParaRPr lang="en-US" sz="3150" dirty="0"/>
          </a:p>
        </p:txBody>
      </p:sp>
      <p:sp>
        <p:nvSpPr>
          <p:cNvPr id="7" name="Text 5"/>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runs PHP in two places that matter here. PHP-FPM runs it for web requests, and cron runs it for the scheduled tasks. Each has its own environment, so the same six lines go into two files.</a:t>
            </a:r>
            <a:endParaRPr lang="en-US" sz="1950" dirty="0"/>
          </a:p>
        </p:txBody>
      </p:sp>
      <p:sp>
        <p:nvSpPr>
          <p:cNvPr id="8" name="Text 6"/>
          <p:cNvSpPr txBox="1"/>
          <p:nvPr/>
        </p:nvSpPr>
        <p:spPr>
          <a:xfrm>
            <a:off x="647700" y="2520806"/>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1 · For web requests, add the lines to the PHP-FPM pool file.</a:t>
            </a:r>
            <a:endParaRPr lang="en-US" sz="1430" dirty="0"/>
          </a:p>
          <a:p>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Ubuntu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/etc/php/8.3/fpm/pool.d/www.conf</a:t>
            </a:r>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 · RHEL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/etc/php-fpm.d/www.conf</a:t>
            </a:r>
            <a:endParaRPr lang="en-US" sz="1430" dirty="0"/>
          </a:p>
        </p:txBody>
      </p:sp>
      <p:sp>
        <p:nvSpPr>
          <p:cNvPr id="9" name="Text 7"/>
          <p:cNvSpPr txBox="1"/>
          <p:nvPr/>
        </p:nvSpPr>
        <p:spPr>
          <a:xfrm>
            <a:off x="819150" y="3150781"/>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env[OTEL_PHP_AUTOLOAD_ENABLED] = 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env[OTEL_EXPORTER_OTLP_ENDPOINT] = 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add one env[] line for each of the six variables, then restart PHP-FPM</a:t>
            </a:r>
            <a:endParaRPr lang="en-US" sz="980" dirty="0"/>
          </a:p>
        </p:txBody>
      </p:sp>
      <p:sp>
        <p:nvSpPr>
          <p:cNvPr id="10" name="Text 8"/>
          <p:cNvSpPr txBox="1"/>
          <p:nvPr/>
        </p:nvSpPr>
        <p:spPr>
          <a:xfrm>
            <a:off x="647700" y="4072935"/>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2 · For Moodle cron, add the lines to the cron file that you already have, above the schedule line.</a:t>
            </a:r>
            <a:endParaRPr lang="en-US" sz="1430" dirty="0"/>
          </a:p>
          <a:p>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/etc/cron.d/moodle</a:t>
            </a:r>
            <a:endParaRPr lang="en-US" sz="1430" dirty="0"/>
          </a:p>
        </p:txBody>
      </p:sp>
      <p:sp>
        <p:nvSpPr>
          <p:cNvPr id="11" name="Text 9"/>
          <p:cNvSpPr txBox="1"/>
          <p:nvPr/>
        </p:nvSpPr>
        <p:spPr>
          <a:xfrm>
            <a:off x="819150" y="4702909"/>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 * * * www-data php /var/www/moodle/admin/cli/cron.php &gt;/dev/null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RHEL: apache</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19 / 39</a:t>
            </a:r>
            <a:endParaRPr lang="en-US" sz="9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081929" y="2022363"/>
          <a:ext cx="10028141" cy="914400"/>
        </p:xfrm>
        <a:graphic>
          <a:graphicData uri="http://schemas.openxmlformats.org/drawingml/2006/table">
            <a:tbl>
              <a:tblPr/>
              <a:tblGrid>
                <a:gridCol w="2105860"/>
                <a:gridCol w="3409508"/>
                <a:gridCol w="4512773"/>
              </a:tblGrid>
              <a:tr h="355017">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WHERE YOU DO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113956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user for the OpenTelemetry Collector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OpenSearch Dashboards, Security, Internal users and Roles</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OpenTelemetry Collector logs in as this user. The role needs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create_index</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write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on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cluster permissions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cluster_manage_index_templates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indices:data/write/bulk</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587312">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template</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You do nothing. The OpenTelemetry Collector creates it at start.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template sets the field types of each new monthly index. It needs OpenTelemetry Collector 0.157.0 or newer.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771396">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Dashboards Management, Index patterns, Create. The pattern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time field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time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Discover is the search page of OpenSearch Dashboards. It shows no data without the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92918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retention policy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Index Management, State management policies, Create policy, with an ISM template for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ISM (Index State Management) deletes old indices on a schedule. The policy covers only the indices that come after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1081929" y="513464"/>
            <a:ext cx="10085291" cy="170934"/>
          </a:xfrm>
          <a:prstGeom prst="rect">
            <a:avLst/>
          </a:prstGeom>
          <a:noFill/>
          <a:ln/>
        </p:spPr>
        <p:txBody>
          <a:bodyPr wrap="none" lIns="0" tIns="0" rIns="0" bIns="0" rtlCol="0" anchor="t"/>
          <a:lstStyle/>
          <a:p>
            <a:pPr algn="l" indent="0" marL="0">
              <a:lnSpc>
                <a:spcPts val="1350"/>
              </a:lnSpc>
              <a:buNone/>
            </a:pPr>
            <a:r>
              <a:rPr lang="en-US" sz="900" spc="140" kern="0" dirty="0">
                <a:solidFill>
                  <a:srgbClr val="0B6E99"/>
                </a:solidFill>
                <a:latin typeface="Courier New" pitchFamily="34" charset="0"/>
                <a:ea typeface="Courier New" pitchFamily="34" charset="-122"/>
                <a:cs typeface="Courier New" pitchFamily="34" charset="-120"/>
              </a:rPr>
              <a:t>STEP 6 OF 9</a:t>
            </a:r>
            <a:endParaRPr lang="en-US" sz="900" dirty="0"/>
          </a:p>
        </p:txBody>
      </p:sp>
      <p:sp>
        <p:nvSpPr>
          <p:cNvPr id="5" name="Text 2"/>
          <p:cNvSpPr txBox="1"/>
          <p:nvPr/>
        </p:nvSpPr>
        <p:spPr>
          <a:xfrm>
            <a:off x="1081929" y="827056"/>
            <a:ext cx="10085291" cy="397614"/>
          </a:xfrm>
          <a:prstGeom prst="rect">
            <a:avLst/>
          </a:prstGeom>
          <a:noFill/>
          <a:ln/>
        </p:spPr>
        <p:txBody>
          <a:bodyPr wrap="none" lIns="0" tIns="0" rIns="0" bIns="0" rtlCol="0" anchor="t"/>
          <a:lstStyle/>
          <a:p>
            <a:pPr algn="l" indent="0" marL="0">
              <a:lnSpc>
                <a:spcPts val="3130"/>
              </a:lnSpc>
              <a:buNone/>
            </a:pPr>
            <a:r>
              <a:rPr lang="en-US" sz="2900" b="1" spc="-60" kern="0" dirty="0">
                <a:solidFill>
                  <a:srgbClr val="101A22"/>
                </a:solidFill>
                <a:latin typeface="Arial" pitchFamily="34" charset="0"/>
                <a:ea typeface="Arial" pitchFamily="34" charset="-122"/>
                <a:cs typeface="Arial" pitchFamily="34" charset="-120"/>
              </a:rPr>
              <a:t>Configure OpenSearch</a:t>
            </a:r>
            <a:endParaRPr lang="en-US" sz="2900" dirty="0"/>
          </a:p>
        </p:txBody>
      </p:sp>
      <p:sp>
        <p:nvSpPr>
          <p:cNvPr id="6" name="Text 3"/>
          <p:cNvSpPr txBox="1"/>
          <p:nvPr/>
        </p:nvSpPr>
        <p:spPr>
          <a:xfrm>
            <a:off x="1081929" y="1412711"/>
            <a:ext cx="10085291" cy="341869"/>
          </a:xfrm>
          <a:prstGeom prst="rect">
            <a:avLst/>
          </a:prstGeom>
          <a:noFill/>
          <a:ln/>
        </p:spPr>
        <p:txBody>
          <a:bodyPr wrap="none" lIns="0" tIns="0" rIns="0" bIns="0" rtlCol="0" anchor="t"/>
          <a:lstStyle/>
          <a:p>
            <a:pPr algn="l" indent="0" marL="0">
              <a:lnSpc>
                <a:spcPts val="2690"/>
              </a:lnSpc>
              <a:buNone/>
            </a:pPr>
            <a:r>
              <a:rPr lang="en-US" sz="1790" dirty="0">
                <a:solidFill>
                  <a:srgbClr val="5A6D7A"/>
                </a:solidFill>
                <a:latin typeface="Arial" pitchFamily="34" charset="0"/>
                <a:ea typeface="Arial" pitchFamily="34" charset="-122"/>
                <a:cs typeface="Arial" pitchFamily="34" charset="-120"/>
              </a:rPr>
              <a:t>OpenSearch needs four things before the first records arrive.</a:t>
            </a:r>
            <a:endParaRPr lang="en-US" sz="1790" dirty="0"/>
          </a:p>
        </p:txBody>
      </p:sp>
      <p:sp>
        <p:nvSpPr>
          <p:cNvPr id="7" name="Text 4"/>
          <p:cNvSpPr txBox="1"/>
          <p:nvPr/>
        </p:nvSpPr>
        <p:spPr>
          <a:xfrm>
            <a:off x="647700" y="6464627"/>
            <a:ext cx="948928"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Walk-through</a:t>
            </a:r>
            <a:endParaRPr lang="en-US" sz="900" dirty="0"/>
          </a:p>
        </p:txBody>
      </p:sp>
      <p:sp>
        <p:nvSpPr>
          <p:cNvPr id="8" name="Text 5"/>
          <p:cNvSpPr txBox="1"/>
          <p:nvPr/>
        </p:nvSpPr>
        <p:spPr>
          <a:xfrm>
            <a:off x="11024146" y="6464627"/>
            <a:ext cx="577304"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20 / 39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23585" y="3215437"/>
            <a:ext cx="4702050" cy="1301955"/>
          </a:xfrm>
          <a:prstGeom prst="roundRect">
            <a:avLst>
              <a:gd name="adj" fmla="val 9187"/>
            </a:avLst>
          </a:prstGeom>
          <a:solidFill>
            <a:srgbClr val="0F2027"/>
          </a:solidFill>
          <a:ln/>
        </p:spPr>
      </p:sp>
      <p:sp>
        <p:nvSpPr>
          <p:cNvPr id="3" name="Shape 1"/>
          <p:cNvSpPr/>
          <p:nvPr/>
        </p:nvSpPr>
        <p:spPr>
          <a:xfrm>
            <a:off x="6266364" y="3215437"/>
            <a:ext cx="4702050" cy="1301955"/>
          </a:xfrm>
          <a:prstGeom prst="roundRect">
            <a:avLst>
              <a:gd name="adj" fmla="val 9187"/>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1223585" y="514028"/>
            <a:ext cx="9801978" cy="166105"/>
          </a:xfrm>
          <a:prstGeom prst="rect">
            <a:avLst/>
          </a:prstGeom>
          <a:noFill/>
          <a:ln/>
        </p:spPr>
        <p:txBody>
          <a:bodyPr wrap="none" lIns="0" tIns="0" rIns="0" bIns="0" rtlCol="0" anchor="t"/>
          <a:lstStyle/>
          <a:p>
            <a:pPr algn="l" indent="0" marL="0">
              <a:lnSpc>
                <a:spcPts val="1310"/>
              </a:lnSpc>
              <a:buNone/>
            </a:pPr>
            <a:r>
              <a:rPr lang="en-US" sz="870" spc="140" kern="0" dirty="0">
                <a:solidFill>
                  <a:srgbClr val="0B6E99"/>
                </a:solidFill>
                <a:latin typeface="Courier New" pitchFamily="34" charset="0"/>
                <a:ea typeface="Courier New" pitchFamily="34" charset="-122"/>
                <a:cs typeface="Courier New" pitchFamily="34" charset="-120"/>
              </a:rPr>
              <a:t>STEP 7 OF 9</a:t>
            </a:r>
            <a:endParaRPr lang="en-US" sz="870" dirty="0"/>
          </a:p>
        </p:txBody>
      </p:sp>
      <p:sp>
        <p:nvSpPr>
          <p:cNvPr id="6" name="Text 4"/>
          <p:cNvSpPr txBox="1"/>
          <p:nvPr/>
        </p:nvSpPr>
        <p:spPr>
          <a:xfrm>
            <a:off x="1223585" y="818760"/>
            <a:ext cx="9801978" cy="386381"/>
          </a:xfrm>
          <a:prstGeom prst="rect">
            <a:avLst/>
          </a:prstGeom>
          <a:noFill/>
          <a:ln/>
        </p:spPr>
        <p:txBody>
          <a:bodyPr wrap="none" lIns="0" tIns="0" rIns="0" bIns="0" rtlCol="0" anchor="t"/>
          <a:lstStyle/>
          <a:p>
            <a:pPr algn="l" indent="0" marL="0">
              <a:lnSpc>
                <a:spcPts val="3040"/>
              </a:lnSpc>
              <a:buNone/>
            </a:pPr>
            <a:r>
              <a:rPr lang="en-US" sz="2820" b="1" spc="-60" kern="0" dirty="0">
                <a:solidFill>
                  <a:srgbClr val="101A22"/>
                </a:solidFill>
                <a:latin typeface="Arial" pitchFamily="34" charset="0"/>
                <a:ea typeface="Arial" pitchFamily="34" charset="-122"/>
                <a:cs typeface="Arial" pitchFamily="34" charset="-120"/>
              </a:rPr>
              <a:t>Install the OpenTelemetry Collector</a:t>
            </a:r>
            <a:endParaRPr lang="en-US" sz="2820" dirty="0"/>
          </a:p>
        </p:txBody>
      </p:sp>
      <p:sp>
        <p:nvSpPr>
          <p:cNvPr id="7" name="Text 5"/>
          <p:cNvSpPr txBox="1"/>
          <p:nvPr/>
        </p:nvSpPr>
        <p:spPr>
          <a:xfrm>
            <a:off x="1223585" y="1387869"/>
            <a:ext cx="9801978" cy="1328840"/>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OpenTelemetry Collector runs as a service. It receives the records from Moodle and sends them to OpenSearch. These steps install it on the Moodle server, and it can also run on its own host. It is not in the standard Ubuntu and Red Hat repositories, so you download the .deb or .rpm package from GitHub. The releases page on GitHub shows the newest version.</a:t>
            </a:r>
            <a:endParaRPr lang="en-US" sz="1740" dirty="0"/>
          </a:p>
        </p:txBody>
      </p:sp>
      <p:sp>
        <p:nvSpPr>
          <p:cNvPr id="8" name="Text 6"/>
          <p:cNvSpPr txBox="1"/>
          <p:nvPr/>
        </p:nvSpPr>
        <p:spPr>
          <a:xfrm>
            <a:off x="1223585"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Ubuntu 24.04 LTS</a:t>
            </a:r>
            <a:endParaRPr lang="en-US" sz="1070" dirty="0"/>
          </a:p>
        </p:txBody>
      </p:sp>
      <p:sp>
        <p:nvSpPr>
          <p:cNvPr id="9" name="Text 7"/>
          <p:cNvSpPr txBox="1"/>
          <p:nvPr/>
        </p:nvSpPr>
        <p:spPr>
          <a:xfrm>
            <a:off x="1376862"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download/v$V/otelcol-contrib_${V}_linux_amd64.deb</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dpkg -i otelcol-contrib_${V}_linux_amd64.deb</a:t>
            </a:r>
            <a:endParaRPr lang="en-US" sz="870" dirty="0"/>
          </a:p>
        </p:txBody>
      </p:sp>
      <p:sp>
        <p:nvSpPr>
          <p:cNvPr id="10" name="Text 8"/>
          <p:cNvSpPr txBox="1"/>
          <p:nvPr/>
        </p:nvSpPr>
        <p:spPr>
          <a:xfrm>
            <a:off x="6266364"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RHEL 9 · Rocky 9</a:t>
            </a:r>
            <a:endParaRPr lang="en-US" sz="1070" dirty="0"/>
          </a:p>
        </p:txBody>
      </p:sp>
      <p:sp>
        <p:nvSpPr>
          <p:cNvPr id="11" name="Text 9"/>
          <p:cNvSpPr txBox="1"/>
          <p:nvPr/>
        </p:nvSpPr>
        <p:spPr>
          <a:xfrm>
            <a:off x="6419640"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download/v$V/otelcol-contrib_${V}_linux_amd64.rpm</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dnf install ./otelcol-contrib_${V}_linux_amd64.rpm</a:t>
            </a:r>
            <a:endParaRPr lang="en-US" sz="870" dirty="0"/>
          </a:p>
        </p:txBody>
      </p:sp>
      <p:sp>
        <p:nvSpPr>
          <p:cNvPr id="12" name="Text 10"/>
          <p:cNvSpPr txBox="1"/>
          <p:nvPr/>
        </p:nvSpPr>
        <p:spPr>
          <a:xfrm>
            <a:off x="1223585" y="4768266"/>
            <a:ext cx="9801978" cy="100195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package installs a systemd service with the name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otelcol-contrib</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the configuration file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 package starts the service, and the service listens on port 4318 for the records from Moodle.</a:t>
            </a:r>
            <a:endParaRPr lang="en-US" sz="1740" dirty="0"/>
          </a:p>
        </p:txBody>
      </p:sp>
      <p:sp>
        <p:nvSpPr>
          <p:cNvPr id="13" name="Text 11"/>
          <p:cNvSpPr txBox="1"/>
          <p:nvPr/>
        </p:nvSpPr>
        <p:spPr>
          <a:xfrm>
            <a:off x="647700" y="6464708"/>
            <a:ext cx="948928"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Walk-through</a:t>
            </a:r>
            <a:endParaRPr lang="en-US" sz="870" dirty="0"/>
          </a:p>
        </p:txBody>
      </p:sp>
      <p:sp>
        <p:nvSpPr>
          <p:cNvPr id="14" name="Text 12"/>
          <p:cNvSpPr txBox="1"/>
          <p:nvPr/>
        </p:nvSpPr>
        <p:spPr>
          <a:xfrm>
            <a:off x="11024146" y="6464708"/>
            <a:ext cx="577304"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21 / 39</a:t>
            </a:r>
            <a:endParaRPr lang="en-US" sz="87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332262"/>
            <a:ext cx="10896600" cy="2127647"/>
          </a:xfrm>
          <a:prstGeom prst="roundRect">
            <a:avLst>
              <a:gd name="adj" fmla="val 3848"/>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8 OF 9</a:t>
            </a:r>
            <a:endParaRPr lang="en-US" sz="980" dirty="0"/>
          </a:p>
        </p:txBody>
      </p:sp>
      <p:sp>
        <p:nvSpPr>
          <p:cNvPr id="5" name="Text 3"/>
          <p:cNvSpPr txBox="1"/>
          <p:nvPr/>
        </p:nvSpPr>
        <p:spPr>
          <a:xfrm>
            <a:off x="647700" y="852488"/>
            <a:ext cx="10953750" cy="864096"/>
          </a:xfrm>
          <a:prstGeom prst="rect">
            <a:avLst/>
          </a:prstGeom>
          <a:noFill/>
          <a:ln/>
        </p:spPr>
        <p:txBody>
          <a:bodyPr wrap="squar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Configure the OpenTelemetry Collector to receive the records</a:t>
            </a:r>
            <a:endParaRPr lang="en-US" sz="3150" dirty="0"/>
          </a:p>
        </p:txBody>
      </p:sp>
      <p:sp>
        <p:nvSpPr>
          <p:cNvPr id="6" name="Text 4"/>
          <p:cNvSpPr txBox="1"/>
          <p:nvPr/>
        </p:nvSpPr>
        <p:spPr>
          <a:xfrm>
            <a:off x="647700" y="1920895"/>
            <a:ext cx="10953750" cy="1120378"/>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PHP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exporter-otlp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sends the records from Moodle 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http://localhost:4318</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In the file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you configure the OpenTelemetry Collector to listen on that port.</a:t>
            </a:r>
            <a:endParaRPr lang="en-US" sz="1950" dirty="0"/>
          </a:p>
        </p:txBody>
      </p:sp>
      <p:sp>
        <p:nvSpPr>
          <p:cNvPr id="7" name="Text 5"/>
          <p:cNvSpPr txBox="1"/>
          <p:nvPr/>
        </p:nvSpPr>
        <p:spPr>
          <a:xfrm>
            <a:off x="857250" y="3482495"/>
            <a:ext cx="10534650" cy="1784747"/>
          </a:xfrm>
          <a:prstGeom prst="rect">
            <a:avLst/>
          </a:prstGeom>
          <a:noFill/>
          <a:ln/>
        </p:spPr>
        <p:txBody>
          <a:bodyPr wrap="square" lIns="0" tIns="0" rIns="0" bIns="0" rtlCol="0" anchor="t"/>
          <a:lstStyle/>
          <a:p>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receivers: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listens on port 4318 for the records from the PHP package</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otlp: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protocols: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http: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endpoint: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localhost:4318</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processors: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sends the records in groups, one group every 5 seconds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batch:</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timeout: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5s</a:t>
            </a:r>
            <a:endParaRPr lang="en-US" sz="1240" dirty="0"/>
          </a:p>
        </p:txBody>
      </p:sp>
      <p:sp>
        <p:nvSpPr>
          <p:cNvPr id="8" name="Text 6"/>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22 / 39</a:t>
            </a:r>
            <a:endParaRPr lang="en-US" sz="9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63761" y="1491920"/>
            <a:ext cx="8464479" cy="3978939"/>
          </a:xfrm>
          <a:prstGeom prst="roundRect">
            <a:avLst>
              <a:gd name="adj" fmla="val 855"/>
            </a:avLst>
          </a:prstGeom>
          <a:solidFill>
            <a:srgbClr val="0F2027"/>
          </a:solidFill>
          <a:ln/>
        </p:spPr>
      </p:sp>
      <p:sp>
        <p:nvSpPr>
          <p:cNvPr id="3" name="Shape 1"/>
          <p:cNvSpPr/>
          <p:nvPr/>
        </p:nvSpPr>
        <p:spPr>
          <a:xfrm>
            <a:off x="647700" y="6343650"/>
            <a:ext cx="10896600" cy="0"/>
          </a:xfrm>
          <a:prstGeom prst="line">
            <a:avLst/>
          </a:prstGeom>
          <a:noFill/>
          <a:ln w="7620">
            <a:solidFill>
              <a:srgbClr val="CBD7DF"/>
            </a:solidFill>
            <a:prstDash val="solid"/>
          </a:ln>
        </p:spPr>
      </p:sp>
      <p:sp>
        <p:nvSpPr>
          <p:cNvPr id="4" name="Text 2"/>
          <p:cNvSpPr txBox="1"/>
          <p:nvPr/>
        </p:nvSpPr>
        <p:spPr>
          <a:xfrm>
            <a:off x="1863761" y="516563"/>
            <a:ext cx="8521629" cy="144318"/>
          </a:xfrm>
          <a:prstGeom prst="rect">
            <a:avLst/>
          </a:prstGeom>
          <a:noFill/>
          <a:ln/>
        </p:spPr>
        <p:txBody>
          <a:bodyPr wrap="none" lIns="0" tIns="0" rIns="0" bIns="0" rtlCol="0" anchor="t"/>
          <a:lstStyle/>
          <a:p>
            <a:pPr algn="l" indent="0" marL="0">
              <a:lnSpc>
                <a:spcPts val="1140"/>
              </a:lnSpc>
              <a:buNone/>
            </a:pPr>
            <a:r>
              <a:rPr lang="en-US" sz="760" spc="120" kern="0" dirty="0">
                <a:solidFill>
                  <a:srgbClr val="0B6E99"/>
                </a:solidFill>
                <a:latin typeface="Courier New" pitchFamily="34" charset="0"/>
                <a:ea typeface="Courier New" pitchFamily="34" charset="-122"/>
                <a:cs typeface="Courier New" pitchFamily="34" charset="-120"/>
              </a:rPr>
              <a:t>STEP 8 OF 9</a:t>
            </a:r>
            <a:endParaRPr lang="en-US" sz="760" dirty="0"/>
          </a:p>
        </p:txBody>
      </p:sp>
      <p:sp>
        <p:nvSpPr>
          <p:cNvPr id="5" name="Text 3"/>
          <p:cNvSpPr txBox="1"/>
          <p:nvPr/>
        </p:nvSpPr>
        <p:spPr>
          <a:xfrm>
            <a:off x="1863761" y="781267"/>
            <a:ext cx="8521629" cy="255776"/>
          </a:xfrm>
          <a:prstGeom prst="rect">
            <a:avLst/>
          </a:prstGeom>
          <a:noFill/>
          <a:ln/>
        </p:spPr>
        <p:txBody>
          <a:bodyPr wrap="none" lIns="0" tIns="0" rIns="0" bIns="0" rtlCol="0" anchor="t"/>
          <a:lstStyle/>
          <a:p>
            <a:pPr algn="l" indent="0" marL="0">
              <a:lnSpc>
                <a:spcPts val="2010"/>
              </a:lnSpc>
              <a:buNone/>
            </a:pPr>
            <a:r>
              <a:rPr lang="en-US" sz="1860" b="1" spc="-40" kern="0" dirty="0">
                <a:solidFill>
                  <a:srgbClr val="101A22"/>
                </a:solidFill>
                <a:latin typeface="Arial" pitchFamily="34" charset="0"/>
                <a:ea typeface="Arial" pitchFamily="34" charset="-122"/>
                <a:cs typeface="Arial" pitchFamily="34" charset="-120"/>
              </a:rPr>
              <a:t>Configure the OpenTelemetry Collector to send the records to OpenSearch</a:t>
            </a:r>
            <a:endParaRPr lang="en-US" sz="1860" dirty="0"/>
          </a:p>
        </p:txBody>
      </p:sp>
      <p:sp>
        <p:nvSpPr>
          <p:cNvPr id="6" name="Text 4"/>
          <p:cNvSpPr txBox="1"/>
          <p:nvPr/>
        </p:nvSpPr>
        <p:spPr>
          <a:xfrm>
            <a:off x="1863761" y="1128066"/>
            <a:ext cx="8521629" cy="233129"/>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The OpenTelemetry Collector needs the login, the address of OpenSearch and the names of the indices.</a:t>
            </a:r>
            <a:endParaRPr lang="en-US" sz="1220" dirty="0"/>
          </a:p>
        </p:txBody>
      </p:sp>
      <p:sp>
        <p:nvSpPr>
          <p:cNvPr id="7" name="Text 5"/>
          <p:cNvSpPr txBox="1"/>
          <p:nvPr/>
        </p:nvSpPr>
        <p:spPr>
          <a:xfrm>
            <a:off x="2011779" y="1583876"/>
            <a:ext cx="8225592" cy="3771713"/>
          </a:xfrm>
          <a:prstGeom prst="rect">
            <a:avLst/>
          </a:prstGeom>
          <a:noFill/>
          <a:ln/>
        </p:spPr>
        <p:txBody>
          <a:bodyPr wrap="square" lIns="0" tIns="0" rIns="0" bIns="0" rtlCol="0" anchor="t"/>
          <a:lstStyle/>
          <a:p>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user name and the password for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client_auth: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username: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otelcol</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password:</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DemoCollector2026!</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sends the records to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opensearch/moodle: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http:</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endpoint: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https://opensearch1:9200</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address of your OpenSearch server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authenticator: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tls: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insecure_skip_verify:</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does not check the certificate of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"otel-v1-logs-moodle"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name must start with otel-v1-logs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one new index each month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"otel-v1-apm-span"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trace pages read this name, keep it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mapping:</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mode: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manage_index_template: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creates the index template at start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service: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nothing runs without this section, it switches the parts on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[basicauth/opensearch]</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pipelines: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p:txBody>
      </p:sp>
      <p:sp>
        <p:nvSpPr>
          <p:cNvPr id="8" name="Text 6"/>
          <p:cNvSpPr txBox="1"/>
          <p:nvPr/>
        </p:nvSpPr>
        <p:spPr>
          <a:xfrm>
            <a:off x="1863761" y="5547246"/>
            <a:ext cx="8521629" cy="234687"/>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Restart the service with </a:t>
            </a:r>
            <a:pPr algn="l" indent="0" marL="0">
              <a:lnSpc>
                <a:spcPts val="1840"/>
              </a:lnSpc>
              <a:buNone/>
            </a:pPr>
            <a:r>
              <a:rPr lang="en-US" sz="1080" dirty="0">
                <a:solidFill>
                  <a:srgbClr val="5A6D7A"/>
                </a:solidFill>
                <a:highlight>
                  <a:srgbClr val="E1F0F7"/>
                </a:highlight>
                <a:latin typeface="Courier New" pitchFamily="34" charset="0"/>
                <a:ea typeface="Courier New" pitchFamily="34" charset="-122"/>
                <a:cs typeface="Courier New" pitchFamily="34" charset="-120"/>
              </a:rPr>
              <a:t>systemctl restart otelcol-contrib</a:t>
            </a:r>
            <a:pPr algn="l" indent="0" marL="0">
              <a:lnSpc>
                <a:spcPts val="1840"/>
              </a:lnSpc>
              <a:buNone/>
            </a:pPr>
            <a:r>
              <a:rPr lang="en-US" sz="1220" dirty="0">
                <a:solidFill>
                  <a:srgbClr val="5A6D7A"/>
                </a:solidFill>
                <a:latin typeface="Arial" pitchFamily="34" charset="0"/>
                <a:ea typeface="Arial" pitchFamily="34" charset="-122"/>
                <a:cs typeface="Arial" pitchFamily="34" charset="-120"/>
              </a:rPr>
              <a:t>. The OpenTelemetry Collector reads the file only at start.</a:t>
            </a:r>
            <a:endParaRPr lang="en-US" sz="1220" dirty="0"/>
          </a:p>
        </p:txBody>
      </p:sp>
      <p:sp>
        <p:nvSpPr>
          <p:cNvPr id="9" name="Text 7"/>
          <p:cNvSpPr txBox="1"/>
          <p:nvPr/>
        </p:nvSpPr>
        <p:spPr>
          <a:xfrm>
            <a:off x="647700" y="6465070"/>
            <a:ext cx="948928"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Walk-through</a:t>
            </a:r>
            <a:endParaRPr lang="en-US" sz="760" dirty="0"/>
          </a:p>
        </p:txBody>
      </p:sp>
      <p:sp>
        <p:nvSpPr>
          <p:cNvPr id="10" name="Text 8"/>
          <p:cNvSpPr txBox="1"/>
          <p:nvPr/>
        </p:nvSpPr>
        <p:spPr>
          <a:xfrm>
            <a:off x="11024146" y="6465070"/>
            <a:ext cx="577304"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23 / 39</a:t>
            </a:r>
            <a:endParaRPr lang="en-US" sz="7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757238"/>
          </a:xfrm>
          <a:prstGeom prst="roundRect">
            <a:avLst>
              <a:gd name="adj" fmla="val 30379"/>
            </a:avLst>
          </a:prstGeom>
          <a:solidFill>
            <a:srgbClr val="0F2027"/>
          </a:solidFill>
          <a:ln/>
        </p:spPr>
      </p:sp>
      <p:sp>
        <p:nvSpPr>
          <p:cNvPr id="3" name="Shape 1"/>
          <p:cNvSpPr/>
          <p:nvPr/>
        </p:nvSpPr>
        <p:spPr>
          <a:xfrm>
            <a:off x="647700" y="3883075"/>
            <a:ext cx="10896600" cy="1171575"/>
          </a:xfrm>
          <a:prstGeom prst="roundRect">
            <a:avLst>
              <a:gd name="adj" fmla="val 12691"/>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9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Check with curl that the events have arrived in OpenSearch</a:t>
            </a:r>
            <a:endParaRPr lang="en-US" sz="3150" dirty="0"/>
          </a:p>
        </p:txBody>
      </p:sp>
      <p:sp>
        <p:nvSpPr>
          <p:cNvPr id="7" name="Text 5"/>
          <p:cNvSpPr txBox="1"/>
          <p:nvPr/>
        </p:nvSpPr>
        <p:spPr>
          <a:xfrm>
            <a:off x="857250" y="1682204"/>
            <a:ext cx="10534650" cy="414338"/>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curl -sk -u admin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"https://opensearch1:9200/otel-v1-logs-*/_count"</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{"count":3145,...}</a:t>
            </a:r>
            <a:endParaRPr lang="en-US" sz="1130" dirty="0"/>
          </a:p>
        </p:txBody>
      </p:sp>
      <p:sp>
        <p:nvSpPr>
          <p:cNvPr id="8" name="Text 6"/>
          <p:cNvSpPr txBox="1"/>
          <p:nvPr/>
        </p:nvSpPr>
        <p:spPr>
          <a:xfrm>
            <a:off x="647700" y="2417534"/>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command asks for the admin password. The option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-k</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tells curl not to check the certificate of OpenSearch.</a:t>
            </a:r>
            <a:endParaRPr lang="en-US" sz="1950" dirty="0"/>
          </a:p>
        </p:txBody>
      </p:sp>
      <p:sp>
        <p:nvSpPr>
          <p:cNvPr id="9" name="Text 7"/>
          <p:cNvSpPr txBox="1"/>
          <p:nvPr/>
        </p:nvSpPr>
        <p:spPr>
          <a:xfrm>
            <a:off x="647700" y="3296811"/>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If the count is 0, check these four places in this order, from OpenSearch back to PHP.</a:t>
            </a:r>
            <a:endParaRPr lang="en-US" sz="1950" dirty="0"/>
          </a:p>
        </p:txBody>
      </p:sp>
      <p:sp>
        <p:nvSpPr>
          <p:cNvPr id="10" name="Text 8"/>
          <p:cNvSpPr txBox="1"/>
          <p:nvPr/>
        </p:nvSpPr>
        <p:spPr>
          <a:xfrm>
            <a:off x="857250" y="4033093"/>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index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curl -sk -u admin "https://opensearch1:9200/_cat/indices/otel-*"</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collector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journalctl -u otelcol-contrib</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variables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grep OTEL_ /etc/php/8.3/fpm/pool.d/www.conf</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extension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php --ri opentelemetry</a:t>
            </a:r>
            <a:endParaRPr lang="en-US" sz="1130" dirty="0"/>
          </a:p>
        </p:txBody>
      </p:sp>
      <p:sp>
        <p:nvSpPr>
          <p:cNvPr id="11" name="Text 9"/>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2" name="Text 10"/>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24 / 39</a:t>
            </a:r>
            <a:endParaRPr lang="en-US" sz="9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You can search the events in OpenSearch and draw charts from them</a:t>
            </a:r>
            <a:endParaRPr lang="en-US" sz="4200" dirty="0"/>
          </a:p>
        </p:txBody>
      </p:sp>
      <p:sp>
        <p:nvSpPr>
          <p:cNvPr id="4" name="Text 2"/>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What you get</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25 / 39</a:t>
            </a:r>
            <a:endParaRPr lang="en-US" sz="9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265611"/>
            <a:ext cx="85725" cy="85725"/>
          </a:xfrm>
          <a:prstGeom prst="roundRect">
            <a:avLst>
              <a:gd name="adj" fmla="val 474074"/>
            </a:avLst>
          </a:prstGeom>
          <a:solidFill>
            <a:srgbClr val="0B6E99"/>
          </a:solidFill>
          <a:ln/>
        </p:spPr>
      </p:sp>
      <p:sp>
        <p:nvSpPr>
          <p:cNvPr id="3" name="Shape 1"/>
          <p:cNvSpPr/>
          <p:nvPr/>
        </p:nvSpPr>
        <p:spPr>
          <a:xfrm>
            <a:off x="685800" y="2705546"/>
            <a:ext cx="85725" cy="85725"/>
          </a:xfrm>
          <a:prstGeom prst="roundRect">
            <a:avLst>
              <a:gd name="adj" fmla="val 474074"/>
            </a:avLst>
          </a:prstGeom>
          <a:solidFill>
            <a:srgbClr val="0B6E99"/>
          </a:solidFill>
          <a:ln/>
        </p:spPr>
      </p:sp>
      <p:sp>
        <p:nvSpPr>
          <p:cNvPr id="4" name="Shape 2"/>
          <p:cNvSpPr/>
          <p:nvPr/>
        </p:nvSpPr>
        <p:spPr>
          <a:xfrm>
            <a:off x="685800" y="3145482"/>
            <a:ext cx="85725" cy="85725"/>
          </a:xfrm>
          <a:prstGeom prst="roundRect">
            <a:avLst>
              <a:gd name="adj" fmla="val 474074"/>
            </a:avLst>
          </a:prstGeom>
          <a:solidFill>
            <a:srgbClr val="0B6E99"/>
          </a:solidFill>
          <a:ln/>
        </p:spPr>
      </p:sp>
      <p:sp>
        <p:nvSpPr>
          <p:cNvPr id="5" name="Shape 3"/>
          <p:cNvSpPr/>
          <p:nvPr/>
        </p:nvSpPr>
        <p:spPr>
          <a:xfrm>
            <a:off x="685800" y="3585418"/>
            <a:ext cx="85725" cy="85725"/>
          </a:xfrm>
          <a:prstGeom prst="roundRect">
            <a:avLst>
              <a:gd name="adj" fmla="val 474074"/>
            </a:avLst>
          </a:prstGeom>
          <a:solidFill>
            <a:srgbClr val="0B6E99"/>
          </a:solidFill>
          <a:ln/>
        </p:spPr>
      </p:sp>
      <p:sp>
        <p:nvSpPr>
          <p:cNvPr id="6" name="Shape 4"/>
          <p:cNvSpPr/>
          <p:nvPr/>
        </p:nvSpPr>
        <p:spPr>
          <a:xfrm>
            <a:off x="685800" y="4025354"/>
            <a:ext cx="85725" cy="85725"/>
          </a:xfrm>
          <a:prstGeom prst="roundRect">
            <a:avLst>
              <a:gd name="adj" fmla="val 474074"/>
            </a:avLst>
          </a:prstGeom>
          <a:solidFill>
            <a:srgbClr val="0B6E99"/>
          </a:solidFill>
          <a:ln/>
        </p:spPr>
      </p:sp>
      <p:sp>
        <p:nvSpPr>
          <p:cNvPr id="7" name="Shape 5"/>
          <p:cNvSpPr/>
          <p:nvPr/>
        </p:nvSpPr>
        <p:spPr>
          <a:xfrm>
            <a:off x="647700" y="6343650"/>
            <a:ext cx="10896600" cy="0"/>
          </a:xfrm>
          <a:prstGeom prst="line">
            <a:avLst/>
          </a:prstGeom>
          <a:noFill/>
          <a:ln w="10160">
            <a:solidFill>
              <a:srgbClr val="CBD7DF"/>
            </a:solidFill>
            <a:prstDash val="solid"/>
          </a:ln>
        </p:spPr>
      </p:sp>
      <p:sp>
        <p:nvSpPr>
          <p:cNvPr id="8" name="Text 6"/>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WHAT YOU GET</a:t>
            </a:r>
            <a:endParaRPr lang="en-US" sz="980" dirty="0"/>
          </a:p>
        </p:txBody>
      </p:sp>
      <p:sp>
        <p:nvSpPr>
          <p:cNvPr id="9" name="Text 7"/>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OpenSearch receives every Moodle event</a:t>
            </a:r>
            <a:endParaRPr lang="en-US" sz="3150" dirty="0"/>
          </a:p>
        </p:txBody>
      </p:sp>
      <p:sp>
        <p:nvSpPr>
          <p:cNvPr id="10" name="Text 8"/>
          <p:cNvSpPr txBox="1"/>
          <p:nvPr/>
        </p:nvSpPr>
        <p:spPr>
          <a:xfrm>
            <a:off x="647700" y="1488847"/>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Here are five examples of the events that Moodle records.</a:t>
            </a:r>
            <a:endParaRPr lang="en-US" sz="1950" dirty="0"/>
          </a:p>
        </p:txBody>
      </p:sp>
      <p:sp>
        <p:nvSpPr>
          <p:cNvPr id="11" name="Text 9"/>
          <p:cNvSpPr txBox="1"/>
          <p:nvPr/>
        </p:nvSpPr>
        <p:spPr>
          <a:xfrm>
            <a:off x="933450" y="212392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login</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For a failed login, the record also has the user name that was tried.</a:t>
            </a:r>
            <a:endParaRPr lang="en-US" sz="1730" dirty="0"/>
          </a:p>
        </p:txBody>
      </p:sp>
      <p:sp>
        <p:nvSpPr>
          <p:cNvPr id="12" name="Text 10"/>
          <p:cNvSpPr txBox="1"/>
          <p:nvPr/>
        </p:nvSpPr>
        <p:spPr>
          <a:xfrm>
            <a:off x="933450" y="256386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view of a course or an activity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The record shows who viewed it.</a:t>
            </a:r>
            <a:endParaRPr lang="en-US" sz="1730" dirty="0"/>
          </a:p>
        </p:txBody>
      </p:sp>
      <p:sp>
        <p:nvSpPr>
          <p:cNvPr id="13" name="Text 11"/>
          <p:cNvSpPr txBox="1"/>
          <p:nvPr/>
        </p:nvSpPr>
        <p:spPr>
          <a:xfrm>
            <a:off x="933450" y="3003798"/>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create, update and delete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enrolment, a grade or an upload.</a:t>
            </a:r>
            <a:endParaRPr lang="en-US" sz="1730" dirty="0"/>
          </a:p>
        </p:txBody>
      </p:sp>
      <p:sp>
        <p:nvSpPr>
          <p:cNvPr id="14" name="Text 12"/>
          <p:cNvSpPr txBox="1"/>
          <p:nvPr/>
        </p:nvSpPr>
        <p:spPr>
          <a:xfrm>
            <a:off x="933450" y="3443734"/>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role change and every permission change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that gives you an audit trail.</a:t>
            </a:r>
            <a:endParaRPr lang="en-US" sz="1730" dirty="0"/>
          </a:p>
        </p:txBody>
      </p:sp>
      <p:sp>
        <p:nvSpPr>
          <p:cNvPr id="15" name="Text 13"/>
          <p:cNvSpPr txBox="1"/>
          <p:nvPr/>
        </p:nvSpPr>
        <p:spPr>
          <a:xfrm>
            <a:off x="933450" y="3883670"/>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some failures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email that it could not send.</a:t>
            </a:r>
            <a:endParaRPr lang="en-US" sz="1730" dirty="0"/>
          </a:p>
        </p:txBody>
      </p:sp>
      <p:sp>
        <p:nvSpPr>
          <p:cNvPr id="16" name="Text 14"/>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What you get</a:t>
            </a:r>
            <a:endParaRPr lang="en-US" sz="980" dirty="0"/>
          </a:p>
        </p:txBody>
      </p:sp>
      <p:sp>
        <p:nvSpPr>
          <p:cNvPr id="17" name="Text 1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26 / 39</a:t>
            </a:r>
            <a:endParaRPr lang="en-US" sz="9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2977" y="2105200"/>
            <a:ext cx="10586047" cy="936921"/>
          </a:xfrm>
          <a:prstGeom prst="roundRect">
            <a:avLst>
              <a:gd name="adj" fmla="val 19288"/>
            </a:avLst>
          </a:prstGeom>
          <a:solidFill>
            <a:srgbClr val="0F2027"/>
          </a:solidFill>
          <a:ln/>
        </p:spPr>
      </p:sp>
      <p:sp>
        <p:nvSpPr>
          <p:cNvPr id="3" name="Shape 1"/>
          <p:cNvSpPr/>
          <p:nvPr/>
        </p:nvSpPr>
        <p:spPr>
          <a:xfrm>
            <a:off x="802977" y="3699122"/>
            <a:ext cx="10586047" cy="1943243"/>
          </a:xfrm>
          <a:prstGeom prst="roundRect">
            <a:avLst>
              <a:gd name="adj" fmla="val 4484"/>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802977" y="512337"/>
            <a:ext cx="10643197" cy="180537"/>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WHAT YOU GET</a:t>
            </a:r>
            <a:endParaRPr lang="en-US" sz="950" dirty="0"/>
          </a:p>
        </p:txBody>
      </p:sp>
      <p:sp>
        <p:nvSpPr>
          <p:cNvPr id="6" name="Text 4"/>
          <p:cNvSpPr txBox="1"/>
          <p:nvPr/>
        </p:nvSpPr>
        <p:spPr>
          <a:xfrm>
            <a:off x="802977" y="843394"/>
            <a:ext cx="10643197" cy="419956"/>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Count the failed logins per hour to find a spike</a:t>
            </a:r>
            <a:endParaRPr lang="en-US" sz="3060" dirty="0"/>
          </a:p>
        </p:txBody>
      </p:sp>
      <p:sp>
        <p:nvSpPr>
          <p:cNvPr id="7" name="Text 5"/>
          <p:cNvSpPr txBox="1"/>
          <p:nvPr/>
        </p:nvSpPr>
        <p:spPr>
          <a:xfrm>
            <a:off x="802977" y="1461595"/>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This search counts the failed logins in each hour.</a:t>
            </a:r>
            <a:endParaRPr lang="en-US" sz="1900" dirty="0"/>
          </a:p>
        </p:txBody>
      </p:sp>
      <p:sp>
        <p:nvSpPr>
          <p:cNvPr id="8" name="Text 6"/>
          <p:cNvSpPr txBox="1"/>
          <p:nvPr/>
        </p:nvSpPr>
        <p:spPr>
          <a:xfrm>
            <a:off x="1006659" y="2251018"/>
            <a:ext cx="10235832" cy="603622"/>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curl -sk -u admin "https://opensearch1:9200/otel-v1-logs-*/_search" -H 'Content-Type: application/json' \</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-d '{"size":0,"query":{"term":{"attributes.event.data.eventname":"\\core\\event\\user_login_failed"}},</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"aggs":{"per_hour":{"date_histogram":{"field":"time","fixed_interval":"1h"}}}}'</a:t>
            </a:r>
            <a:endParaRPr lang="en-US" sz="1090" dirty="0"/>
          </a:p>
        </p:txBody>
      </p:sp>
      <p:sp>
        <p:nvSpPr>
          <p:cNvPr id="9" name="Text 7"/>
          <p:cNvSpPr txBox="1"/>
          <p:nvPr/>
        </p:nvSpPr>
        <p:spPr>
          <a:xfrm>
            <a:off x="802977" y="3166559"/>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Here is part of the result from the demo site, as a table. The times are UTC.</a:t>
            </a:r>
            <a:endParaRPr lang="en-US" sz="1900" dirty="0"/>
          </a:p>
        </p:txBody>
      </p:sp>
      <p:sp>
        <p:nvSpPr>
          <p:cNvPr id="10" name="Text 8"/>
          <p:cNvSpPr txBox="1"/>
          <p:nvPr/>
        </p:nvSpPr>
        <p:spPr>
          <a:xfrm>
            <a:off x="1006659" y="3844940"/>
            <a:ext cx="10235832" cy="1609944"/>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21:00    2</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22:00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23:00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01:00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02:00   45</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03:00    0</a:t>
            </a:r>
            <a:endParaRPr lang="en-US" sz="1090" dirty="0"/>
          </a:p>
        </p:txBody>
      </p:sp>
      <p:sp>
        <p:nvSpPr>
          <p:cNvPr id="11" name="Text 9"/>
          <p:cNvSpPr txBox="1"/>
          <p:nvPr/>
        </p:nvSpPr>
        <p:spPr>
          <a:xfrm>
            <a:off x="647700" y="6464466"/>
            <a:ext cx="948928"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What you get</a:t>
            </a:r>
            <a:endParaRPr lang="en-US" sz="950" dirty="0"/>
          </a:p>
        </p:txBody>
      </p:sp>
      <p:sp>
        <p:nvSpPr>
          <p:cNvPr id="12" name="Text 10"/>
          <p:cNvSpPr txBox="1"/>
          <p:nvPr/>
        </p:nvSpPr>
        <p:spPr>
          <a:xfrm>
            <a:off x="11024146" y="6464466"/>
            <a:ext cx="577304"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27 / 39</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showing the dashboard Moodle events for the last 30 minutes: events per minute, logins per minute with a success line and a failure line that jumps to 10 in one minute, totals of 111 events and 2 users seen, a table of usernames with failed logins (admin 15, student 1, teacher 1), event types, and the first rows of the latest events list.">    </p:cNvPr>
          <p:cNvPicPr>
            <a:picLocks noChangeAspect="1"/>
          </p:cNvPicPr>
          <p:nvPr/>
        </p:nvPicPr>
        <p:blipFill>
          <a:blip r:embed="rId1"/>
          <a:stretch>
            <a:fillRect/>
          </a:stretch>
        </p:blipFill>
        <p:spPr>
          <a:xfrm>
            <a:off x="1297137" y="2184975"/>
            <a:ext cx="9614505" cy="3624316"/>
          </a:xfrm>
          <a:prstGeom prst="rect">
            <a:avLst/>
          </a:prstGeom>
        </p:spPr>
      </p:pic>
      <p:sp>
        <p:nvSpPr>
          <p:cNvPr id="4" name="Text 1"/>
          <p:cNvSpPr txBox="1"/>
          <p:nvPr/>
        </p:nvSpPr>
        <p:spPr>
          <a:xfrm>
            <a:off x="1297137" y="514309"/>
            <a:ext cx="9654876" cy="163635"/>
          </a:xfrm>
          <a:prstGeom prst="rect">
            <a:avLst/>
          </a:prstGeom>
          <a:noFill/>
          <a:ln/>
        </p:spPr>
        <p:txBody>
          <a:bodyPr wrap="none" lIns="0" tIns="0" rIns="0" bIns="0" rtlCol="0" anchor="t"/>
          <a:lstStyle/>
          <a:p>
            <a:pPr algn="l" indent="0" marL="0">
              <a:lnSpc>
                <a:spcPts val="1290"/>
              </a:lnSpc>
              <a:buNone/>
            </a:pPr>
            <a:r>
              <a:rPr lang="en-US" sz="860" spc="140" kern="0" dirty="0">
                <a:solidFill>
                  <a:srgbClr val="0B6E99"/>
                </a:solidFill>
                <a:latin typeface="Courier New" pitchFamily="34" charset="0"/>
                <a:ea typeface="Courier New" pitchFamily="34" charset="-122"/>
                <a:cs typeface="Courier New" pitchFamily="34" charset="-120"/>
              </a:rPr>
              <a:t>WHAT YOU GET</a:t>
            </a:r>
            <a:endParaRPr lang="en-US" sz="860" dirty="0"/>
          </a:p>
        </p:txBody>
      </p:sp>
      <p:sp>
        <p:nvSpPr>
          <p:cNvPr id="5" name="Text 2"/>
          <p:cNvSpPr txBox="1"/>
          <p:nvPr/>
        </p:nvSpPr>
        <p:spPr>
          <a:xfrm>
            <a:off x="1297137" y="814452"/>
            <a:ext cx="9654876" cy="380640"/>
          </a:xfrm>
          <a:prstGeom prst="rect">
            <a:avLst/>
          </a:prstGeom>
          <a:noFill/>
          <a:ln/>
        </p:spPr>
        <p:txBody>
          <a:bodyPr wrap="none" lIns="0" tIns="0" rIns="0" bIns="0" rtlCol="0" anchor="t"/>
          <a:lstStyle/>
          <a:p>
            <a:pPr algn="l" indent="0" marL="0">
              <a:lnSpc>
                <a:spcPts val="3000"/>
              </a:lnSpc>
              <a:buNone/>
            </a:pPr>
            <a:r>
              <a:rPr lang="en-US" sz="2780" b="1" spc="-60" kern="0" dirty="0">
                <a:solidFill>
                  <a:srgbClr val="101A22"/>
                </a:solidFill>
                <a:latin typeface="Arial" pitchFamily="34" charset="0"/>
                <a:ea typeface="Arial" pitchFamily="34" charset="-122"/>
                <a:cs typeface="Arial" pitchFamily="34" charset="-120"/>
              </a:rPr>
              <a:t>OpenSearch Dashboards draws charts from the events</a:t>
            </a:r>
            <a:endParaRPr lang="en-US" sz="2780" dirty="0"/>
          </a:p>
        </p:txBody>
      </p:sp>
      <p:sp>
        <p:nvSpPr>
          <p:cNvPr id="6" name="Text 3"/>
          <p:cNvSpPr txBox="1"/>
          <p:nvPr/>
        </p:nvSpPr>
        <p:spPr>
          <a:xfrm>
            <a:off x="1297137" y="1374949"/>
            <a:ext cx="9654876" cy="654390"/>
          </a:xfrm>
          <a:prstGeom prst="rect">
            <a:avLst/>
          </a:prstGeom>
          <a:noFill/>
          <a:ln/>
        </p:spPr>
        <p:txBody>
          <a:bodyPr wrap="square" lIns="0" tIns="0" rIns="0" bIns="0" rtlCol="0" anchor="t"/>
          <a:lstStyle/>
          <a:p>
            <a:pPr algn="l" indent="0" marL="0">
              <a:lnSpc>
                <a:spcPts val="2580"/>
              </a:lnSpc>
              <a:buNone/>
            </a:pPr>
            <a:r>
              <a:rPr lang="en-US" sz="1720" dirty="0">
                <a:solidFill>
                  <a:srgbClr val="5A6D7A"/>
                </a:solidFill>
                <a:latin typeface="Arial" pitchFamily="34" charset="0"/>
                <a:ea typeface="Arial" pitchFamily="34" charset="-122"/>
                <a:cs typeface="Arial" pitchFamily="34" charset="-120"/>
              </a:rPr>
              <a:t>You build each chart once, and it updates when new events arrive. The picture shows the demo dashboard after 30 minutes of use, with logins, course views and a burst of failed logins.</a:t>
            </a:r>
            <a:endParaRPr lang="en-US" sz="1720" dirty="0"/>
          </a:p>
        </p:txBody>
      </p:sp>
      <p:sp>
        <p:nvSpPr>
          <p:cNvPr id="7" name="Text 4"/>
          <p:cNvSpPr txBox="1"/>
          <p:nvPr/>
        </p:nvSpPr>
        <p:spPr>
          <a:xfrm>
            <a:off x="647700" y="6464748"/>
            <a:ext cx="948928"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What you get</a:t>
            </a:r>
            <a:endParaRPr lang="en-US" sz="860" dirty="0"/>
          </a:p>
        </p:txBody>
      </p:sp>
      <p:sp>
        <p:nvSpPr>
          <p:cNvPr id="8" name="Text 5"/>
          <p:cNvSpPr txBox="1"/>
          <p:nvPr/>
        </p:nvSpPr>
        <p:spPr>
          <a:xfrm>
            <a:off x="11024146" y="6464748"/>
            <a:ext cx="577304"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28 / 39</a:t>
            </a:r>
            <a:endParaRPr lang="en-US" sz="8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Plan for personal data in the events and for too many indices</a:t>
            </a:r>
            <a:endParaRPr lang="en-US" sz="4200" dirty="0"/>
          </a:p>
        </p:txBody>
      </p:sp>
      <p:sp>
        <p:nvSpPr>
          <p:cNvPr id="4" name="Text 2"/>
          <p:cNvSpPr txBox="1"/>
          <p:nvPr/>
        </p:nvSpPr>
        <p:spPr>
          <a:xfrm>
            <a:off x="647700" y="6464379"/>
            <a:ext cx="65171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Cautions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29 / 39</a:t>
            </a:r>
            <a:endParaRPr lang="en-US" sz="9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2420" y="1616332"/>
            <a:ext cx="83410" cy="83410"/>
          </a:xfrm>
          <a:prstGeom prst="roundRect">
            <a:avLst>
              <a:gd name="adj" fmla="val 487232"/>
            </a:avLst>
          </a:prstGeom>
          <a:solidFill>
            <a:srgbClr val="0B6E99"/>
          </a:solidFill>
          <a:ln/>
        </p:spPr>
      </p:sp>
      <p:sp>
        <p:nvSpPr>
          <p:cNvPr id="3" name="Shape 1"/>
          <p:cNvSpPr/>
          <p:nvPr/>
        </p:nvSpPr>
        <p:spPr>
          <a:xfrm>
            <a:off x="832420" y="2342623"/>
            <a:ext cx="83410" cy="83410"/>
          </a:xfrm>
          <a:prstGeom prst="roundRect">
            <a:avLst>
              <a:gd name="adj" fmla="val 487232"/>
            </a:avLst>
          </a:prstGeom>
          <a:solidFill>
            <a:srgbClr val="0B6E99"/>
          </a:solidFill>
          <a:ln/>
        </p:spPr>
      </p:sp>
      <p:sp>
        <p:nvSpPr>
          <p:cNvPr id="4" name="Shape 2"/>
          <p:cNvSpPr/>
          <p:nvPr/>
        </p:nvSpPr>
        <p:spPr>
          <a:xfrm>
            <a:off x="832420" y="3387029"/>
            <a:ext cx="83410" cy="83410"/>
          </a:xfrm>
          <a:prstGeom prst="roundRect">
            <a:avLst>
              <a:gd name="adj" fmla="val 487232"/>
            </a:avLst>
          </a:prstGeom>
          <a:solidFill>
            <a:srgbClr val="0B6E99"/>
          </a:solidFill>
          <a:ln/>
        </p:spPr>
      </p:sp>
      <p:sp>
        <p:nvSpPr>
          <p:cNvPr id="5" name="Shape 3"/>
          <p:cNvSpPr/>
          <p:nvPr/>
        </p:nvSpPr>
        <p:spPr>
          <a:xfrm>
            <a:off x="832420" y="4113320"/>
            <a:ext cx="83410" cy="83410"/>
          </a:xfrm>
          <a:prstGeom prst="roundRect">
            <a:avLst>
              <a:gd name="adj" fmla="val 487232"/>
            </a:avLst>
          </a:prstGeom>
          <a:solidFill>
            <a:srgbClr val="0B6E99"/>
          </a:solidFill>
          <a:ln/>
        </p:spPr>
      </p:sp>
      <p:sp>
        <p:nvSpPr>
          <p:cNvPr id="6" name="Shape 4"/>
          <p:cNvSpPr/>
          <p:nvPr/>
        </p:nvSpPr>
        <p:spPr>
          <a:xfrm>
            <a:off x="795349" y="4729700"/>
            <a:ext cx="10601302" cy="669821"/>
          </a:xfrm>
          <a:prstGeom prst="roundRect">
            <a:avLst>
              <a:gd name="adj" fmla="val 37777"/>
            </a:avLst>
          </a:prstGeom>
          <a:solidFill>
            <a:srgbClr val="0F2027"/>
          </a:solidFill>
          <a:ln/>
        </p:spPr>
      </p:sp>
      <p:sp>
        <p:nvSpPr>
          <p:cNvPr id="7" name="Shape 5"/>
          <p:cNvSpPr/>
          <p:nvPr/>
        </p:nvSpPr>
        <p:spPr>
          <a:xfrm>
            <a:off x="832420" y="5621938"/>
            <a:ext cx="83410" cy="83410"/>
          </a:xfrm>
          <a:prstGeom prst="roundRect">
            <a:avLst>
              <a:gd name="adj" fmla="val 487232"/>
            </a:avLst>
          </a:prstGeom>
          <a:solidFill>
            <a:srgbClr val="0B6E99"/>
          </a:solidFill>
          <a:ln/>
        </p:spPr>
      </p:sp>
      <p:sp>
        <p:nvSpPr>
          <p:cNvPr id="8" name="Shape 6"/>
          <p:cNvSpPr/>
          <p:nvPr/>
        </p:nvSpPr>
        <p:spPr>
          <a:xfrm>
            <a:off x="647700" y="6343650"/>
            <a:ext cx="10896600" cy="0"/>
          </a:xfrm>
          <a:prstGeom prst="line">
            <a:avLst/>
          </a:prstGeom>
          <a:noFill/>
          <a:ln w="8890">
            <a:solidFill>
              <a:srgbClr val="CBD7DF"/>
            </a:solidFill>
            <a:prstDash val="solid"/>
          </a:ln>
        </p:spPr>
      </p:sp>
      <p:sp>
        <p:nvSpPr>
          <p:cNvPr id="9" name="Text 7"/>
          <p:cNvSpPr txBox="1"/>
          <p:nvPr/>
        </p:nvSpPr>
        <p:spPr>
          <a:xfrm>
            <a:off x="795349" y="512316"/>
            <a:ext cx="10658452" cy="180723"/>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CAUTION 1</a:t>
            </a:r>
            <a:endParaRPr lang="en-US" sz="950" dirty="0"/>
          </a:p>
        </p:txBody>
      </p:sp>
      <p:sp>
        <p:nvSpPr>
          <p:cNvPr id="10" name="Text 8"/>
          <p:cNvSpPr txBox="1"/>
          <p:nvPr/>
        </p:nvSpPr>
        <p:spPr>
          <a:xfrm>
            <a:off x="795349" y="843840"/>
            <a:ext cx="10658452" cy="420389"/>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Events can carry personal data</a:t>
            </a:r>
            <a:endParaRPr lang="en-US" sz="3060" dirty="0"/>
          </a:p>
        </p:txBody>
      </p:sp>
      <p:sp>
        <p:nvSpPr>
          <p:cNvPr id="11" name="Text 9"/>
          <p:cNvSpPr txBox="1"/>
          <p:nvPr/>
        </p:nvSpPr>
        <p:spPr>
          <a:xfrm>
            <a:off x="1073384" y="1478473"/>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By default an event identifies a user only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by id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for example "the user with id '2'". A failed login also records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user name that was typed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a:t>
            </a:r>
            <a:endParaRPr lang="en-US" sz="1680" dirty="0"/>
          </a:p>
        </p:txBody>
      </p:sp>
      <p:sp>
        <p:nvSpPr>
          <p:cNvPr id="12" name="Text 10"/>
          <p:cNvSpPr txBox="1"/>
          <p:nvPr/>
        </p:nvSpPr>
        <p:spPr>
          <a:xfrm>
            <a:off x="1073384" y="2204765"/>
            <a:ext cx="10380417" cy="914669"/>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Every email that Moodle fails to send is stored as an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email_failed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event, with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full text of the email</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Moodle's own new-device sign-in notice is such an email, and it contains the user's name, email address, IP address and browser.</a:t>
            </a:r>
            <a:endParaRPr lang="en-US" sz="1680" dirty="0"/>
          </a:p>
        </p:txBody>
      </p:sp>
      <p:sp>
        <p:nvSpPr>
          <p:cNvPr id="13" name="Text 11"/>
          <p:cNvSpPr txBox="1"/>
          <p:nvPr/>
        </p:nvSpPr>
        <p:spPr>
          <a:xfrm>
            <a:off x="1073384" y="3249170"/>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The index holds personal data as soon as one record identifies a person. The General Data Protection Regulation (GDPR) then applies to the index, not only to Moodle.</a:t>
            </a:r>
            <a:endParaRPr lang="en-US" sz="1680" dirty="0"/>
          </a:p>
        </p:txBody>
      </p:sp>
      <p:sp>
        <p:nvSpPr>
          <p:cNvPr id="14" name="Text 12"/>
          <p:cNvSpPr txBox="1"/>
          <p:nvPr/>
        </p:nvSpPr>
        <p:spPr>
          <a:xfrm>
            <a:off x="1073384" y="3975461"/>
            <a:ext cx="10380417" cy="616392"/>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Remove or hash such attributes in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OpenTelemetry Collector</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before they reach OpenSearch. For example, this statement in a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transform</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processor deletes the email text:</a:t>
            </a:r>
            <a:endParaRPr lang="en-US" sz="1680" dirty="0"/>
          </a:p>
        </p:txBody>
      </p:sp>
      <p:sp>
        <p:nvSpPr>
          <p:cNvPr id="15" name="Text 13"/>
          <p:cNvSpPr txBox="1"/>
          <p:nvPr/>
        </p:nvSpPr>
        <p:spPr>
          <a:xfrm>
            <a:off x="962170" y="4853889"/>
            <a:ext cx="10324810" cy="373251"/>
          </a:xfrm>
          <a:prstGeom prst="rect">
            <a:avLst/>
          </a:prstGeom>
          <a:noFill/>
          <a:ln/>
        </p:spPr>
        <p:txBody>
          <a:bodyPr wrap="square" lIns="0" tIns="0" rIns="0" bIns="0" rtlCol="0" anchor="t"/>
          <a:lstStyle/>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delete_key(log.attributes, "event.data.other")</a:t>
            </a:r>
            <a:endParaRPr lang="en-US" sz="950" dirty="0"/>
          </a:p>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  where log.attributes["event.data.eventname"] == "\\core\\event\\email_failed"</a:t>
            </a:r>
            <a:endParaRPr lang="en-US" sz="950" dirty="0"/>
          </a:p>
        </p:txBody>
      </p:sp>
      <p:sp>
        <p:nvSpPr>
          <p:cNvPr id="16" name="Text 14"/>
          <p:cNvSpPr txBox="1"/>
          <p:nvPr/>
        </p:nvSpPr>
        <p:spPr>
          <a:xfrm>
            <a:off x="1073384" y="5484079"/>
            <a:ext cx="10380417" cy="298424"/>
          </a:xfrm>
          <a:prstGeom prst="rect">
            <a:avLst/>
          </a:prstGeom>
          <a:noFill/>
          <a:ln/>
        </p:spPr>
        <p:txBody>
          <a:bodyPr wrap="non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Decide the retention period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before</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you switch the sending on.</a:t>
            </a:r>
            <a:endParaRPr lang="en-US" sz="1680" dirty="0"/>
          </a:p>
        </p:txBody>
      </p:sp>
      <p:sp>
        <p:nvSpPr>
          <p:cNvPr id="17" name="Text 15"/>
          <p:cNvSpPr txBox="1"/>
          <p:nvPr/>
        </p:nvSpPr>
        <p:spPr>
          <a:xfrm>
            <a:off x="647700" y="6464463"/>
            <a:ext cx="651718"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Cautions</a:t>
            </a:r>
            <a:endParaRPr lang="en-US" sz="950" dirty="0"/>
          </a:p>
        </p:txBody>
      </p:sp>
      <p:sp>
        <p:nvSpPr>
          <p:cNvPr id="18" name="Text 16"/>
          <p:cNvSpPr txBox="1"/>
          <p:nvPr/>
        </p:nvSpPr>
        <p:spPr>
          <a:xfrm>
            <a:off x="11024146" y="6464463"/>
            <a:ext cx="577304"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30 / 39</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729732" y="2473937"/>
            <a:ext cx="8732536" cy="1248050"/>
          </a:xfrm>
          <a:prstGeom prst="roundRect">
            <a:avLst>
              <a:gd name="adj" fmla="val 10749"/>
            </a:avLst>
          </a:prstGeom>
          <a:solidFill>
            <a:srgbClr val="FBF0E2"/>
          </a:solidFill>
          <a:ln w="15240">
            <a:solidFill>
              <a:srgbClr val="E0BE93"/>
            </a:solidFill>
            <a:prstDash val="solid"/>
          </a:ln>
        </p:spPr>
      </p:sp>
      <p:sp>
        <p:nvSpPr>
          <p:cNvPr id="3" name="Shape 1"/>
          <p:cNvSpPr/>
          <p:nvPr/>
        </p:nvSpPr>
        <p:spPr>
          <a:xfrm>
            <a:off x="1760250" y="3950941"/>
            <a:ext cx="68666" cy="68666"/>
          </a:xfrm>
          <a:prstGeom prst="roundRect">
            <a:avLst>
              <a:gd name="adj" fmla="val 591850"/>
            </a:avLst>
          </a:prstGeom>
          <a:solidFill>
            <a:srgbClr val="8496A2"/>
          </a:solidFill>
          <a:ln/>
        </p:spPr>
      </p:sp>
      <p:sp>
        <p:nvSpPr>
          <p:cNvPr id="4" name="Shape 2"/>
          <p:cNvSpPr/>
          <p:nvPr/>
        </p:nvSpPr>
        <p:spPr>
          <a:xfrm>
            <a:off x="1760250" y="4549204"/>
            <a:ext cx="68666" cy="68666"/>
          </a:xfrm>
          <a:prstGeom prst="roundRect">
            <a:avLst>
              <a:gd name="adj" fmla="val 591850"/>
            </a:avLst>
          </a:prstGeom>
          <a:solidFill>
            <a:srgbClr val="8496A2"/>
          </a:solidFill>
          <a:ln/>
        </p:spPr>
      </p:sp>
      <p:sp>
        <p:nvSpPr>
          <p:cNvPr id="5" name="Shape 3"/>
          <p:cNvSpPr/>
          <p:nvPr/>
        </p:nvSpPr>
        <p:spPr>
          <a:xfrm>
            <a:off x="1760250" y="5409505"/>
            <a:ext cx="68666" cy="68666"/>
          </a:xfrm>
          <a:prstGeom prst="roundRect">
            <a:avLst>
              <a:gd name="adj" fmla="val 591850"/>
            </a:avLst>
          </a:prstGeom>
          <a:solidFill>
            <a:srgbClr val="8496A2"/>
          </a:solidFill>
          <a:ln/>
        </p:spPr>
      </p:sp>
      <p:sp>
        <p:nvSpPr>
          <p:cNvPr id="6" name="Shape 4"/>
          <p:cNvSpPr/>
          <p:nvPr/>
        </p:nvSpPr>
        <p:spPr>
          <a:xfrm>
            <a:off x="647700" y="6343650"/>
            <a:ext cx="10896600" cy="0"/>
          </a:xfrm>
          <a:prstGeom prst="line">
            <a:avLst/>
          </a:prstGeom>
          <a:noFill/>
          <a:ln w="7620">
            <a:solidFill>
              <a:srgbClr val="CBD7DF"/>
            </a:solidFill>
            <a:prstDash val="solid"/>
          </a:ln>
        </p:spPr>
      </p:sp>
      <p:sp>
        <p:nvSpPr>
          <p:cNvPr id="7" name="Text 5"/>
          <p:cNvSpPr txBox="1"/>
          <p:nvPr/>
        </p:nvSpPr>
        <p:spPr>
          <a:xfrm>
            <a:off x="1729732" y="516043"/>
            <a:ext cx="8789686" cy="148850"/>
          </a:xfrm>
          <a:prstGeom prst="rect">
            <a:avLst/>
          </a:prstGeom>
          <a:noFill/>
          <a:ln/>
        </p:spPr>
        <p:txBody>
          <a:bodyPr wrap="none" lIns="0" tIns="0" rIns="0" bIns="0" rtlCol="0" anchor="t"/>
          <a:lstStyle/>
          <a:p>
            <a:pPr algn="l" indent="0" marL="0">
              <a:lnSpc>
                <a:spcPts val="1170"/>
              </a:lnSpc>
              <a:buNone/>
            </a:pPr>
            <a:r>
              <a:rPr lang="en-US" sz="780" spc="120" kern="0" dirty="0">
                <a:solidFill>
                  <a:srgbClr val="0B6E99"/>
                </a:solidFill>
                <a:latin typeface="Courier New" pitchFamily="34" charset="0"/>
                <a:ea typeface="Courier New" pitchFamily="34" charset="-122"/>
                <a:cs typeface="Courier New" pitchFamily="34" charset="-120"/>
              </a:rPr>
              <a:t>CAUTION 2</a:t>
            </a:r>
            <a:endParaRPr lang="en-US" sz="780" dirty="0"/>
          </a:p>
        </p:txBody>
      </p:sp>
      <p:sp>
        <p:nvSpPr>
          <p:cNvPr id="8" name="Text 6"/>
          <p:cNvSpPr txBox="1"/>
          <p:nvPr/>
        </p:nvSpPr>
        <p:spPr>
          <a:xfrm>
            <a:off x="1729732" y="789117"/>
            <a:ext cx="8789686" cy="692487"/>
          </a:xfrm>
          <a:prstGeom prst="rect">
            <a:avLst/>
          </a:prstGeom>
          <a:noFill/>
          <a:ln/>
        </p:spPr>
        <p:txBody>
          <a:bodyPr wrap="square" lIns="0" tIns="0" rIns="0" bIns="0" rtlCol="0" anchor="t"/>
          <a:lstStyle/>
          <a:p>
            <a:pPr algn="l" indent="0" marL="0">
              <a:lnSpc>
                <a:spcPts val="2730"/>
              </a:lnSpc>
              <a:buNone/>
            </a:pPr>
            <a:r>
              <a:rPr lang="en-US" sz="2520" b="1" spc="-50" kern="0" dirty="0">
                <a:solidFill>
                  <a:srgbClr val="101A22"/>
                </a:solidFill>
                <a:latin typeface="Arial" pitchFamily="34" charset="0"/>
                <a:ea typeface="Arial" pitchFamily="34" charset="-122"/>
                <a:cs typeface="Arial" pitchFamily="34" charset="-120"/>
              </a:rPr>
              <a:t>OpenSearch stores every index in shards, and a server has a limit on shards</a:t>
            </a:r>
            <a:endParaRPr lang="en-US" sz="2520" dirty="0"/>
          </a:p>
        </p:txBody>
      </p:sp>
      <p:sp>
        <p:nvSpPr>
          <p:cNvPr id="9" name="Text 7"/>
          <p:cNvSpPr txBox="1"/>
          <p:nvPr/>
        </p:nvSpPr>
        <p:spPr>
          <a:xfrm>
            <a:off x="1729732" y="1645356"/>
            <a:ext cx="8789686" cy="595400"/>
          </a:xfrm>
          <a:prstGeom prst="rect">
            <a:avLst/>
          </a:prstGeom>
          <a:noFill/>
          <a:ln/>
        </p:spPr>
        <p:txBody>
          <a:bodyPr wrap="square" lIns="0" tIns="0" rIns="0" bIns="0" rtlCol="0" anchor="t"/>
          <a:lstStyle/>
          <a:p>
            <a:pPr algn="l" indent="0" marL="0">
              <a:lnSpc>
                <a:spcPts val="2340"/>
              </a:lnSpc>
              <a:buNone/>
            </a:pPr>
            <a:r>
              <a:rPr lang="en-US" sz="1560" dirty="0">
                <a:solidFill>
                  <a:srgbClr val="5A6D7A"/>
                </a:solidFill>
                <a:latin typeface="Arial" pitchFamily="34" charset="0"/>
                <a:ea typeface="Arial" pitchFamily="34" charset="-122"/>
                <a:cs typeface="Arial" pitchFamily="34" charset="-120"/>
              </a:rPr>
              <a:t>An index in OpenSearch is stored on disk as one or more pieces called shards. By default one data server accepts at most 1000 shards, and every new index brings the server closer to that limit.</a:t>
            </a:r>
            <a:endParaRPr lang="en-US" sz="1560" dirty="0"/>
          </a:p>
        </p:txBody>
      </p:sp>
      <p:sp>
        <p:nvSpPr>
          <p:cNvPr id="10" name="Text 8"/>
          <p:cNvSpPr txBox="1"/>
          <p:nvPr/>
        </p:nvSpPr>
        <p:spPr>
          <a:xfrm>
            <a:off x="1928199" y="2653704"/>
            <a:ext cx="8392753" cy="164798"/>
          </a:xfrm>
          <a:prstGeom prst="rect">
            <a:avLst/>
          </a:prstGeom>
          <a:noFill/>
          <a:ln/>
        </p:spPr>
        <p:txBody>
          <a:bodyPr wrap="none" lIns="0" tIns="0" rIns="0" bIns="0" rtlCol="0" anchor="t"/>
          <a:lstStyle/>
          <a:p>
            <a:pPr algn="l" indent="0" marL="0">
              <a:lnSpc>
                <a:spcPts val="1300"/>
              </a:lnSpc>
              <a:buNone/>
            </a:pPr>
            <a:r>
              <a:rPr lang="en-US" sz="1080" b="1" dirty="0">
                <a:solidFill>
                  <a:srgbClr val="A8500F"/>
                </a:solidFill>
                <a:latin typeface="Courier New" pitchFamily="34" charset="0"/>
                <a:ea typeface="Courier New" pitchFamily="34" charset="-122"/>
                <a:cs typeface="Courier New" pitchFamily="34" charset="-120"/>
              </a:rPr>
              <a:t>What happens without a retention policy</a:t>
            </a:r>
            <a:endParaRPr lang="en-US" sz="1080" dirty="0"/>
          </a:p>
        </p:txBody>
      </p:sp>
      <p:sp>
        <p:nvSpPr>
          <p:cNvPr id="11" name="Text 9"/>
          <p:cNvSpPr txBox="1"/>
          <p:nvPr/>
        </p:nvSpPr>
        <p:spPr>
          <a:xfrm>
            <a:off x="1928199" y="2860769"/>
            <a:ext cx="8392753" cy="652650"/>
          </a:xfrm>
          <a:prstGeom prst="rect">
            <a:avLst/>
          </a:prstGeom>
          <a:noFill/>
          <a:ln/>
        </p:spPr>
        <p:txBody>
          <a:bodyPr wrap="square" lIns="0" tIns="0" rIns="0" bIns="0" rtlCol="0" anchor="t"/>
          <a:lstStyle/>
          <a:p>
            <a:pPr algn="l" indent="0" marL="0">
              <a:lnSpc>
                <a:spcPts val="1710"/>
              </a:lnSpc>
              <a:buNone/>
            </a:pPr>
            <a:r>
              <a:rPr lang="en-US" sz="1140" dirty="0">
                <a:solidFill>
                  <a:srgbClr val="101A22"/>
                </a:solidFill>
                <a:latin typeface="Arial" pitchFamily="34" charset="0"/>
                <a:ea typeface="Arial" pitchFamily="34" charset="-122"/>
                <a:cs typeface="Arial" pitchFamily="34" charset="-120"/>
              </a:rPr>
              <a:t>By default each index has two shards, one primary and one copy. For example, five daily indices add ten shards per day, and they reach 1000 shards in 100 days. From then on OpenSearch cannot create the new day's indices, and it rejects every incoming record. Nothing alerts you by default.</a:t>
            </a:r>
            <a:endParaRPr lang="en-US" sz="1140" dirty="0"/>
          </a:p>
        </p:txBody>
      </p:sp>
      <p:sp>
        <p:nvSpPr>
          <p:cNvPr id="12" name="Text 10"/>
          <p:cNvSpPr txBox="1"/>
          <p:nvPr/>
        </p:nvSpPr>
        <p:spPr>
          <a:xfrm>
            <a:off x="1958618" y="3837452"/>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Very large shards are also a problem. The OpenSearch documentation recommends 10 to 50 GB per shard. Above that, searches slow down.</a:t>
            </a:r>
            <a:endParaRPr lang="en-US" sz="1380" dirty="0"/>
          </a:p>
        </p:txBody>
      </p:sp>
      <p:sp>
        <p:nvSpPr>
          <p:cNvPr id="13" name="Text 11"/>
          <p:cNvSpPr txBox="1"/>
          <p:nvPr/>
        </p:nvSpPr>
        <p:spPr>
          <a:xfrm>
            <a:off x="1958618" y="4435715"/>
            <a:ext cx="8560800" cy="753435"/>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Choose the index period so that one index stays in that range. One index per month, </a:t>
            </a:r>
            <a:pPr algn="l" indent="0" marL="0">
              <a:lnSpc>
                <a:spcPts val="1930"/>
              </a:lnSpc>
              <a:buNone/>
            </a:pPr>
            <a:r>
              <a:rPr lang="en-US" sz="1220" dirty="0">
                <a:solidFill>
                  <a:srgbClr val="101A22"/>
                </a:solidFill>
                <a:highlight>
                  <a:srgbClr val="E1F0F7"/>
                </a:highlight>
                <a:latin typeface="Courier New" pitchFamily="34" charset="0"/>
                <a:ea typeface="Courier New" pitchFamily="34" charset="-122"/>
                <a:cs typeface="Courier New" pitchFamily="34" charset="-120"/>
              </a:rPr>
              <a:t>logs_index_time_format: "yyyy.MM"</a:t>
            </a:r>
            <a:pPr algn="l" indent="0" marL="0">
              <a:lnSpc>
                <a:spcPts val="1930"/>
              </a:lnSpc>
              <a:buNone/>
            </a:pPr>
            <a:r>
              <a:rPr lang="en-US" sz="1380" dirty="0">
                <a:solidFill>
                  <a:srgbClr val="101A22"/>
                </a:solidFill>
                <a:latin typeface="Arial" pitchFamily="34" charset="0"/>
                <a:ea typeface="Arial" pitchFamily="34" charset="-122"/>
                <a:cs typeface="Arial" pitchFamily="34" charset="-120"/>
              </a:rPr>
              <a:t> in the OpenTelemetry Collector's configuration file, fits a site that writes up to a few million events a day.</a:t>
            </a:r>
            <a:endParaRPr lang="en-US" sz="1380" dirty="0"/>
          </a:p>
        </p:txBody>
      </p:sp>
      <p:sp>
        <p:nvSpPr>
          <p:cNvPr id="14" name="Text 12"/>
          <p:cNvSpPr txBox="1"/>
          <p:nvPr/>
        </p:nvSpPr>
        <p:spPr>
          <a:xfrm>
            <a:off x="1958618" y="5296016"/>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Create the retention policy in OpenSearch on the first day, so old indices are deleted and their shards are freed.</a:t>
            </a:r>
            <a:endParaRPr lang="en-US" sz="1380" dirty="0"/>
          </a:p>
        </p:txBody>
      </p:sp>
      <p:sp>
        <p:nvSpPr>
          <p:cNvPr id="15" name="Text 13"/>
          <p:cNvSpPr txBox="1"/>
          <p:nvPr/>
        </p:nvSpPr>
        <p:spPr>
          <a:xfrm>
            <a:off x="647700" y="6464995"/>
            <a:ext cx="651718"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Cautions</a:t>
            </a:r>
            <a:endParaRPr lang="en-US" sz="780" dirty="0"/>
          </a:p>
        </p:txBody>
      </p:sp>
      <p:sp>
        <p:nvSpPr>
          <p:cNvPr id="16" name="Text 14"/>
          <p:cNvSpPr txBox="1"/>
          <p:nvPr/>
        </p:nvSpPr>
        <p:spPr>
          <a:xfrm>
            <a:off x="11024146" y="6464995"/>
            <a:ext cx="577304"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31 / 39</a:t>
            </a:r>
            <a:endParaRPr lang="en-US" sz="7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469803"/>
            <a:ext cx="10953750" cy="1727895"/>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Moodle also sends timing data to OpenSearch through the same OpenTelemetry Collector</a:t>
            </a:r>
            <a:endParaRPr lang="en-US" sz="4200" dirty="0"/>
          </a:p>
        </p:txBody>
      </p:sp>
      <p:sp>
        <p:nvSpPr>
          <p:cNvPr id="4" name="Text 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Timing data</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32 / 39</a:t>
            </a:r>
            <a:endParaRPr lang="en-US" sz="9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39385" y="4702808"/>
            <a:ext cx="9713230" cy="613710"/>
          </a:xfrm>
          <a:prstGeom prst="roundRect">
            <a:avLst>
              <a:gd name="adj" fmla="val 41208"/>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pic>
        <p:nvPicPr>
          <p:cNvPr id="4" name="Image 0" descr="One trace with three spans. A timeline of one real login request from the demo site: the request span lasts 92.8 milliseconds, the login event span inside it lasts 2.5 milliseconds and starts 79 milliseconds after the request, and the step inside that span lasts 2.4 milliseconds.">    </p:cNvPr>
          <p:cNvPicPr>
            <a:picLocks noChangeAspect="1"/>
          </p:cNvPicPr>
          <p:nvPr/>
        </p:nvPicPr>
        <p:blipFill>
          <a:blip r:embed="rId1"/>
          <a:stretch>
            <a:fillRect/>
          </a:stretch>
        </p:blipFill>
        <p:spPr>
          <a:xfrm>
            <a:off x="1239385" y="2971657"/>
            <a:ext cx="9713230" cy="1646245"/>
          </a:xfrm>
          <a:prstGeom prst="rect">
            <a:avLst/>
          </a:prstGeom>
        </p:spPr>
      </p:pic>
      <p:sp>
        <p:nvSpPr>
          <p:cNvPr id="5" name="Text 2"/>
          <p:cNvSpPr txBox="1"/>
          <p:nvPr/>
        </p:nvSpPr>
        <p:spPr>
          <a:xfrm>
            <a:off x="1239385" y="514093"/>
            <a:ext cx="9770380" cy="165566"/>
          </a:xfrm>
          <a:prstGeom prst="rect">
            <a:avLst/>
          </a:prstGeom>
          <a:noFill/>
          <a:ln/>
        </p:spPr>
        <p:txBody>
          <a:bodyPr wrap="none" lIns="0" tIns="0" rIns="0" bIns="0" rtlCol="0" anchor="t"/>
          <a:lstStyle/>
          <a:p>
            <a:pPr algn="l" indent="0" marL="0">
              <a:lnSpc>
                <a:spcPts val="1300"/>
              </a:lnSpc>
              <a:buNone/>
            </a:pPr>
            <a:r>
              <a:rPr lang="en-US" sz="870" spc="140" kern="0" dirty="0">
                <a:solidFill>
                  <a:srgbClr val="0B6E99"/>
                </a:solidFill>
                <a:latin typeface="Courier New" pitchFamily="34" charset="0"/>
                <a:ea typeface="Courier New" pitchFamily="34" charset="-122"/>
                <a:cs typeface="Courier New" pitchFamily="34" charset="-120"/>
              </a:rPr>
              <a:t>TIMING DATA</a:t>
            </a:r>
            <a:endParaRPr lang="en-US" sz="870" dirty="0"/>
          </a:p>
        </p:txBody>
      </p:sp>
      <p:sp>
        <p:nvSpPr>
          <p:cNvPr id="6" name="Text 3"/>
          <p:cNvSpPr txBox="1"/>
          <p:nvPr/>
        </p:nvSpPr>
        <p:spPr>
          <a:xfrm>
            <a:off x="1239385" y="817835"/>
            <a:ext cx="9770380" cy="385128"/>
          </a:xfrm>
          <a:prstGeom prst="rect">
            <a:avLst/>
          </a:prstGeom>
          <a:noFill/>
          <a:ln/>
        </p:spPr>
        <p:txBody>
          <a:bodyPr wrap="none" lIns="0" tIns="0" rIns="0" bIns="0" rtlCol="0" anchor="t"/>
          <a:lstStyle/>
          <a:p>
            <a:pPr algn="l" indent="0" marL="0">
              <a:lnSpc>
                <a:spcPts val="3030"/>
              </a:lnSpc>
              <a:buNone/>
            </a:pPr>
            <a:r>
              <a:rPr lang="en-US" sz="2810" b="1" spc="-60" kern="0" dirty="0">
                <a:solidFill>
                  <a:srgbClr val="101A22"/>
                </a:solidFill>
                <a:latin typeface="Arial" pitchFamily="34" charset="0"/>
                <a:ea typeface="Arial" pitchFamily="34" charset="-122"/>
                <a:cs typeface="Arial" pitchFamily="34" charset="-120"/>
              </a:rPr>
              <a:t>Every request also records how long each of its steps took</a:t>
            </a:r>
            <a:endParaRPr lang="en-US" sz="2810" dirty="0"/>
          </a:p>
        </p:txBody>
      </p:sp>
      <p:sp>
        <p:nvSpPr>
          <p:cNvPr id="7" name="Text 4"/>
          <p:cNvSpPr txBox="1"/>
          <p:nvPr/>
        </p:nvSpPr>
        <p:spPr>
          <a:xfrm>
            <a:off x="1239385" y="1385103"/>
            <a:ext cx="9770380" cy="132718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Every event record has two fields called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traceId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spanId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They are there because the request that wrote the event also recorded how long each of its steps took. OpenTelemetry calls the timing of one request a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trace</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trace is made of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spans</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span is one step of the request, with a start time and a duration.</a:t>
            </a:r>
            <a:endParaRPr lang="en-US" sz="1740" dirty="0"/>
          </a:p>
        </p:txBody>
      </p:sp>
      <p:sp>
        <p:nvSpPr>
          <p:cNvPr id="8" name="Text 5"/>
          <p:cNvSpPr txBox="1"/>
          <p:nvPr/>
        </p:nvSpPr>
        <p:spPr>
          <a:xfrm>
            <a:off x="1392147" y="4816530"/>
            <a:ext cx="9464856" cy="342133"/>
          </a:xfrm>
          <a:prstGeom prst="rect">
            <a:avLst/>
          </a:prstGeom>
          <a:noFill/>
          <a:ln/>
        </p:spPr>
        <p:txBody>
          <a:bodyPr wrap="square" lIns="0" tIns="0" rIns="0" bIns="0" rtlCol="0" anchor="t"/>
          <a:lstStyle/>
          <a:p>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part of the note on span 1, as stored in OpenSearch</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350"/>
              </a:lnSpc>
              <a:buNone/>
            </a:pPr>
            <a:r>
              <a:rPr lang="en-US" sz="870" dirty="0">
                <a:solidFill>
                  <a:srgbClr val="6FC7EE"/>
                </a:solidFill>
                <a:latin typeface="Courier New" pitchFamily="34" charset="0"/>
                <a:ea typeface="Courier New" pitchFamily="34" charset="-122"/>
                <a:cs typeface="Courier New" pitchFamily="34" charset="-120"/>
              </a:rPr>
              <a:t>moodle.shutdown_handler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dbtime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0.03228</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dbqueries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13/9</a:t>
            </a:r>
            <a:endParaRPr lang="en-US" sz="870" dirty="0"/>
          </a:p>
        </p:txBody>
      </p:sp>
      <p:sp>
        <p:nvSpPr>
          <p:cNvPr id="9" name="Text 6"/>
          <p:cNvSpPr txBox="1"/>
          <p:nvPr/>
        </p:nvSpPr>
        <p:spPr>
          <a:xfrm>
            <a:off x="1239385" y="5398453"/>
            <a:ext cx="9770380" cy="407548"/>
          </a:xfrm>
          <a:prstGeom prst="rect">
            <a:avLst/>
          </a:prstGeom>
          <a:noFill/>
          <a:ln/>
        </p:spPr>
        <p:txBody>
          <a:bodyPr wrap="square" lIns="0" tIns="0" rIns="0" bIns="0" rtlCol="0" anchor="t"/>
          <a:lstStyle/>
          <a:p>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One trace with three spans, from a real login request on the demo site. The first span is the whole request. The other two spans are steps inside it. Moodle adds the note in the box to the first span.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dbtime</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the database time in seconds, here 32 ms.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dbqueries</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reads/writes, here 13 reads and 9 writes.</a:t>
            </a:r>
            <a:endParaRPr lang="en-US" sz="940" dirty="0"/>
          </a:p>
        </p:txBody>
      </p:sp>
      <p:sp>
        <p:nvSpPr>
          <p:cNvPr id="10" name="Text 7"/>
          <p:cNvSpPr txBox="1"/>
          <p:nvPr/>
        </p:nvSpPr>
        <p:spPr>
          <a:xfrm>
            <a:off x="647700" y="6464717"/>
            <a:ext cx="874663"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Timing data</a:t>
            </a:r>
            <a:endParaRPr lang="en-US" sz="870" dirty="0"/>
          </a:p>
        </p:txBody>
      </p:sp>
      <p:sp>
        <p:nvSpPr>
          <p:cNvPr id="11" name="Text 8"/>
          <p:cNvSpPr txBox="1"/>
          <p:nvPr/>
        </p:nvSpPr>
        <p:spPr>
          <a:xfrm>
            <a:off x="11024146" y="6464717"/>
            <a:ext cx="577304"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33 / 39</a:t>
            </a:r>
            <a:endParaRPr lang="en-US" sz="87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124521"/>
            <a:ext cx="85725" cy="85725"/>
          </a:xfrm>
          <a:prstGeom prst="roundRect">
            <a:avLst>
              <a:gd name="adj" fmla="val 474074"/>
            </a:avLst>
          </a:prstGeom>
          <a:solidFill>
            <a:srgbClr val="0B6E99"/>
          </a:solidFill>
          <a:ln/>
        </p:spPr>
      </p:sp>
      <p:sp>
        <p:nvSpPr>
          <p:cNvPr id="3" name="Shape 1"/>
          <p:cNvSpPr/>
          <p:nvPr/>
        </p:nvSpPr>
        <p:spPr>
          <a:xfrm>
            <a:off x="685800" y="2564457"/>
            <a:ext cx="85725" cy="85725"/>
          </a:xfrm>
          <a:prstGeom prst="roundRect">
            <a:avLst>
              <a:gd name="adj" fmla="val 474074"/>
            </a:avLst>
          </a:prstGeom>
          <a:solidFill>
            <a:srgbClr val="0B6E99"/>
          </a:solidFill>
          <a:ln/>
        </p:spPr>
      </p:sp>
      <p:sp>
        <p:nvSpPr>
          <p:cNvPr id="4" name="Shape 2"/>
          <p:cNvSpPr/>
          <p:nvPr/>
        </p:nvSpPr>
        <p:spPr>
          <a:xfrm>
            <a:off x="685800" y="3004393"/>
            <a:ext cx="85725" cy="85725"/>
          </a:xfrm>
          <a:prstGeom prst="roundRect">
            <a:avLst>
              <a:gd name="adj" fmla="val 474074"/>
            </a:avLst>
          </a:prstGeom>
          <a:solidFill>
            <a:srgbClr val="0B6E99"/>
          </a:solidFill>
          <a:ln/>
        </p:spPr>
      </p:sp>
      <p:sp>
        <p:nvSpPr>
          <p:cNvPr id="5" name="Shape 3"/>
          <p:cNvSpPr/>
          <p:nvPr/>
        </p:nvSpPr>
        <p:spPr>
          <a:xfrm>
            <a:off x="647700" y="6343650"/>
            <a:ext cx="10896600" cy="0"/>
          </a:xfrm>
          <a:prstGeom prst="line">
            <a:avLst/>
          </a:prstGeom>
          <a:noFill/>
          <a:ln w="10160">
            <a:solidFill>
              <a:srgbClr val="CBD7DF"/>
            </a:solidFill>
            <a:prstDash val="solid"/>
          </a:ln>
        </p:spPr>
      </p:sp>
      <p:sp>
        <p:nvSpPr>
          <p:cNvPr id="6" name="Text 4"/>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TIMING DATA</a:t>
            </a:r>
            <a:endParaRPr lang="en-US" sz="980" dirty="0"/>
          </a:p>
        </p:txBody>
      </p:sp>
      <p:sp>
        <p:nvSpPr>
          <p:cNvPr id="7" name="Text 5"/>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The timing data shows where Moodle spends its time</a:t>
            </a:r>
            <a:endParaRPr lang="en-US" sz="3150" dirty="0"/>
          </a:p>
        </p:txBody>
      </p:sp>
      <p:sp>
        <p:nvSpPr>
          <p:cNvPr id="8" name="Text 6"/>
          <p:cNvSpPr txBox="1"/>
          <p:nvPr/>
        </p:nvSpPr>
        <p:spPr>
          <a:xfrm>
            <a:off x="647700" y="1504801"/>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It answers these questions.</a:t>
            </a:r>
            <a:endParaRPr lang="en-US" sz="1730" dirty="0"/>
          </a:p>
        </p:txBody>
      </p:sp>
      <p:sp>
        <p:nvSpPr>
          <p:cNvPr id="9" name="Text 7"/>
          <p:cNvSpPr txBox="1"/>
          <p:nvPr/>
        </p:nvSpPr>
        <p:spPr>
          <a:xfrm>
            <a:off x="933450" y="19828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pages are slow, and how slow?</a:t>
            </a:r>
            <a:endParaRPr lang="en-US" sz="1730" dirty="0"/>
          </a:p>
        </p:txBody>
      </p:sp>
      <p:sp>
        <p:nvSpPr>
          <p:cNvPr id="10" name="Text 8"/>
          <p:cNvSpPr txBox="1"/>
          <p:nvPr/>
        </p:nvSpPr>
        <p:spPr>
          <a:xfrm>
            <a:off x="933450" y="24227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scheduled task ran for 40 minutes last night?</a:t>
            </a:r>
            <a:endParaRPr lang="en-US" sz="1730" dirty="0"/>
          </a:p>
        </p:txBody>
      </p:sp>
      <p:sp>
        <p:nvSpPr>
          <p:cNvPr id="11" name="Text 9"/>
          <p:cNvSpPr txBox="1"/>
          <p:nvPr/>
        </p:nvSpPr>
        <p:spPr>
          <a:xfrm>
            <a:off x="933450" y="28627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long did each Moodle event take inside a request?</a:t>
            </a:r>
            <a:endParaRPr lang="en-US" sz="1730" dirty="0"/>
          </a:p>
        </p:txBody>
      </p:sp>
      <p:sp>
        <p:nvSpPr>
          <p:cNvPr id="12" name="Text 10"/>
          <p:cNvSpPr txBox="1"/>
          <p:nvPr/>
        </p:nvSpPr>
        <p:spPr>
          <a:xfrm>
            <a:off x="647700" y="3416945"/>
            <a:ext cx="10953750" cy="613172"/>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 span has attributes, the same as an event. So you search spans the way you search events, and you can sort them by duration.</a:t>
            </a:r>
            <a:endParaRPr lang="en-US" sz="1730" dirty="0"/>
          </a:p>
        </p:txBody>
      </p:sp>
      <p:sp>
        <p:nvSpPr>
          <p:cNvPr id="13" name="Text 11"/>
          <p:cNvSpPr txBox="1"/>
          <p:nvPr/>
        </p:nvSpPr>
        <p:spPr>
          <a:xfrm>
            <a:off x="647700" y="4182517"/>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In OpenSearch Dashboards this data is usually viewed under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Observability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4" name="Text 1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Timing data</a:t>
            </a:r>
            <a:endParaRPr lang="en-US" sz="980" dirty="0"/>
          </a:p>
        </p:txBody>
      </p:sp>
      <p:sp>
        <p:nvSpPr>
          <p:cNvPr id="15" name="Text 1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34 / 39</a:t>
            </a:r>
            <a:endParaRPr lang="en-US" sz="9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86455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6FC7EE"/>
                </a:solidFill>
                <a:latin typeface="Courier New" pitchFamily="34" charset="0"/>
                <a:ea typeface="Courier New" pitchFamily="34" charset="-122"/>
                <a:cs typeface="Courier New" pitchFamily="34" charset="-120"/>
              </a:rPr>
              <a:t>LIVE</a:t>
            </a:r>
            <a:endParaRPr lang="en-US" sz="980" dirty="0"/>
          </a:p>
        </p:txBody>
      </p:sp>
      <p:sp>
        <p:nvSpPr>
          <p:cNvPr id="4" name="Text 2"/>
          <p:cNvSpPr txBox="1"/>
          <p:nvPr/>
        </p:nvSpPr>
        <p:spPr>
          <a:xfrm>
            <a:off x="647700" y="3205311"/>
            <a:ext cx="10953750" cy="576072"/>
          </a:xfrm>
          <a:prstGeom prst="rect">
            <a:avLst/>
          </a:prstGeom>
          <a:noFill/>
          <a:ln/>
        </p:spPr>
        <p:txBody>
          <a:bodyPr wrap="non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Now we look at a live system</a:t>
            </a:r>
            <a:endParaRPr lang="en-US" sz="4200" dirty="0"/>
          </a:p>
        </p:txBody>
      </p:sp>
      <p:sp>
        <p:nvSpPr>
          <p:cNvPr id="5" name="Text 3"/>
          <p:cNvSpPr txBox="1"/>
          <p:nvPr/>
        </p:nvSpPr>
        <p:spPr>
          <a:xfrm>
            <a:off x="647700" y="6464379"/>
            <a:ext cx="35450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Demo</a:t>
            </a:r>
            <a:endParaRPr lang="en-US" sz="980" dirty="0"/>
          </a:p>
        </p:txBody>
      </p:sp>
      <p:sp>
        <p:nvSpPr>
          <p:cNvPr id="6"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35 / 39</a:t>
            </a:r>
            <a:endParaRPr lang="en-US" sz="9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58751" y="2440704"/>
            <a:ext cx="9874500" cy="686209"/>
          </a:xfrm>
          <a:prstGeom prst="roundRect">
            <a:avLst>
              <a:gd name="adj" fmla="val 33516"/>
            </a:avLst>
          </a:prstGeom>
          <a:solidFill>
            <a:srgbClr val="0F2027"/>
          </a:solidFill>
          <a:ln/>
        </p:spPr>
      </p:sp>
      <p:sp>
        <p:nvSpPr>
          <p:cNvPr id="3" name="Shape 1"/>
          <p:cNvSpPr/>
          <p:nvPr/>
        </p:nvSpPr>
        <p:spPr>
          <a:xfrm>
            <a:off x="1193269" y="5068990"/>
            <a:ext cx="77667" cy="77667"/>
          </a:xfrm>
          <a:prstGeom prst="roundRect">
            <a:avLst>
              <a:gd name="adj" fmla="val 523260"/>
            </a:avLst>
          </a:prstGeom>
          <a:solidFill>
            <a:srgbClr val="0B6E99"/>
          </a:solidFill>
          <a:ln/>
        </p:spPr>
      </p:sp>
      <p:sp>
        <p:nvSpPr>
          <p:cNvPr id="4" name="Shape 2"/>
          <p:cNvSpPr/>
          <p:nvPr/>
        </p:nvSpPr>
        <p:spPr>
          <a:xfrm>
            <a:off x="1193269" y="5371094"/>
            <a:ext cx="77667" cy="77667"/>
          </a:xfrm>
          <a:prstGeom prst="roundRect">
            <a:avLst>
              <a:gd name="adj" fmla="val 523260"/>
            </a:avLst>
          </a:prstGeom>
          <a:solidFill>
            <a:srgbClr val="0B6E99"/>
          </a:solidFill>
          <a:ln/>
        </p:spPr>
      </p:sp>
      <p:sp>
        <p:nvSpPr>
          <p:cNvPr id="5" name="Shape 3"/>
          <p:cNvSpPr/>
          <p:nvPr/>
        </p:nvSpPr>
        <p:spPr>
          <a:xfrm>
            <a:off x="1193269" y="5679672"/>
            <a:ext cx="77667" cy="77667"/>
          </a:xfrm>
          <a:prstGeom prst="roundRect">
            <a:avLst>
              <a:gd name="adj" fmla="val 523260"/>
            </a:avLst>
          </a:prstGeom>
          <a:solidFill>
            <a:srgbClr val="0B6E99"/>
          </a:solidFill>
          <a:ln/>
        </p:spPr>
      </p:sp>
      <p:sp>
        <p:nvSpPr>
          <p:cNvPr id="6" name="Shape 4"/>
          <p:cNvSpPr/>
          <p:nvPr/>
        </p:nvSpPr>
        <p:spPr>
          <a:xfrm>
            <a:off x="647700" y="6343650"/>
            <a:ext cx="10896600" cy="0"/>
          </a:xfrm>
          <a:prstGeom prst="line">
            <a:avLst/>
          </a:prstGeom>
          <a:noFill/>
          <a:ln w="8890">
            <a:solidFill>
              <a:srgbClr val="CBD7DF"/>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158751" y="3282280"/>
          <a:ext cx="9874500" cy="914400"/>
        </p:xfrm>
        <a:graphic>
          <a:graphicData uri="http://schemas.openxmlformats.org/drawingml/2006/table">
            <a:tbl>
              <a:tblPr/>
              <a:tblGrid>
                <a:gridCol w="2567348"/>
                <a:gridCol w="2962242"/>
                <a:gridCol w="4344909"/>
              </a:tblGrid>
              <a:tr h="349578">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WHAT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WHERE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LOGIN</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1">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Moodle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DemoAdmin2026!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 Dashboards</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https://localhost:5601</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https://localhost:9200</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8" name="Text 5"/>
          <p:cNvSpPr txBox="1"/>
          <p:nvPr/>
        </p:nvSpPr>
        <p:spPr>
          <a:xfrm>
            <a:off x="1158751" y="513768"/>
            <a:ext cx="9931650" cy="168315"/>
          </a:xfrm>
          <a:prstGeom prst="rect">
            <a:avLst/>
          </a:prstGeom>
          <a:noFill/>
          <a:ln/>
        </p:spPr>
        <p:txBody>
          <a:bodyPr wrap="none" lIns="0" tIns="0" rIns="0" bIns="0" rtlCol="0" anchor="t"/>
          <a:lstStyle/>
          <a:p>
            <a:pPr algn="l" indent="0" marL="0">
              <a:lnSpc>
                <a:spcPts val="1330"/>
              </a:lnSpc>
              <a:buNone/>
            </a:pPr>
            <a:r>
              <a:rPr lang="en-US" sz="880" spc="140" kern="0" dirty="0">
                <a:solidFill>
                  <a:srgbClr val="0B6E99"/>
                </a:solidFill>
                <a:latin typeface="Courier New" pitchFamily="34" charset="0"/>
                <a:ea typeface="Courier New" pitchFamily="34" charset="-122"/>
                <a:cs typeface="Courier New" pitchFamily="34" charset="-120"/>
              </a:rPr>
              <a:t>THE DEMO ENVIRONMENT</a:t>
            </a:r>
            <a:endParaRPr lang="en-US" sz="880" dirty="0"/>
          </a:p>
        </p:txBody>
      </p:sp>
      <p:sp>
        <p:nvSpPr>
          <p:cNvPr id="9" name="Text 6"/>
          <p:cNvSpPr txBox="1"/>
          <p:nvPr/>
        </p:nvSpPr>
        <p:spPr>
          <a:xfrm>
            <a:off x="1158751" y="822557"/>
            <a:ext cx="9931650" cy="783044"/>
          </a:xfrm>
          <a:prstGeom prst="rect">
            <a:avLst/>
          </a:prstGeom>
          <a:noFill/>
          <a:ln/>
        </p:spPr>
        <p:txBody>
          <a:bodyPr wrap="square" lIns="0" tIns="0" rIns="0" bIns="0" rtlCol="0" anchor="t"/>
          <a:lstStyle/>
          <a:p>
            <a:pPr algn="l" indent="0" marL="0">
              <a:lnSpc>
                <a:spcPts val="3080"/>
              </a:lnSpc>
              <a:buNone/>
            </a:pPr>
            <a:r>
              <a:rPr lang="en-US" sz="2850" b="1" spc="-60" kern="0" dirty="0">
                <a:solidFill>
                  <a:srgbClr val="101A22"/>
                </a:solidFill>
                <a:latin typeface="Arial" pitchFamily="34" charset="0"/>
                <a:ea typeface="Arial" pitchFamily="34" charset="-122"/>
                <a:cs typeface="Arial" pitchFamily="34" charset="-120"/>
              </a:rPr>
              <a:t>Start the demo environment on your computer with Docker Compose</a:t>
            </a:r>
            <a:endParaRPr lang="en-US" sz="2850" dirty="0"/>
          </a:p>
        </p:txBody>
      </p:sp>
      <p:sp>
        <p:nvSpPr>
          <p:cNvPr id="10" name="Text 7"/>
          <p:cNvSpPr txBox="1"/>
          <p:nvPr/>
        </p:nvSpPr>
        <p:spPr>
          <a:xfrm>
            <a:off x="1158751" y="1812762"/>
            <a:ext cx="9931650" cy="472578"/>
          </a:xfrm>
          <a:prstGeom prst="rect">
            <a:avLst/>
          </a:prstGeom>
          <a:noFill/>
          <a:ln/>
        </p:spPr>
        <p:txBody>
          <a:bodyPr wrap="squar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folder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Moodle-Otel-Opensearch/</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at https://github.com/netsapiensis/MoodleMootNordic2026 has the demo files. Your computer needs Docker Compose v2 and about 3 GB of free memory. One command starts every container.</a:t>
            </a:r>
            <a:endParaRPr lang="en-US" sz="1360" dirty="0"/>
          </a:p>
        </p:txBody>
      </p:sp>
      <p:sp>
        <p:nvSpPr>
          <p:cNvPr id="11" name="Text 8"/>
          <p:cNvSpPr txBox="1"/>
          <p:nvPr/>
        </p:nvSpPr>
        <p:spPr>
          <a:xfrm>
            <a:off x="1348603" y="2576621"/>
            <a:ext cx="9551945" cy="375541"/>
          </a:xfrm>
          <a:prstGeom prst="rect">
            <a:avLst/>
          </a:prstGeom>
          <a:noFill/>
          <a:ln/>
        </p:spPr>
        <p:txBody>
          <a:bodyPr wrap="square" lIns="0" tIns="0" rIns="0" bIns="0" rtlCol="0" anchor="t"/>
          <a:lstStyle/>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cd Moodle-Otel-Opensearch/compose</a:t>
            </a:r>
            <a:endParaRPr lang="en-US" sz="1020" dirty="0"/>
          </a:p>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docker compose up --build        </a:t>
            </a:r>
            <a:pPr algn="l" indent="0" marL="0">
              <a:lnSpc>
                <a:spcPts val="1480"/>
              </a:lnSpc>
              <a:buNone/>
            </a:pPr>
            <a:r>
              <a:rPr lang="en-US" sz="1020" dirty="0">
                <a:solidFill>
                  <a:srgbClr val="86A5B4"/>
                </a:solidFill>
                <a:latin typeface="Courier New" pitchFamily="34" charset="0"/>
                <a:ea typeface="Courier New" pitchFamily="34" charset="-122"/>
                <a:cs typeface="Courier New" pitchFamily="34" charset="-120"/>
              </a:rPr>
              <a:t># the first run builds the Moodle image: 5–10 minutes</a:t>
            </a:r>
            <a:endParaRPr lang="en-US" sz="1020" dirty="0"/>
          </a:p>
        </p:txBody>
      </p:sp>
      <p:sp>
        <p:nvSpPr>
          <p:cNvPr id="12" name="Text 9"/>
          <p:cNvSpPr txBox="1"/>
          <p:nvPr/>
        </p:nvSpPr>
        <p:spPr>
          <a:xfrm>
            <a:off x="1417640" y="4948175"/>
            <a:ext cx="9672760" cy="233051"/>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uses one self-signed certificate, so the browser warns once for each of the three addresses.</a:t>
            </a:r>
            <a:endParaRPr lang="en-US" sz="1360" dirty="0"/>
          </a:p>
        </p:txBody>
      </p:sp>
      <p:sp>
        <p:nvSpPr>
          <p:cNvPr id="13" name="Text 10"/>
          <p:cNvSpPr txBox="1"/>
          <p:nvPr/>
        </p:nvSpPr>
        <p:spPr>
          <a:xfrm>
            <a:off x="1417640" y="5250278"/>
            <a:ext cx="9672760" cy="239526"/>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passwords are written as plain text in the files of the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compose/</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folder, and the ports are open on your computer only.</a:t>
            </a:r>
            <a:endParaRPr lang="en-US" sz="1360" dirty="0"/>
          </a:p>
        </p:txBody>
      </p:sp>
      <p:sp>
        <p:nvSpPr>
          <p:cNvPr id="14" name="Text 11"/>
          <p:cNvSpPr txBox="1"/>
          <p:nvPr/>
        </p:nvSpPr>
        <p:spPr>
          <a:xfrm>
            <a:off x="1417640" y="5558857"/>
            <a:ext cx="9672760" cy="233052"/>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is for a demo. Change the passwords and the certificate before other machines can reach it.</a:t>
            </a:r>
            <a:endParaRPr lang="en-US" sz="1360" dirty="0"/>
          </a:p>
        </p:txBody>
      </p:sp>
      <p:sp>
        <p:nvSpPr>
          <p:cNvPr id="15" name="Text 12"/>
          <p:cNvSpPr txBox="1"/>
          <p:nvPr/>
        </p:nvSpPr>
        <p:spPr>
          <a:xfrm>
            <a:off x="647700" y="6464670"/>
            <a:ext cx="354509"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Demo</a:t>
            </a:r>
            <a:endParaRPr lang="en-US" sz="880" dirty="0"/>
          </a:p>
        </p:txBody>
      </p:sp>
      <p:sp>
        <p:nvSpPr>
          <p:cNvPr id="16" name="Text 13"/>
          <p:cNvSpPr txBox="1"/>
          <p:nvPr/>
        </p:nvSpPr>
        <p:spPr>
          <a:xfrm>
            <a:off x="11024146" y="6464670"/>
            <a:ext cx="577304"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36 / 39</a:t>
            </a:r>
            <a:endParaRPr lang="en-US" sz="8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6350">
            <a:solidFill>
              <a:srgbClr val="CBD7DF"/>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114383" y="1263312"/>
          <a:ext cx="7963235" cy="914400"/>
        </p:xfrm>
        <a:graphic>
          <a:graphicData uri="http://schemas.openxmlformats.org/drawingml/2006/table">
            <a:tbl>
              <a:tblPr/>
              <a:tblGrid>
                <a:gridCol w="1686271"/>
                <a:gridCol w="2964460"/>
                <a:gridCol w="2675476"/>
                <a:gridCol w="637028"/>
              </a:tblGrid>
              <a:tr h="281915">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CONTAINER</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WHAT IT DOES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RUNS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certs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alpine/openssl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Writes the self-signed certificate to </a:t>
                      </a:r>
                      <a:pPr algn="l" indent="0" marL="0">
                        <a:lnSpc>
                          <a:spcPts val="1050"/>
                        </a:lnSpc>
                        <a:buNone/>
                      </a:pPr>
                      <a:r>
                        <a:rPr lang="en-US" sz="770" dirty="0">
                          <a:solidFill>
                            <a:srgbClr val="101A22"/>
                          </a:solidFill>
                          <a:highlight>
                            <a:srgbClr val="E1F0F7"/>
                          </a:highlight>
                          <a:latin typeface="Courier New" pitchFamily="34" charset="0"/>
                          <a:ea typeface="Courier New" pitchFamily="34" charset="-122"/>
                          <a:cs typeface="Courier New" pitchFamily="34" charset="-120"/>
                        </a:rPr>
                        <a:t>compose/certs/</a:t>
                      </a:r>
                      <a:pPr algn="l" indent="0" marL="0">
                        <a:lnSpc>
                          <a:spcPts val="1050"/>
                        </a:lnSpc>
                        <a:buNone/>
                      </a:pPr>
                      <a:r>
                        <a:rPr lang="en-US" sz="880" dirty="0">
                          <a:solidFill>
                            <a:srgbClr val="101A22"/>
                          </a:solidFill>
                          <a:latin typeface="Arial" pitchFamily="34" charset="0"/>
                          <a:ea typeface="Arial" pitchFamily="34" charset="-122"/>
                          <a:cs typeface="Arial" pitchFamily="34" charset="-120"/>
                        </a:rPr>
                        <a:t>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mariadb:11.4</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Holds the Moodle database.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Stores and searches the events and the timing data. https on port 9200.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Creates the user and role the OpenTelemetry Collector logs in with.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Shows the screens Discover and Trace analytics. https on port 5601.</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dashboards-init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Loads the dashboard "Moodle events" with five charts and one list into OpenSearch 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otelcol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opentelemetry-collector-contrib:0.161.0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the OpenTelemetry Collector, which receives the events and the timing data from Moodle and sends them to 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built from </a:t>
                      </a:r>
                      <a:pPr algn="l" indent="0" marL="0">
                        <a:lnSpc>
                          <a:spcPts val="1120"/>
                        </a:lnSpc>
                        <a:buNone/>
                      </a:pPr>
                      <a:r>
                        <a:rPr lang="en-US" sz="820" dirty="0">
                          <a:solidFill>
                            <a:srgbClr val="101A22"/>
                          </a:solidFill>
                          <a:highlight>
                            <a:srgbClr val="E1F0F7"/>
                          </a:highlight>
                          <a:latin typeface="Courier New" pitchFamily="34" charset="0"/>
                          <a:ea typeface="Courier New" pitchFamily="34" charset="-122"/>
                          <a:cs typeface="Courier New" pitchFamily="34" charset="-120"/>
                        </a:rPr>
                        <a:t>docker/Dockerfile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Installs the Moodle database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5.2 with the OpenTelemetry PHP extension and both PHP Composer packages. https on port 443.</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moodle-cron</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cron every minute, so the timing data of scheduled tasks exists too.</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2114383" y="517560"/>
            <a:ext cx="8020385" cy="135774"/>
          </a:xfrm>
          <a:prstGeom prst="rect">
            <a:avLst/>
          </a:prstGeom>
          <a:noFill/>
          <a:ln/>
        </p:spPr>
        <p:txBody>
          <a:bodyPr wrap="none" lIns="0" tIns="0" rIns="0" bIns="0" rtlCol="0" anchor="t"/>
          <a:lstStyle/>
          <a:p>
            <a:pPr algn="l" indent="0" marL="0">
              <a:lnSpc>
                <a:spcPts val="1070"/>
              </a:lnSpc>
              <a:buNone/>
            </a:pPr>
            <a:r>
              <a:rPr lang="en-US" sz="710" spc="110" kern="0" dirty="0">
                <a:solidFill>
                  <a:srgbClr val="0B6E99"/>
                </a:solidFill>
                <a:latin typeface="Courier New" pitchFamily="34" charset="0"/>
                <a:ea typeface="Courier New" pitchFamily="34" charset="-122"/>
                <a:cs typeface="Courier New" pitchFamily="34" charset="-120"/>
              </a:rPr>
              <a:t>THE DOCKER COMPOSE STACK</a:t>
            </a:r>
            <a:endParaRPr lang="en-US" sz="710" dirty="0"/>
          </a:p>
        </p:txBody>
      </p:sp>
      <p:sp>
        <p:nvSpPr>
          <p:cNvPr id="5" name="Text 2"/>
          <p:cNvSpPr txBox="1"/>
          <p:nvPr/>
        </p:nvSpPr>
        <p:spPr>
          <a:xfrm>
            <a:off x="2114383" y="766589"/>
            <a:ext cx="8020385" cy="315831"/>
          </a:xfrm>
          <a:prstGeom prst="rect">
            <a:avLst/>
          </a:prstGeom>
          <a:noFill/>
          <a:ln/>
        </p:spPr>
        <p:txBody>
          <a:bodyPr wrap="none" lIns="0" tIns="0" rIns="0" bIns="0" rtlCol="0" anchor="t"/>
          <a:lstStyle/>
          <a:p>
            <a:pPr algn="l" indent="0" marL="0">
              <a:lnSpc>
                <a:spcPts val="2490"/>
              </a:lnSpc>
              <a:buNone/>
            </a:pPr>
            <a:r>
              <a:rPr lang="en-US" sz="2300" b="1" spc="-50" kern="0" dirty="0">
                <a:solidFill>
                  <a:srgbClr val="101A22"/>
                </a:solidFill>
                <a:latin typeface="Arial" pitchFamily="34" charset="0"/>
                <a:ea typeface="Arial" pitchFamily="34" charset="-122"/>
                <a:cs typeface="Arial" pitchFamily="34" charset="-120"/>
              </a:rPr>
              <a:t>Docker Compose starts ten containers in this order</a:t>
            </a:r>
            <a:endParaRPr lang="en-US" sz="2300" dirty="0"/>
          </a:p>
        </p:txBody>
      </p:sp>
      <p:sp>
        <p:nvSpPr>
          <p:cNvPr id="6" name="Text 3"/>
          <p:cNvSpPr txBox="1"/>
          <p:nvPr/>
        </p:nvSpPr>
        <p:spPr>
          <a:xfrm>
            <a:off x="647700" y="6465212"/>
            <a:ext cx="354509"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Demo</a:t>
            </a:r>
            <a:endParaRPr lang="en-US" sz="710" dirty="0"/>
          </a:p>
        </p:txBody>
      </p:sp>
      <p:sp>
        <p:nvSpPr>
          <p:cNvPr id="7" name="Text 4"/>
          <p:cNvSpPr txBox="1"/>
          <p:nvPr/>
        </p:nvSpPr>
        <p:spPr>
          <a:xfrm>
            <a:off x="11024146" y="6465212"/>
            <a:ext cx="577304"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37 / 39</a:t>
            </a:r>
            <a:endParaRPr lang="en-US" sz="71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Discover on the otel-v1-logs-* index pattern, last 30 minutes: a histogram of events per 30 seconds, then a table of 102 results with the columns time, body, event name, user id, course id and crud; the first rows are course views, a dashboard view and a login by the user with id 2.">    </p:cNvPr>
          <p:cNvPicPr>
            <a:picLocks noChangeAspect="1"/>
          </p:cNvPicPr>
          <p:nvPr/>
        </p:nvPicPr>
        <p:blipFill>
          <a:blip r:embed="rId1"/>
          <a:stretch>
            <a:fillRect/>
          </a:stretch>
        </p:blipFill>
        <p:spPr>
          <a:xfrm>
            <a:off x="1368510" y="1400046"/>
            <a:ext cx="9471510" cy="4218685"/>
          </a:xfrm>
          <a:prstGeom prst="rect">
            <a:avLst/>
          </a:prstGeom>
        </p:spPr>
      </p:pic>
      <p:sp>
        <p:nvSpPr>
          <p:cNvPr id="4" name="Text 1"/>
          <p:cNvSpPr txBox="1"/>
          <p:nvPr/>
        </p:nvSpPr>
        <p:spPr>
          <a:xfrm>
            <a:off x="1368510" y="514591"/>
            <a:ext cx="9512130" cy="161220"/>
          </a:xfrm>
          <a:prstGeom prst="rect">
            <a:avLst/>
          </a:prstGeom>
          <a:noFill/>
          <a:ln/>
        </p:spPr>
        <p:txBody>
          <a:bodyPr wrap="none" lIns="0" tIns="0" rIns="0" bIns="0" rtlCol="0" anchor="t"/>
          <a:lstStyle/>
          <a:p>
            <a:pPr algn="l" indent="0" marL="0">
              <a:lnSpc>
                <a:spcPts val="1270"/>
              </a:lnSpc>
              <a:buNone/>
            </a:pPr>
            <a:r>
              <a:rPr lang="en-US" sz="850" spc="140" kern="0" dirty="0">
                <a:solidFill>
                  <a:srgbClr val="0B6E99"/>
                </a:solidFill>
                <a:latin typeface="Courier New" pitchFamily="34" charset="0"/>
                <a:ea typeface="Courier New" pitchFamily="34" charset="-122"/>
                <a:cs typeface="Courier New" pitchFamily="34" charset="-120"/>
              </a:rPr>
              <a:t>DEMO · IN PICTURES</a:t>
            </a:r>
            <a:endParaRPr lang="en-US" sz="850" dirty="0"/>
          </a:p>
        </p:txBody>
      </p:sp>
      <p:sp>
        <p:nvSpPr>
          <p:cNvPr id="5" name="Text 2"/>
          <p:cNvSpPr txBox="1"/>
          <p:nvPr/>
        </p:nvSpPr>
        <p:spPr>
          <a:xfrm>
            <a:off x="1368510" y="810272"/>
            <a:ext cx="9512130" cy="375023"/>
          </a:xfrm>
          <a:prstGeom prst="rect">
            <a:avLst/>
          </a:prstGeom>
          <a:noFill/>
          <a:ln/>
        </p:spPr>
        <p:txBody>
          <a:bodyPr wrap="none" lIns="0" tIns="0" rIns="0" bIns="0" rtlCol="0" anchor="t"/>
          <a:lstStyle/>
          <a:p>
            <a:pPr algn="l" indent="0" marL="0">
              <a:lnSpc>
                <a:spcPts val="2950"/>
              </a:lnSpc>
              <a:buNone/>
            </a:pPr>
            <a:r>
              <a:rPr lang="en-US" sz="2730" b="1" spc="-50" kern="0" dirty="0">
                <a:solidFill>
                  <a:srgbClr val="101A22"/>
                </a:solidFill>
                <a:latin typeface="Arial" pitchFamily="34" charset="0"/>
                <a:ea typeface="Arial" pitchFamily="34" charset="-122"/>
                <a:cs typeface="Arial" pitchFamily="34" charset="-120"/>
              </a:rPr>
              <a:t>Discover shows one row for each Moodle event</a:t>
            </a:r>
            <a:endParaRPr lang="en-US" sz="2730" dirty="0"/>
          </a:p>
        </p:txBody>
      </p:sp>
      <p:sp>
        <p:nvSpPr>
          <p:cNvPr id="6" name="Text 3"/>
          <p:cNvSpPr txBox="1"/>
          <p:nvPr/>
        </p:nvSpPr>
        <p:spPr>
          <a:xfrm>
            <a:off x="1368510" y="5682164"/>
            <a:ext cx="9512130" cy="128976"/>
          </a:xfrm>
          <a:prstGeom prst="rect">
            <a:avLst/>
          </a:prstGeom>
          <a:noFill/>
          <a:ln/>
        </p:spPr>
        <p:txBody>
          <a:bodyPr wrap="none" lIns="0" tIns="0" rIns="0" bIns="0" rtlCol="0" anchor="t"/>
          <a:lstStyle/>
          <a:p>
            <a:pPr algn="l" indent="0" marL="0">
              <a:lnSpc>
                <a:spcPts val="1020"/>
              </a:lnSpc>
              <a:buNone/>
            </a:pPr>
            <a:r>
              <a:rPr lang="en-US" sz="850" dirty="0">
                <a:solidFill>
                  <a:srgbClr val="5A6D7A"/>
                </a:solidFill>
                <a:latin typeface="Courier New" pitchFamily="34" charset="0"/>
                <a:ea typeface="Courier New" pitchFamily="34" charset="-122"/>
                <a:cs typeface="Courier New" pitchFamily="34" charset="-120"/>
              </a:rPr>
              <a:t>The table shows the time, the body and four attributes of each event.</a:t>
            </a:r>
            <a:endParaRPr lang="en-US" sz="850" dirty="0"/>
          </a:p>
        </p:txBody>
      </p:sp>
      <p:sp>
        <p:nvSpPr>
          <p:cNvPr id="7" name="Text 4"/>
          <p:cNvSpPr txBox="1"/>
          <p:nvPr/>
        </p:nvSpPr>
        <p:spPr>
          <a:xfrm>
            <a:off x="647700" y="6464788"/>
            <a:ext cx="354509"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Demo</a:t>
            </a:r>
            <a:endParaRPr lang="en-US" sz="850" dirty="0"/>
          </a:p>
        </p:txBody>
      </p:sp>
      <p:sp>
        <p:nvSpPr>
          <p:cNvPr id="8" name="Text 5"/>
          <p:cNvSpPr txBox="1"/>
          <p:nvPr/>
        </p:nvSpPr>
        <p:spPr>
          <a:xfrm>
            <a:off x="11024146" y="6464788"/>
            <a:ext cx="577304"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7700" y="1532186"/>
          <a:ext cx="10896600" cy="914400"/>
        </p:xfrm>
        <a:graphic>
          <a:graphicData uri="http://schemas.openxmlformats.org/drawingml/2006/table">
            <a:tbl>
              <a:tblPr/>
              <a:tblGrid>
                <a:gridCol w="2113062"/>
                <a:gridCol w="8783538"/>
              </a:tblGrid>
              <a:tr h="452438">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This talk</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https://github.com/netsapiensis/MoodleMootNordic2026, in the folder Moodle-Otel-Opensearch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Moodle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https://moodledev.io/docs/5.2/apis/telemetry</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Package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https://github.com/moodlehq/moodle-package-otel</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PHP extension</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https://opentelemetry.io/docs/zero-code/php/</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676275">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 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https://github.com/open-telemetry/opentelemetry-collector-contrib, folder exporter/opensearchexporter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https://docs.opensearch.org — Discover, Index State Management, Trace Analytics</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QUESTIONS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Read more at these six places</a:t>
            </a:r>
            <a:endParaRPr lang="en-US" sz="3150" dirty="0"/>
          </a:p>
        </p:txBody>
      </p:sp>
      <p:sp>
        <p:nvSpPr>
          <p:cNvPr id="6" name="Text 3"/>
          <p:cNvSpPr txBox="1"/>
          <p:nvPr/>
        </p:nvSpPr>
        <p:spPr>
          <a:xfrm>
            <a:off x="647700" y="4705439"/>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Thank you.</a:t>
            </a:r>
            <a:endParaRPr lang="en-US" sz="1650" dirty="0"/>
          </a:p>
        </p:txBody>
      </p:sp>
      <p:sp>
        <p:nvSpPr>
          <p:cNvPr id="7" name="Text 4"/>
          <p:cNvSpPr txBox="1"/>
          <p:nvPr/>
        </p:nvSpPr>
        <p:spPr>
          <a:xfrm>
            <a:off x="647700" y="6464379"/>
            <a:ext cx="42877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Close</a:t>
            </a:r>
            <a:endParaRPr lang="en-US" sz="980" dirty="0"/>
          </a:p>
        </p:txBody>
      </p:sp>
      <p:sp>
        <p:nvSpPr>
          <p:cNvPr id="8" name="Text 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39 / 39</a:t>
            </a:r>
            <a:endParaRPr lang="en-US" sz="9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Moodle Events for Sysadmins</dc:title>
  <dc:subject>PptxGenJS Presentation</dc:subject>
  <dc:creator>PptxGenJS</dc:creator>
  <cp:lastModifiedBy>PptxGenJS</cp:lastModifiedBy>
  <cp:revision>1</cp:revision>
  <dcterms:created xsi:type="dcterms:W3CDTF">2026-09-30T05:39:58Z</dcterms:created>
  <dcterms:modified xsi:type="dcterms:W3CDTF">2026-09-30T05:39:58Z</dcterms:modified>
</cp:coreProperties>
</file>